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omments/comment1.xml" ContentType="application/vnd.openxmlformats-officedocument.presentationml.comments+xml"/>
  <Override PartName="/ppt/notesSlides/notesSlide12.xml" ContentType="application/vnd.openxmlformats-officedocument.presentationml.notesSlide+xml"/>
  <Override PartName="/ppt/comments/comment2.xml" ContentType="application/vnd.openxmlformats-officedocument.presentationml.comments+xml"/>
  <Override PartName="/ppt/notesSlides/notesSlide13.xml" ContentType="application/vnd.openxmlformats-officedocument.presentationml.notesSlide+xml"/>
  <Override PartName="/ppt/comments/comment3.xml" ContentType="application/vnd.openxmlformats-officedocument.presentationml.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omments/comment4.xml" ContentType="application/vnd.openxmlformats-officedocument.presentationml.comments+xml"/>
  <Override PartName="/ppt/notesSlides/notesSlide19.xml" ContentType="application/vnd.openxmlformats-officedocument.presentationml.notesSlide+xml"/>
  <Override PartName="/ppt/comments/comment5.xml" ContentType="application/vnd.openxmlformats-officedocument.presentationml.comments+xml"/>
  <Override PartName="/ppt/notesSlides/notesSlide20.xml" ContentType="application/vnd.openxmlformats-officedocument.presentationml.notesSlide+xml"/>
  <Override PartName="/ppt/comments/comment6.xml" ContentType="application/vnd.openxmlformats-officedocument.presentationml.comment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omments/comment7.xml" ContentType="application/vnd.openxmlformats-officedocument.presentationml.comment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omments/comment8.xml" ContentType="application/vnd.openxmlformats-officedocument.presentationml.comment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309" r:id="rId2"/>
    <p:sldId id="378" r:id="rId3"/>
    <p:sldId id="364" r:id="rId4"/>
    <p:sldId id="365" r:id="rId5"/>
    <p:sldId id="367" r:id="rId6"/>
    <p:sldId id="366" r:id="rId7"/>
    <p:sldId id="368" r:id="rId8"/>
    <p:sldId id="324" r:id="rId9"/>
    <p:sldId id="333" r:id="rId10"/>
    <p:sldId id="334" r:id="rId11"/>
    <p:sldId id="369" r:id="rId12"/>
    <p:sldId id="335" r:id="rId13"/>
    <p:sldId id="337" r:id="rId14"/>
    <p:sldId id="339" r:id="rId15"/>
    <p:sldId id="340" r:id="rId16"/>
    <p:sldId id="362" r:id="rId17"/>
    <p:sldId id="370" r:id="rId18"/>
    <p:sldId id="371" r:id="rId19"/>
    <p:sldId id="341" r:id="rId20"/>
    <p:sldId id="372" r:id="rId21"/>
    <p:sldId id="374" r:id="rId22"/>
    <p:sldId id="346" r:id="rId23"/>
    <p:sldId id="347" r:id="rId24"/>
    <p:sldId id="373" r:id="rId25"/>
    <p:sldId id="376" r:id="rId26"/>
    <p:sldId id="356" r:id="rId27"/>
    <p:sldId id="377" r:id="rId28"/>
    <p:sldId id="375" r:id="rId29"/>
    <p:sldId id="382" r:id="rId30"/>
    <p:sldId id="381" r:id="rId31"/>
    <p:sldId id="379" r:id="rId32"/>
    <p:sldId id="380"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D6B3E60-C1B2-4FAC-9783-4556C7F8524A}">
          <p14:sldIdLst/>
        </p14:section>
        <p14:section name="Default Section" id="{C892008D-43F3-4264-941F-487151B80BC1}">
          <p14:sldIdLst>
            <p14:sldId id="309"/>
            <p14:sldId id="378"/>
            <p14:sldId id="364"/>
            <p14:sldId id="365"/>
            <p14:sldId id="367"/>
            <p14:sldId id="366"/>
            <p14:sldId id="368"/>
            <p14:sldId id="324"/>
            <p14:sldId id="333"/>
            <p14:sldId id="334"/>
            <p14:sldId id="369"/>
            <p14:sldId id="335"/>
            <p14:sldId id="337"/>
            <p14:sldId id="339"/>
            <p14:sldId id="340"/>
            <p14:sldId id="362"/>
            <p14:sldId id="370"/>
            <p14:sldId id="371"/>
            <p14:sldId id="341"/>
            <p14:sldId id="372"/>
            <p14:sldId id="374"/>
            <p14:sldId id="346"/>
            <p14:sldId id="347"/>
            <p14:sldId id="373"/>
            <p14:sldId id="376"/>
            <p14:sldId id="356"/>
            <p14:sldId id="377"/>
            <p14:sldId id="375"/>
            <p14:sldId id="382"/>
            <p14:sldId id="381"/>
            <p14:sldId id="379"/>
            <p14:sldId id="380"/>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ta Cavaleiro" initials="MC" lastIdx="13" clrIdx="0">
    <p:extLst>
      <p:ext uri="{19B8F6BF-5375-455C-9EA6-DF929625EA0E}">
        <p15:presenceInfo xmlns:p15="http://schemas.microsoft.com/office/powerpoint/2012/main" userId="S-1-5-21-1980022150-3305272637-2468150854-8058" providerId="AD"/>
      </p:ext>
    </p:extLst>
  </p:cmAuthor>
  <p:cmAuthor id="2" name="Disha Parkhi" initials="DP" lastIdx="12" clrIdx="1">
    <p:extLst>
      <p:ext uri="{19B8F6BF-5375-455C-9EA6-DF929625EA0E}">
        <p15:presenceInfo xmlns:p15="http://schemas.microsoft.com/office/powerpoint/2012/main" userId="7ca7a02737f3c9a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100" d="100"/>
          <a:sy n="100" d="100"/>
        </p:scale>
        <p:origin x="96" y="4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sha Parkhi" userId="7ca7a02737f3c9a0" providerId="LiveId" clId="{5A0C01FE-34CA-4542-A7A3-B32546F9B79E}"/>
    <pc:docChg chg="custSel modSld">
      <pc:chgData name="Disha Parkhi" userId="7ca7a02737f3c9a0" providerId="LiveId" clId="{5A0C01FE-34CA-4542-A7A3-B32546F9B79E}" dt="2020-10-12T12:41:32.672" v="48" actId="5900"/>
      <pc:docMkLst>
        <pc:docMk/>
      </pc:docMkLst>
      <pc:sldChg chg="addCm delCm modCm">
        <pc:chgData name="Disha Parkhi" userId="7ca7a02737f3c9a0" providerId="LiveId" clId="{5A0C01FE-34CA-4542-A7A3-B32546F9B79E}" dt="2020-10-12T12:36:45.670" v="19" actId="1592"/>
        <pc:sldMkLst>
          <pc:docMk/>
          <pc:sldMk cId="2179729482" sldId="335"/>
        </pc:sldMkLst>
      </pc:sldChg>
      <pc:sldChg chg="addCm delCm modCm">
        <pc:chgData name="Disha Parkhi" userId="7ca7a02737f3c9a0" providerId="LiveId" clId="{5A0C01FE-34CA-4542-A7A3-B32546F9B79E}" dt="2020-10-12T12:37:18.690" v="23" actId="5900"/>
        <pc:sldMkLst>
          <pc:docMk/>
          <pc:sldMk cId="3636718320" sldId="337"/>
        </pc:sldMkLst>
      </pc:sldChg>
      <pc:sldChg chg="addCm delCm modCm">
        <pc:chgData name="Disha Parkhi" userId="7ca7a02737f3c9a0" providerId="LiveId" clId="{5A0C01FE-34CA-4542-A7A3-B32546F9B79E}" dt="2020-10-12T12:38:59.330" v="35" actId="1592"/>
        <pc:sldMkLst>
          <pc:docMk/>
          <pc:sldMk cId="1526072020" sldId="341"/>
        </pc:sldMkLst>
      </pc:sldChg>
      <pc:sldChg chg="addCm delCm modCm">
        <pc:chgData name="Disha Parkhi" userId="7ca7a02737f3c9a0" providerId="LiveId" clId="{5A0C01FE-34CA-4542-A7A3-B32546F9B79E}" dt="2020-10-12T12:36:13.773" v="15" actId="1592"/>
        <pc:sldMkLst>
          <pc:docMk/>
          <pc:sldMk cId="2860315853" sldId="369"/>
        </pc:sldMkLst>
      </pc:sldChg>
      <pc:sldChg chg="addCm delCm modCm">
        <pc:chgData name="Disha Parkhi" userId="7ca7a02737f3c9a0" providerId="LiveId" clId="{5A0C01FE-34CA-4542-A7A3-B32546F9B79E}" dt="2020-10-12T12:38:17.227" v="31" actId="1592"/>
        <pc:sldMkLst>
          <pc:docMk/>
          <pc:sldMk cId="70837935" sldId="371"/>
        </pc:sldMkLst>
      </pc:sldChg>
      <pc:sldChg chg="addCm delCm modCm">
        <pc:chgData name="Disha Parkhi" userId="7ca7a02737f3c9a0" providerId="LiveId" clId="{5A0C01FE-34CA-4542-A7A3-B32546F9B79E}" dt="2020-10-12T12:39:31.944" v="39" actId="5900"/>
        <pc:sldMkLst>
          <pc:docMk/>
          <pc:sldMk cId="4118938811" sldId="372"/>
        </pc:sldMkLst>
      </pc:sldChg>
      <pc:sldChg chg="addCm delCm modCm">
        <pc:chgData name="Disha Parkhi" userId="7ca7a02737f3c9a0" providerId="LiveId" clId="{5A0C01FE-34CA-4542-A7A3-B32546F9B79E}" dt="2020-10-12T12:40:59.792" v="44" actId="1592"/>
        <pc:sldMkLst>
          <pc:docMk/>
          <pc:sldMk cId="882055627" sldId="373"/>
        </pc:sldMkLst>
      </pc:sldChg>
      <pc:sldChg chg="addCm delCm modCm">
        <pc:chgData name="Disha Parkhi" userId="7ca7a02737f3c9a0" providerId="LiveId" clId="{5A0C01FE-34CA-4542-A7A3-B32546F9B79E}" dt="2020-10-12T12:41:32.672" v="48" actId="5900"/>
        <pc:sldMkLst>
          <pc:docMk/>
          <pc:sldMk cId="7882639" sldId="375"/>
        </pc:sldMkLst>
      </pc:sld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2" dt="2020-10-12T08:34:29.618" idx="2">
    <p:pos x="2644" y="1462"/>
    <p:text>This table is not in 1NF since the field "Courses" consists of a list</p:text>
    <p:extLst>
      <p:ext uri="{C676402C-5697-4E1C-873F-D02D1690AC5C}">
        <p15:threadingInfo xmlns:p15="http://schemas.microsoft.com/office/powerpoint/2012/main" timeZoneBias="240"/>
      </p:ext>
    </p:extLst>
  </p:cm>
  <p:cm authorId="2" dt="2020-10-12T08:35:23.541" idx="3">
    <p:pos x="5554" y="916"/>
    <p:text>This table is in 1NF. Note that (Student, Courses) is the primary key so that a student can enroll in several courses and a course can have multiple students.</p:text>
    <p:extLst>
      <p:ext uri="{C676402C-5697-4E1C-873F-D02D1690AC5C}">
        <p15:threadingInfo xmlns:p15="http://schemas.microsoft.com/office/powerpoint/2012/main" timeZoneBias="240"/>
      </p:ext>
    </p:extLst>
  </p:cm>
  <p:cm authorId="2" dt="2020-10-12T08:35:56.552" idx="4">
    <p:pos x="1900" y="2824"/>
    <p:text>This table is not in 1NF since the field Course is being repeated, in order to store the different courses of a student. In this case it is a repeating group of one field only, but we have seen an example in the past about the loans, where we had repeating groups of fields. This results in waste of space, since many attributes will end up empty.</p:text>
    <p:extLst>
      <p:ext uri="{C676402C-5697-4E1C-873F-D02D1690AC5C}">
        <p15:threadingInfo xmlns:p15="http://schemas.microsoft.com/office/powerpoint/2012/main" timeZoneBias="24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2" dt="2020-10-12T08:36:25.079" idx="5">
    <p:pos x="3574" y="1528"/>
    <p:text>This table is not in 1NF since there is a field that is a table itself!!! To see how we could change this table so it would be in 1NF, check slides 18 and 19. Both solutions would be in 1NF (they would still have issues though.... to be fixed later).</p:text>
    <p:extLst>
      <p:ext uri="{C676402C-5697-4E1C-873F-D02D1690AC5C}">
        <p15:threadingInfo xmlns:p15="http://schemas.microsoft.com/office/powerpoint/2012/main" timeZoneBias="24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2" dt="2020-10-12T08:36:58.313" idx="6">
    <p:pos x="3916" y="1456"/>
    <p:text>This table is in 1 NF</p:text>
    <p:extLst>
      <p:ext uri="{C676402C-5697-4E1C-873F-D02D1690AC5C}">
        <p15:threadingInfo xmlns:p15="http://schemas.microsoft.com/office/powerpoint/2012/main" timeZoneBias="24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2" dt="2020-10-12T08:37:41.297" idx="7">
    <p:pos x="5158" y="1048"/>
    <p:text>Note that this table is susceptible to anomalies, due to the same information about a client being repeatec as many times as the number of her pets.</p:text>
    <p:extLst>
      <p:ext uri="{C676402C-5697-4E1C-873F-D02D1690AC5C}">
        <p15:threadingInfo xmlns:p15="http://schemas.microsoft.com/office/powerpoint/2012/main" timeZoneBias="240"/>
      </p:ext>
    </p:extLst>
  </p:cm>
  <p:cm authorId="2" dt="2020-10-12T08:38:02.143" idx="8">
    <p:pos x="4114" y="1648"/>
    <p:text>This table is in 1NF but not in 2NF, because ClientName (a non-key field) depends only on ClientID and not on the whole PK which is (ClientID, PetNo). The same happens for VetID and VetName, which depend only on ClientID and not on (ClientID, PetNo) (note that a client goes to a single vet, so once you know the client you know who the vet is). How would we fix it? We would split the table in two achieving the design illustrated in slide 19.</p:text>
    <p:extLst>
      <p:ext uri="{C676402C-5697-4E1C-873F-D02D1690AC5C}">
        <p15:threadingInfo xmlns:p15="http://schemas.microsoft.com/office/powerpoint/2012/main" timeZoneBias="24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2" dt="2020-10-12T08:38:42.122" idx="9">
    <p:pos x="2656" y="2152"/>
    <p:text>This DB is in 2NF, but it still has anomalies: VetName is being repeated in table CLIENT as many times as the number of clients that vet has...</p:text>
    <p:extLst>
      <p:ext uri="{C676402C-5697-4E1C-873F-D02D1690AC5C}">
        <p15:threadingInfo xmlns:p15="http://schemas.microsoft.com/office/powerpoint/2012/main" timeZoneBias="240"/>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2" dt="2020-10-12T08:39:16.804" idx="10">
    <p:pos x="5314" y="1282"/>
    <p:text>This table is not in 2NF, because Time and CourseTitle depend both only on CourseID, that is part of the PK. To fix it we would need to separate this table in two as the next slide shows.</p:text>
    <p:extLst>
      <p:ext uri="{C676402C-5697-4E1C-873F-D02D1690AC5C}">
        <p15:threadingInfo xmlns:p15="http://schemas.microsoft.com/office/powerpoint/2012/main" timeZoneBias="240"/>
      </p:ext>
    </p:extLst>
  </p:cm>
</p:cmLst>
</file>

<file path=ppt/comments/comment7.xml><?xml version="1.0" encoding="utf-8"?>
<p:cmLst xmlns:a="http://schemas.openxmlformats.org/drawingml/2006/main" xmlns:r="http://schemas.openxmlformats.org/officeDocument/2006/relationships" xmlns:p="http://schemas.openxmlformats.org/presentationml/2006/main">
  <p:cm authorId="2" dt="2020-10-12T08:40:43.662" idx="11">
    <p:pos x="2758" y="2326"/>
    <p:text>It is not in 3NF because in table CLIENT wehave VetName (a non-key field) depend on VetID (another non key) and VetID could not be the PK of CLIENT. This is a violation of 3NF.</p:text>
    <p:extLst>
      <p:ext uri="{C676402C-5697-4E1C-873F-D02D1690AC5C}">
        <p15:threadingInfo xmlns:p15="http://schemas.microsoft.com/office/powerpoint/2012/main" timeZoneBias="240"/>
      </p:ext>
    </p:extLst>
  </p:cm>
</p:cmLst>
</file>

<file path=ppt/comments/comment8.xml><?xml version="1.0" encoding="utf-8"?>
<p:cmLst xmlns:a="http://schemas.openxmlformats.org/drawingml/2006/main" xmlns:r="http://schemas.openxmlformats.org/officeDocument/2006/relationships" xmlns:p="http://schemas.openxmlformats.org/presentationml/2006/main">
  <p:cm authorId="2" dt="2020-10-12T08:41:16.537" idx="12">
    <p:pos x="3586" y="1948"/>
    <p:text>This is another example of the exception: Time depends on CourseTitle, but CourseTitle can be a PK itself (there is only one course named statistics since there is a single section of each course), so the DB is in 3NF.</p:text>
    <p:extLst>
      <p:ext uri="{C676402C-5697-4E1C-873F-D02D1690AC5C}">
        <p15:threadingInfo xmlns:p15="http://schemas.microsoft.com/office/powerpoint/2012/main" timeZoneBias="240"/>
      </p:ext>
    </p:extLst>
  </p:cm>
</p: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F8E2675-10A3-4F88-AAB1-5C122CE97AF1}" type="doc">
      <dgm:prSet loTypeId="urn:microsoft.com/office/officeart/2005/8/layout/venn2" loCatId="relationship" qsTypeId="urn:microsoft.com/office/officeart/2005/8/quickstyle/simple2" qsCatId="simple" csTypeId="urn:microsoft.com/office/officeart/2005/8/colors/accent1_2" csCatId="accent1" phldr="1"/>
      <dgm:spPr/>
      <dgm:t>
        <a:bodyPr/>
        <a:lstStyle/>
        <a:p>
          <a:endParaRPr lang="en-US"/>
        </a:p>
      </dgm:t>
    </dgm:pt>
    <dgm:pt modelId="{8CA19EF6-84D0-40D2-BEEE-8E8C26AEDF3D}">
      <dgm:prSet phldrT="[Text]"/>
      <dgm:spPr/>
      <dgm:t>
        <a:bodyPr/>
        <a:lstStyle/>
        <a:p>
          <a:r>
            <a:rPr lang="en-US" dirty="0"/>
            <a:t>1NF</a:t>
          </a:r>
        </a:p>
      </dgm:t>
    </dgm:pt>
    <dgm:pt modelId="{EAFB2228-F6CB-43C3-93F8-9A06BE8BACB2}" type="parTrans" cxnId="{60545E04-270F-43F0-A19F-C57D124F85CA}">
      <dgm:prSet/>
      <dgm:spPr/>
      <dgm:t>
        <a:bodyPr/>
        <a:lstStyle/>
        <a:p>
          <a:endParaRPr lang="en-US"/>
        </a:p>
      </dgm:t>
    </dgm:pt>
    <dgm:pt modelId="{6B4FF628-B16D-4D3F-8FE3-611A7F90F43E}" type="sibTrans" cxnId="{60545E04-270F-43F0-A19F-C57D124F85CA}">
      <dgm:prSet/>
      <dgm:spPr/>
      <dgm:t>
        <a:bodyPr/>
        <a:lstStyle/>
        <a:p>
          <a:endParaRPr lang="en-US"/>
        </a:p>
      </dgm:t>
    </dgm:pt>
    <dgm:pt modelId="{31240A6F-FBCC-414A-ADA5-CAA3C21EE35C}">
      <dgm:prSet phldrT="[Text]"/>
      <dgm:spPr/>
      <dgm:t>
        <a:bodyPr/>
        <a:lstStyle/>
        <a:p>
          <a:r>
            <a:rPr lang="en-US" dirty="0"/>
            <a:t>2NF</a:t>
          </a:r>
        </a:p>
      </dgm:t>
    </dgm:pt>
    <dgm:pt modelId="{16C66EA2-6FCF-4B59-A19B-D73EB9DA6158}" type="parTrans" cxnId="{BA39CF5F-5AF6-4A38-9DFE-6E951A5D7E2F}">
      <dgm:prSet/>
      <dgm:spPr/>
      <dgm:t>
        <a:bodyPr/>
        <a:lstStyle/>
        <a:p>
          <a:endParaRPr lang="en-US"/>
        </a:p>
      </dgm:t>
    </dgm:pt>
    <dgm:pt modelId="{C5569EAC-FECC-4913-9FE7-9D4A6C8C8982}" type="sibTrans" cxnId="{BA39CF5F-5AF6-4A38-9DFE-6E951A5D7E2F}">
      <dgm:prSet/>
      <dgm:spPr/>
      <dgm:t>
        <a:bodyPr/>
        <a:lstStyle/>
        <a:p>
          <a:endParaRPr lang="en-US"/>
        </a:p>
      </dgm:t>
    </dgm:pt>
    <dgm:pt modelId="{EC7E2C81-502C-4FE8-9F7C-80F840C05AA0}">
      <dgm:prSet phldrT="[Text]"/>
      <dgm:spPr/>
      <dgm:t>
        <a:bodyPr/>
        <a:lstStyle/>
        <a:p>
          <a:r>
            <a:rPr lang="en-US" dirty="0"/>
            <a:t>3NF</a:t>
          </a:r>
        </a:p>
      </dgm:t>
    </dgm:pt>
    <dgm:pt modelId="{51BDC0B1-AD7D-4FDE-846E-DDF0C7268A80}" type="parTrans" cxnId="{E16ECA49-ABA4-4D56-A057-80CE867A01ED}">
      <dgm:prSet/>
      <dgm:spPr/>
      <dgm:t>
        <a:bodyPr/>
        <a:lstStyle/>
        <a:p>
          <a:endParaRPr lang="en-US"/>
        </a:p>
      </dgm:t>
    </dgm:pt>
    <dgm:pt modelId="{5FD0995F-1422-4509-BA59-E122F6998489}" type="sibTrans" cxnId="{E16ECA49-ABA4-4D56-A057-80CE867A01ED}">
      <dgm:prSet/>
      <dgm:spPr/>
      <dgm:t>
        <a:bodyPr/>
        <a:lstStyle/>
        <a:p>
          <a:endParaRPr lang="en-US"/>
        </a:p>
      </dgm:t>
    </dgm:pt>
    <dgm:pt modelId="{8BC783E0-966F-441F-B373-BFBD357F376C}" type="pres">
      <dgm:prSet presAssocID="{EF8E2675-10A3-4F88-AAB1-5C122CE97AF1}" presName="Name0" presStyleCnt="0">
        <dgm:presLayoutVars>
          <dgm:chMax val="7"/>
          <dgm:resizeHandles val="exact"/>
        </dgm:presLayoutVars>
      </dgm:prSet>
      <dgm:spPr/>
    </dgm:pt>
    <dgm:pt modelId="{DC9F9500-6513-41CC-8338-4098FF3E7CDB}" type="pres">
      <dgm:prSet presAssocID="{EF8E2675-10A3-4F88-AAB1-5C122CE97AF1}" presName="comp1" presStyleCnt="0"/>
      <dgm:spPr/>
    </dgm:pt>
    <dgm:pt modelId="{AD40DFD1-552A-4BD0-940E-09E8408CB466}" type="pres">
      <dgm:prSet presAssocID="{EF8E2675-10A3-4F88-AAB1-5C122CE97AF1}" presName="circle1" presStyleLbl="node1" presStyleIdx="0" presStyleCnt="3" custScaleX="87790" custScaleY="82628"/>
      <dgm:spPr/>
    </dgm:pt>
    <dgm:pt modelId="{852877E9-038A-4A0D-A7DF-1272A845DCFF}" type="pres">
      <dgm:prSet presAssocID="{EF8E2675-10A3-4F88-AAB1-5C122CE97AF1}" presName="c1text" presStyleLbl="node1" presStyleIdx="0" presStyleCnt="3">
        <dgm:presLayoutVars>
          <dgm:bulletEnabled val="1"/>
        </dgm:presLayoutVars>
      </dgm:prSet>
      <dgm:spPr/>
    </dgm:pt>
    <dgm:pt modelId="{2D754170-B109-4A46-9AC4-B5F48B3B62E8}" type="pres">
      <dgm:prSet presAssocID="{EF8E2675-10A3-4F88-AAB1-5C122CE97AF1}" presName="comp2" presStyleCnt="0"/>
      <dgm:spPr/>
    </dgm:pt>
    <dgm:pt modelId="{2DA05181-44B5-4615-B057-6D291C7429F1}" type="pres">
      <dgm:prSet presAssocID="{EF8E2675-10A3-4F88-AAB1-5C122CE97AF1}" presName="circle2" presStyleLbl="node1" presStyleIdx="1" presStyleCnt="3" custScaleX="83772" custScaleY="81070" custLinFactNeighborX="1454" custLinFactNeighborY="-9332"/>
      <dgm:spPr/>
    </dgm:pt>
    <dgm:pt modelId="{EF969203-BCDF-4DA1-88FC-1F664067F347}" type="pres">
      <dgm:prSet presAssocID="{EF8E2675-10A3-4F88-AAB1-5C122CE97AF1}" presName="c2text" presStyleLbl="node1" presStyleIdx="1" presStyleCnt="3">
        <dgm:presLayoutVars>
          <dgm:bulletEnabled val="1"/>
        </dgm:presLayoutVars>
      </dgm:prSet>
      <dgm:spPr/>
    </dgm:pt>
    <dgm:pt modelId="{29A0B003-09E7-4A51-9676-8F32491A0B85}" type="pres">
      <dgm:prSet presAssocID="{EF8E2675-10A3-4F88-AAB1-5C122CE97AF1}" presName="comp3" presStyleCnt="0"/>
      <dgm:spPr/>
    </dgm:pt>
    <dgm:pt modelId="{57102216-EE02-4353-99E9-81DD85D8A97E}" type="pres">
      <dgm:prSet presAssocID="{EF8E2675-10A3-4F88-AAB1-5C122CE97AF1}" presName="circle3" presStyleLbl="node1" presStyleIdx="2" presStyleCnt="3" custScaleX="88453" custScaleY="85827" custLinFactNeighborX="1661" custLinFactNeighborY="-29776"/>
      <dgm:spPr/>
    </dgm:pt>
    <dgm:pt modelId="{F00C1E34-7EB6-4A96-A44A-84206D78DCF2}" type="pres">
      <dgm:prSet presAssocID="{EF8E2675-10A3-4F88-AAB1-5C122CE97AF1}" presName="c3text" presStyleLbl="node1" presStyleIdx="2" presStyleCnt="3">
        <dgm:presLayoutVars>
          <dgm:bulletEnabled val="1"/>
        </dgm:presLayoutVars>
      </dgm:prSet>
      <dgm:spPr/>
    </dgm:pt>
  </dgm:ptLst>
  <dgm:cxnLst>
    <dgm:cxn modelId="{60545E04-270F-43F0-A19F-C57D124F85CA}" srcId="{EF8E2675-10A3-4F88-AAB1-5C122CE97AF1}" destId="{8CA19EF6-84D0-40D2-BEEE-8E8C26AEDF3D}" srcOrd="0" destOrd="0" parTransId="{EAFB2228-F6CB-43C3-93F8-9A06BE8BACB2}" sibTransId="{6B4FF628-B16D-4D3F-8FE3-611A7F90F43E}"/>
    <dgm:cxn modelId="{A865B73A-288D-4D19-9A67-0879B15E7AD3}" type="presOf" srcId="{8CA19EF6-84D0-40D2-BEEE-8E8C26AEDF3D}" destId="{852877E9-038A-4A0D-A7DF-1272A845DCFF}" srcOrd="1" destOrd="0" presId="urn:microsoft.com/office/officeart/2005/8/layout/venn2"/>
    <dgm:cxn modelId="{D791B43E-4642-43C0-B317-61ED6DB0D9FB}" type="presOf" srcId="{EF8E2675-10A3-4F88-AAB1-5C122CE97AF1}" destId="{8BC783E0-966F-441F-B373-BFBD357F376C}" srcOrd="0" destOrd="0" presId="urn:microsoft.com/office/officeart/2005/8/layout/venn2"/>
    <dgm:cxn modelId="{BA39CF5F-5AF6-4A38-9DFE-6E951A5D7E2F}" srcId="{EF8E2675-10A3-4F88-AAB1-5C122CE97AF1}" destId="{31240A6F-FBCC-414A-ADA5-CAA3C21EE35C}" srcOrd="1" destOrd="0" parTransId="{16C66EA2-6FCF-4B59-A19B-D73EB9DA6158}" sibTransId="{C5569EAC-FECC-4913-9FE7-9D4A6C8C8982}"/>
    <dgm:cxn modelId="{E16ECA49-ABA4-4D56-A057-80CE867A01ED}" srcId="{EF8E2675-10A3-4F88-AAB1-5C122CE97AF1}" destId="{EC7E2C81-502C-4FE8-9F7C-80F840C05AA0}" srcOrd="2" destOrd="0" parTransId="{51BDC0B1-AD7D-4FDE-846E-DDF0C7268A80}" sibTransId="{5FD0995F-1422-4509-BA59-E122F6998489}"/>
    <dgm:cxn modelId="{F335D06E-3C05-460B-9EC1-D77CC1295438}" type="presOf" srcId="{EC7E2C81-502C-4FE8-9F7C-80F840C05AA0}" destId="{57102216-EE02-4353-99E9-81DD85D8A97E}" srcOrd="0" destOrd="0" presId="urn:microsoft.com/office/officeart/2005/8/layout/venn2"/>
    <dgm:cxn modelId="{991C73A6-E611-448C-BB29-15D35BDB8182}" type="presOf" srcId="{31240A6F-FBCC-414A-ADA5-CAA3C21EE35C}" destId="{2DA05181-44B5-4615-B057-6D291C7429F1}" srcOrd="0" destOrd="0" presId="urn:microsoft.com/office/officeart/2005/8/layout/venn2"/>
    <dgm:cxn modelId="{63D63BB4-9771-43A8-BE7D-104701C4BA8D}" type="presOf" srcId="{EC7E2C81-502C-4FE8-9F7C-80F840C05AA0}" destId="{F00C1E34-7EB6-4A96-A44A-84206D78DCF2}" srcOrd="1" destOrd="0" presId="urn:microsoft.com/office/officeart/2005/8/layout/venn2"/>
    <dgm:cxn modelId="{324286CC-49BF-4042-A1F2-4E6F745DD25F}" type="presOf" srcId="{8CA19EF6-84D0-40D2-BEEE-8E8C26AEDF3D}" destId="{AD40DFD1-552A-4BD0-940E-09E8408CB466}" srcOrd="0" destOrd="0" presId="urn:microsoft.com/office/officeart/2005/8/layout/venn2"/>
    <dgm:cxn modelId="{D6FE2ED8-830D-4568-9AE5-E508A3BFB52E}" type="presOf" srcId="{31240A6F-FBCC-414A-ADA5-CAA3C21EE35C}" destId="{EF969203-BCDF-4DA1-88FC-1F664067F347}" srcOrd="1" destOrd="0" presId="urn:microsoft.com/office/officeart/2005/8/layout/venn2"/>
    <dgm:cxn modelId="{B02877BB-AFEE-4539-86B9-F58B6425AD61}" type="presParOf" srcId="{8BC783E0-966F-441F-B373-BFBD357F376C}" destId="{DC9F9500-6513-41CC-8338-4098FF3E7CDB}" srcOrd="0" destOrd="0" presId="urn:microsoft.com/office/officeart/2005/8/layout/venn2"/>
    <dgm:cxn modelId="{A8D02C74-618A-4BB7-83B9-4EE15FFF9502}" type="presParOf" srcId="{DC9F9500-6513-41CC-8338-4098FF3E7CDB}" destId="{AD40DFD1-552A-4BD0-940E-09E8408CB466}" srcOrd="0" destOrd="0" presId="urn:microsoft.com/office/officeart/2005/8/layout/venn2"/>
    <dgm:cxn modelId="{6B1E2BE8-DF97-462C-A8F6-E594A899FACF}" type="presParOf" srcId="{DC9F9500-6513-41CC-8338-4098FF3E7CDB}" destId="{852877E9-038A-4A0D-A7DF-1272A845DCFF}" srcOrd="1" destOrd="0" presId="urn:microsoft.com/office/officeart/2005/8/layout/venn2"/>
    <dgm:cxn modelId="{FCCC32F4-4C92-40FF-BA5A-D7F3DE05F36D}" type="presParOf" srcId="{8BC783E0-966F-441F-B373-BFBD357F376C}" destId="{2D754170-B109-4A46-9AC4-B5F48B3B62E8}" srcOrd="1" destOrd="0" presId="urn:microsoft.com/office/officeart/2005/8/layout/venn2"/>
    <dgm:cxn modelId="{D7BDC867-0EE9-4430-AB33-44174EE039CD}" type="presParOf" srcId="{2D754170-B109-4A46-9AC4-B5F48B3B62E8}" destId="{2DA05181-44B5-4615-B057-6D291C7429F1}" srcOrd="0" destOrd="0" presId="urn:microsoft.com/office/officeart/2005/8/layout/venn2"/>
    <dgm:cxn modelId="{58961630-BFBC-4763-8550-5BCCE950AD31}" type="presParOf" srcId="{2D754170-B109-4A46-9AC4-B5F48B3B62E8}" destId="{EF969203-BCDF-4DA1-88FC-1F664067F347}" srcOrd="1" destOrd="0" presId="urn:microsoft.com/office/officeart/2005/8/layout/venn2"/>
    <dgm:cxn modelId="{A1F9123D-C720-4D8D-9CD5-D81493F86E9D}" type="presParOf" srcId="{8BC783E0-966F-441F-B373-BFBD357F376C}" destId="{29A0B003-09E7-4A51-9676-8F32491A0B85}" srcOrd="2" destOrd="0" presId="urn:microsoft.com/office/officeart/2005/8/layout/venn2"/>
    <dgm:cxn modelId="{BD84B3EF-CF9A-4232-B22D-BF19A855E283}" type="presParOf" srcId="{29A0B003-09E7-4A51-9676-8F32491A0B85}" destId="{57102216-EE02-4353-99E9-81DD85D8A97E}" srcOrd="0" destOrd="0" presId="urn:microsoft.com/office/officeart/2005/8/layout/venn2"/>
    <dgm:cxn modelId="{22A98630-BF44-461D-BC47-4C573BFEA290}" type="presParOf" srcId="{29A0B003-09E7-4A51-9676-8F32491A0B85}" destId="{F00C1E34-7EB6-4A96-A44A-84206D78DCF2}" srcOrd="1" destOrd="0" presId="urn:microsoft.com/office/officeart/2005/8/layout/ven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40DFD1-552A-4BD0-940E-09E8408CB466}">
      <dsp:nvSpPr>
        <dsp:cNvPr id="0" name=""/>
        <dsp:cNvSpPr/>
      </dsp:nvSpPr>
      <dsp:spPr>
        <a:xfrm>
          <a:off x="347703" y="194657"/>
          <a:ext cx="2794766" cy="2630435"/>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kern="1200" dirty="0"/>
            <a:t>1NF</a:t>
          </a:r>
        </a:p>
      </dsp:txBody>
      <dsp:txXfrm>
        <a:off x="1256701" y="326178"/>
        <a:ext cx="976770" cy="394565"/>
      </dsp:txXfrm>
    </dsp:sp>
    <dsp:sp modelId="{2DA05181-44B5-4615-B057-6D291C7429F1}">
      <dsp:nvSpPr>
        <dsp:cNvPr id="0" name=""/>
        <dsp:cNvSpPr/>
      </dsp:nvSpPr>
      <dsp:spPr>
        <a:xfrm>
          <a:off x="779732" y="717183"/>
          <a:ext cx="2000141" cy="1935628"/>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kern="1200" dirty="0"/>
            <a:t>2NF</a:t>
          </a:r>
        </a:p>
      </dsp:txBody>
      <dsp:txXfrm>
        <a:off x="1313769" y="838160"/>
        <a:ext cx="932065" cy="362930"/>
      </dsp:txXfrm>
    </dsp:sp>
    <dsp:sp modelId="{57102216-EE02-4353-99E9-81DD85D8A97E}">
      <dsp:nvSpPr>
        <dsp:cNvPr id="0" name=""/>
        <dsp:cNvSpPr/>
      </dsp:nvSpPr>
      <dsp:spPr>
        <a:xfrm>
          <a:off x="1067557" y="1148718"/>
          <a:ext cx="1407936" cy="1366137"/>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kern="1200" dirty="0"/>
            <a:t>3NF</a:t>
          </a:r>
        </a:p>
      </dsp:txBody>
      <dsp:txXfrm>
        <a:off x="1273744" y="1490252"/>
        <a:ext cx="995561" cy="683068"/>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DFBC16-FC32-4599-B733-16AF3A2A718A}" type="datetimeFigureOut">
              <a:rPr lang="en-US" smtClean="0"/>
              <a:t>10/12/2020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DA4287-BE12-4793-ACB2-22EB28E0D1AF}" type="slidenum">
              <a:rPr lang="en-US" smtClean="0"/>
              <a:t>‹#›</a:t>
            </a:fld>
            <a:endParaRPr lang="en-US"/>
          </a:p>
        </p:txBody>
      </p:sp>
    </p:spTree>
    <p:extLst>
      <p:ext uri="{BB962C8B-B14F-4D97-AF65-F5344CB8AC3E}">
        <p14:creationId xmlns:p14="http://schemas.microsoft.com/office/powerpoint/2010/main" val="26434126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574D6CA-5B07-41E0-A7A1-3547E26766A1}" type="slidenum">
              <a:rPr lang="en-US" smtClean="0"/>
              <a:t>1</a:t>
            </a:fld>
            <a:endParaRPr lang="en-US"/>
          </a:p>
        </p:txBody>
      </p:sp>
    </p:spTree>
    <p:extLst>
      <p:ext uri="{BB962C8B-B14F-4D97-AF65-F5344CB8AC3E}">
        <p14:creationId xmlns:p14="http://schemas.microsoft.com/office/powerpoint/2010/main" val="3968182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574D6CA-5B07-41E0-A7A1-3547E26766A1}" type="slidenum">
              <a:rPr lang="en-US" smtClean="0"/>
              <a:t>2</a:t>
            </a:fld>
            <a:endParaRPr lang="en-US"/>
          </a:p>
        </p:txBody>
      </p:sp>
    </p:spTree>
    <p:extLst>
      <p:ext uri="{BB962C8B-B14F-4D97-AF65-F5344CB8AC3E}">
        <p14:creationId xmlns:p14="http://schemas.microsoft.com/office/powerpoint/2010/main" val="19909713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574D6CA-5B07-41E0-A7A1-3547E26766A1}" type="slidenum">
              <a:rPr lang="en-US" smtClean="0"/>
              <a:t>3</a:t>
            </a:fld>
            <a:endParaRPr lang="en-US"/>
          </a:p>
        </p:txBody>
      </p:sp>
    </p:spTree>
    <p:extLst>
      <p:ext uri="{BB962C8B-B14F-4D97-AF65-F5344CB8AC3E}">
        <p14:creationId xmlns:p14="http://schemas.microsoft.com/office/powerpoint/2010/main" val="14730097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574D6CA-5B07-41E0-A7A1-3547E26766A1}" type="slidenum">
              <a:rPr lang="en-US" smtClean="0"/>
              <a:t>4</a:t>
            </a:fld>
            <a:endParaRPr lang="en-US"/>
          </a:p>
        </p:txBody>
      </p:sp>
    </p:spTree>
    <p:extLst>
      <p:ext uri="{BB962C8B-B14F-4D97-AF65-F5344CB8AC3E}">
        <p14:creationId xmlns:p14="http://schemas.microsoft.com/office/powerpoint/2010/main" val="3064692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574D6CA-5B07-41E0-A7A1-3547E26766A1}" type="slidenum">
              <a:rPr lang="en-US" smtClean="0"/>
              <a:t>5</a:t>
            </a:fld>
            <a:endParaRPr lang="en-US"/>
          </a:p>
        </p:txBody>
      </p:sp>
    </p:spTree>
    <p:extLst>
      <p:ext uri="{BB962C8B-B14F-4D97-AF65-F5344CB8AC3E}">
        <p14:creationId xmlns:p14="http://schemas.microsoft.com/office/powerpoint/2010/main" val="18876714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574D6CA-5B07-41E0-A7A1-3547E26766A1}" type="slidenum">
              <a:rPr lang="en-US" smtClean="0"/>
              <a:t>6</a:t>
            </a:fld>
            <a:endParaRPr lang="en-US"/>
          </a:p>
        </p:txBody>
      </p:sp>
    </p:spTree>
    <p:extLst>
      <p:ext uri="{BB962C8B-B14F-4D97-AF65-F5344CB8AC3E}">
        <p14:creationId xmlns:p14="http://schemas.microsoft.com/office/powerpoint/2010/main" val="12375027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574D6CA-5B07-41E0-A7A1-3547E26766A1}" type="slidenum">
              <a:rPr lang="en-US" smtClean="0"/>
              <a:t>7</a:t>
            </a:fld>
            <a:endParaRPr lang="en-US"/>
          </a:p>
        </p:txBody>
      </p:sp>
    </p:spTree>
    <p:extLst>
      <p:ext uri="{BB962C8B-B14F-4D97-AF65-F5344CB8AC3E}">
        <p14:creationId xmlns:p14="http://schemas.microsoft.com/office/powerpoint/2010/main" val="29290101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574D6CA-5B07-41E0-A7A1-3547E26766A1}" type="slidenum">
              <a:rPr lang="en-US" smtClean="0"/>
              <a:t>8</a:t>
            </a:fld>
            <a:endParaRPr lang="en-US"/>
          </a:p>
        </p:txBody>
      </p:sp>
    </p:spTree>
    <p:extLst>
      <p:ext uri="{BB962C8B-B14F-4D97-AF65-F5344CB8AC3E}">
        <p14:creationId xmlns:p14="http://schemas.microsoft.com/office/powerpoint/2010/main" val="25665900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574D6CA-5B07-41E0-A7A1-3547E26766A1}" type="slidenum">
              <a:rPr lang="en-US" smtClean="0"/>
              <a:t>9</a:t>
            </a:fld>
            <a:endParaRPr lang="en-US"/>
          </a:p>
        </p:txBody>
      </p:sp>
    </p:spTree>
    <p:extLst>
      <p:ext uri="{BB962C8B-B14F-4D97-AF65-F5344CB8AC3E}">
        <p14:creationId xmlns:p14="http://schemas.microsoft.com/office/powerpoint/2010/main" val="33568964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574D6CA-5B07-41E0-A7A1-3547E26766A1}" type="slidenum">
              <a:rPr lang="en-US" smtClean="0"/>
              <a:t>10</a:t>
            </a:fld>
            <a:endParaRPr lang="en-US"/>
          </a:p>
        </p:txBody>
      </p:sp>
    </p:spTree>
    <p:extLst>
      <p:ext uri="{BB962C8B-B14F-4D97-AF65-F5344CB8AC3E}">
        <p14:creationId xmlns:p14="http://schemas.microsoft.com/office/powerpoint/2010/main" val="35057950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574D6CA-5B07-41E0-A7A1-3547E26766A1}" type="slidenum">
              <a:rPr lang="en-US" smtClean="0"/>
              <a:t>11</a:t>
            </a:fld>
            <a:endParaRPr lang="en-US"/>
          </a:p>
        </p:txBody>
      </p:sp>
    </p:spTree>
    <p:extLst>
      <p:ext uri="{BB962C8B-B14F-4D97-AF65-F5344CB8AC3E}">
        <p14:creationId xmlns:p14="http://schemas.microsoft.com/office/powerpoint/2010/main" val="15593652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574D6CA-5B07-41E0-A7A1-3547E26766A1}" type="slidenum">
              <a:rPr lang="en-US" smtClean="0"/>
              <a:t>12</a:t>
            </a:fld>
            <a:endParaRPr lang="en-US"/>
          </a:p>
        </p:txBody>
      </p:sp>
    </p:spTree>
    <p:extLst>
      <p:ext uri="{BB962C8B-B14F-4D97-AF65-F5344CB8AC3E}">
        <p14:creationId xmlns:p14="http://schemas.microsoft.com/office/powerpoint/2010/main" val="36020216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574D6CA-5B07-41E0-A7A1-3547E26766A1}" type="slidenum">
              <a:rPr lang="en-US" smtClean="0"/>
              <a:t>13</a:t>
            </a:fld>
            <a:endParaRPr lang="en-US"/>
          </a:p>
        </p:txBody>
      </p:sp>
    </p:spTree>
    <p:extLst>
      <p:ext uri="{BB962C8B-B14F-4D97-AF65-F5344CB8AC3E}">
        <p14:creationId xmlns:p14="http://schemas.microsoft.com/office/powerpoint/2010/main" val="3367335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574D6CA-5B07-41E0-A7A1-3547E26766A1}" type="slidenum">
              <a:rPr lang="en-US" smtClean="0"/>
              <a:t>14</a:t>
            </a:fld>
            <a:endParaRPr lang="en-US"/>
          </a:p>
        </p:txBody>
      </p:sp>
    </p:spTree>
    <p:extLst>
      <p:ext uri="{BB962C8B-B14F-4D97-AF65-F5344CB8AC3E}">
        <p14:creationId xmlns:p14="http://schemas.microsoft.com/office/powerpoint/2010/main" val="20250192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574D6CA-5B07-41E0-A7A1-3547E26766A1}" type="slidenum">
              <a:rPr lang="en-US" smtClean="0"/>
              <a:t>15</a:t>
            </a:fld>
            <a:endParaRPr lang="en-US"/>
          </a:p>
        </p:txBody>
      </p:sp>
    </p:spTree>
    <p:extLst>
      <p:ext uri="{BB962C8B-B14F-4D97-AF65-F5344CB8AC3E}">
        <p14:creationId xmlns:p14="http://schemas.microsoft.com/office/powerpoint/2010/main" val="22615243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574D6CA-5B07-41E0-A7A1-3547E26766A1}" type="slidenum">
              <a:rPr lang="en-US" smtClean="0"/>
              <a:t>16</a:t>
            </a:fld>
            <a:endParaRPr lang="en-US"/>
          </a:p>
        </p:txBody>
      </p:sp>
    </p:spTree>
    <p:extLst>
      <p:ext uri="{BB962C8B-B14F-4D97-AF65-F5344CB8AC3E}">
        <p14:creationId xmlns:p14="http://schemas.microsoft.com/office/powerpoint/2010/main" val="20524917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574D6CA-5B07-41E0-A7A1-3547E26766A1}" type="slidenum">
              <a:rPr lang="en-US" smtClean="0"/>
              <a:t>17</a:t>
            </a:fld>
            <a:endParaRPr lang="en-US"/>
          </a:p>
        </p:txBody>
      </p:sp>
    </p:spTree>
    <p:extLst>
      <p:ext uri="{BB962C8B-B14F-4D97-AF65-F5344CB8AC3E}">
        <p14:creationId xmlns:p14="http://schemas.microsoft.com/office/powerpoint/2010/main" val="20308262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574D6CA-5B07-41E0-A7A1-3547E26766A1}" type="slidenum">
              <a:rPr lang="en-US" smtClean="0"/>
              <a:t>18</a:t>
            </a:fld>
            <a:endParaRPr lang="en-US"/>
          </a:p>
        </p:txBody>
      </p:sp>
    </p:spTree>
    <p:extLst>
      <p:ext uri="{BB962C8B-B14F-4D97-AF65-F5344CB8AC3E}">
        <p14:creationId xmlns:p14="http://schemas.microsoft.com/office/powerpoint/2010/main" val="233914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574D6CA-5B07-41E0-A7A1-3547E26766A1}" type="slidenum">
              <a:rPr lang="en-US" smtClean="0"/>
              <a:t>19</a:t>
            </a:fld>
            <a:endParaRPr lang="en-US"/>
          </a:p>
        </p:txBody>
      </p:sp>
    </p:spTree>
    <p:extLst>
      <p:ext uri="{BB962C8B-B14F-4D97-AF65-F5344CB8AC3E}">
        <p14:creationId xmlns:p14="http://schemas.microsoft.com/office/powerpoint/2010/main" val="27812438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574D6CA-5B07-41E0-A7A1-3547E26766A1}" type="slidenum">
              <a:rPr lang="en-US" smtClean="0"/>
              <a:t>20</a:t>
            </a:fld>
            <a:endParaRPr lang="en-US"/>
          </a:p>
        </p:txBody>
      </p:sp>
    </p:spTree>
    <p:extLst>
      <p:ext uri="{BB962C8B-B14F-4D97-AF65-F5344CB8AC3E}">
        <p14:creationId xmlns:p14="http://schemas.microsoft.com/office/powerpoint/2010/main" val="30890774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574D6CA-5B07-41E0-A7A1-3547E26766A1}" type="slidenum">
              <a:rPr lang="en-US" smtClean="0"/>
              <a:t>21</a:t>
            </a:fld>
            <a:endParaRPr lang="en-US"/>
          </a:p>
        </p:txBody>
      </p:sp>
    </p:spTree>
    <p:extLst>
      <p:ext uri="{BB962C8B-B14F-4D97-AF65-F5344CB8AC3E}">
        <p14:creationId xmlns:p14="http://schemas.microsoft.com/office/powerpoint/2010/main" val="3620440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574D6CA-5B07-41E0-A7A1-3547E26766A1}" type="slidenum">
              <a:rPr lang="en-US" smtClean="0"/>
              <a:t>22</a:t>
            </a:fld>
            <a:endParaRPr lang="en-US"/>
          </a:p>
        </p:txBody>
      </p:sp>
    </p:spTree>
    <p:extLst>
      <p:ext uri="{BB962C8B-B14F-4D97-AF65-F5344CB8AC3E}">
        <p14:creationId xmlns:p14="http://schemas.microsoft.com/office/powerpoint/2010/main" val="24672236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574D6CA-5B07-41E0-A7A1-3547E26766A1}" type="slidenum">
              <a:rPr lang="en-US" smtClean="0"/>
              <a:t>23</a:t>
            </a:fld>
            <a:endParaRPr lang="en-US"/>
          </a:p>
        </p:txBody>
      </p:sp>
    </p:spTree>
    <p:extLst>
      <p:ext uri="{BB962C8B-B14F-4D97-AF65-F5344CB8AC3E}">
        <p14:creationId xmlns:p14="http://schemas.microsoft.com/office/powerpoint/2010/main" val="8288951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574D6CA-5B07-41E0-A7A1-3547E26766A1}" type="slidenum">
              <a:rPr lang="en-US" smtClean="0"/>
              <a:t>24</a:t>
            </a:fld>
            <a:endParaRPr lang="en-US"/>
          </a:p>
        </p:txBody>
      </p:sp>
    </p:spTree>
    <p:extLst>
      <p:ext uri="{BB962C8B-B14F-4D97-AF65-F5344CB8AC3E}">
        <p14:creationId xmlns:p14="http://schemas.microsoft.com/office/powerpoint/2010/main" val="9983147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574D6CA-5B07-41E0-A7A1-3547E26766A1}" type="slidenum">
              <a:rPr lang="en-US" smtClean="0"/>
              <a:t>25</a:t>
            </a:fld>
            <a:endParaRPr lang="en-US"/>
          </a:p>
        </p:txBody>
      </p:sp>
    </p:spTree>
    <p:extLst>
      <p:ext uri="{BB962C8B-B14F-4D97-AF65-F5344CB8AC3E}">
        <p14:creationId xmlns:p14="http://schemas.microsoft.com/office/powerpoint/2010/main" val="396443936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574D6CA-5B07-41E0-A7A1-3547E26766A1}" type="slidenum">
              <a:rPr lang="en-US" smtClean="0"/>
              <a:t>26</a:t>
            </a:fld>
            <a:endParaRPr lang="en-US"/>
          </a:p>
        </p:txBody>
      </p:sp>
    </p:spTree>
    <p:extLst>
      <p:ext uri="{BB962C8B-B14F-4D97-AF65-F5344CB8AC3E}">
        <p14:creationId xmlns:p14="http://schemas.microsoft.com/office/powerpoint/2010/main" val="3845031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574D6CA-5B07-41E0-A7A1-3547E26766A1}" type="slidenum">
              <a:rPr lang="en-US" smtClean="0"/>
              <a:t>27</a:t>
            </a:fld>
            <a:endParaRPr lang="en-US"/>
          </a:p>
        </p:txBody>
      </p:sp>
    </p:spTree>
    <p:extLst>
      <p:ext uri="{BB962C8B-B14F-4D97-AF65-F5344CB8AC3E}">
        <p14:creationId xmlns:p14="http://schemas.microsoft.com/office/powerpoint/2010/main" val="286356978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574D6CA-5B07-41E0-A7A1-3547E26766A1}" type="slidenum">
              <a:rPr lang="en-US" smtClean="0"/>
              <a:t>28</a:t>
            </a:fld>
            <a:endParaRPr lang="en-US"/>
          </a:p>
        </p:txBody>
      </p:sp>
    </p:spTree>
    <p:extLst>
      <p:ext uri="{BB962C8B-B14F-4D97-AF65-F5344CB8AC3E}">
        <p14:creationId xmlns:p14="http://schemas.microsoft.com/office/powerpoint/2010/main" val="248728531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574D6CA-5B07-41E0-A7A1-3547E26766A1}" type="slidenum">
              <a:rPr lang="en-US" smtClean="0"/>
              <a:t>29</a:t>
            </a:fld>
            <a:endParaRPr lang="en-US"/>
          </a:p>
        </p:txBody>
      </p:sp>
    </p:spTree>
    <p:extLst>
      <p:ext uri="{BB962C8B-B14F-4D97-AF65-F5344CB8AC3E}">
        <p14:creationId xmlns:p14="http://schemas.microsoft.com/office/powerpoint/2010/main" val="5268591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574D6CA-5B07-41E0-A7A1-3547E26766A1}" type="slidenum">
              <a:rPr lang="en-US" smtClean="0"/>
              <a:t>30</a:t>
            </a:fld>
            <a:endParaRPr lang="en-US"/>
          </a:p>
        </p:txBody>
      </p:sp>
    </p:spTree>
    <p:extLst>
      <p:ext uri="{BB962C8B-B14F-4D97-AF65-F5344CB8AC3E}">
        <p14:creationId xmlns:p14="http://schemas.microsoft.com/office/powerpoint/2010/main" val="24672236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574D6CA-5B07-41E0-A7A1-3547E26766A1}" type="slidenum">
              <a:rPr lang="en-US" smtClean="0"/>
              <a:t>31</a:t>
            </a:fld>
            <a:endParaRPr lang="en-US"/>
          </a:p>
        </p:txBody>
      </p:sp>
    </p:spTree>
    <p:extLst>
      <p:ext uri="{BB962C8B-B14F-4D97-AF65-F5344CB8AC3E}">
        <p14:creationId xmlns:p14="http://schemas.microsoft.com/office/powerpoint/2010/main" val="160841776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574D6CA-5B07-41E0-A7A1-3547E26766A1}" type="slidenum">
              <a:rPr lang="en-US" smtClean="0"/>
              <a:t>32</a:t>
            </a:fld>
            <a:endParaRPr lang="en-US"/>
          </a:p>
        </p:txBody>
      </p:sp>
    </p:spTree>
    <p:extLst>
      <p:ext uri="{BB962C8B-B14F-4D97-AF65-F5344CB8AC3E}">
        <p14:creationId xmlns:p14="http://schemas.microsoft.com/office/powerpoint/2010/main" val="2263892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3E81C-05ED-49EE-B620-BBFD76A4E88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AB85DBD-1F56-4E9C-A5BE-351B67305F2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CB089D2-5662-4A5D-AE91-7E2CEFDB7F6C}"/>
              </a:ext>
            </a:extLst>
          </p:cNvPr>
          <p:cNvSpPr>
            <a:spLocks noGrp="1"/>
          </p:cNvSpPr>
          <p:nvPr>
            <p:ph type="dt" sz="half" idx="10"/>
          </p:nvPr>
        </p:nvSpPr>
        <p:spPr/>
        <p:txBody>
          <a:bodyPr/>
          <a:lstStyle/>
          <a:p>
            <a:fld id="{0A42045C-6F06-4CA6-BE01-B52C107BA8D8}" type="datetimeFigureOut">
              <a:rPr lang="en-US" smtClean="0"/>
              <a:t>10/12/2020</a:t>
            </a:fld>
            <a:endParaRPr lang="en-US"/>
          </a:p>
        </p:txBody>
      </p:sp>
      <p:sp>
        <p:nvSpPr>
          <p:cNvPr id="5" name="Footer Placeholder 4">
            <a:extLst>
              <a:ext uri="{FF2B5EF4-FFF2-40B4-BE49-F238E27FC236}">
                <a16:creationId xmlns:a16="http://schemas.microsoft.com/office/drawing/2014/main" id="{3A4A3B9B-FB1A-42A5-AF41-64619A590F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4805B1-44EC-4B79-AA73-8B0CFAE0EBC1}"/>
              </a:ext>
            </a:extLst>
          </p:cNvPr>
          <p:cNvSpPr>
            <a:spLocks noGrp="1"/>
          </p:cNvSpPr>
          <p:nvPr>
            <p:ph type="sldNum" sz="quarter" idx="12"/>
          </p:nvPr>
        </p:nvSpPr>
        <p:spPr/>
        <p:txBody>
          <a:bodyPr/>
          <a:lstStyle/>
          <a:p>
            <a:fld id="{E0EFE93D-A327-4E94-9EC1-928C57C7CDA8}" type="slidenum">
              <a:rPr lang="en-US" smtClean="0"/>
              <a:t>‹#›</a:t>
            </a:fld>
            <a:endParaRPr lang="en-US"/>
          </a:p>
        </p:txBody>
      </p:sp>
    </p:spTree>
    <p:extLst>
      <p:ext uri="{BB962C8B-B14F-4D97-AF65-F5344CB8AC3E}">
        <p14:creationId xmlns:p14="http://schemas.microsoft.com/office/powerpoint/2010/main" val="2677937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C312D-2577-4DBB-9B72-30E7A1DF7A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AEA6C7-BD5A-48E5-AE05-A059ADE150E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DC0210-0A0D-41F6-B922-18714FACD5B2}"/>
              </a:ext>
            </a:extLst>
          </p:cNvPr>
          <p:cNvSpPr>
            <a:spLocks noGrp="1"/>
          </p:cNvSpPr>
          <p:nvPr>
            <p:ph type="dt" sz="half" idx="10"/>
          </p:nvPr>
        </p:nvSpPr>
        <p:spPr/>
        <p:txBody>
          <a:bodyPr/>
          <a:lstStyle/>
          <a:p>
            <a:fld id="{0A42045C-6F06-4CA6-BE01-B52C107BA8D8}" type="datetimeFigureOut">
              <a:rPr lang="en-US" smtClean="0"/>
              <a:t>10/12/2020</a:t>
            </a:fld>
            <a:endParaRPr lang="en-US"/>
          </a:p>
        </p:txBody>
      </p:sp>
      <p:sp>
        <p:nvSpPr>
          <p:cNvPr id="5" name="Footer Placeholder 4">
            <a:extLst>
              <a:ext uri="{FF2B5EF4-FFF2-40B4-BE49-F238E27FC236}">
                <a16:creationId xmlns:a16="http://schemas.microsoft.com/office/drawing/2014/main" id="{75DA3DA2-7325-4FA9-A4B6-B4E09DE622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C47449-3D11-498C-96BF-104C81DB2548}"/>
              </a:ext>
            </a:extLst>
          </p:cNvPr>
          <p:cNvSpPr>
            <a:spLocks noGrp="1"/>
          </p:cNvSpPr>
          <p:nvPr>
            <p:ph type="sldNum" sz="quarter" idx="12"/>
          </p:nvPr>
        </p:nvSpPr>
        <p:spPr/>
        <p:txBody>
          <a:bodyPr/>
          <a:lstStyle/>
          <a:p>
            <a:fld id="{E0EFE93D-A327-4E94-9EC1-928C57C7CDA8}" type="slidenum">
              <a:rPr lang="en-US" smtClean="0"/>
              <a:t>‹#›</a:t>
            </a:fld>
            <a:endParaRPr lang="en-US"/>
          </a:p>
        </p:txBody>
      </p:sp>
    </p:spTree>
    <p:extLst>
      <p:ext uri="{BB962C8B-B14F-4D97-AF65-F5344CB8AC3E}">
        <p14:creationId xmlns:p14="http://schemas.microsoft.com/office/powerpoint/2010/main" val="38191849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BD1DD-B21C-4B66-8C37-0D3221DEE4E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FA0D2E7-BDAC-4AFF-94D8-CB6BC7AC478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AB43028-06BA-4890-B24D-9D28BEDF289B}"/>
              </a:ext>
            </a:extLst>
          </p:cNvPr>
          <p:cNvSpPr>
            <a:spLocks noGrp="1"/>
          </p:cNvSpPr>
          <p:nvPr>
            <p:ph type="dt" sz="half" idx="10"/>
          </p:nvPr>
        </p:nvSpPr>
        <p:spPr/>
        <p:txBody>
          <a:bodyPr/>
          <a:lstStyle/>
          <a:p>
            <a:fld id="{0A42045C-6F06-4CA6-BE01-B52C107BA8D8}" type="datetimeFigureOut">
              <a:rPr lang="en-US" smtClean="0"/>
              <a:t>10/12/2020</a:t>
            </a:fld>
            <a:endParaRPr lang="en-US"/>
          </a:p>
        </p:txBody>
      </p:sp>
      <p:sp>
        <p:nvSpPr>
          <p:cNvPr id="5" name="Footer Placeholder 4">
            <a:extLst>
              <a:ext uri="{FF2B5EF4-FFF2-40B4-BE49-F238E27FC236}">
                <a16:creationId xmlns:a16="http://schemas.microsoft.com/office/drawing/2014/main" id="{C7956DF0-346F-40DA-A108-53940B08C3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3E7042-7E41-4416-AAA7-BE7D97E59610}"/>
              </a:ext>
            </a:extLst>
          </p:cNvPr>
          <p:cNvSpPr>
            <a:spLocks noGrp="1"/>
          </p:cNvSpPr>
          <p:nvPr>
            <p:ph type="sldNum" sz="quarter" idx="12"/>
          </p:nvPr>
        </p:nvSpPr>
        <p:spPr/>
        <p:txBody>
          <a:bodyPr/>
          <a:lstStyle/>
          <a:p>
            <a:fld id="{E0EFE93D-A327-4E94-9EC1-928C57C7CDA8}" type="slidenum">
              <a:rPr lang="en-US" smtClean="0"/>
              <a:t>‹#›</a:t>
            </a:fld>
            <a:endParaRPr lang="en-US"/>
          </a:p>
        </p:txBody>
      </p:sp>
    </p:spTree>
    <p:extLst>
      <p:ext uri="{BB962C8B-B14F-4D97-AF65-F5344CB8AC3E}">
        <p14:creationId xmlns:p14="http://schemas.microsoft.com/office/powerpoint/2010/main" val="26862338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23409-D651-40E5-B3EF-90954CFFC8B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F96BD8-25E4-4CAC-A9E2-325CB360286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F080904-D257-421C-AD15-A5FEE62B619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7E9DD8D-1ECC-4A2A-8286-250AAB5E0BA7}"/>
              </a:ext>
            </a:extLst>
          </p:cNvPr>
          <p:cNvSpPr>
            <a:spLocks noGrp="1"/>
          </p:cNvSpPr>
          <p:nvPr>
            <p:ph type="dt" sz="half" idx="10"/>
          </p:nvPr>
        </p:nvSpPr>
        <p:spPr/>
        <p:txBody>
          <a:bodyPr/>
          <a:lstStyle/>
          <a:p>
            <a:fld id="{0A42045C-6F06-4CA6-BE01-B52C107BA8D8}" type="datetimeFigureOut">
              <a:rPr lang="en-US" smtClean="0"/>
              <a:t>10/12/2020</a:t>
            </a:fld>
            <a:endParaRPr lang="en-US"/>
          </a:p>
        </p:txBody>
      </p:sp>
      <p:sp>
        <p:nvSpPr>
          <p:cNvPr id="6" name="Footer Placeholder 5">
            <a:extLst>
              <a:ext uri="{FF2B5EF4-FFF2-40B4-BE49-F238E27FC236}">
                <a16:creationId xmlns:a16="http://schemas.microsoft.com/office/drawing/2014/main" id="{7986C3DD-54A9-45FE-B791-31BB3597B8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679CA1-2FA3-445B-8FA7-BCC937FC80AB}"/>
              </a:ext>
            </a:extLst>
          </p:cNvPr>
          <p:cNvSpPr>
            <a:spLocks noGrp="1"/>
          </p:cNvSpPr>
          <p:nvPr>
            <p:ph type="sldNum" sz="quarter" idx="12"/>
          </p:nvPr>
        </p:nvSpPr>
        <p:spPr/>
        <p:txBody>
          <a:bodyPr/>
          <a:lstStyle/>
          <a:p>
            <a:fld id="{E0EFE93D-A327-4E94-9EC1-928C57C7CDA8}" type="slidenum">
              <a:rPr lang="en-US" smtClean="0"/>
              <a:t>‹#›</a:t>
            </a:fld>
            <a:endParaRPr lang="en-US"/>
          </a:p>
        </p:txBody>
      </p:sp>
    </p:spTree>
    <p:extLst>
      <p:ext uri="{BB962C8B-B14F-4D97-AF65-F5344CB8AC3E}">
        <p14:creationId xmlns:p14="http://schemas.microsoft.com/office/powerpoint/2010/main" val="18135707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7C6CB-9076-4B1B-AEC0-30E36F6A369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8935E27-9A76-4800-A2DB-93A033AC71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2ECAFA0-C567-40C7-9959-B03BF03E4E1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58F2DF-9934-4745-8A43-E00D58074A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C8E3866-EF36-478C-ACB6-952A66B2C6C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ADBA1B1-CF33-4AC5-8031-ABFC049F796B}"/>
              </a:ext>
            </a:extLst>
          </p:cNvPr>
          <p:cNvSpPr>
            <a:spLocks noGrp="1"/>
          </p:cNvSpPr>
          <p:nvPr>
            <p:ph type="dt" sz="half" idx="10"/>
          </p:nvPr>
        </p:nvSpPr>
        <p:spPr/>
        <p:txBody>
          <a:bodyPr/>
          <a:lstStyle/>
          <a:p>
            <a:fld id="{0A42045C-6F06-4CA6-BE01-B52C107BA8D8}" type="datetimeFigureOut">
              <a:rPr lang="en-US" smtClean="0"/>
              <a:t>10/12/2020</a:t>
            </a:fld>
            <a:endParaRPr lang="en-US"/>
          </a:p>
        </p:txBody>
      </p:sp>
      <p:sp>
        <p:nvSpPr>
          <p:cNvPr id="8" name="Footer Placeholder 7">
            <a:extLst>
              <a:ext uri="{FF2B5EF4-FFF2-40B4-BE49-F238E27FC236}">
                <a16:creationId xmlns:a16="http://schemas.microsoft.com/office/drawing/2014/main" id="{DA7407F1-9323-445D-B447-CD8C2387D7F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018D84E-C7EF-4FD6-96B2-35560031003E}"/>
              </a:ext>
            </a:extLst>
          </p:cNvPr>
          <p:cNvSpPr>
            <a:spLocks noGrp="1"/>
          </p:cNvSpPr>
          <p:nvPr>
            <p:ph type="sldNum" sz="quarter" idx="12"/>
          </p:nvPr>
        </p:nvSpPr>
        <p:spPr/>
        <p:txBody>
          <a:bodyPr/>
          <a:lstStyle/>
          <a:p>
            <a:fld id="{E0EFE93D-A327-4E94-9EC1-928C57C7CDA8}" type="slidenum">
              <a:rPr lang="en-US" smtClean="0"/>
              <a:t>‹#›</a:t>
            </a:fld>
            <a:endParaRPr lang="en-US"/>
          </a:p>
        </p:txBody>
      </p:sp>
    </p:spTree>
    <p:extLst>
      <p:ext uri="{BB962C8B-B14F-4D97-AF65-F5344CB8AC3E}">
        <p14:creationId xmlns:p14="http://schemas.microsoft.com/office/powerpoint/2010/main" val="39774669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344C6-CEED-4F46-9DFF-FBD87CBEF2C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8062634-D599-4986-B9D3-FA67560CF30B}"/>
              </a:ext>
            </a:extLst>
          </p:cNvPr>
          <p:cNvSpPr>
            <a:spLocks noGrp="1"/>
          </p:cNvSpPr>
          <p:nvPr>
            <p:ph type="dt" sz="half" idx="10"/>
          </p:nvPr>
        </p:nvSpPr>
        <p:spPr/>
        <p:txBody>
          <a:bodyPr/>
          <a:lstStyle/>
          <a:p>
            <a:fld id="{0A42045C-6F06-4CA6-BE01-B52C107BA8D8}" type="datetimeFigureOut">
              <a:rPr lang="en-US" smtClean="0"/>
              <a:t>10/12/2020</a:t>
            </a:fld>
            <a:endParaRPr lang="en-US"/>
          </a:p>
        </p:txBody>
      </p:sp>
      <p:sp>
        <p:nvSpPr>
          <p:cNvPr id="4" name="Footer Placeholder 3">
            <a:extLst>
              <a:ext uri="{FF2B5EF4-FFF2-40B4-BE49-F238E27FC236}">
                <a16:creationId xmlns:a16="http://schemas.microsoft.com/office/drawing/2014/main" id="{996C04F4-CE0A-44CD-803F-ABDC96A852E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C69FFFB-CC95-4CF4-82FC-04A29DE6C374}"/>
              </a:ext>
            </a:extLst>
          </p:cNvPr>
          <p:cNvSpPr>
            <a:spLocks noGrp="1"/>
          </p:cNvSpPr>
          <p:nvPr>
            <p:ph type="sldNum" sz="quarter" idx="12"/>
          </p:nvPr>
        </p:nvSpPr>
        <p:spPr/>
        <p:txBody>
          <a:bodyPr/>
          <a:lstStyle/>
          <a:p>
            <a:fld id="{E0EFE93D-A327-4E94-9EC1-928C57C7CDA8}" type="slidenum">
              <a:rPr lang="en-US" smtClean="0"/>
              <a:t>‹#›</a:t>
            </a:fld>
            <a:endParaRPr lang="en-US"/>
          </a:p>
        </p:txBody>
      </p:sp>
    </p:spTree>
    <p:extLst>
      <p:ext uri="{BB962C8B-B14F-4D97-AF65-F5344CB8AC3E}">
        <p14:creationId xmlns:p14="http://schemas.microsoft.com/office/powerpoint/2010/main" val="1358123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00BFB2B-3CA9-4A49-B301-CA5F01EAF42F}"/>
              </a:ext>
            </a:extLst>
          </p:cNvPr>
          <p:cNvSpPr>
            <a:spLocks noGrp="1"/>
          </p:cNvSpPr>
          <p:nvPr>
            <p:ph type="dt" sz="half" idx="10"/>
          </p:nvPr>
        </p:nvSpPr>
        <p:spPr/>
        <p:txBody>
          <a:bodyPr/>
          <a:lstStyle/>
          <a:p>
            <a:fld id="{0A42045C-6F06-4CA6-BE01-B52C107BA8D8}" type="datetimeFigureOut">
              <a:rPr lang="en-US" smtClean="0"/>
              <a:t>10/12/2020</a:t>
            </a:fld>
            <a:endParaRPr lang="en-US"/>
          </a:p>
        </p:txBody>
      </p:sp>
      <p:sp>
        <p:nvSpPr>
          <p:cNvPr id="3" name="Footer Placeholder 2">
            <a:extLst>
              <a:ext uri="{FF2B5EF4-FFF2-40B4-BE49-F238E27FC236}">
                <a16:creationId xmlns:a16="http://schemas.microsoft.com/office/drawing/2014/main" id="{6F3C6499-3339-405B-B459-EE3BB71F7FF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18FA09E-7E1B-4A79-95D7-01379CC99721}"/>
              </a:ext>
            </a:extLst>
          </p:cNvPr>
          <p:cNvSpPr>
            <a:spLocks noGrp="1"/>
          </p:cNvSpPr>
          <p:nvPr>
            <p:ph type="sldNum" sz="quarter" idx="12"/>
          </p:nvPr>
        </p:nvSpPr>
        <p:spPr/>
        <p:txBody>
          <a:bodyPr/>
          <a:lstStyle/>
          <a:p>
            <a:fld id="{E0EFE93D-A327-4E94-9EC1-928C57C7CDA8}" type="slidenum">
              <a:rPr lang="en-US" smtClean="0"/>
              <a:t>‹#›</a:t>
            </a:fld>
            <a:endParaRPr lang="en-US"/>
          </a:p>
        </p:txBody>
      </p:sp>
    </p:spTree>
    <p:extLst>
      <p:ext uri="{BB962C8B-B14F-4D97-AF65-F5344CB8AC3E}">
        <p14:creationId xmlns:p14="http://schemas.microsoft.com/office/powerpoint/2010/main" val="514284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D6B9E-C71A-4EF8-8FB2-415E6E7F66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7ECB32E-B497-4632-8520-37CC4C054C6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5056FAB-7FD8-4E68-91CB-265D7D8658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494FDA-AB70-4999-B9C1-5E5185A98FE7}"/>
              </a:ext>
            </a:extLst>
          </p:cNvPr>
          <p:cNvSpPr>
            <a:spLocks noGrp="1"/>
          </p:cNvSpPr>
          <p:nvPr>
            <p:ph type="dt" sz="half" idx="10"/>
          </p:nvPr>
        </p:nvSpPr>
        <p:spPr/>
        <p:txBody>
          <a:bodyPr/>
          <a:lstStyle/>
          <a:p>
            <a:fld id="{0A42045C-6F06-4CA6-BE01-B52C107BA8D8}" type="datetimeFigureOut">
              <a:rPr lang="en-US" smtClean="0"/>
              <a:t>10/12/2020</a:t>
            </a:fld>
            <a:endParaRPr lang="en-US"/>
          </a:p>
        </p:txBody>
      </p:sp>
      <p:sp>
        <p:nvSpPr>
          <p:cNvPr id="6" name="Footer Placeholder 5">
            <a:extLst>
              <a:ext uri="{FF2B5EF4-FFF2-40B4-BE49-F238E27FC236}">
                <a16:creationId xmlns:a16="http://schemas.microsoft.com/office/drawing/2014/main" id="{5EA012F4-F700-4832-8E6B-5E08510C7CF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1388C1-6CF4-4590-977D-C25F4CF6CFA8}"/>
              </a:ext>
            </a:extLst>
          </p:cNvPr>
          <p:cNvSpPr>
            <a:spLocks noGrp="1"/>
          </p:cNvSpPr>
          <p:nvPr>
            <p:ph type="sldNum" sz="quarter" idx="12"/>
          </p:nvPr>
        </p:nvSpPr>
        <p:spPr/>
        <p:txBody>
          <a:bodyPr/>
          <a:lstStyle/>
          <a:p>
            <a:fld id="{E0EFE93D-A327-4E94-9EC1-928C57C7CDA8}" type="slidenum">
              <a:rPr lang="en-US" smtClean="0"/>
              <a:t>‹#›</a:t>
            </a:fld>
            <a:endParaRPr lang="en-US"/>
          </a:p>
        </p:txBody>
      </p:sp>
    </p:spTree>
    <p:extLst>
      <p:ext uri="{BB962C8B-B14F-4D97-AF65-F5344CB8AC3E}">
        <p14:creationId xmlns:p14="http://schemas.microsoft.com/office/powerpoint/2010/main" val="4928483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D012B-4E8A-4FF0-9966-D6EC37379D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DE3F93E-C262-4273-9D3B-853DFFFC7B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92BE902-1DBA-4EF5-81DF-E86E3802DB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89A4CC-4A89-460D-874C-F4442CCD2284}"/>
              </a:ext>
            </a:extLst>
          </p:cNvPr>
          <p:cNvSpPr>
            <a:spLocks noGrp="1"/>
          </p:cNvSpPr>
          <p:nvPr>
            <p:ph type="dt" sz="half" idx="10"/>
          </p:nvPr>
        </p:nvSpPr>
        <p:spPr/>
        <p:txBody>
          <a:bodyPr/>
          <a:lstStyle/>
          <a:p>
            <a:fld id="{0A42045C-6F06-4CA6-BE01-B52C107BA8D8}" type="datetimeFigureOut">
              <a:rPr lang="en-US" smtClean="0"/>
              <a:t>10/12/2020</a:t>
            </a:fld>
            <a:endParaRPr lang="en-US"/>
          </a:p>
        </p:txBody>
      </p:sp>
      <p:sp>
        <p:nvSpPr>
          <p:cNvPr id="6" name="Footer Placeholder 5">
            <a:extLst>
              <a:ext uri="{FF2B5EF4-FFF2-40B4-BE49-F238E27FC236}">
                <a16:creationId xmlns:a16="http://schemas.microsoft.com/office/drawing/2014/main" id="{54D0EABD-3CCC-4FB3-979E-96DC456495B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6763DD-6A17-4ECD-9D58-4BCD02A8C78E}"/>
              </a:ext>
            </a:extLst>
          </p:cNvPr>
          <p:cNvSpPr>
            <a:spLocks noGrp="1"/>
          </p:cNvSpPr>
          <p:nvPr>
            <p:ph type="sldNum" sz="quarter" idx="12"/>
          </p:nvPr>
        </p:nvSpPr>
        <p:spPr/>
        <p:txBody>
          <a:bodyPr/>
          <a:lstStyle/>
          <a:p>
            <a:fld id="{E0EFE93D-A327-4E94-9EC1-928C57C7CDA8}" type="slidenum">
              <a:rPr lang="en-US" smtClean="0"/>
              <a:t>‹#›</a:t>
            </a:fld>
            <a:endParaRPr lang="en-US"/>
          </a:p>
        </p:txBody>
      </p:sp>
    </p:spTree>
    <p:extLst>
      <p:ext uri="{BB962C8B-B14F-4D97-AF65-F5344CB8AC3E}">
        <p14:creationId xmlns:p14="http://schemas.microsoft.com/office/powerpoint/2010/main" val="28213900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956BC-FCFC-4A90-B490-5798FC1E8DD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DD5EE84-4628-46C8-900B-B72C4E793E8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8F197B-C665-483E-A009-E566107FC8A6}"/>
              </a:ext>
            </a:extLst>
          </p:cNvPr>
          <p:cNvSpPr>
            <a:spLocks noGrp="1"/>
          </p:cNvSpPr>
          <p:nvPr>
            <p:ph type="dt" sz="half" idx="10"/>
          </p:nvPr>
        </p:nvSpPr>
        <p:spPr/>
        <p:txBody>
          <a:bodyPr/>
          <a:lstStyle/>
          <a:p>
            <a:fld id="{0A42045C-6F06-4CA6-BE01-B52C107BA8D8}" type="datetimeFigureOut">
              <a:rPr lang="en-US" smtClean="0"/>
              <a:t>10/12/2020</a:t>
            </a:fld>
            <a:endParaRPr lang="en-US"/>
          </a:p>
        </p:txBody>
      </p:sp>
      <p:sp>
        <p:nvSpPr>
          <p:cNvPr id="5" name="Footer Placeholder 4">
            <a:extLst>
              <a:ext uri="{FF2B5EF4-FFF2-40B4-BE49-F238E27FC236}">
                <a16:creationId xmlns:a16="http://schemas.microsoft.com/office/drawing/2014/main" id="{1C832FA5-6BE2-4749-A913-A4B57D9BB3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08D0A3-439E-4C2C-A8FA-856A54612C68}"/>
              </a:ext>
            </a:extLst>
          </p:cNvPr>
          <p:cNvSpPr>
            <a:spLocks noGrp="1"/>
          </p:cNvSpPr>
          <p:nvPr>
            <p:ph type="sldNum" sz="quarter" idx="12"/>
          </p:nvPr>
        </p:nvSpPr>
        <p:spPr/>
        <p:txBody>
          <a:bodyPr/>
          <a:lstStyle/>
          <a:p>
            <a:fld id="{E0EFE93D-A327-4E94-9EC1-928C57C7CDA8}" type="slidenum">
              <a:rPr lang="en-US" smtClean="0"/>
              <a:t>‹#›</a:t>
            </a:fld>
            <a:endParaRPr lang="en-US"/>
          </a:p>
        </p:txBody>
      </p:sp>
    </p:spTree>
    <p:extLst>
      <p:ext uri="{BB962C8B-B14F-4D97-AF65-F5344CB8AC3E}">
        <p14:creationId xmlns:p14="http://schemas.microsoft.com/office/powerpoint/2010/main" val="15257651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21DCBB8-E238-47E0-9946-3AF242CB9C7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EE98CFC-12DE-4749-B221-4AC077697A7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8E731B-3CF5-45C2-89E3-0014568AC8FE}"/>
              </a:ext>
            </a:extLst>
          </p:cNvPr>
          <p:cNvSpPr>
            <a:spLocks noGrp="1"/>
          </p:cNvSpPr>
          <p:nvPr>
            <p:ph type="dt" sz="half" idx="10"/>
          </p:nvPr>
        </p:nvSpPr>
        <p:spPr/>
        <p:txBody>
          <a:bodyPr/>
          <a:lstStyle/>
          <a:p>
            <a:fld id="{0A42045C-6F06-4CA6-BE01-B52C107BA8D8}" type="datetimeFigureOut">
              <a:rPr lang="en-US" smtClean="0"/>
              <a:t>10/12/2020</a:t>
            </a:fld>
            <a:endParaRPr lang="en-US"/>
          </a:p>
        </p:txBody>
      </p:sp>
      <p:sp>
        <p:nvSpPr>
          <p:cNvPr id="5" name="Footer Placeholder 4">
            <a:extLst>
              <a:ext uri="{FF2B5EF4-FFF2-40B4-BE49-F238E27FC236}">
                <a16:creationId xmlns:a16="http://schemas.microsoft.com/office/drawing/2014/main" id="{75D2CFE1-E81B-4298-AE35-E2C5AFC9F2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33E0EF-F26D-4304-8463-64203BBEAD58}"/>
              </a:ext>
            </a:extLst>
          </p:cNvPr>
          <p:cNvSpPr>
            <a:spLocks noGrp="1"/>
          </p:cNvSpPr>
          <p:nvPr>
            <p:ph type="sldNum" sz="quarter" idx="12"/>
          </p:nvPr>
        </p:nvSpPr>
        <p:spPr/>
        <p:txBody>
          <a:bodyPr/>
          <a:lstStyle/>
          <a:p>
            <a:fld id="{E0EFE93D-A327-4E94-9EC1-928C57C7CDA8}" type="slidenum">
              <a:rPr lang="en-US" smtClean="0"/>
              <a:t>‹#›</a:t>
            </a:fld>
            <a:endParaRPr lang="en-US"/>
          </a:p>
        </p:txBody>
      </p:sp>
    </p:spTree>
    <p:extLst>
      <p:ext uri="{BB962C8B-B14F-4D97-AF65-F5344CB8AC3E}">
        <p14:creationId xmlns:p14="http://schemas.microsoft.com/office/powerpoint/2010/main" val="10299989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9CDA21-E125-44C5-A1D0-6D0662F1CA0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A8399A6-CD6A-4844-8818-CDAA9AA2C9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045130-CF48-47C3-BB03-B55123B1F82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42045C-6F06-4CA6-BE01-B52C107BA8D8}" type="datetimeFigureOut">
              <a:rPr lang="en-US" smtClean="0"/>
              <a:t>10/12/2020</a:t>
            </a:fld>
            <a:endParaRPr lang="en-US"/>
          </a:p>
        </p:txBody>
      </p:sp>
      <p:sp>
        <p:nvSpPr>
          <p:cNvPr id="5" name="Footer Placeholder 4">
            <a:extLst>
              <a:ext uri="{FF2B5EF4-FFF2-40B4-BE49-F238E27FC236}">
                <a16:creationId xmlns:a16="http://schemas.microsoft.com/office/drawing/2014/main" id="{364D62F4-2EB5-4D54-AEBC-FCEBA7DA3B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750791E-6DA3-4888-A323-A9812BE8E0C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EFE93D-A327-4E94-9EC1-928C57C7CDA8}" type="slidenum">
              <a:rPr lang="en-US" smtClean="0"/>
              <a:t>‹#›</a:t>
            </a:fld>
            <a:endParaRPr lang="en-US"/>
          </a:p>
        </p:txBody>
      </p:sp>
    </p:spTree>
    <p:extLst>
      <p:ext uri="{BB962C8B-B14F-4D97-AF65-F5344CB8AC3E}">
        <p14:creationId xmlns:p14="http://schemas.microsoft.com/office/powerpoint/2010/main" val="5067737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comments" Target="../comments/comment3.xml"/><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comments" Target="../comments/comment4.xml"/><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comments" Target="../comments/comment5.xml"/><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comments" Target="../comments/comment6.xml"/><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comments" Target="../comments/comment7.xml"/><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comments" Target="../comments/comment8.xml"/><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br>
              <a:rPr lang="en-US" sz="9600" dirty="0"/>
            </a:br>
            <a:r>
              <a:rPr lang="en-US" dirty="0"/>
              <a:t>Normal Forms</a:t>
            </a:r>
          </a:p>
        </p:txBody>
      </p:sp>
      <p:sp>
        <p:nvSpPr>
          <p:cNvPr id="3" name="Subtitle 2"/>
          <p:cNvSpPr>
            <a:spLocks noGrp="1"/>
          </p:cNvSpPr>
          <p:nvPr>
            <p:ph type="subTitle" idx="1"/>
          </p:nvPr>
        </p:nvSpPr>
        <p:spPr>
          <a:xfrm>
            <a:off x="2024635" y="4198409"/>
            <a:ext cx="8038719" cy="1645920"/>
          </a:xfrm>
        </p:spPr>
        <p:txBody>
          <a:bodyPr>
            <a:normAutofit/>
          </a:bodyPr>
          <a:lstStyle/>
          <a:p>
            <a:endParaRPr lang="en-US" b="1" dirty="0"/>
          </a:p>
          <a:p>
            <a:r>
              <a:rPr lang="en-US" b="1" dirty="0"/>
              <a:t>Management Information Systems</a:t>
            </a:r>
          </a:p>
          <a:p>
            <a:r>
              <a:rPr lang="en-US" sz="2000" dirty="0"/>
              <a:t>Disha Parkhi</a:t>
            </a:r>
          </a:p>
          <a:p>
            <a:endParaRPr lang="en-US" sz="2000" dirty="0"/>
          </a:p>
        </p:txBody>
      </p:sp>
      <p:sp>
        <p:nvSpPr>
          <p:cNvPr id="4" name="Slide Number Placeholder 3"/>
          <p:cNvSpPr>
            <a:spLocks noGrp="1"/>
          </p:cNvSpPr>
          <p:nvPr>
            <p:ph type="sldNum" sz="quarter" idx="12"/>
          </p:nvPr>
        </p:nvSpPr>
        <p:spPr/>
        <p:txBody>
          <a:bodyPr/>
          <a:lstStyle/>
          <a:p>
            <a:fld id="{87F3E754-1C97-4481-A18C-9D97ADBDF344}" type="slidenum">
              <a:rPr lang="en-US" smtClean="0"/>
              <a:t>1</a:t>
            </a:fld>
            <a:endParaRPr lang="en-US"/>
          </a:p>
        </p:txBody>
      </p:sp>
    </p:spTree>
    <p:extLst>
      <p:ext uri="{BB962C8B-B14F-4D97-AF65-F5344CB8AC3E}">
        <p14:creationId xmlns:p14="http://schemas.microsoft.com/office/powerpoint/2010/main" val="30076074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9496" y="229078"/>
            <a:ext cx="8079581" cy="1213357"/>
          </a:xfrm>
        </p:spPr>
        <p:txBody>
          <a:bodyPr/>
          <a:lstStyle/>
          <a:p>
            <a:r>
              <a:rPr lang="en-US" dirty="0"/>
              <a:t>Outline</a:t>
            </a:r>
          </a:p>
        </p:txBody>
      </p:sp>
      <p:sp>
        <p:nvSpPr>
          <p:cNvPr id="3" name="Slide Number Placeholder 2"/>
          <p:cNvSpPr>
            <a:spLocks noGrp="1"/>
          </p:cNvSpPr>
          <p:nvPr>
            <p:ph type="sldNum" sz="quarter" idx="12"/>
          </p:nvPr>
        </p:nvSpPr>
        <p:spPr/>
        <p:txBody>
          <a:bodyPr/>
          <a:lstStyle/>
          <a:p>
            <a:fld id="{87F3E754-1C97-4481-A18C-9D97ADBDF344}" type="slidenum">
              <a:rPr lang="en-US" smtClean="0"/>
              <a:t>2</a:t>
            </a:fld>
            <a:endParaRPr lang="en-US" dirty="0"/>
          </a:p>
        </p:txBody>
      </p:sp>
      <p:sp>
        <p:nvSpPr>
          <p:cNvPr id="4" name="Rectangle 5"/>
          <p:cNvSpPr>
            <a:spLocks noChangeArrowheads="1"/>
          </p:cNvSpPr>
          <p:nvPr/>
        </p:nvSpPr>
        <p:spPr bwMode="auto">
          <a:xfrm>
            <a:off x="1849496" y="1089763"/>
            <a:ext cx="4698061" cy="2946320"/>
          </a:xfrm>
          <a:prstGeom prst="rect">
            <a:avLst/>
          </a:prstGeom>
          <a:noFill/>
          <a:ln w="9525">
            <a:noFill/>
            <a:miter lim="800000"/>
            <a:headEnd/>
            <a:tailEnd/>
          </a:ln>
          <a:effectLst/>
        </p:spPr>
        <p:txBody>
          <a:bodyPr wrap="square" lIns="92075" tIns="46038" rIns="92075" bIns="46038">
            <a:spAutoFit/>
          </a:bodyPr>
          <a:lstStyle/>
          <a:p>
            <a:pPr algn="just">
              <a:lnSpc>
                <a:spcPct val="150000"/>
              </a:lnSpc>
            </a:pPr>
            <a:endParaRPr lang="en-US" sz="2500" dirty="0"/>
          </a:p>
          <a:p>
            <a:pPr marL="342900" indent="-342900" algn="just">
              <a:lnSpc>
                <a:spcPct val="150000"/>
              </a:lnSpc>
              <a:buFont typeface="Wingdings" panose="05000000000000000000" pitchFamily="2" charset="2"/>
              <a:buChar char="§"/>
            </a:pPr>
            <a:endParaRPr lang="en-US" sz="2500" dirty="0"/>
          </a:p>
          <a:p>
            <a:pPr marL="342900" indent="-342900" algn="just">
              <a:lnSpc>
                <a:spcPct val="150000"/>
              </a:lnSpc>
              <a:buFont typeface="Wingdings" panose="05000000000000000000" pitchFamily="2" charset="2"/>
              <a:buChar char="§"/>
            </a:pPr>
            <a:r>
              <a:rPr lang="en-US" sz="2500" dirty="0"/>
              <a:t>Review database anomalies</a:t>
            </a:r>
          </a:p>
          <a:p>
            <a:pPr marL="342900" indent="-342900" algn="just">
              <a:lnSpc>
                <a:spcPct val="150000"/>
              </a:lnSpc>
              <a:buFont typeface="Wingdings" panose="05000000000000000000" pitchFamily="2" charset="2"/>
              <a:buChar char="§"/>
            </a:pPr>
            <a:r>
              <a:rPr lang="en-US" sz="2500" dirty="0"/>
              <a:t>Normal forms: 1NF, 2NF, 3NF</a:t>
            </a:r>
          </a:p>
          <a:p>
            <a:pPr algn="just">
              <a:lnSpc>
                <a:spcPct val="150000"/>
              </a:lnSpc>
            </a:pPr>
            <a:endParaRPr lang="en-US" sz="2500" dirty="0"/>
          </a:p>
        </p:txBody>
      </p:sp>
      <p:sp>
        <p:nvSpPr>
          <p:cNvPr id="5" name="Content Placeholder 8"/>
          <p:cNvSpPr txBox="1">
            <a:spLocks/>
          </p:cNvSpPr>
          <p:nvPr/>
        </p:nvSpPr>
        <p:spPr>
          <a:xfrm>
            <a:off x="6961909" y="1993392"/>
            <a:ext cx="3163455" cy="3767328"/>
          </a:xfrm>
          <a:prstGeom prst="rect">
            <a:avLst/>
          </a:prstGeom>
        </p:spPr>
        <p:style>
          <a:lnRef idx="2">
            <a:schemeClr val="accent1"/>
          </a:lnRef>
          <a:fillRef idx="1">
            <a:schemeClr val="lt1"/>
          </a:fillRef>
          <a:effectRef idx="0">
            <a:schemeClr val="accent1"/>
          </a:effectRef>
          <a:fontRef idx="minor">
            <a:schemeClr val="dk1"/>
          </a:fontRef>
        </p:style>
        <p:txBody>
          <a:bodyPr>
            <a:normAutofit/>
          </a:bodyPr>
          <a:lst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274320"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a:lstStyle>
          <a:p>
            <a:pPr marL="0" indent="0" algn="ctr">
              <a:lnSpc>
                <a:spcPct val="100000"/>
              </a:lnSpc>
              <a:buNone/>
            </a:pPr>
            <a:r>
              <a:rPr lang="en-US" sz="2800" dirty="0">
                <a:solidFill>
                  <a:schemeClr val="accent1"/>
                </a:solidFill>
              </a:rPr>
              <a:t>Reading:</a:t>
            </a:r>
            <a:r>
              <a:rPr lang="en-US" dirty="0"/>
              <a:t> </a:t>
            </a:r>
          </a:p>
          <a:p>
            <a:pPr>
              <a:lnSpc>
                <a:spcPct val="100000"/>
              </a:lnSpc>
              <a:buFont typeface="Wingdings" charset="2"/>
              <a:buChar char="ü"/>
            </a:pPr>
            <a:r>
              <a:rPr lang="en-US" i="1" dirty="0"/>
              <a:t> Chapter 4: 60-68</a:t>
            </a:r>
          </a:p>
          <a:p>
            <a:pPr>
              <a:lnSpc>
                <a:spcPct val="100000"/>
              </a:lnSpc>
              <a:buFont typeface="Wingdings" charset="2"/>
              <a:buChar char="ü"/>
            </a:pPr>
            <a:r>
              <a:rPr lang="en-US" i="1" dirty="0"/>
              <a:t>Chapter 9</a:t>
            </a:r>
            <a:endParaRPr lang="en-US" dirty="0"/>
          </a:p>
        </p:txBody>
      </p:sp>
    </p:spTree>
    <p:extLst>
      <p:ext uri="{BB962C8B-B14F-4D97-AF65-F5344CB8AC3E}">
        <p14:creationId xmlns:p14="http://schemas.microsoft.com/office/powerpoint/2010/main" val="10183242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794200" y="1629402"/>
            <a:ext cx="8691415" cy="5016758"/>
          </a:xfrm>
          <a:prstGeom prst="rect">
            <a:avLst/>
          </a:prstGeom>
          <a:noFill/>
          <a:ln>
            <a:noFill/>
          </a:ln>
          <a:effectLst/>
        </p:spPr>
        <p:txBody>
          <a:bodyPr wrap="square" rtlCol="0">
            <a:spAutoFit/>
          </a:bodyPr>
          <a:lstStyle/>
          <a:p>
            <a:pPr algn="just"/>
            <a:r>
              <a:rPr lang="en-US" sz="2000" dirty="0"/>
              <a:t>Consider the following table, designed to store information about student enrollments and information about the courses. </a:t>
            </a:r>
            <a:br>
              <a:rPr lang="en-US" sz="2000" dirty="0"/>
            </a:br>
            <a:r>
              <a:rPr lang="en-US" sz="2000" dirty="0"/>
              <a:t>Assume, for simplicity, each student can be identified by their first name.</a:t>
            </a:r>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r>
              <a:rPr lang="en-US" sz="2000" dirty="0"/>
              <a:t> </a:t>
            </a:r>
          </a:p>
          <a:p>
            <a:pPr algn="just"/>
            <a:endParaRPr lang="en-US" sz="2000" dirty="0"/>
          </a:p>
          <a:p>
            <a:pPr algn="just"/>
            <a:endParaRPr lang="en-US" sz="2000" dirty="0"/>
          </a:p>
          <a:p>
            <a:pPr algn="just"/>
            <a:endParaRPr lang="en-US" sz="2000" dirty="0"/>
          </a:p>
          <a:p>
            <a:pPr algn="just"/>
            <a:r>
              <a:rPr lang="en-US" sz="2000" dirty="0"/>
              <a:t>If each course (assume a single section per course) is always in the same room at the same time, this table contains redundant information! This cause anomalies…..</a:t>
            </a:r>
          </a:p>
        </p:txBody>
      </p:sp>
      <p:sp>
        <p:nvSpPr>
          <p:cNvPr id="2" name="Title 1"/>
          <p:cNvSpPr>
            <a:spLocks noGrp="1"/>
          </p:cNvSpPr>
          <p:nvPr>
            <p:ph type="title"/>
          </p:nvPr>
        </p:nvSpPr>
        <p:spPr>
          <a:xfrm>
            <a:off x="1820971" y="88818"/>
            <a:ext cx="8079581" cy="1037269"/>
          </a:xfrm>
        </p:spPr>
        <p:txBody>
          <a:bodyPr>
            <a:normAutofit/>
          </a:bodyPr>
          <a:lstStyle/>
          <a:p>
            <a:r>
              <a:rPr lang="en-US" dirty="0"/>
              <a:t>Recall the database anomalies…</a:t>
            </a:r>
          </a:p>
        </p:txBody>
      </p:sp>
      <p:sp>
        <p:nvSpPr>
          <p:cNvPr id="8" name="Rectangle 5"/>
          <p:cNvSpPr>
            <a:spLocks noChangeArrowheads="1"/>
          </p:cNvSpPr>
          <p:nvPr/>
        </p:nvSpPr>
        <p:spPr bwMode="auto">
          <a:xfrm>
            <a:off x="1856352" y="1021634"/>
            <a:ext cx="8262921" cy="980911"/>
          </a:xfrm>
          <a:prstGeom prst="rect">
            <a:avLst/>
          </a:prstGeom>
          <a:noFill/>
          <a:ln w="9525">
            <a:noFill/>
            <a:miter lim="800000"/>
            <a:headEnd/>
            <a:tailEnd/>
          </a:ln>
          <a:effectLst/>
        </p:spPr>
        <p:txBody>
          <a:bodyPr wrap="square" lIns="92075" tIns="46038" rIns="92075" bIns="46038">
            <a:spAutoFit/>
          </a:bodyPr>
          <a:lstStyle/>
          <a:p>
            <a:pPr algn="just">
              <a:lnSpc>
                <a:spcPts val="3000"/>
              </a:lnSpc>
              <a:spcBef>
                <a:spcPct val="25000"/>
              </a:spcBef>
              <a:spcAft>
                <a:spcPct val="10000"/>
              </a:spcAft>
              <a:defRPr/>
            </a:pPr>
            <a:r>
              <a:rPr lang="en-US" sz="2200" u="sng" dirty="0"/>
              <a:t>Anomalies</a:t>
            </a:r>
            <a:r>
              <a:rPr lang="en-US" sz="2200" dirty="0"/>
              <a:t> are problems caused by poor database design.</a:t>
            </a:r>
          </a:p>
          <a:p>
            <a:pPr algn="just">
              <a:lnSpc>
                <a:spcPts val="3000"/>
              </a:lnSpc>
              <a:spcBef>
                <a:spcPct val="25000"/>
              </a:spcBef>
              <a:spcAft>
                <a:spcPct val="10000"/>
              </a:spcAft>
              <a:defRPr/>
            </a:pPr>
            <a:endParaRPr lang="en-US" sz="2200" dirty="0"/>
          </a:p>
        </p:txBody>
      </p:sp>
      <p:sp>
        <p:nvSpPr>
          <p:cNvPr id="3" name="Slide Number Placeholder 2"/>
          <p:cNvSpPr>
            <a:spLocks noGrp="1"/>
          </p:cNvSpPr>
          <p:nvPr>
            <p:ph type="sldNum" sz="quarter" idx="12"/>
          </p:nvPr>
        </p:nvSpPr>
        <p:spPr/>
        <p:txBody>
          <a:bodyPr/>
          <a:lstStyle/>
          <a:p>
            <a:fld id="{87F3E754-1C97-4481-A18C-9D97ADBDF344}" type="slidenum">
              <a:rPr lang="en-US" smtClean="0"/>
              <a:t>3</a:t>
            </a:fld>
            <a:endParaRPr lang="en-US"/>
          </a:p>
        </p:txBody>
      </p:sp>
      <p:graphicFrame>
        <p:nvGraphicFramePr>
          <p:cNvPr id="5" name="Table 4"/>
          <p:cNvGraphicFramePr>
            <a:graphicFrameLocks noGrp="1"/>
          </p:cNvGraphicFramePr>
          <p:nvPr/>
        </p:nvGraphicFramePr>
        <p:xfrm>
          <a:off x="2911024" y="2725061"/>
          <a:ext cx="6331673" cy="2773680"/>
        </p:xfrm>
        <a:graphic>
          <a:graphicData uri="http://schemas.openxmlformats.org/drawingml/2006/table">
            <a:tbl>
              <a:tblPr firstRow="1" bandRow="1">
                <a:tableStyleId>{2D5ABB26-0587-4C30-8999-92F81FD0307C}</a:tableStyleId>
              </a:tblPr>
              <a:tblGrid>
                <a:gridCol w="1533068">
                  <a:extLst>
                    <a:ext uri="{9D8B030D-6E8A-4147-A177-3AD203B41FA5}">
                      <a16:colId xmlns:a16="http://schemas.microsoft.com/office/drawing/2014/main" val="20000"/>
                    </a:ext>
                  </a:extLst>
                </a:gridCol>
                <a:gridCol w="1445185">
                  <a:extLst>
                    <a:ext uri="{9D8B030D-6E8A-4147-A177-3AD203B41FA5}">
                      <a16:colId xmlns:a16="http://schemas.microsoft.com/office/drawing/2014/main" val="20001"/>
                    </a:ext>
                  </a:extLst>
                </a:gridCol>
                <a:gridCol w="2226367">
                  <a:extLst>
                    <a:ext uri="{9D8B030D-6E8A-4147-A177-3AD203B41FA5}">
                      <a16:colId xmlns:a16="http://schemas.microsoft.com/office/drawing/2014/main" val="20003"/>
                    </a:ext>
                  </a:extLst>
                </a:gridCol>
                <a:gridCol w="1127053">
                  <a:extLst>
                    <a:ext uri="{9D8B030D-6E8A-4147-A177-3AD203B41FA5}">
                      <a16:colId xmlns:a16="http://schemas.microsoft.com/office/drawing/2014/main" val="20002"/>
                    </a:ext>
                  </a:extLst>
                </a:gridCol>
              </a:tblGrid>
              <a:tr h="370840">
                <a:tc>
                  <a:txBody>
                    <a:bodyPr/>
                    <a:lstStyle/>
                    <a:p>
                      <a:pPr algn="ctr"/>
                      <a:r>
                        <a:rPr lang="en-US" sz="2000" b="1" u="sng" dirty="0"/>
                        <a:t>Student</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US" sz="2000" b="1" u="sng" dirty="0"/>
                        <a:t>Course</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US" sz="2000" b="1" u="none" dirty="0"/>
                        <a:t>Time</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US" sz="2000" b="1" dirty="0"/>
                        <a:t>Room</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sz="2000" dirty="0"/>
                        <a:t>Mary</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136:370</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M 9AM–12PM</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5087</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sz="2000" dirty="0"/>
                        <a:t>Joe</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136:370</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M 9AM–12PM</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5087</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sz="2000" dirty="0"/>
                        <a:t>Sam</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136:370</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M 9AM–12PM</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5087</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r>
                        <a:rPr lang="en-US" sz="2000" dirty="0"/>
                        <a:t>..</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r>
                        <a:rPr lang="en-US" sz="2000" dirty="0"/>
                        <a:t>Anne</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136:380</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W 10AM</a:t>
                      </a:r>
                      <a:r>
                        <a:rPr lang="en-US" sz="2000" baseline="0" dirty="0"/>
                        <a:t>-1PM</a:t>
                      </a:r>
                      <a:endParaRPr lang="en-US" sz="2000"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3071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r>
                        <a:rPr lang="en-US" sz="2000" dirty="0"/>
                        <a:t>..</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6660414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0971" y="88818"/>
            <a:ext cx="8079581" cy="1037269"/>
          </a:xfrm>
        </p:spPr>
        <p:txBody>
          <a:bodyPr>
            <a:normAutofit/>
          </a:bodyPr>
          <a:lstStyle/>
          <a:p>
            <a:r>
              <a:rPr lang="en-US" dirty="0"/>
              <a:t>Update anomaly</a:t>
            </a:r>
          </a:p>
        </p:txBody>
      </p:sp>
      <p:sp>
        <p:nvSpPr>
          <p:cNvPr id="8" name="Rectangle 5"/>
          <p:cNvSpPr>
            <a:spLocks noChangeArrowheads="1"/>
          </p:cNvSpPr>
          <p:nvPr/>
        </p:nvSpPr>
        <p:spPr bwMode="auto">
          <a:xfrm>
            <a:off x="1892378" y="1255826"/>
            <a:ext cx="8262921" cy="1247137"/>
          </a:xfrm>
          <a:prstGeom prst="rect">
            <a:avLst/>
          </a:prstGeom>
          <a:noFill/>
          <a:ln w="9525">
            <a:noFill/>
            <a:miter lim="800000"/>
            <a:headEnd/>
            <a:tailEnd/>
          </a:ln>
          <a:effectLst/>
        </p:spPr>
        <p:txBody>
          <a:bodyPr wrap="square" lIns="92075" tIns="46038" rIns="92075" bIns="46038">
            <a:spAutoFit/>
          </a:bodyPr>
          <a:lstStyle/>
          <a:p>
            <a:pPr algn="just">
              <a:lnSpc>
                <a:spcPts val="3000"/>
              </a:lnSpc>
              <a:spcBef>
                <a:spcPct val="25000"/>
              </a:spcBef>
              <a:spcAft>
                <a:spcPct val="10000"/>
              </a:spcAft>
              <a:defRPr/>
            </a:pPr>
            <a:r>
              <a:rPr lang="en-US" sz="2400" dirty="0"/>
              <a:t>An </a:t>
            </a:r>
            <a:r>
              <a:rPr lang="en-US" sz="2400" b="1" u="sng" dirty="0"/>
              <a:t>update anomaly</a:t>
            </a:r>
            <a:r>
              <a:rPr lang="en-US" sz="2400" dirty="0"/>
              <a:t> occurs when, as a result of redundancy, one must make many changes to reflect the modification of a single piece of information.</a:t>
            </a:r>
          </a:p>
        </p:txBody>
      </p:sp>
      <p:sp>
        <p:nvSpPr>
          <p:cNvPr id="3" name="Slide Number Placeholder 2"/>
          <p:cNvSpPr>
            <a:spLocks noGrp="1"/>
          </p:cNvSpPr>
          <p:nvPr>
            <p:ph type="sldNum" sz="quarter" idx="12"/>
          </p:nvPr>
        </p:nvSpPr>
        <p:spPr/>
        <p:txBody>
          <a:bodyPr/>
          <a:lstStyle/>
          <a:p>
            <a:fld id="{87F3E754-1C97-4481-A18C-9D97ADBDF344}" type="slidenum">
              <a:rPr lang="en-US" smtClean="0"/>
              <a:t>4</a:t>
            </a:fld>
            <a:endParaRPr lang="en-US"/>
          </a:p>
        </p:txBody>
      </p:sp>
      <p:sp>
        <p:nvSpPr>
          <p:cNvPr id="6" name="TextBox 5"/>
          <p:cNvSpPr txBox="1"/>
          <p:nvPr/>
        </p:nvSpPr>
        <p:spPr>
          <a:xfrm>
            <a:off x="7100174" y="2726752"/>
            <a:ext cx="3303132" cy="3477875"/>
          </a:xfrm>
          <a:prstGeom prst="rect">
            <a:avLst/>
          </a:prstGeom>
          <a:solidFill>
            <a:schemeClr val="accent1">
              <a:lumMod val="40000"/>
              <a:lumOff val="60000"/>
            </a:schemeClr>
          </a:solidFill>
          <a:effectLst>
            <a:outerShdw blurRad="50800" dist="12700" dir="2700000" algn="tl" rotWithShape="0">
              <a:prstClr val="black">
                <a:alpha val="40000"/>
              </a:prstClr>
            </a:outerShdw>
          </a:effectLst>
        </p:spPr>
        <p:txBody>
          <a:bodyPr wrap="square" rtlCol="0">
            <a:spAutoFit/>
          </a:bodyPr>
          <a:lstStyle/>
          <a:p>
            <a:r>
              <a:rPr lang="en-US" sz="2000" i="1" dirty="0">
                <a:latin typeface="+mj-lt"/>
              </a:rPr>
              <a:t>If we need to change the room of course 136:370, we need to do it as many times as the number of students taking it. </a:t>
            </a:r>
          </a:p>
          <a:p>
            <a:endParaRPr lang="en-US" sz="2000" i="1" dirty="0">
              <a:latin typeface="+mj-lt"/>
            </a:endParaRPr>
          </a:p>
          <a:p>
            <a:r>
              <a:rPr lang="en-US" sz="2000" i="1" dirty="0">
                <a:latin typeface="+mj-lt"/>
              </a:rPr>
              <a:t>Another consequence is that if, for some reason, we update the room number for one record only (e.g. from 5095 to 5087), we get inconsistent data.</a:t>
            </a:r>
          </a:p>
        </p:txBody>
      </p:sp>
      <p:graphicFrame>
        <p:nvGraphicFramePr>
          <p:cNvPr id="9" name="Table 8"/>
          <p:cNvGraphicFramePr>
            <a:graphicFrameLocks noGrp="1"/>
          </p:cNvGraphicFramePr>
          <p:nvPr/>
        </p:nvGraphicFramePr>
        <p:xfrm>
          <a:off x="1892377" y="2860481"/>
          <a:ext cx="4923760" cy="2773680"/>
        </p:xfrm>
        <a:graphic>
          <a:graphicData uri="http://schemas.openxmlformats.org/drawingml/2006/table">
            <a:tbl>
              <a:tblPr firstRow="1" bandRow="1">
                <a:tableStyleId>{2D5ABB26-0587-4C30-8999-92F81FD0307C}</a:tableStyleId>
              </a:tblPr>
              <a:tblGrid>
                <a:gridCol w="1128186">
                  <a:extLst>
                    <a:ext uri="{9D8B030D-6E8A-4147-A177-3AD203B41FA5}">
                      <a16:colId xmlns:a16="http://schemas.microsoft.com/office/drawing/2014/main" val="20000"/>
                    </a:ext>
                  </a:extLst>
                </a:gridCol>
                <a:gridCol w="1101026">
                  <a:extLst>
                    <a:ext uri="{9D8B030D-6E8A-4147-A177-3AD203B41FA5}">
                      <a16:colId xmlns:a16="http://schemas.microsoft.com/office/drawing/2014/main" val="20001"/>
                    </a:ext>
                  </a:extLst>
                </a:gridCol>
                <a:gridCol w="1792084">
                  <a:extLst>
                    <a:ext uri="{9D8B030D-6E8A-4147-A177-3AD203B41FA5}">
                      <a16:colId xmlns:a16="http://schemas.microsoft.com/office/drawing/2014/main" val="20003"/>
                    </a:ext>
                  </a:extLst>
                </a:gridCol>
                <a:gridCol w="902464">
                  <a:extLst>
                    <a:ext uri="{9D8B030D-6E8A-4147-A177-3AD203B41FA5}">
                      <a16:colId xmlns:a16="http://schemas.microsoft.com/office/drawing/2014/main" val="20002"/>
                    </a:ext>
                  </a:extLst>
                </a:gridCol>
              </a:tblGrid>
              <a:tr h="370840">
                <a:tc>
                  <a:txBody>
                    <a:bodyPr/>
                    <a:lstStyle/>
                    <a:p>
                      <a:pPr algn="ctr"/>
                      <a:r>
                        <a:rPr lang="en-US" sz="2000" b="1" u="sng" dirty="0"/>
                        <a:t>Student</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US" sz="2000" b="1" u="sng" dirty="0"/>
                        <a:t>Course</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US" sz="2000" b="1" u="none" dirty="0"/>
                        <a:t>Time</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US" sz="2000" b="1" dirty="0"/>
                        <a:t>Room</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sz="2000" dirty="0"/>
                        <a:t>Mary</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136:370</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M 9AM–12PM</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5087</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sz="2000" dirty="0"/>
                        <a:t>Joe</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136:370</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M 9AM–12PM</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solidFill>
                            <a:srgbClr val="FF0000"/>
                          </a:solidFill>
                        </a:rPr>
                        <a:t>5095</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sz="2000" dirty="0"/>
                        <a:t>Sam</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136:370</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M 9AM–12PM</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5087</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r>
                        <a:rPr lang="en-US" sz="2000" dirty="0"/>
                        <a:t>..</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r>
                        <a:rPr lang="en-US" sz="2000" dirty="0"/>
                        <a:t>Anne</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136:380</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W 10AM</a:t>
                      </a:r>
                      <a:r>
                        <a:rPr lang="en-US" sz="2000" baseline="0" dirty="0"/>
                        <a:t>-1PM</a:t>
                      </a:r>
                      <a:endParaRPr lang="en-US" sz="2000"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3071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r>
                        <a:rPr lang="en-US" sz="2000" dirty="0"/>
                        <a:t>..</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1826235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0971" y="88818"/>
            <a:ext cx="8079581" cy="1037269"/>
          </a:xfrm>
        </p:spPr>
        <p:txBody>
          <a:bodyPr>
            <a:normAutofit/>
          </a:bodyPr>
          <a:lstStyle/>
          <a:p>
            <a:r>
              <a:rPr lang="en-US" dirty="0"/>
              <a:t>Delete anomaly</a:t>
            </a:r>
          </a:p>
        </p:txBody>
      </p:sp>
      <p:sp>
        <p:nvSpPr>
          <p:cNvPr id="8" name="Rectangle 5"/>
          <p:cNvSpPr>
            <a:spLocks noChangeArrowheads="1"/>
          </p:cNvSpPr>
          <p:nvPr/>
        </p:nvSpPr>
        <p:spPr bwMode="auto">
          <a:xfrm>
            <a:off x="1892377" y="1255825"/>
            <a:ext cx="8395092" cy="854722"/>
          </a:xfrm>
          <a:prstGeom prst="rect">
            <a:avLst/>
          </a:prstGeom>
          <a:noFill/>
          <a:ln w="9525">
            <a:noFill/>
            <a:miter lim="800000"/>
            <a:headEnd/>
            <a:tailEnd/>
          </a:ln>
          <a:effectLst/>
        </p:spPr>
        <p:txBody>
          <a:bodyPr wrap="square" lIns="92075" tIns="46038" rIns="92075" bIns="46038">
            <a:spAutoFit/>
          </a:bodyPr>
          <a:lstStyle/>
          <a:p>
            <a:pPr algn="just">
              <a:lnSpc>
                <a:spcPts val="3000"/>
              </a:lnSpc>
              <a:spcBef>
                <a:spcPct val="25000"/>
              </a:spcBef>
              <a:spcAft>
                <a:spcPct val="10000"/>
              </a:spcAft>
              <a:defRPr/>
            </a:pPr>
            <a:r>
              <a:rPr lang="en-US" sz="2200" dirty="0"/>
              <a:t>A </a:t>
            </a:r>
            <a:r>
              <a:rPr lang="en-US" sz="2200" b="1" u="sng" dirty="0"/>
              <a:t>deletion anomaly</a:t>
            </a:r>
            <a:r>
              <a:rPr lang="en-US" sz="2200" b="1" dirty="0"/>
              <a:t> </a:t>
            </a:r>
            <a:r>
              <a:rPr lang="en-US" sz="2200" dirty="0"/>
              <a:t>occurs when data is deleted from a relation, and other critical data is unintentionally lost</a:t>
            </a:r>
          </a:p>
        </p:txBody>
      </p:sp>
      <p:sp>
        <p:nvSpPr>
          <p:cNvPr id="3" name="Slide Number Placeholder 2"/>
          <p:cNvSpPr>
            <a:spLocks noGrp="1"/>
          </p:cNvSpPr>
          <p:nvPr>
            <p:ph type="sldNum" sz="quarter" idx="12"/>
          </p:nvPr>
        </p:nvSpPr>
        <p:spPr/>
        <p:txBody>
          <a:bodyPr/>
          <a:lstStyle/>
          <a:p>
            <a:fld id="{87F3E754-1C97-4481-A18C-9D97ADBDF344}" type="slidenum">
              <a:rPr lang="en-US" smtClean="0"/>
              <a:t>5</a:t>
            </a:fld>
            <a:endParaRPr lang="en-US"/>
          </a:p>
        </p:txBody>
      </p:sp>
      <p:sp>
        <p:nvSpPr>
          <p:cNvPr id="6" name="TextBox 5"/>
          <p:cNvSpPr txBox="1"/>
          <p:nvPr/>
        </p:nvSpPr>
        <p:spPr>
          <a:xfrm>
            <a:off x="1872090" y="4451515"/>
            <a:ext cx="8443256" cy="1323439"/>
          </a:xfrm>
          <a:prstGeom prst="rect">
            <a:avLst/>
          </a:prstGeom>
          <a:solidFill>
            <a:srgbClr val="B9E1E9"/>
          </a:solidFill>
          <a:effectLst>
            <a:outerShdw blurRad="50800" dist="12700" dir="2700000" algn="tl" rotWithShape="0">
              <a:prstClr val="black">
                <a:alpha val="40000"/>
              </a:prstClr>
            </a:outerShdw>
          </a:effectLst>
        </p:spPr>
        <p:txBody>
          <a:bodyPr wrap="square" rtlCol="0">
            <a:spAutoFit/>
          </a:bodyPr>
          <a:lstStyle/>
          <a:p>
            <a:r>
              <a:rPr lang="en-US" sz="2000" i="1" dirty="0">
                <a:latin typeface="+mj-lt"/>
              </a:rPr>
              <a:t>If everyone drops the course 136:370, we lose the information of what time and room the class was in! When everyone drops the course, what we meant to delete is the information on the student enrollments, but we unintentionally lost information about the time and room of the course.</a:t>
            </a:r>
          </a:p>
        </p:txBody>
      </p:sp>
      <p:graphicFrame>
        <p:nvGraphicFramePr>
          <p:cNvPr id="7" name="Table 6"/>
          <p:cNvGraphicFramePr>
            <a:graphicFrameLocks noGrp="1"/>
          </p:cNvGraphicFramePr>
          <p:nvPr/>
        </p:nvGraphicFramePr>
        <p:xfrm>
          <a:off x="3595529" y="2409803"/>
          <a:ext cx="4923760" cy="1584960"/>
        </p:xfrm>
        <a:graphic>
          <a:graphicData uri="http://schemas.openxmlformats.org/drawingml/2006/table">
            <a:tbl>
              <a:tblPr firstRow="1" bandRow="1">
                <a:tableStyleId>{2D5ABB26-0587-4C30-8999-92F81FD0307C}</a:tableStyleId>
              </a:tblPr>
              <a:tblGrid>
                <a:gridCol w="1128186">
                  <a:extLst>
                    <a:ext uri="{9D8B030D-6E8A-4147-A177-3AD203B41FA5}">
                      <a16:colId xmlns:a16="http://schemas.microsoft.com/office/drawing/2014/main" val="20000"/>
                    </a:ext>
                  </a:extLst>
                </a:gridCol>
                <a:gridCol w="1101026">
                  <a:extLst>
                    <a:ext uri="{9D8B030D-6E8A-4147-A177-3AD203B41FA5}">
                      <a16:colId xmlns:a16="http://schemas.microsoft.com/office/drawing/2014/main" val="20001"/>
                    </a:ext>
                  </a:extLst>
                </a:gridCol>
                <a:gridCol w="1792084">
                  <a:extLst>
                    <a:ext uri="{9D8B030D-6E8A-4147-A177-3AD203B41FA5}">
                      <a16:colId xmlns:a16="http://schemas.microsoft.com/office/drawing/2014/main" val="20003"/>
                    </a:ext>
                  </a:extLst>
                </a:gridCol>
                <a:gridCol w="902464">
                  <a:extLst>
                    <a:ext uri="{9D8B030D-6E8A-4147-A177-3AD203B41FA5}">
                      <a16:colId xmlns:a16="http://schemas.microsoft.com/office/drawing/2014/main" val="20002"/>
                    </a:ext>
                  </a:extLst>
                </a:gridCol>
              </a:tblGrid>
              <a:tr h="370840">
                <a:tc>
                  <a:txBody>
                    <a:bodyPr/>
                    <a:lstStyle/>
                    <a:p>
                      <a:pPr algn="ctr"/>
                      <a:r>
                        <a:rPr lang="en-US" sz="2000" b="1" u="sng" dirty="0"/>
                        <a:t>Student</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US" sz="2000" b="1" u="sng" dirty="0"/>
                        <a:t>Course</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US" sz="2000" b="1" u="none" dirty="0"/>
                        <a:t>Time</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US" sz="2000" b="1" dirty="0"/>
                        <a:t>Room</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sz="2000" dirty="0"/>
                        <a:t>..</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r>
                        <a:rPr lang="en-US" sz="2000" dirty="0"/>
                        <a:t>Anne</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136:380</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W 10AM</a:t>
                      </a:r>
                      <a:r>
                        <a:rPr lang="en-US" sz="2000" baseline="0" dirty="0"/>
                        <a:t>-1PM</a:t>
                      </a:r>
                      <a:endParaRPr lang="en-US" sz="2000"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3071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sz="2000" dirty="0"/>
                        <a:t>..</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6424427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0971" y="88818"/>
            <a:ext cx="8079581" cy="1037269"/>
          </a:xfrm>
        </p:spPr>
        <p:txBody>
          <a:bodyPr>
            <a:normAutofit/>
          </a:bodyPr>
          <a:lstStyle/>
          <a:p>
            <a:r>
              <a:rPr lang="en-US" dirty="0"/>
              <a:t>Insertion anomaly</a:t>
            </a:r>
          </a:p>
        </p:txBody>
      </p:sp>
      <p:sp>
        <p:nvSpPr>
          <p:cNvPr id="8" name="Rectangle 5"/>
          <p:cNvSpPr>
            <a:spLocks noChangeArrowheads="1"/>
          </p:cNvSpPr>
          <p:nvPr/>
        </p:nvSpPr>
        <p:spPr bwMode="auto">
          <a:xfrm>
            <a:off x="1874365" y="1075678"/>
            <a:ext cx="8494165" cy="1365631"/>
          </a:xfrm>
          <a:prstGeom prst="rect">
            <a:avLst/>
          </a:prstGeom>
          <a:noFill/>
          <a:ln w="9525">
            <a:noFill/>
            <a:miter lim="800000"/>
            <a:headEnd/>
            <a:tailEnd/>
          </a:ln>
          <a:effectLst/>
        </p:spPr>
        <p:txBody>
          <a:bodyPr wrap="square" lIns="92075" tIns="46038" rIns="92075" bIns="46038">
            <a:spAutoFit/>
          </a:bodyPr>
          <a:lstStyle/>
          <a:p>
            <a:pPr algn="just">
              <a:lnSpc>
                <a:spcPts val="3000"/>
              </a:lnSpc>
              <a:spcBef>
                <a:spcPct val="25000"/>
              </a:spcBef>
              <a:spcAft>
                <a:spcPct val="10000"/>
              </a:spcAft>
              <a:defRPr/>
            </a:pPr>
            <a:r>
              <a:rPr lang="en-US" sz="2000" dirty="0"/>
              <a:t>An </a:t>
            </a:r>
            <a:r>
              <a:rPr lang="en-US" sz="2000" b="1" u="sng" dirty="0"/>
              <a:t>insertion anomaly</a:t>
            </a:r>
            <a:r>
              <a:rPr lang="en-US" sz="2000" b="1" dirty="0"/>
              <a:t> </a:t>
            </a:r>
            <a:r>
              <a:rPr lang="en-US" sz="2000" dirty="0"/>
              <a:t>occurs when data cannot be added to a table, because the data necessary to do so is unavailable (or one has to invent “dummy” data)</a:t>
            </a:r>
          </a:p>
          <a:p>
            <a:pPr marL="285750" indent="-285750" algn="just">
              <a:lnSpc>
                <a:spcPts val="3000"/>
              </a:lnSpc>
              <a:spcBef>
                <a:spcPct val="25000"/>
              </a:spcBef>
              <a:spcAft>
                <a:spcPct val="10000"/>
              </a:spcAft>
              <a:buFont typeface="Wingdings" panose="05000000000000000000" pitchFamily="2" charset="2"/>
              <a:buChar char="§"/>
              <a:defRPr/>
            </a:pPr>
            <a:endParaRPr lang="en-US" sz="2000" dirty="0"/>
          </a:p>
        </p:txBody>
      </p:sp>
      <p:sp>
        <p:nvSpPr>
          <p:cNvPr id="3" name="Slide Number Placeholder 2"/>
          <p:cNvSpPr>
            <a:spLocks noGrp="1"/>
          </p:cNvSpPr>
          <p:nvPr>
            <p:ph type="sldNum" sz="quarter" idx="12"/>
          </p:nvPr>
        </p:nvSpPr>
        <p:spPr/>
        <p:txBody>
          <a:bodyPr/>
          <a:lstStyle/>
          <a:p>
            <a:fld id="{87F3E754-1C97-4481-A18C-9D97ADBDF344}" type="slidenum">
              <a:rPr lang="en-US" smtClean="0"/>
              <a:t>6</a:t>
            </a:fld>
            <a:endParaRPr lang="en-US"/>
          </a:p>
        </p:txBody>
      </p:sp>
      <p:sp>
        <p:nvSpPr>
          <p:cNvPr id="6" name="TextBox 5"/>
          <p:cNvSpPr txBox="1"/>
          <p:nvPr/>
        </p:nvSpPr>
        <p:spPr>
          <a:xfrm>
            <a:off x="1820971" y="5405731"/>
            <a:ext cx="8736698" cy="1015663"/>
          </a:xfrm>
          <a:prstGeom prst="rect">
            <a:avLst/>
          </a:prstGeom>
          <a:solidFill>
            <a:srgbClr val="B9E1E9"/>
          </a:solidFill>
          <a:effectLst>
            <a:outerShdw blurRad="50800" dist="12700" dir="2700000" algn="tl" rotWithShape="0">
              <a:prstClr val="black">
                <a:alpha val="40000"/>
              </a:prstClr>
            </a:outerShdw>
          </a:effectLst>
        </p:spPr>
        <p:txBody>
          <a:bodyPr wrap="square" rtlCol="0">
            <a:spAutoFit/>
          </a:bodyPr>
          <a:lstStyle/>
          <a:p>
            <a:r>
              <a:rPr lang="en-US" sz="2000" i="1" dirty="0">
                <a:latin typeface="+mj-lt"/>
              </a:rPr>
              <a:t>We cannot store information about a new course 136:378 without students enrolled in it yet. We shouldn’t need students enrolled in a course to be able to store information about it.</a:t>
            </a:r>
          </a:p>
        </p:txBody>
      </p:sp>
      <p:graphicFrame>
        <p:nvGraphicFramePr>
          <p:cNvPr id="10" name="Table 9"/>
          <p:cNvGraphicFramePr>
            <a:graphicFrameLocks noGrp="1"/>
          </p:cNvGraphicFramePr>
          <p:nvPr/>
        </p:nvGraphicFramePr>
        <p:xfrm>
          <a:off x="1947313" y="2535905"/>
          <a:ext cx="4923760" cy="2773680"/>
        </p:xfrm>
        <a:graphic>
          <a:graphicData uri="http://schemas.openxmlformats.org/drawingml/2006/table">
            <a:tbl>
              <a:tblPr firstRow="1" bandRow="1">
                <a:tableStyleId>{2D5ABB26-0587-4C30-8999-92F81FD0307C}</a:tableStyleId>
              </a:tblPr>
              <a:tblGrid>
                <a:gridCol w="1128186">
                  <a:extLst>
                    <a:ext uri="{9D8B030D-6E8A-4147-A177-3AD203B41FA5}">
                      <a16:colId xmlns:a16="http://schemas.microsoft.com/office/drawing/2014/main" val="20000"/>
                    </a:ext>
                  </a:extLst>
                </a:gridCol>
                <a:gridCol w="1101026">
                  <a:extLst>
                    <a:ext uri="{9D8B030D-6E8A-4147-A177-3AD203B41FA5}">
                      <a16:colId xmlns:a16="http://schemas.microsoft.com/office/drawing/2014/main" val="20001"/>
                    </a:ext>
                  </a:extLst>
                </a:gridCol>
                <a:gridCol w="1792084">
                  <a:extLst>
                    <a:ext uri="{9D8B030D-6E8A-4147-A177-3AD203B41FA5}">
                      <a16:colId xmlns:a16="http://schemas.microsoft.com/office/drawing/2014/main" val="20003"/>
                    </a:ext>
                  </a:extLst>
                </a:gridCol>
                <a:gridCol w="902464">
                  <a:extLst>
                    <a:ext uri="{9D8B030D-6E8A-4147-A177-3AD203B41FA5}">
                      <a16:colId xmlns:a16="http://schemas.microsoft.com/office/drawing/2014/main" val="20002"/>
                    </a:ext>
                  </a:extLst>
                </a:gridCol>
              </a:tblGrid>
              <a:tr h="370840">
                <a:tc>
                  <a:txBody>
                    <a:bodyPr/>
                    <a:lstStyle/>
                    <a:p>
                      <a:pPr algn="ctr"/>
                      <a:r>
                        <a:rPr lang="en-US" sz="2000" b="1" u="sng" dirty="0"/>
                        <a:t>Student</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US" sz="2000" b="1" u="sng" dirty="0"/>
                        <a:t>Course</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US" sz="2000" b="1" u="none" dirty="0"/>
                        <a:t>Time</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US" sz="2000" b="1" dirty="0"/>
                        <a:t>Room</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sz="2000" dirty="0"/>
                        <a:t>Mary</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136:370</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M 9AM–12PM</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5087</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sz="2000" dirty="0"/>
                        <a:t>Joe</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136:370</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solidFill>
                            <a:schemeClr val="tx1"/>
                          </a:solidFill>
                        </a:rPr>
                        <a:t>M 9AM–12PM</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solidFill>
                            <a:schemeClr val="tx1"/>
                          </a:solidFill>
                        </a:rPr>
                        <a:t>5087</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sz="2000" dirty="0"/>
                        <a:t>Sam</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136:370</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M 9AM–12PM</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5087</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r>
                        <a:rPr lang="en-US" sz="2000" dirty="0"/>
                        <a:t>..</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r>
                        <a:rPr lang="en-US" sz="2000" dirty="0"/>
                        <a:t>Anne</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136:380</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W 10AM</a:t>
                      </a:r>
                      <a:r>
                        <a:rPr lang="en-US" sz="2000" baseline="0" dirty="0"/>
                        <a:t>-1PM</a:t>
                      </a:r>
                      <a:endParaRPr lang="en-US" sz="2000"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3071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r>
                        <a:rPr lang="en-US" sz="2000" dirty="0"/>
                        <a:t>..</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graphicFrame>
        <p:nvGraphicFramePr>
          <p:cNvPr id="4" name="Table 3"/>
          <p:cNvGraphicFramePr>
            <a:graphicFrameLocks noGrp="1"/>
          </p:cNvGraphicFramePr>
          <p:nvPr/>
        </p:nvGraphicFramePr>
        <p:xfrm>
          <a:off x="6639776" y="2011915"/>
          <a:ext cx="3851951" cy="396240"/>
        </p:xfrm>
        <a:graphic>
          <a:graphicData uri="http://schemas.openxmlformats.org/drawingml/2006/table">
            <a:tbl>
              <a:tblPr firstRow="1" bandRow="1">
                <a:tableStyleId>{2D5ABB26-0587-4C30-8999-92F81FD0307C}</a:tableStyleId>
              </a:tblPr>
              <a:tblGrid>
                <a:gridCol w="324019">
                  <a:extLst>
                    <a:ext uri="{9D8B030D-6E8A-4147-A177-3AD203B41FA5}">
                      <a16:colId xmlns:a16="http://schemas.microsoft.com/office/drawing/2014/main" val="20000"/>
                    </a:ext>
                  </a:extLst>
                </a:gridCol>
                <a:gridCol w="1101026">
                  <a:extLst>
                    <a:ext uri="{9D8B030D-6E8A-4147-A177-3AD203B41FA5}">
                      <a16:colId xmlns:a16="http://schemas.microsoft.com/office/drawing/2014/main" val="20001"/>
                    </a:ext>
                  </a:extLst>
                </a:gridCol>
                <a:gridCol w="1678975">
                  <a:extLst>
                    <a:ext uri="{9D8B030D-6E8A-4147-A177-3AD203B41FA5}">
                      <a16:colId xmlns:a16="http://schemas.microsoft.com/office/drawing/2014/main" val="20002"/>
                    </a:ext>
                  </a:extLst>
                </a:gridCol>
                <a:gridCol w="747931">
                  <a:extLst>
                    <a:ext uri="{9D8B030D-6E8A-4147-A177-3AD203B41FA5}">
                      <a16:colId xmlns:a16="http://schemas.microsoft.com/office/drawing/2014/main" val="20003"/>
                    </a:ext>
                  </a:extLst>
                </a:gridCol>
              </a:tblGrid>
              <a:tr h="370840">
                <a:tc>
                  <a:txBody>
                    <a:bodyPr/>
                    <a:lstStyle/>
                    <a:p>
                      <a:r>
                        <a:rPr lang="en-US" sz="2000" dirty="0"/>
                        <a:t>..</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136:499</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W 1PM–4PM</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4085</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11" name="Bent Arrow 10"/>
          <p:cNvSpPr/>
          <p:nvPr/>
        </p:nvSpPr>
        <p:spPr>
          <a:xfrm rot="10800000">
            <a:off x="7459381" y="2522067"/>
            <a:ext cx="990732" cy="2206812"/>
          </a:xfrm>
          <a:prstGeom prst="bentArrow">
            <a:avLst>
              <a:gd name="adj1" fmla="val 25000"/>
              <a:gd name="adj2" fmla="val 25303"/>
              <a:gd name="adj3" fmla="val 25000"/>
              <a:gd name="adj4" fmla="val 43750"/>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0491914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6920" y="499533"/>
            <a:ext cx="8079581" cy="835972"/>
          </a:xfrm>
        </p:spPr>
        <p:txBody>
          <a:bodyPr>
            <a:normAutofit/>
          </a:bodyPr>
          <a:lstStyle/>
          <a:p>
            <a:r>
              <a:rPr lang="en-US" dirty="0"/>
              <a:t>What about this design?</a:t>
            </a:r>
          </a:p>
        </p:txBody>
      </p:sp>
      <p:sp>
        <p:nvSpPr>
          <p:cNvPr id="3" name="TextBox 2"/>
          <p:cNvSpPr txBox="1"/>
          <p:nvPr/>
        </p:nvSpPr>
        <p:spPr>
          <a:xfrm>
            <a:off x="6265649" y="4515203"/>
            <a:ext cx="2706850" cy="1323439"/>
          </a:xfrm>
          <a:prstGeom prst="rect">
            <a:avLst/>
          </a:prstGeom>
          <a:solidFill>
            <a:srgbClr val="B9E1E9"/>
          </a:solidFill>
          <a:effectLst>
            <a:outerShdw blurRad="50800" dist="12700" dir="2700000" algn="tl" rotWithShape="0">
              <a:prstClr val="black">
                <a:alpha val="40000"/>
              </a:prstClr>
            </a:outerShdw>
          </a:effectLst>
        </p:spPr>
        <p:txBody>
          <a:bodyPr wrap="square" rtlCol="0">
            <a:spAutoFit/>
          </a:bodyPr>
          <a:lstStyle/>
          <a:p>
            <a:pPr marL="214313" indent="-214313">
              <a:buFont typeface="Arial"/>
              <a:buChar char="•"/>
            </a:pPr>
            <a:r>
              <a:rPr lang="en-US" sz="2000" dirty="0">
                <a:latin typeface="+mj-lt"/>
              </a:rPr>
              <a:t>Redundancy? </a:t>
            </a:r>
          </a:p>
          <a:p>
            <a:pPr marL="214313" indent="-214313">
              <a:buFont typeface="Arial"/>
              <a:buChar char="•"/>
            </a:pPr>
            <a:r>
              <a:rPr lang="en-US" sz="2000" dirty="0">
                <a:latin typeface="+mj-lt"/>
              </a:rPr>
              <a:t>Update anomaly? </a:t>
            </a:r>
          </a:p>
          <a:p>
            <a:pPr marL="214313" indent="-214313">
              <a:buFont typeface="Arial"/>
              <a:buChar char="•"/>
            </a:pPr>
            <a:r>
              <a:rPr lang="en-US" sz="2000" dirty="0">
                <a:latin typeface="+mj-lt"/>
              </a:rPr>
              <a:t>Delete anomaly?</a:t>
            </a:r>
          </a:p>
          <a:p>
            <a:pPr marL="214313" indent="-214313">
              <a:buFont typeface="Arial"/>
              <a:buChar char="•"/>
            </a:pPr>
            <a:r>
              <a:rPr lang="en-US" sz="2000" dirty="0">
                <a:latin typeface="+mj-lt"/>
              </a:rPr>
              <a:t>Insert anomaly?</a:t>
            </a:r>
          </a:p>
        </p:txBody>
      </p:sp>
      <p:graphicFrame>
        <p:nvGraphicFramePr>
          <p:cNvPr id="6" name="Table 5"/>
          <p:cNvGraphicFramePr>
            <a:graphicFrameLocks noGrp="1"/>
          </p:cNvGraphicFramePr>
          <p:nvPr/>
        </p:nvGraphicFramePr>
        <p:xfrm>
          <a:off x="2307580" y="1941417"/>
          <a:ext cx="2229212" cy="2773680"/>
        </p:xfrm>
        <a:graphic>
          <a:graphicData uri="http://schemas.openxmlformats.org/drawingml/2006/table">
            <a:tbl>
              <a:tblPr firstRow="1" bandRow="1">
                <a:tableStyleId>{2D5ABB26-0587-4C30-8999-92F81FD0307C}</a:tableStyleId>
              </a:tblPr>
              <a:tblGrid>
                <a:gridCol w="1128186">
                  <a:extLst>
                    <a:ext uri="{9D8B030D-6E8A-4147-A177-3AD203B41FA5}">
                      <a16:colId xmlns:a16="http://schemas.microsoft.com/office/drawing/2014/main" val="20000"/>
                    </a:ext>
                  </a:extLst>
                </a:gridCol>
                <a:gridCol w="1101026">
                  <a:extLst>
                    <a:ext uri="{9D8B030D-6E8A-4147-A177-3AD203B41FA5}">
                      <a16:colId xmlns:a16="http://schemas.microsoft.com/office/drawing/2014/main" val="20001"/>
                    </a:ext>
                  </a:extLst>
                </a:gridCol>
              </a:tblGrid>
              <a:tr h="370840">
                <a:tc>
                  <a:txBody>
                    <a:bodyPr/>
                    <a:lstStyle/>
                    <a:p>
                      <a:pPr algn="ctr"/>
                      <a:r>
                        <a:rPr lang="en-US" sz="2000" b="1" u="sng" dirty="0"/>
                        <a:t>Student</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US" sz="2000" b="1" u="sng" dirty="0"/>
                        <a:t>Course</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sz="2000" dirty="0"/>
                        <a:t>Mary</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136:370</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sz="2000" dirty="0"/>
                        <a:t>Joe</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136:370</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sz="2000" dirty="0"/>
                        <a:t>Sam</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136:370</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r>
                        <a:rPr lang="en-US" sz="2000" dirty="0"/>
                        <a:t>..</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r>
                        <a:rPr lang="en-US" sz="2000" dirty="0"/>
                        <a:t>Anne</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136:380</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r>
                        <a:rPr lang="en-US" sz="2000" dirty="0"/>
                        <a:t>..</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graphicFrame>
        <p:nvGraphicFramePr>
          <p:cNvPr id="7" name="Table 6"/>
          <p:cNvGraphicFramePr>
            <a:graphicFrameLocks noGrp="1"/>
          </p:cNvGraphicFramePr>
          <p:nvPr/>
        </p:nvGraphicFramePr>
        <p:xfrm>
          <a:off x="5963565" y="2291980"/>
          <a:ext cx="3795574" cy="1584960"/>
        </p:xfrm>
        <a:graphic>
          <a:graphicData uri="http://schemas.openxmlformats.org/drawingml/2006/table">
            <a:tbl>
              <a:tblPr firstRow="1" bandRow="1">
                <a:tableStyleId>{2D5ABB26-0587-4C30-8999-92F81FD0307C}</a:tableStyleId>
              </a:tblPr>
              <a:tblGrid>
                <a:gridCol w="1101026">
                  <a:extLst>
                    <a:ext uri="{9D8B030D-6E8A-4147-A177-3AD203B41FA5}">
                      <a16:colId xmlns:a16="http://schemas.microsoft.com/office/drawing/2014/main" val="20001"/>
                    </a:ext>
                  </a:extLst>
                </a:gridCol>
                <a:gridCol w="1792084">
                  <a:extLst>
                    <a:ext uri="{9D8B030D-6E8A-4147-A177-3AD203B41FA5}">
                      <a16:colId xmlns:a16="http://schemas.microsoft.com/office/drawing/2014/main" val="20003"/>
                    </a:ext>
                  </a:extLst>
                </a:gridCol>
                <a:gridCol w="902464">
                  <a:extLst>
                    <a:ext uri="{9D8B030D-6E8A-4147-A177-3AD203B41FA5}">
                      <a16:colId xmlns:a16="http://schemas.microsoft.com/office/drawing/2014/main" val="20002"/>
                    </a:ext>
                  </a:extLst>
                </a:gridCol>
              </a:tblGrid>
              <a:tr h="370840">
                <a:tc>
                  <a:txBody>
                    <a:bodyPr/>
                    <a:lstStyle/>
                    <a:p>
                      <a:pPr algn="ctr"/>
                      <a:r>
                        <a:rPr lang="en-US" sz="2000" b="1" u="sng" dirty="0"/>
                        <a:t>Course</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US" sz="2000" b="1" u="none" dirty="0"/>
                        <a:t>Time</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US" sz="2000" b="1" dirty="0"/>
                        <a:t>Room</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sz="2000" dirty="0"/>
                        <a:t>136:370</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M 9AM–12PM</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5087</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136:380</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W 10AM</a:t>
                      </a:r>
                      <a:r>
                        <a:rPr lang="en-US" sz="2000" baseline="0" dirty="0"/>
                        <a:t>-1PM</a:t>
                      </a:r>
                      <a:endParaRPr lang="en-US" sz="2000"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3071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sz="2000" dirty="0"/>
                        <a:t>136:499</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W 1PM–4PM</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4085</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376428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52248" y="156551"/>
            <a:ext cx="8079581" cy="1037269"/>
          </a:xfrm>
        </p:spPr>
        <p:txBody>
          <a:bodyPr>
            <a:normAutofit/>
          </a:bodyPr>
          <a:lstStyle/>
          <a:p>
            <a:r>
              <a:rPr lang="en-US" dirty="0"/>
              <a:t>Normal Forms</a:t>
            </a:r>
          </a:p>
        </p:txBody>
      </p:sp>
      <p:sp>
        <p:nvSpPr>
          <p:cNvPr id="8" name="Rectangle 5"/>
          <p:cNvSpPr>
            <a:spLocks noChangeArrowheads="1"/>
          </p:cNvSpPr>
          <p:nvPr/>
        </p:nvSpPr>
        <p:spPr bwMode="auto">
          <a:xfrm>
            <a:off x="1852247" y="1207920"/>
            <a:ext cx="8585093" cy="5035867"/>
          </a:xfrm>
          <a:prstGeom prst="rect">
            <a:avLst/>
          </a:prstGeom>
          <a:noFill/>
          <a:ln w="9525">
            <a:noFill/>
            <a:miter lim="800000"/>
            <a:headEnd/>
            <a:tailEnd/>
          </a:ln>
          <a:effectLst/>
        </p:spPr>
        <p:txBody>
          <a:bodyPr wrap="square" lIns="92075" tIns="46038" rIns="92075" bIns="46038">
            <a:spAutoFit/>
          </a:bodyPr>
          <a:lstStyle/>
          <a:p>
            <a:pPr>
              <a:spcBef>
                <a:spcPct val="25000"/>
              </a:spcBef>
              <a:spcAft>
                <a:spcPct val="10000"/>
              </a:spcAft>
              <a:defRPr/>
            </a:pPr>
            <a:r>
              <a:rPr lang="en-US" sz="2400" dirty="0"/>
              <a:t>“Normal forms” are rules that classify how “good” the database is.</a:t>
            </a:r>
          </a:p>
          <a:p>
            <a:pPr>
              <a:spcBef>
                <a:spcPct val="25000"/>
              </a:spcBef>
              <a:spcAft>
                <a:spcPct val="10000"/>
              </a:spcAft>
              <a:defRPr/>
            </a:pPr>
            <a:r>
              <a:rPr lang="en-US" sz="2400" dirty="0"/>
              <a:t>Having a database respect the normal forms helps prevent database anomalies.</a:t>
            </a:r>
          </a:p>
          <a:p>
            <a:pPr>
              <a:spcBef>
                <a:spcPct val="25000"/>
              </a:spcBef>
              <a:spcAft>
                <a:spcPct val="10000"/>
              </a:spcAft>
              <a:defRPr/>
            </a:pPr>
            <a:r>
              <a:rPr lang="en-US" sz="2400" dirty="0"/>
              <a:t>We are going to study the main 3 </a:t>
            </a:r>
            <a:r>
              <a:rPr lang="en-US" sz="2400" i="1" dirty="0"/>
              <a:t>normal forms</a:t>
            </a:r>
            <a:r>
              <a:rPr lang="en-US" sz="2400" dirty="0"/>
              <a:t> (</a:t>
            </a:r>
            <a:r>
              <a:rPr lang="en-US" sz="2400" i="1" dirty="0"/>
              <a:t>NF</a:t>
            </a:r>
            <a:r>
              <a:rPr lang="en-US" sz="2400" dirty="0"/>
              <a:t>): 1NF, 2NF and 3NF, that is, first, second and third normal form respectively.</a:t>
            </a:r>
          </a:p>
          <a:p>
            <a:pPr marL="342900" indent="-342900">
              <a:spcBef>
                <a:spcPct val="25000"/>
              </a:spcBef>
              <a:spcAft>
                <a:spcPct val="10000"/>
              </a:spcAft>
              <a:buFont typeface="Wingdings" panose="05000000000000000000" pitchFamily="2" charset="2"/>
              <a:buChar char="§"/>
              <a:defRPr/>
            </a:pPr>
            <a:endParaRPr lang="en-US" sz="2400" dirty="0"/>
          </a:p>
          <a:p>
            <a:pPr marL="342900" indent="-342900">
              <a:spcBef>
                <a:spcPct val="25000"/>
              </a:spcBef>
              <a:spcAft>
                <a:spcPct val="10000"/>
              </a:spcAft>
              <a:buFont typeface="Wingdings" panose="05000000000000000000" pitchFamily="2" charset="2"/>
              <a:buChar char="§"/>
              <a:defRPr/>
            </a:pPr>
            <a:endParaRPr lang="en-US" sz="2400" dirty="0"/>
          </a:p>
          <a:p>
            <a:pPr marL="342900" indent="-342900">
              <a:spcBef>
                <a:spcPct val="25000"/>
              </a:spcBef>
              <a:spcAft>
                <a:spcPct val="10000"/>
              </a:spcAft>
              <a:buFont typeface="Wingdings" panose="05000000000000000000" pitchFamily="2" charset="2"/>
              <a:buChar char="§"/>
              <a:defRPr/>
            </a:pPr>
            <a:endParaRPr lang="en-US" sz="2400" dirty="0"/>
          </a:p>
          <a:p>
            <a:pPr marL="342900" indent="-342900">
              <a:spcBef>
                <a:spcPct val="25000"/>
              </a:spcBef>
              <a:spcAft>
                <a:spcPct val="10000"/>
              </a:spcAft>
              <a:buFont typeface="Wingdings" panose="05000000000000000000" pitchFamily="2" charset="2"/>
              <a:buChar char="§"/>
              <a:defRPr/>
            </a:pPr>
            <a:endParaRPr lang="en-US" sz="2400" dirty="0"/>
          </a:p>
          <a:p>
            <a:pPr marL="342900" indent="-342900">
              <a:spcBef>
                <a:spcPct val="25000"/>
              </a:spcBef>
              <a:spcAft>
                <a:spcPct val="10000"/>
              </a:spcAft>
              <a:buFont typeface="Wingdings" panose="05000000000000000000" pitchFamily="2" charset="2"/>
              <a:buChar char="§"/>
              <a:defRPr/>
            </a:pPr>
            <a:endParaRPr lang="en-US" sz="2400" dirty="0"/>
          </a:p>
          <a:p>
            <a:pPr marL="342900" indent="-342900">
              <a:spcBef>
                <a:spcPct val="25000"/>
              </a:spcBef>
              <a:spcAft>
                <a:spcPct val="10000"/>
              </a:spcAft>
              <a:buFont typeface="Wingdings" panose="05000000000000000000" pitchFamily="2" charset="2"/>
              <a:buChar char="§"/>
              <a:defRPr/>
            </a:pPr>
            <a:endParaRPr lang="en-US" sz="1600" dirty="0"/>
          </a:p>
        </p:txBody>
      </p:sp>
      <p:graphicFrame>
        <p:nvGraphicFramePr>
          <p:cNvPr id="3" name="Diagram 2"/>
          <p:cNvGraphicFramePr/>
          <p:nvPr/>
        </p:nvGraphicFramePr>
        <p:xfrm>
          <a:off x="2425522" y="3674532"/>
          <a:ext cx="3490174" cy="31834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Rectangle 3"/>
          <p:cNvSpPr/>
          <p:nvPr/>
        </p:nvSpPr>
        <p:spPr>
          <a:xfrm>
            <a:off x="6934200" y="4445000"/>
            <a:ext cx="2963334" cy="609601"/>
          </a:xfrm>
          <a:prstGeom prst="rect">
            <a:avLst/>
          </a:prstGeom>
          <a:ln w="28575"/>
        </p:spPr>
        <p:style>
          <a:lnRef idx="1">
            <a:schemeClr val="accent1"/>
          </a:lnRef>
          <a:fillRef idx="2">
            <a:schemeClr val="accent1"/>
          </a:fillRef>
          <a:effectRef idx="1">
            <a:schemeClr val="accent1"/>
          </a:effectRef>
          <a:fontRef idx="minor">
            <a:schemeClr val="dk1"/>
          </a:fontRef>
        </p:style>
        <p:txBody>
          <a:bodyPr rtlCol="0" anchor="ctr"/>
          <a:lstStyle/>
          <a:p>
            <a:pPr marL="285750" indent="-285750">
              <a:buFont typeface="Arial" panose="020B0604020202020204" pitchFamily="34" charset="0"/>
              <a:buChar char="•"/>
            </a:pPr>
            <a:r>
              <a:rPr lang="en-US" dirty="0"/>
              <a:t>2NF contains 1NF </a:t>
            </a:r>
          </a:p>
          <a:p>
            <a:pPr marL="285750" indent="-285750">
              <a:buFont typeface="Arial" panose="020B0604020202020204" pitchFamily="34" charset="0"/>
              <a:buChar char="•"/>
            </a:pPr>
            <a:r>
              <a:rPr lang="en-US" dirty="0"/>
              <a:t>3NF contains 1NF and 2NF</a:t>
            </a:r>
          </a:p>
        </p:txBody>
      </p:sp>
      <p:cxnSp>
        <p:nvCxnSpPr>
          <p:cNvPr id="6" name="Straight Arrow Connector 5"/>
          <p:cNvCxnSpPr>
            <a:stCxn id="4" idx="1"/>
          </p:cNvCxnSpPr>
          <p:nvPr/>
        </p:nvCxnSpPr>
        <p:spPr>
          <a:xfrm flipH="1">
            <a:off x="5528734" y="4749801"/>
            <a:ext cx="1405467" cy="237067"/>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87F3E754-1C97-4481-A18C-9D97ADBDF344}" type="slidenum">
              <a:rPr lang="en-US" smtClean="0"/>
              <a:t>8</a:t>
            </a:fld>
            <a:endParaRPr lang="en-US" dirty="0"/>
          </a:p>
        </p:txBody>
      </p:sp>
    </p:spTree>
    <p:extLst>
      <p:ext uri="{BB962C8B-B14F-4D97-AF65-F5344CB8AC3E}">
        <p14:creationId xmlns:p14="http://schemas.microsoft.com/office/powerpoint/2010/main" val="25673423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1NF</a:t>
            </a:r>
          </a:p>
        </p:txBody>
      </p:sp>
      <p:sp>
        <p:nvSpPr>
          <p:cNvPr id="3" name="Text Placeholder 2"/>
          <p:cNvSpPr>
            <a:spLocks noGrp="1"/>
          </p:cNvSpPr>
          <p:nvPr>
            <p:ph type="body" idx="1"/>
          </p:nvPr>
        </p:nvSpPr>
        <p:spPr/>
        <p:txBody>
          <a:bodyPr/>
          <a:lstStyle/>
          <a:p>
            <a:r>
              <a:rPr lang="en-US" dirty="0"/>
              <a:t>First Normal Form</a:t>
            </a:r>
          </a:p>
        </p:txBody>
      </p:sp>
      <p:sp>
        <p:nvSpPr>
          <p:cNvPr id="4" name="Slide Number Placeholder 3"/>
          <p:cNvSpPr>
            <a:spLocks noGrp="1"/>
          </p:cNvSpPr>
          <p:nvPr>
            <p:ph type="sldNum" sz="quarter" idx="12"/>
          </p:nvPr>
        </p:nvSpPr>
        <p:spPr/>
        <p:txBody>
          <a:bodyPr/>
          <a:lstStyle/>
          <a:p>
            <a:fld id="{87F3E754-1C97-4481-A18C-9D97ADBDF344}" type="slidenum">
              <a:rPr lang="en-US" smtClean="0"/>
              <a:t>9</a:t>
            </a:fld>
            <a:endParaRPr lang="en-US"/>
          </a:p>
        </p:txBody>
      </p:sp>
    </p:spTree>
    <p:extLst>
      <p:ext uri="{BB962C8B-B14F-4D97-AF65-F5344CB8AC3E}">
        <p14:creationId xmlns:p14="http://schemas.microsoft.com/office/powerpoint/2010/main" val="22610846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4948" y="88818"/>
            <a:ext cx="8079581" cy="1037269"/>
          </a:xfrm>
        </p:spPr>
        <p:txBody>
          <a:bodyPr>
            <a:normAutofit/>
          </a:bodyPr>
          <a:lstStyle/>
          <a:p>
            <a:r>
              <a:rPr lang="en-US" dirty="0"/>
              <a:t>First Normal Form (1NF)</a:t>
            </a:r>
          </a:p>
        </p:txBody>
      </p:sp>
      <p:sp>
        <p:nvSpPr>
          <p:cNvPr id="8" name="Rectangle 5"/>
          <p:cNvSpPr>
            <a:spLocks noChangeArrowheads="1"/>
          </p:cNvSpPr>
          <p:nvPr/>
        </p:nvSpPr>
        <p:spPr bwMode="auto">
          <a:xfrm>
            <a:off x="1852248" y="1317987"/>
            <a:ext cx="8585093" cy="4291047"/>
          </a:xfrm>
          <a:prstGeom prst="rect">
            <a:avLst/>
          </a:prstGeom>
          <a:noFill/>
          <a:ln w="9525">
            <a:noFill/>
            <a:miter lim="800000"/>
            <a:headEnd/>
            <a:tailEnd/>
          </a:ln>
          <a:effectLst/>
        </p:spPr>
        <p:txBody>
          <a:bodyPr wrap="square" lIns="92075" tIns="46038" rIns="92075" bIns="46038">
            <a:spAutoFit/>
          </a:bodyPr>
          <a:lstStyle/>
          <a:p>
            <a:pPr>
              <a:spcBef>
                <a:spcPct val="25000"/>
              </a:spcBef>
              <a:spcAft>
                <a:spcPct val="10000"/>
              </a:spcAft>
              <a:defRPr/>
            </a:pPr>
            <a:r>
              <a:rPr lang="en-US" sz="2400" b="1" dirty="0"/>
              <a:t>A database is said to be in the </a:t>
            </a:r>
            <a:r>
              <a:rPr lang="en-US" sz="2400" b="1" u="sng" dirty="0"/>
              <a:t>first normal form (1NF)</a:t>
            </a:r>
            <a:r>
              <a:rPr lang="en-US" sz="2400" b="1" dirty="0"/>
              <a:t> if all of its tables’ attributes are </a:t>
            </a:r>
            <a:r>
              <a:rPr lang="en-US" sz="2400" b="1" i="1" u="sng" dirty="0"/>
              <a:t>atomic</a:t>
            </a:r>
            <a:r>
              <a:rPr lang="en-US" sz="2400" b="1" dirty="0"/>
              <a:t>. </a:t>
            </a:r>
          </a:p>
          <a:p>
            <a:pPr>
              <a:spcBef>
                <a:spcPct val="25000"/>
              </a:spcBef>
              <a:spcAft>
                <a:spcPct val="10000"/>
              </a:spcAft>
              <a:defRPr/>
            </a:pPr>
            <a:endParaRPr lang="en-US" sz="2400" b="1" dirty="0"/>
          </a:p>
          <a:p>
            <a:pPr>
              <a:spcBef>
                <a:spcPct val="25000"/>
              </a:spcBef>
              <a:spcAft>
                <a:spcPct val="10000"/>
              </a:spcAft>
              <a:defRPr/>
            </a:pPr>
            <a:r>
              <a:rPr lang="en-US" sz="2400" dirty="0"/>
              <a:t>That means:</a:t>
            </a:r>
          </a:p>
          <a:p>
            <a:pPr marL="342900" indent="-342900">
              <a:spcBef>
                <a:spcPct val="25000"/>
              </a:spcBef>
              <a:spcAft>
                <a:spcPct val="10000"/>
              </a:spcAft>
              <a:buFont typeface="Wingdings" panose="05000000000000000000" pitchFamily="2" charset="2"/>
              <a:buChar char="§"/>
              <a:defRPr/>
            </a:pPr>
            <a:r>
              <a:rPr lang="en-US" sz="2400" dirty="0"/>
              <a:t>No nested tables or </a:t>
            </a:r>
            <a:r>
              <a:rPr lang="en-US" sz="2400" dirty="0" err="1"/>
              <a:t>subtables</a:t>
            </a:r>
            <a:endParaRPr lang="en-US" sz="2400" dirty="0"/>
          </a:p>
          <a:p>
            <a:pPr marL="342900" indent="-342900">
              <a:spcBef>
                <a:spcPct val="25000"/>
              </a:spcBef>
              <a:spcAft>
                <a:spcPct val="10000"/>
              </a:spcAft>
              <a:buFont typeface="Wingdings" panose="05000000000000000000" pitchFamily="2" charset="2"/>
              <a:buChar char="§"/>
              <a:defRPr/>
            </a:pPr>
            <a:r>
              <a:rPr lang="en-US" sz="2400" dirty="0"/>
              <a:t>No attribute should be a list of values</a:t>
            </a:r>
          </a:p>
          <a:p>
            <a:pPr marL="342900" indent="-342900">
              <a:spcBef>
                <a:spcPct val="25000"/>
              </a:spcBef>
              <a:spcAft>
                <a:spcPct val="10000"/>
              </a:spcAft>
              <a:buFont typeface="Wingdings" panose="05000000000000000000" pitchFamily="2" charset="2"/>
              <a:buChar char="§"/>
              <a:defRPr/>
            </a:pPr>
            <a:r>
              <a:rPr lang="en-US" sz="2400" dirty="0"/>
              <a:t>No repeating groups of attributes</a:t>
            </a:r>
          </a:p>
          <a:p>
            <a:pPr marL="342900" indent="-342900">
              <a:spcBef>
                <a:spcPct val="25000"/>
              </a:spcBef>
              <a:spcAft>
                <a:spcPct val="10000"/>
              </a:spcAft>
              <a:buFont typeface="Wingdings" panose="05000000000000000000" pitchFamily="2" charset="2"/>
              <a:buChar char="§"/>
              <a:defRPr/>
            </a:pPr>
            <a:endParaRPr lang="en-US" sz="2400" dirty="0"/>
          </a:p>
          <a:p>
            <a:pPr algn="just"/>
            <a:endParaRPr lang="en-US" sz="2800" dirty="0"/>
          </a:p>
        </p:txBody>
      </p:sp>
      <p:sp>
        <p:nvSpPr>
          <p:cNvPr id="3" name="Slide Number Placeholder 2"/>
          <p:cNvSpPr>
            <a:spLocks noGrp="1"/>
          </p:cNvSpPr>
          <p:nvPr>
            <p:ph type="sldNum" sz="quarter" idx="12"/>
          </p:nvPr>
        </p:nvSpPr>
        <p:spPr/>
        <p:txBody>
          <a:bodyPr/>
          <a:lstStyle/>
          <a:p>
            <a:fld id="{87F3E754-1C97-4481-A18C-9D97ADBDF344}" type="slidenum">
              <a:rPr lang="en-US" smtClean="0"/>
              <a:t>10</a:t>
            </a:fld>
            <a:endParaRPr lang="en-US"/>
          </a:p>
        </p:txBody>
      </p:sp>
    </p:spTree>
    <p:extLst>
      <p:ext uri="{BB962C8B-B14F-4D97-AF65-F5344CB8AC3E}">
        <p14:creationId xmlns:p14="http://schemas.microsoft.com/office/powerpoint/2010/main" val="8860467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6920" y="184291"/>
            <a:ext cx="8079581" cy="999509"/>
          </a:xfrm>
        </p:spPr>
        <p:txBody>
          <a:bodyPr>
            <a:normAutofit/>
          </a:bodyPr>
          <a:lstStyle/>
          <a:p>
            <a:r>
              <a:rPr lang="en-US" dirty="0"/>
              <a:t>Examples – Students and courses</a:t>
            </a:r>
          </a:p>
        </p:txBody>
      </p:sp>
      <p:graphicFrame>
        <p:nvGraphicFramePr>
          <p:cNvPr id="5" name="Table 4"/>
          <p:cNvGraphicFramePr>
            <a:graphicFrameLocks noGrp="1"/>
          </p:cNvGraphicFramePr>
          <p:nvPr/>
        </p:nvGraphicFramePr>
        <p:xfrm>
          <a:off x="2280738" y="2710112"/>
          <a:ext cx="4432726" cy="1554480"/>
        </p:xfrm>
        <a:graphic>
          <a:graphicData uri="http://schemas.openxmlformats.org/drawingml/2006/table">
            <a:tbl>
              <a:tblPr firstRow="1" bandRow="1">
                <a:tableStyleId>{2D5ABB26-0587-4C30-8999-92F81FD0307C}</a:tableStyleId>
              </a:tblPr>
              <a:tblGrid>
                <a:gridCol w="1082466">
                  <a:extLst>
                    <a:ext uri="{9D8B030D-6E8A-4147-A177-3AD203B41FA5}">
                      <a16:colId xmlns:a16="http://schemas.microsoft.com/office/drawing/2014/main" val="20000"/>
                    </a:ext>
                  </a:extLst>
                </a:gridCol>
                <a:gridCol w="3350260">
                  <a:extLst>
                    <a:ext uri="{9D8B030D-6E8A-4147-A177-3AD203B41FA5}">
                      <a16:colId xmlns:a16="http://schemas.microsoft.com/office/drawing/2014/main" val="20001"/>
                    </a:ext>
                  </a:extLst>
                </a:gridCol>
              </a:tblGrid>
              <a:tr h="388620">
                <a:tc>
                  <a:txBody>
                    <a:bodyPr/>
                    <a:lstStyle/>
                    <a:p>
                      <a:pPr algn="ctr"/>
                      <a:r>
                        <a:rPr lang="en-US" sz="2000" b="1" u="sng" dirty="0"/>
                        <a:t>Student</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US" sz="2000" b="1" dirty="0"/>
                        <a:t>Courses</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0"/>
                  </a:ext>
                </a:extLst>
              </a:tr>
              <a:tr h="388620">
                <a:tc>
                  <a:txBody>
                    <a:bodyPr/>
                    <a:lstStyle/>
                    <a:p>
                      <a:r>
                        <a:rPr lang="en-US" sz="2000" dirty="0"/>
                        <a:t>Mary</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{136:370,</a:t>
                      </a:r>
                      <a:r>
                        <a:rPr lang="en-US" sz="2000" baseline="0" dirty="0"/>
                        <a:t> 136:380</a:t>
                      </a:r>
                      <a:r>
                        <a:rPr lang="en-US" sz="2000" dirty="0"/>
                        <a:t>}</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1"/>
                  </a:ext>
                </a:extLst>
              </a:tr>
              <a:tr h="388620">
                <a:tc>
                  <a:txBody>
                    <a:bodyPr/>
                    <a:lstStyle/>
                    <a:p>
                      <a:r>
                        <a:rPr lang="en-US" sz="2000" dirty="0"/>
                        <a:t>Joe</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{136:370, 136:386,</a:t>
                      </a:r>
                      <a:r>
                        <a:rPr lang="en-US" sz="2000" baseline="0" dirty="0"/>
                        <a:t> 136:400</a:t>
                      </a:r>
                      <a:r>
                        <a:rPr lang="en-US" sz="2000" dirty="0"/>
                        <a:t>}</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2"/>
                  </a:ext>
                </a:extLst>
              </a:tr>
              <a:tr h="388620">
                <a:tc>
                  <a:txBody>
                    <a:bodyPr/>
                    <a:lstStyle/>
                    <a:p>
                      <a:r>
                        <a:rPr lang="en-US" sz="2000" dirty="0"/>
                        <a:t>…</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aphicFrame>
        <p:nvGraphicFramePr>
          <p:cNvPr id="8" name="Table 7"/>
          <p:cNvGraphicFramePr>
            <a:graphicFrameLocks noGrp="1"/>
          </p:cNvGraphicFramePr>
          <p:nvPr/>
        </p:nvGraphicFramePr>
        <p:xfrm>
          <a:off x="7884229" y="1750175"/>
          <a:ext cx="2235998" cy="2720340"/>
        </p:xfrm>
        <a:graphic>
          <a:graphicData uri="http://schemas.openxmlformats.org/drawingml/2006/table">
            <a:tbl>
              <a:tblPr firstRow="1" bandRow="1">
                <a:tableStyleId>{2D5ABB26-0587-4C30-8999-92F81FD0307C}</a:tableStyleId>
              </a:tblPr>
              <a:tblGrid>
                <a:gridCol w="1082466">
                  <a:extLst>
                    <a:ext uri="{9D8B030D-6E8A-4147-A177-3AD203B41FA5}">
                      <a16:colId xmlns:a16="http://schemas.microsoft.com/office/drawing/2014/main" val="20000"/>
                    </a:ext>
                  </a:extLst>
                </a:gridCol>
                <a:gridCol w="1153532">
                  <a:extLst>
                    <a:ext uri="{9D8B030D-6E8A-4147-A177-3AD203B41FA5}">
                      <a16:colId xmlns:a16="http://schemas.microsoft.com/office/drawing/2014/main" val="20001"/>
                    </a:ext>
                  </a:extLst>
                </a:gridCol>
              </a:tblGrid>
              <a:tr h="388620">
                <a:tc>
                  <a:txBody>
                    <a:bodyPr/>
                    <a:lstStyle/>
                    <a:p>
                      <a:pPr algn="ctr"/>
                      <a:r>
                        <a:rPr lang="en-US" sz="2000" b="1" u="sng" dirty="0"/>
                        <a:t>Student</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US" sz="2000" b="1" u="sng" dirty="0"/>
                        <a:t>Courses</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0"/>
                  </a:ext>
                </a:extLst>
              </a:tr>
              <a:tr h="388620">
                <a:tc>
                  <a:txBody>
                    <a:bodyPr/>
                    <a:lstStyle/>
                    <a:p>
                      <a:r>
                        <a:rPr lang="en-US" sz="2000" dirty="0"/>
                        <a:t>Mary</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136:370</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1"/>
                  </a:ext>
                </a:extLst>
              </a:tr>
              <a:tr h="388620">
                <a:tc>
                  <a:txBody>
                    <a:bodyPr/>
                    <a:lstStyle/>
                    <a:p>
                      <a:r>
                        <a:rPr lang="en-US" sz="2000" dirty="0"/>
                        <a:t>Mary</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baseline="0" dirty="0"/>
                        <a:t>136:380</a:t>
                      </a:r>
                      <a:endParaRPr lang="en-US" sz="2000" dirty="0"/>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2"/>
                  </a:ext>
                </a:extLst>
              </a:tr>
              <a:tr h="388620">
                <a:tc>
                  <a:txBody>
                    <a:bodyPr/>
                    <a:lstStyle/>
                    <a:p>
                      <a:r>
                        <a:rPr lang="en-US" sz="2000" dirty="0"/>
                        <a:t>Joe</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136:370</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3"/>
                  </a:ext>
                </a:extLst>
              </a:tr>
              <a:tr h="388620">
                <a:tc>
                  <a:txBody>
                    <a:bodyPr/>
                    <a:lstStyle/>
                    <a:p>
                      <a:r>
                        <a:rPr lang="en-US" sz="2000" dirty="0"/>
                        <a:t>Joe</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baseline="0" dirty="0"/>
                        <a:t>136:386</a:t>
                      </a:r>
                      <a:endParaRPr lang="en-US" sz="2000" dirty="0"/>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4"/>
                  </a:ext>
                </a:extLst>
              </a:tr>
              <a:tr h="388620">
                <a:tc>
                  <a:txBody>
                    <a:bodyPr/>
                    <a:lstStyle/>
                    <a:p>
                      <a:r>
                        <a:rPr lang="en-US" sz="2000" dirty="0"/>
                        <a:t>Joe</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136:400</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5"/>
                  </a:ext>
                </a:extLst>
              </a:tr>
              <a:tr h="388620">
                <a:tc>
                  <a:txBody>
                    <a:bodyPr/>
                    <a:lstStyle/>
                    <a:p>
                      <a:r>
                        <a:rPr lang="is-IS" sz="2000" dirty="0"/>
                        <a:t>…</a:t>
                      </a:r>
                      <a:endParaRPr lang="en-US" sz="2000" dirty="0"/>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is-IS" sz="2000" dirty="0"/>
                        <a:t>…</a:t>
                      </a:r>
                      <a:endParaRPr lang="en-US" sz="2000" dirty="0"/>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3" name="Rectangle 2"/>
          <p:cNvSpPr/>
          <p:nvPr/>
        </p:nvSpPr>
        <p:spPr>
          <a:xfrm>
            <a:off x="2016920" y="1183799"/>
            <a:ext cx="5451469" cy="1200328"/>
          </a:xfrm>
          <a:prstGeom prst="rect">
            <a:avLst/>
          </a:prstGeom>
        </p:spPr>
        <p:txBody>
          <a:bodyPr wrap="square">
            <a:spAutoFit/>
          </a:bodyPr>
          <a:lstStyle/>
          <a:p>
            <a:pPr algn="just">
              <a:spcBef>
                <a:spcPct val="25000"/>
              </a:spcBef>
              <a:spcAft>
                <a:spcPct val="10000"/>
              </a:spcAft>
            </a:pPr>
            <a:r>
              <a:rPr lang="en-US" altLang="en-US" sz="2400" b="1" i="1" dirty="0"/>
              <a:t>Three single-table databases, each one storing the same data. Which one is in 1NF?</a:t>
            </a:r>
          </a:p>
        </p:txBody>
      </p:sp>
      <p:graphicFrame>
        <p:nvGraphicFramePr>
          <p:cNvPr id="6" name="Table 5"/>
          <p:cNvGraphicFramePr>
            <a:graphicFrameLocks noGrp="1"/>
          </p:cNvGraphicFramePr>
          <p:nvPr/>
        </p:nvGraphicFramePr>
        <p:xfrm>
          <a:off x="1875439" y="4890030"/>
          <a:ext cx="7283454" cy="1554480"/>
        </p:xfrm>
        <a:graphic>
          <a:graphicData uri="http://schemas.openxmlformats.org/drawingml/2006/table">
            <a:tbl>
              <a:tblPr firstRow="1" bandRow="1">
                <a:tableStyleId>{2D5ABB26-0587-4C30-8999-92F81FD0307C}</a:tableStyleId>
              </a:tblPr>
              <a:tblGrid>
                <a:gridCol w="1082466">
                  <a:extLst>
                    <a:ext uri="{9D8B030D-6E8A-4147-A177-3AD203B41FA5}">
                      <a16:colId xmlns:a16="http://schemas.microsoft.com/office/drawing/2014/main" val="20000"/>
                    </a:ext>
                  </a:extLst>
                </a:gridCol>
                <a:gridCol w="1153532">
                  <a:extLst>
                    <a:ext uri="{9D8B030D-6E8A-4147-A177-3AD203B41FA5}">
                      <a16:colId xmlns:a16="http://schemas.microsoft.com/office/drawing/2014/main" val="20001"/>
                    </a:ext>
                  </a:extLst>
                </a:gridCol>
                <a:gridCol w="1153532">
                  <a:extLst>
                    <a:ext uri="{9D8B030D-6E8A-4147-A177-3AD203B41FA5}">
                      <a16:colId xmlns:a16="http://schemas.microsoft.com/office/drawing/2014/main" val="20002"/>
                    </a:ext>
                  </a:extLst>
                </a:gridCol>
                <a:gridCol w="1153532">
                  <a:extLst>
                    <a:ext uri="{9D8B030D-6E8A-4147-A177-3AD203B41FA5}">
                      <a16:colId xmlns:a16="http://schemas.microsoft.com/office/drawing/2014/main" val="20005"/>
                    </a:ext>
                  </a:extLst>
                </a:gridCol>
                <a:gridCol w="1153532">
                  <a:extLst>
                    <a:ext uri="{9D8B030D-6E8A-4147-A177-3AD203B41FA5}">
                      <a16:colId xmlns:a16="http://schemas.microsoft.com/office/drawing/2014/main" val="20006"/>
                    </a:ext>
                  </a:extLst>
                </a:gridCol>
                <a:gridCol w="391160">
                  <a:extLst>
                    <a:ext uri="{9D8B030D-6E8A-4147-A177-3AD203B41FA5}">
                      <a16:colId xmlns:a16="http://schemas.microsoft.com/office/drawing/2014/main" val="20003"/>
                    </a:ext>
                  </a:extLst>
                </a:gridCol>
                <a:gridCol w="1195700">
                  <a:extLst>
                    <a:ext uri="{9D8B030D-6E8A-4147-A177-3AD203B41FA5}">
                      <a16:colId xmlns:a16="http://schemas.microsoft.com/office/drawing/2014/main" val="20004"/>
                    </a:ext>
                  </a:extLst>
                </a:gridCol>
              </a:tblGrid>
              <a:tr h="388620">
                <a:tc>
                  <a:txBody>
                    <a:bodyPr/>
                    <a:lstStyle/>
                    <a:p>
                      <a:pPr algn="ctr"/>
                      <a:r>
                        <a:rPr lang="en-US" sz="2000" b="1" u="sng" dirty="0"/>
                        <a:t>Student</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US" sz="2000" b="1" dirty="0"/>
                        <a:t>Course1</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dirty="0"/>
                        <a:t>Course2</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dirty="0"/>
                        <a:t>Course3</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dirty="0"/>
                        <a:t>Course4</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US" sz="2000" b="1" dirty="0"/>
                        <a:t>…</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dirty="0" err="1"/>
                        <a:t>CourseN</a:t>
                      </a:r>
                      <a:endParaRPr lang="en-US" sz="2000" b="1" dirty="0"/>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0"/>
                  </a:ext>
                </a:extLst>
              </a:tr>
              <a:tr h="388620">
                <a:tc>
                  <a:txBody>
                    <a:bodyPr/>
                    <a:lstStyle/>
                    <a:p>
                      <a:r>
                        <a:rPr lang="en-US" sz="2000" dirty="0"/>
                        <a:t>Mary</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136:370</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136:370</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NULL</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NULL</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NULL</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1"/>
                  </a:ext>
                </a:extLst>
              </a:tr>
              <a:tr h="388620">
                <a:tc>
                  <a:txBody>
                    <a:bodyPr/>
                    <a:lstStyle/>
                    <a:p>
                      <a:r>
                        <a:rPr lang="en-US" sz="2000" dirty="0"/>
                        <a:t>Joe</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136:370</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136:386</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baseline="0" dirty="0"/>
                        <a:t>136:400</a:t>
                      </a:r>
                      <a:endParaRPr lang="en-US" sz="2000" dirty="0"/>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NULL</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endParaRPr lang="en-US" sz="2000" dirty="0"/>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2"/>
                  </a:ext>
                </a:extLst>
              </a:tr>
              <a:tr h="388620">
                <a:tc>
                  <a:txBody>
                    <a:bodyPr/>
                    <a:lstStyle/>
                    <a:p>
                      <a:r>
                        <a:rPr lang="en-US" sz="2000" dirty="0"/>
                        <a:t>…</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endParaRPr lang="en-US" sz="2000" dirty="0"/>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endParaRPr lang="en-US" sz="2000" dirty="0"/>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2000" dirty="0"/>
                        <a:t>…</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8603158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63291" y="131132"/>
            <a:ext cx="4418718" cy="1037269"/>
          </a:xfrm>
        </p:spPr>
        <p:txBody>
          <a:bodyPr/>
          <a:lstStyle/>
          <a:p>
            <a:r>
              <a:rPr lang="en-US" dirty="0"/>
              <a:t>Example - Pets</a:t>
            </a:r>
          </a:p>
        </p:txBody>
      </p:sp>
      <p:sp>
        <p:nvSpPr>
          <p:cNvPr id="8" name="Rectangle 5"/>
          <p:cNvSpPr>
            <a:spLocks noChangeArrowheads="1"/>
          </p:cNvSpPr>
          <p:nvPr/>
        </p:nvSpPr>
        <p:spPr bwMode="auto">
          <a:xfrm>
            <a:off x="1888067" y="1168400"/>
            <a:ext cx="8604087" cy="5037406"/>
          </a:xfrm>
          <a:prstGeom prst="rect">
            <a:avLst/>
          </a:prstGeom>
          <a:noFill/>
          <a:ln w="9525">
            <a:noFill/>
            <a:miter lim="800000"/>
            <a:headEnd/>
            <a:tailEnd/>
          </a:ln>
          <a:effectLst/>
        </p:spPr>
        <p:txBody>
          <a:bodyPr wrap="square" lIns="92075" tIns="46038" rIns="92075" bIns="46038">
            <a:spAutoFit/>
          </a:bodyPr>
          <a:lstStyle/>
          <a:p>
            <a:pPr>
              <a:spcBef>
                <a:spcPct val="25000"/>
              </a:spcBef>
              <a:spcAft>
                <a:spcPct val="10000"/>
              </a:spcAft>
            </a:pPr>
            <a:r>
              <a:rPr lang="en-US" altLang="en-US" sz="2400" b="1" i="1" dirty="0"/>
              <a:t>Is the table in 1NF? If not, how do we fix it?</a:t>
            </a:r>
            <a:endParaRPr lang="en-US" altLang="en-US" sz="1000" dirty="0"/>
          </a:p>
          <a:p>
            <a:pPr>
              <a:spcBef>
                <a:spcPct val="25000"/>
              </a:spcBef>
              <a:spcAft>
                <a:spcPct val="10000"/>
              </a:spcAft>
            </a:pPr>
            <a:r>
              <a:rPr lang="en-US" altLang="en-US" sz="2400" dirty="0"/>
              <a:t>CLIENT(</a:t>
            </a:r>
            <a:r>
              <a:rPr lang="en-US" altLang="en-US" sz="2400" u="sng" dirty="0"/>
              <a:t>ClientID</a:t>
            </a:r>
            <a:r>
              <a:rPr lang="en-US" altLang="en-US" sz="2400" dirty="0"/>
              <a:t>, ClientName, VetID, VetName, </a:t>
            </a:r>
            <a:r>
              <a:rPr lang="en-US" altLang="en-US" sz="2400" dirty="0">
                <a:solidFill>
                  <a:srgbClr val="3366FF"/>
                </a:solidFill>
              </a:rPr>
              <a:t>PET(</a:t>
            </a:r>
            <a:r>
              <a:rPr lang="en-US" altLang="en-US" sz="2400" u="sng" dirty="0" err="1">
                <a:solidFill>
                  <a:srgbClr val="3366FF"/>
                </a:solidFill>
              </a:rPr>
              <a:t>PetNo</a:t>
            </a:r>
            <a:r>
              <a:rPr lang="en-US" altLang="en-US" sz="2400" dirty="0" err="1">
                <a:solidFill>
                  <a:srgbClr val="3366FF"/>
                </a:solidFill>
              </a:rPr>
              <a:t>,PetName</a:t>
            </a:r>
            <a:r>
              <a:rPr lang="en-US" altLang="en-US" sz="2400" dirty="0">
                <a:solidFill>
                  <a:srgbClr val="3366FF"/>
                </a:solidFill>
              </a:rPr>
              <a:t>, 	</a:t>
            </a:r>
            <a:r>
              <a:rPr lang="en-US" altLang="en-US" sz="2400" dirty="0" err="1">
                <a:solidFill>
                  <a:srgbClr val="3366FF"/>
                </a:solidFill>
              </a:rPr>
              <a:t>PetType</a:t>
            </a:r>
            <a:r>
              <a:rPr lang="en-US" altLang="en-US" sz="2400" dirty="0">
                <a:solidFill>
                  <a:srgbClr val="3366FF"/>
                </a:solidFill>
              </a:rPr>
              <a:t>) </a:t>
            </a:r>
            <a:r>
              <a:rPr lang="en-US" altLang="en-US" sz="2400" dirty="0"/>
              <a:t>)</a:t>
            </a:r>
          </a:p>
          <a:p>
            <a:pPr>
              <a:spcBef>
                <a:spcPct val="25000"/>
              </a:spcBef>
              <a:spcAft>
                <a:spcPct val="10000"/>
              </a:spcAft>
            </a:pPr>
            <a:endParaRPr lang="en-US" altLang="en-US" sz="2400" dirty="0"/>
          </a:p>
          <a:p>
            <a:pPr>
              <a:spcBef>
                <a:spcPct val="25000"/>
              </a:spcBef>
              <a:spcAft>
                <a:spcPct val="10000"/>
              </a:spcAft>
            </a:pPr>
            <a:endParaRPr lang="en-US" altLang="en-US" sz="2400" dirty="0"/>
          </a:p>
          <a:p>
            <a:pPr>
              <a:spcBef>
                <a:spcPct val="25000"/>
              </a:spcBef>
              <a:spcAft>
                <a:spcPct val="10000"/>
              </a:spcAft>
            </a:pPr>
            <a:endParaRPr lang="en-US" altLang="en-US" sz="2400" dirty="0"/>
          </a:p>
          <a:p>
            <a:pPr>
              <a:spcBef>
                <a:spcPct val="25000"/>
              </a:spcBef>
              <a:spcAft>
                <a:spcPct val="10000"/>
              </a:spcAft>
            </a:pPr>
            <a:endParaRPr lang="en-US" altLang="en-US" sz="2400" dirty="0"/>
          </a:p>
          <a:p>
            <a:pPr>
              <a:spcBef>
                <a:spcPct val="25000"/>
              </a:spcBef>
              <a:spcAft>
                <a:spcPct val="10000"/>
              </a:spcAft>
            </a:pPr>
            <a:endParaRPr lang="en-US" altLang="en-US" sz="2400" dirty="0"/>
          </a:p>
          <a:p>
            <a:pPr>
              <a:spcBef>
                <a:spcPct val="25000"/>
              </a:spcBef>
              <a:spcAft>
                <a:spcPct val="10000"/>
              </a:spcAft>
            </a:pPr>
            <a:endParaRPr lang="en-US" altLang="en-US" sz="2000" b="1" dirty="0"/>
          </a:p>
          <a:p>
            <a:pPr>
              <a:spcBef>
                <a:spcPct val="25000"/>
              </a:spcBef>
              <a:spcAft>
                <a:spcPct val="10000"/>
              </a:spcAft>
            </a:pPr>
            <a:endParaRPr lang="en-US" altLang="en-US" sz="2000" b="1" dirty="0"/>
          </a:p>
          <a:p>
            <a:pPr>
              <a:spcBef>
                <a:spcPct val="25000"/>
              </a:spcBef>
              <a:spcAft>
                <a:spcPct val="10000"/>
              </a:spcAft>
            </a:pPr>
            <a:r>
              <a:rPr lang="en-US" altLang="en-US" dirty="0"/>
              <a:t>*Suppose for simplicity, that a client goes to a single vet.</a:t>
            </a:r>
          </a:p>
        </p:txBody>
      </p:sp>
      <p:graphicFrame>
        <p:nvGraphicFramePr>
          <p:cNvPr id="3" name="Table 2"/>
          <p:cNvGraphicFramePr>
            <a:graphicFrameLocks noGrp="1"/>
          </p:cNvGraphicFramePr>
          <p:nvPr/>
        </p:nvGraphicFramePr>
        <p:xfrm>
          <a:off x="2076129" y="2890810"/>
          <a:ext cx="7994195" cy="2938938"/>
        </p:xfrm>
        <a:graphic>
          <a:graphicData uri="http://schemas.openxmlformats.org/drawingml/2006/table">
            <a:tbl>
              <a:tblPr firstRow="1" bandRow="1">
                <a:tableStyleId>{5C22544A-7EE6-4342-B048-85BDC9FD1C3A}</a:tableStyleId>
              </a:tblPr>
              <a:tblGrid>
                <a:gridCol w="1000470">
                  <a:extLst>
                    <a:ext uri="{9D8B030D-6E8A-4147-A177-3AD203B41FA5}">
                      <a16:colId xmlns:a16="http://schemas.microsoft.com/office/drawing/2014/main" val="20000"/>
                    </a:ext>
                  </a:extLst>
                </a:gridCol>
                <a:gridCol w="1746393">
                  <a:extLst>
                    <a:ext uri="{9D8B030D-6E8A-4147-A177-3AD203B41FA5}">
                      <a16:colId xmlns:a16="http://schemas.microsoft.com/office/drawing/2014/main" val="20001"/>
                    </a:ext>
                  </a:extLst>
                </a:gridCol>
                <a:gridCol w="799099">
                  <a:extLst>
                    <a:ext uri="{9D8B030D-6E8A-4147-A177-3AD203B41FA5}">
                      <a16:colId xmlns:a16="http://schemas.microsoft.com/office/drawing/2014/main" val="20002"/>
                    </a:ext>
                  </a:extLst>
                </a:gridCol>
                <a:gridCol w="1206745">
                  <a:extLst>
                    <a:ext uri="{9D8B030D-6E8A-4147-A177-3AD203B41FA5}">
                      <a16:colId xmlns:a16="http://schemas.microsoft.com/office/drawing/2014/main" val="20003"/>
                    </a:ext>
                  </a:extLst>
                </a:gridCol>
                <a:gridCol w="845574">
                  <a:extLst>
                    <a:ext uri="{9D8B030D-6E8A-4147-A177-3AD203B41FA5}">
                      <a16:colId xmlns:a16="http://schemas.microsoft.com/office/drawing/2014/main" val="20004"/>
                    </a:ext>
                  </a:extLst>
                </a:gridCol>
                <a:gridCol w="1264987">
                  <a:extLst>
                    <a:ext uri="{9D8B030D-6E8A-4147-A177-3AD203B41FA5}">
                      <a16:colId xmlns:a16="http://schemas.microsoft.com/office/drawing/2014/main" val="20005"/>
                    </a:ext>
                  </a:extLst>
                </a:gridCol>
                <a:gridCol w="1130927">
                  <a:extLst>
                    <a:ext uri="{9D8B030D-6E8A-4147-A177-3AD203B41FA5}">
                      <a16:colId xmlns:a16="http://schemas.microsoft.com/office/drawing/2014/main" val="20006"/>
                    </a:ext>
                  </a:extLst>
                </a:gridCol>
              </a:tblGrid>
              <a:tr h="320187">
                <a:tc>
                  <a:txBody>
                    <a:bodyPr/>
                    <a:lstStyle/>
                    <a:p>
                      <a:r>
                        <a:rPr lang="en-US" sz="1800" u="sng" dirty="0"/>
                        <a:t>ClientID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lang="en-US" sz="1800" dirty="0"/>
                        <a:t>ClientName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lang="en-US" sz="1800" dirty="0"/>
                        <a:t>VetID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lang="en-US" sz="1800" dirty="0"/>
                        <a:t>VetName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lang="en-US" sz="1800" u="sng" dirty="0"/>
                        <a:t>PetNo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lang="en-US" sz="1800" dirty="0"/>
                        <a:t>PetName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lang="en-US" sz="1800" dirty="0"/>
                        <a:t>PetType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0000"/>
                  </a:ext>
                </a:extLst>
              </a:tr>
              <a:tr h="378618">
                <a:tc rowSpan="3">
                  <a:txBody>
                    <a:bodyPr/>
                    <a:lstStyle/>
                    <a:p>
                      <a:r>
                        <a:rPr lang="en-US" sz="1800" dirty="0"/>
                        <a:t>2173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rowSpan="3">
                  <a:txBody>
                    <a:bodyPr/>
                    <a:lstStyle/>
                    <a:p>
                      <a:r>
                        <a:rPr lang="en-US" sz="1800" dirty="0"/>
                        <a:t>Barbara Smith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rowSpan="3">
                  <a:txBody>
                    <a:bodyPr/>
                    <a:lstStyle/>
                    <a:p>
                      <a:r>
                        <a:rPr lang="en-US" sz="1800" dirty="0"/>
                        <a:t>27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rowSpan="3">
                  <a:txBody>
                    <a:bodyPr/>
                    <a:lstStyle/>
                    <a:p>
                      <a:r>
                        <a:rPr lang="en-US" sz="1800" dirty="0"/>
                        <a:t>PetVet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sz="18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sz="1800" dirty="0"/>
                        <a:t>Sam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sz="1800" dirty="0"/>
                        <a:t>Bird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1"/>
                  </a:ext>
                </a:extLst>
              </a:tr>
              <a:tr h="320187">
                <a:tc vMerge="1">
                  <a:txBody>
                    <a:bodyPr/>
                    <a:lstStyle/>
                    <a:p>
                      <a:endParaRPr lang="en-US" dirty="0"/>
                    </a:p>
                  </a:txBody>
                  <a:tcPr>
                    <a:solidFill>
                      <a:schemeClr val="accent1">
                        <a:lumMod val="20000"/>
                        <a:lumOff val="80000"/>
                      </a:schemeClr>
                    </a:solidFill>
                  </a:tcPr>
                </a:tc>
                <a:tc vMerge="1">
                  <a:txBody>
                    <a:bodyPr/>
                    <a:lstStyle/>
                    <a:p>
                      <a:endParaRPr lang="en-US" dirty="0"/>
                    </a:p>
                  </a:txBody>
                  <a:tcPr>
                    <a:solidFill>
                      <a:schemeClr val="accent1">
                        <a:lumMod val="20000"/>
                        <a:lumOff val="80000"/>
                      </a:schemeClr>
                    </a:solidFill>
                  </a:tcPr>
                </a:tc>
                <a:tc vMerge="1">
                  <a:txBody>
                    <a:bodyPr/>
                    <a:lstStyle/>
                    <a:p>
                      <a:endParaRPr lang="en-US" dirty="0"/>
                    </a:p>
                  </a:txBody>
                  <a:tcPr>
                    <a:solidFill>
                      <a:schemeClr val="accent1">
                        <a:lumMod val="20000"/>
                        <a:lumOff val="80000"/>
                      </a:schemeClr>
                    </a:solidFill>
                  </a:tcPr>
                </a:tc>
                <a:tc vMerge="1">
                  <a:txBody>
                    <a:bodyPr/>
                    <a:lstStyle/>
                    <a:p>
                      <a:endParaRPr lang="en-US" dirty="0"/>
                    </a:p>
                  </a:txBody>
                  <a:tcPr>
                    <a:solidFill>
                      <a:schemeClr val="accent1">
                        <a:lumMod val="20000"/>
                        <a:lumOff val="80000"/>
                      </a:schemeClr>
                    </a:solidFill>
                  </a:tcPr>
                </a:tc>
                <a:tc>
                  <a:txBody>
                    <a:bodyPr/>
                    <a:lstStyle/>
                    <a:p>
                      <a:r>
                        <a:rPr lang="en-US" sz="18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sz="1800" dirty="0"/>
                        <a:t>Hoober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sz="1800" dirty="0"/>
                        <a:t>Dog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2"/>
                  </a:ext>
                </a:extLst>
              </a:tr>
              <a:tr h="320187">
                <a:tc vMerge="1">
                  <a:txBody>
                    <a:bodyPr/>
                    <a:lstStyle/>
                    <a:p>
                      <a:endParaRPr lang="en-US" dirty="0"/>
                    </a:p>
                  </a:txBody>
                  <a:tcPr>
                    <a:solidFill>
                      <a:schemeClr val="accent1">
                        <a:lumMod val="20000"/>
                        <a:lumOff val="80000"/>
                      </a:schemeClr>
                    </a:solidFill>
                  </a:tcPr>
                </a:tc>
                <a:tc vMerge="1">
                  <a:txBody>
                    <a:bodyPr/>
                    <a:lstStyle/>
                    <a:p>
                      <a:endParaRPr lang="en-US" dirty="0"/>
                    </a:p>
                  </a:txBody>
                  <a:tcPr>
                    <a:solidFill>
                      <a:schemeClr val="accent1">
                        <a:lumMod val="20000"/>
                        <a:lumOff val="80000"/>
                      </a:schemeClr>
                    </a:solidFill>
                  </a:tcPr>
                </a:tc>
                <a:tc vMerge="1">
                  <a:txBody>
                    <a:bodyPr/>
                    <a:lstStyle/>
                    <a:p>
                      <a:endParaRPr lang="en-US" dirty="0"/>
                    </a:p>
                  </a:txBody>
                  <a:tcPr>
                    <a:solidFill>
                      <a:schemeClr val="accent1">
                        <a:lumMod val="20000"/>
                        <a:lumOff val="80000"/>
                      </a:schemeClr>
                    </a:solidFill>
                  </a:tcPr>
                </a:tc>
                <a:tc vMerge="1">
                  <a:txBody>
                    <a:bodyPr/>
                    <a:lstStyle/>
                    <a:p>
                      <a:endParaRPr lang="en-US" dirty="0"/>
                    </a:p>
                  </a:txBody>
                  <a:tcPr>
                    <a:solidFill>
                      <a:schemeClr val="accent1">
                        <a:lumMod val="20000"/>
                        <a:lumOff val="80000"/>
                      </a:schemeClr>
                    </a:solidFill>
                  </a:tcPr>
                </a:tc>
                <a:tc>
                  <a:txBody>
                    <a:bodyPr/>
                    <a:lstStyle/>
                    <a:p>
                      <a:r>
                        <a:rPr lang="en-US" sz="18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sz="1800" dirty="0"/>
                        <a:t>Charlie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sz="1800" dirty="0"/>
                        <a:t>Hamster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3"/>
                  </a:ext>
                </a:extLst>
              </a:tr>
              <a:tr h="320187">
                <a:tc>
                  <a:txBody>
                    <a:bodyPr/>
                    <a:lstStyle/>
                    <a:p>
                      <a:r>
                        <a:rPr lang="en-US" sz="1800" dirty="0"/>
                        <a:t>4519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sz="1800" dirty="0"/>
                        <a:t>John Ross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sz="1800" dirty="0"/>
                        <a:t>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sz="1800" dirty="0"/>
                        <a:t>PetCare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sz="18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sz="1800" dirty="0"/>
                        <a:t>Charlie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sz="1800" dirty="0"/>
                        <a:t>Cat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10004"/>
                  </a:ext>
                </a:extLst>
              </a:tr>
              <a:tr h="320187">
                <a:tc rowSpan="2">
                  <a:txBody>
                    <a:bodyPr/>
                    <a:lstStyle/>
                    <a:p>
                      <a:r>
                        <a:rPr lang="en-US" sz="1800" dirty="0"/>
                        <a:t>8005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rowSpan="2">
                  <a:txBody>
                    <a:bodyPr/>
                    <a:lstStyle/>
                    <a:p>
                      <a:r>
                        <a:rPr lang="en-US" sz="1800" dirty="0"/>
                        <a:t>Sandra Lee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rowSpan="2">
                  <a:txBody>
                    <a:bodyPr/>
                    <a:lstStyle/>
                    <a:p>
                      <a:r>
                        <a:rPr lang="en-US" sz="1800" dirty="0"/>
                        <a:t>27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rowSpan="2">
                  <a:txBody>
                    <a:bodyPr/>
                    <a:lstStyle/>
                    <a:p>
                      <a:r>
                        <a:rPr lang="en-US" sz="1800" dirty="0"/>
                        <a:t>PetVet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sz="18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sz="1800" dirty="0"/>
                        <a:t>Beefer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sz="1800" dirty="0"/>
                        <a:t>Dog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5"/>
                  </a:ext>
                </a:extLst>
              </a:tr>
              <a:tr h="320187">
                <a:tc vMerge="1">
                  <a:txBody>
                    <a:bodyPr/>
                    <a:lstStyle/>
                    <a:p>
                      <a:endParaRPr lang="en-US" dirty="0"/>
                    </a:p>
                  </a:txBody>
                  <a:tcPr>
                    <a:solidFill>
                      <a:schemeClr val="accent1">
                        <a:lumMod val="20000"/>
                        <a:lumOff val="80000"/>
                      </a:schemeClr>
                    </a:solidFill>
                  </a:tcPr>
                </a:tc>
                <a:tc vMerge="1">
                  <a:txBody>
                    <a:bodyPr/>
                    <a:lstStyle/>
                    <a:p>
                      <a:endParaRPr lang="en-US" dirty="0"/>
                    </a:p>
                  </a:txBody>
                  <a:tcPr>
                    <a:solidFill>
                      <a:schemeClr val="accent1">
                        <a:lumMod val="20000"/>
                        <a:lumOff val="80000"/>
                      </a:schemeClr>
                    </a:solidFill>
                  </a:tcPr>
                </a:tc>
                <a:tc vMerge="1">
                  <a:txBody>
                    <a:bodyPr/>
                    <a:lstStyle/>
                    <a:p>
                      <a:endParaRPr lang="en-US" dirty="0"/>
                    </a:p>
                  </a:txBody>
                  <a:tcPr>
                    <a:solidFill>
                      <a:schemeClr val="accent1">
                        <a:lumMod val="20000"/>
                        <a:lumOff val="80000"/>
                      </a:schemeClr>
                    </a:solidFill>
                  </a:tcPr>
                </a:tc>
                <a:tc vMerge="1">
                  <a:txBody>
                    <a:bodyPr/>
                    <a:lstStyle/>
                    <a:p>
                      <a:endParaRPr lang="en-US" dirty="0"/>
                    </a:p>
                  </a:txBody>
                  <a:tcPr>
                    <a:solidFill>
                      <a:schemeClr val="accent1">
                        <a:lumMod val="20000"/>
                        <a:lumOff val="80000"/>
                      </a:schemeClr>
                    </a:solidFill>
                  </a:tcPr>
                </a:tc>
                <a:tc>
                  <a:txBody>
                    <a:bodyPr/>
                    <a:lstStyle/>
                    <a:p>
                      <a:r>
                        <a:rPr lang="en-US" sz="18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sz="1800" dirty="0"/>
                        <a:t>Kirby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sz="1800" dirty="0"/>
                        <a:t>Cat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6"/>
                  </a:ext>
                </a:extLst>
              </a:tr>
              <a:tr h="320187">
                <a:tc>
                  <a:txBody>
                    <a:bodyPr/>
                    <a:lstStyle/>
                    <a:p>
                      <a:r>
                        <a:rPr lang="en-US" sz="1800" dirty="0"/>
                        <a:t>8112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sz="1800" dirty="0"/>
                        <a:t>Helen Williams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sz="1800" dirty="0"/>
                        <a:t>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sz="1800" dirty="0"/>
                        <a:t>PetsRUs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sz="18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sz="1800" dirty="0"/>
                        <a:t>Kirby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sz="1800" dirty="0"/>
                        <a:t>Dog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10007"/>
                  </a:ext>
                </a:extLst>
              </a:tr>
            </a:tbl>
          </a:graphicData>
        </a:graphic>
      </p:graphicFrame>
      <p:sp>
        <p:nvSpPr>
          <p:cNvPr id="4" name="Slide Number Placeholder 3"/>
          <p:cNvSpPr>
            <a:spLocks noGrp="1"/>
          </p:cNvSpPr>
          <p:nvPr>
            <p:ph type="sldNum" sz="quarter" idx="12"/>
          </p:nvPr>
        </p:nvSpPr>
        <p:spPr/>
        <p:txBody>
          <a:bodyPr/>
          <a:lstStyle/>
          <a:p>
            <a:fld id="{87F3E754-1C97-4481-A18C-9D97ADBDF344}" type="slidenum">
              <a:rPr lang="en-US" smtClean="0"/>
              <a:t>12</a:t>
            </a:fld>
            <a:endParaRPr lang="en-US"/>
          </a:p>
        </p:txBody>
      </p:sp>
      <p:sp>
        <p:nvSpPr>
          <p:cNvPr id="5" name="Line Callout 1 4"/>
          <p:cNvSpPr/>
          <p:nvPr/>
        </p:nvSpPr>
        <p:spPr>
          <a:xfrm>
            <a:off x="8127181" y="649765"/>
            <a:ext cx="2132573" cy="710796"/>
          </a:xfrm>
          <a:prstGeom prst="borderCallout1">
            <a:avLst>
              <a:gd name="adj1" fmla="val 50145"/>
              <a:gd name="adj2" fmla="val -2555"/>
              <a:gd name="adj3" fmla="val 146932"/>
              <a:gd name="adj4" fmla="val -7897"/>
            </a:avLst>
          </a:prstGeom>
          <a:noFill/>
          <a:ln>
            <a:headEnd type="none"/>
            <a:tailEnd type="arrow"/>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tx1"/>
                </a:solidFill>
              </a:rPr>
              <a:t>This is a nested table (table PET is inside another table CLIENT)</a:t>
            </a:r>
          </a:p>
        </p:txBody>
      </p:sp>
    </p:spTree>
    <p:extLst>
      <p:ext uri="{BB962C8B-B14F-4D97-AF65-F5344CB8AC3E}">
        <p14:creationId xmlns:p14="http://schemas.microsoft.com/office/powerpoint/2010/main" val="21797294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ChangeArrowheads="1"/>
          </p:cNvSpPr>
          <p:nvPr/>
        </p:nvSpPr>
        <p:spPr bwMode="auto">
          <a:xfrm>
            <a:off x="1966138" y="1250778"/>
            <a:ext cx="8335090" cy="5152822"/>
          </a:xfrm>
          <a:prstGeom prst="rect">
            <a:avLst/>
          </a:prstGeom>
          <a:noFill/>
          <a:ln w="9525">
            <a:noFill/>
            <a:miter lim="800000"/>
            <a:headEnd/>
            <a:tailEnd/>
          </a:ln>
          <a:effectLst/>
        </p:spPr>
        <p:txBody>
          <a:bodyPr wrap="square" lIns="92075" tIns="46038" rIns="92075" bIns="46038">
            <a:spAutoFit/>
          </a:bodyPr>
          <a:lstStyle/>
          <a:p>
            <a:pPr>
              <a:spcBef>
                <a:spcPct val="25000"/>
              </a:spcBef>
              <a:spcAft>
                <a:spcPct val="10000"/>
              </a:spcAft>
            </a:pPr>
            <a:r>
              <a:rPr lang="en-US" altLang="en-US" sz="2400" b="1" i="1" dirty="0"/>
              <a:t>Is the table in 1NF? If not, how do we fix it?</a:t>
            </a:r>
          </a:p>
          <a:p>
            <a:pPr>
              <a:spcBef>
                <a:spcPct val="25000"/>
              </a:spcBef>
              <a:spcAft>
                <a:spcPct val="10000"/>
              </a:spcAft>
            </a:pPr>
            <a:endParaRPr lang="en-US" altLang="en-US" sz="1000" dirty="0"/>
          </a:p>
          <a:p>
            <a:pPr>
              <a:spcBef>
                <a:spcPct val="25000"/>
              </a:spcBef>
              <a:spcAft>
                <a:spcPct val="10000"/>
              </a:spcAft>
            </a:pPr>
            <a:r>
              <a:rPr lang="en-US" altLang="en-US" sz="2400" dirty="0"/>
              <a:t>ROOMBOOKINGS (</a:t>
            </a:r>
            <a:r>
              <a:rPr lang="en-US" altLang="en-US" sz="2400" u="sng" dirty="0"/>
              <a:t>CourseID</a:t>
            </a:r>
            <a:r>
              <a:rPr lang="en-US" altLang="en-US" sz="2400" dirty="0"/>
              <a:t>, </a:t>
            </a:r>
            <a:r>
              <a:rPr lang="en-US" altLang="en-US" sz="2400" u="sng" dirty="0"/>
              <a:t>Date</a:t>
            </a:r>
            <a:r>
              <a:rPr lang="en-US" altLang="en-US" sz="2400" dirty="0"/>
              <a:t>, Time, </a:t>
            </a:r>
            <a:r>
              <a:rPr lang="en-US" altLang="en-US" sz="2400" dirty="0" err="1"/>
              <a:t>CourseTitle</a:t>
            </a:r>
            <a:r>
              <a:rPr lang="en-US" altLang="en-US" sz="2400" dirty="0"/>
              <a:t>, Room)</a:t>
            </a:r>
          </a:p>
          <a:p>
            <a:pPr>
              <a:spcBef>
                <a:spcPct val="25000"/>
              </a:spcBef>
              <a:spcAft>
                <a:spcPct val="10000"/>
              </a:spcAft>
            </a:pPr>
            <a:endParaRPr lang="en-US" altLang="en-US" sz="2000" dirty="0"/>
          </a:p>
          <a:p>
            <a:pPr>
              <a:spcBef>
                <a:spcPct val="25000"/>
              </a:spcBef>
              <a:spcAft>
                <a:spcPct val="10000"/>
              </a:spcAft>
            </a:pPr>
            <a:endParaRPr lang="en-US" altLang="en-US" sz="2000" dirty="0"/>
          </a:p>
          <a:p>
            <a:pPr>
              <a:spcBef>
                <a:spcPct val="25000"/>
              </a:spcBef>
              <a:spcAft>
                <a:spcPct val="10000"/>
              </a:spcAft>
            </a:pPr>
            <a:endParaRPr lang="en-US" altLang="en-US" sz="2000" dirty="0"/>
          </a:p>
          <a:p>
            <a:pPr>
              <a:spcBef>
                <a:spcPct val="25000"/>
              </a:spcBef>
              <a:spcAft>
                <a:spcPct val="10000"/>
              </a:spcAft>
            </a:pPr>
            <a:endParaRPr lang="en-US" altLang="en-US" sz="2000" dirty="0"/>
          </a:p>
          <a:p>
            <a:pPr>
              <a:spcBef>
                <a:spcPct val="25000"/>
              </a:spcBef>
              <a:spcAft>
                <a:spcPct val="10000"/>
              </a:spcAft>
            </a:pPr>
            <a:endParaRPr lang="en-US" altLang="en-US" sz="2000" dirty="0"/>
          </a:p>
          <a:p>
            <a:pPr>
              <a:spcBef>
                <a:spcPct val="25000"/>
              </a:spcBef>
              <a:spcAft>
                <a:spcPct val="10000"/>
              </a:spcAft>
            </a:pPr>
            <a:endParaRPr lang="en-US" altLang="en-US" sz="2000" dirty="0"/>
          </a:p>
          <a:p>
            <a:pPr>
              <a:spcBef>
                <a:spcPct val="25000"/>
              </a:spcBef>
              <a:spcAft>
                <a:spcPct val="10000"/>
              </a:spcAft>
            </a:pPr>
            <a:endParaRPr lang="en-US" altLang="en-US" sz="2000" dirty="0"/>
          </a:p>
          <a:p>
            <a:pPr>
              <a:spcBef>
                <a:spcPct val="25000"/>
              </a:spcBef>
              <a:spcAft>
                <a:spcPct val="10000"/>
              </a:spcAft>
            </a:pPr>
            <a:endParaRPr lang="en-US" altLang="en-US" sz="2000" dirty="0"/>
          </a:p>
          <a:p>
            <a:pPr>
              <a:spcBef>
                <a:spcPct val="25000"/>
              </a:spcBef>
              <a:spcAft>
                <a:spcPct val="10000"/>
              </a:spcAft>
            </a:pPr>
            <a:r>
              <a:rPr lang="en-US" altLang="en-US" dirty="0"/>
              <a:t>*Suppose for simplicity, that there is only one section of each course, and that it meets only once in a day always at the same time.</a:t>
            </a:r>
            <a:endParaRPr lang="en-US" altLang="en-US" sz="5400" b="1" dirty="0">
              <a:latin typeface="Arial" panose="020B0604020202020204" pitchFamily="34" charset="0"/>
            </a:endParaRPr>
          </a:p>
        </p:txBody>
      </p:sp>
      <p:sp>
        <p:nvSpPr>
          <p:cNvPr id="2" name="Title 1"/>
          <p:cNvSpPr>
            <a:spLocks noGrp="1"/>
          </p:cNvSpPr>
          <p:nvPr>
            <p:ph type="title"/>
          </p:nvPr>
        </p:nvSpPr>
        <p:spPr>
          <a:xfrm>
            <a:off x="1864546" y="113531"/>
            <a:ext cx="8436682" cy="1037269"/>
          </a:xfrm>
        </p:spPr>
        <p:txBody>
          <a:bodyPr>
            <a:normAutofit/>
          </a:bodyPr>
          <a:lstStyle/>
          <a:p>
            <a:r>
              <a:rPr lang="en-US" dirty="0"/>
              <a:t>Example – Classes in a department</a:t>
            </a:r>
          </a:p>
        </p:txBody>
      </p:sp>
      <p:sp>
        <p:nvSpPr>
          <p:cNvPr id="3" name="Slide Number Placeholder 2"/>
          <p:cNvSpPr>
            <a:spLocks noGrp="1"/>
          </p:cNvSpPr>
          <p:nvPr>
            <p:ph type="sldNum" sz="quarter" idx="12"/>
          </p:nvPr>
        </p:nvSpPr>
        <p:spPr/>
        <p:txBody>
          <a:bodyPr/>
          <a:lstStyle/>
          <a:p>
            <a:fld id="{87F3E754-1C97-4481-A18C-9D97ADBDF344}" type="slidenum">
              <a:rPr lang="en-US" smtClean="0"/>
              <a:t>13</a:t>
            </a:fld>
            <a:endParaRPr lang="en-US"/>
          </a:p>
        </p:txBody>
      </p:sp>
      <p:graphicFrame>
        <p:nvGraphicFramePr>
          <p:cNvPr id="7" name="Table 6"/>
          <p:cNvGraphicFramePr>
            <a:graphicFrameLocks noGrp="1"/>
          </p:cNvGraphicFramePr>
          <p:nvPr/>
        </p:nvGraphicFramePr>
        <p:xfrm>
          <a:off x="2395803" y="2530786"/>
          <a:ext cx="7374168" cy="2773680"/>
        </p:xfrm>
        <a:graphic>
          <a:graphicData uri="http://schemas.openxmlformats.org/drawingml/2006/table">
            <a:tbl>
              <a:tblPr firstRow="1" bandRow="1">
                <a:tableStyleId>{5C22544A-7EE6-4342-B048-85BDC9FD1C3A}</a:tableStyleId>
              </a:tblPr>
              <a:tblGrid>
                <a:gridCol w="1808093">
                  <a:extLst>
                    <a:ext uri="{9D8B030D-6E8A-4147-A177-3AD203B41FA5}">
                      <a16:colId xmlns:a16="http://schemas.microsoft.com/office/drawing/2014/main" val="20000"/>
                    </a:ext>
                  </a:extLst>
                </a:gridCol>
                <a:gridCol w="1501051">
                  <a:extLst>
                    <a:ext uri="{9D8B030D-6E8A-4147-A177-3AD203B41FA5}">
                      <a16:colId xmlns:a16="http://schemas.microsoft.com/office/drawing/2014/main" val="20001"/>
                    </a:ext>
                  </a:extLst>
                </a:gridCol>
                <a:gridCol w="1737639">
                  <a:extLst>
                    <a:ext uri="{9D8B030D-6E8A-4147-A177-3AD203B41FA5}">
                      <a16:colId xmlns:a16="http://schemas.microsoft.com/office/drawing/2014/main" val="20004"/>
                    </a:ext>
                  </a:extLst>
                </a:gridCol>
                <a:gridCol w="1389185">
                  <a:extLst>
                    <a:ext uri="{9D8B030D-6E8A-4147-A177-3AD203B41FA5}">
                      <a16:colId xmlns:a16="http://schemas.microsoft.com/office/drawing/2014/main" val="20002"/>
                    </a:ext>
                  </a:extLst>
                </a:gridCol>
                <a:gridCol w="938200">
                  <a:extLst>
                    <a:ext uri="{9D8B030D-6E8A-4147-A177-3AD203B41FA5}">
                      <a16:colId xmlns:a16="http://schemas.microsoft.com/office/drawing/2014/main" val="20003"/>
                    </a:ext>
                  </a:extLst>
                </a:gridCol>
              </a:tblGrid>
              <a:tr h="370840">
                <a:tc>
                  <a:txBody>
                    <a:bodyPr/>
                    <a:lstStyle/>
                    <a:p>
                      <a:pPr algn="ctr"/>
                      <a:r>
                        <a:rPr lang="en-US" sz="2000" u="sng" dirty="0"/>
                        <a:t>CourseID</a:t>
                      </a:r>
                    </a:p>
                  </a:txBody>
                  <a:tcPr/>
                </a:tc>
                <a:tc>
                  <a:txBody>
                    <a:bodyPr/>
                    <a:lstStyle/>
                    <a:p>
                      <a:pPr algn="ctr"/>
                      <a:r>
                        <a:rPr lang="en-US" sz="2000" u="sng" dirty="0"/>
                        <a:t>Date</a:t>
                      </a:r>
                    </a:p>
                  </a:txBody>
                  <a:tcPr/>
                </a:tc>
                <a:tc>
                  <a:txBody>
                    <a:bodyPr/>
                    <a:lstStyle/>
                    <a:p>
                      <a:pPr algn="ctr"/>
                      <a:r>
                        <a:rPr lang="en-US" sz="2000" dirty="0"/>
                        <a:t>Time</a:t>
                      </a:r>
                    </a:p>
                  </a:txBody>
                  <a:tcPr/>
                </a:tc>
                <a:tc>
                  <a:txBody>
                    <a:bodyPr/>
                    <a:lstStyle/>
                    <a:p>
                      <a:pPr algn="ctr"/>
                      <a:r>
                        <a:rPr lang="en-US" sz="2000" dirty="0"/>
                        <a:t>CourseTitle</a:t>
                      </a:r>
                    </a:p>
                  </a:txBody>
                  <a:tcPr/>
                </a:tc>
                <a:tc>
                  <a:txBody>
                    <a:bodyPr/>
                    <a:lstStyle/>
                    <a:p>
                      <a:pPr algn="ctr"/>
                      <a:r>
                        <a:rPr lang="en-US" sz="2000" dirty="0"/>
                        <a:t>Room</a:t>
                      </a:r>
                    </a:p>
                  </a:txBody>
                  <a:tcPr/>
                </a:tc>
                <a:extLst>
                  <a:ext uri="{0D108BD9-81ED-4DB2-BD59-A6C34878D82A}">
                    <a16:rowId xmlns:a16="http://schemas.microsoft.com/office/drawing/2014/main" val="10000"/>
                  </a:ext>
                </a:extLst>
              </a:tr>
              <a:tr h="370840">
                <a:tc>
                  <a:txBody>
                    <a:bodyPr/>
                    <a:lstStyle/>
                    <a:p>
                      <a:pPr algn="ctr"/>
                      <a:r>
                        <a:rPr lang="en-US" sz="2000" dirty="0"/>
                        <a:t>33:136:385</a:t>
                      </a:r>
                    </a:p>
                  </a:txBody>
                  <a:tcPr/>
                </a:tc>
                <a:tc>
                  <a:txBody>
                    <a:bodyPr/>
                    <a:lstStyle/>
                    <a:p>
                      <a:pPr algn="ctr"/>
                      <a:r>
                        <a:rPr lang="en-US" sz="2000" dirty="0"/>
                        <a:t>6/15/2015</a:t>
                      </a:r>
                    </a:p>
                  </a:txBody>
                  <a:tcPr/>
                </a:tc>
                <a:tc>
                  <a:txBody>
                    <a:bodyPr/>
                    <a:lstStyle/>
                    <a:p>
                      <a:pPr algn="ctr"/>
                      <a:r>
                        <a:rPr lang="en-US" sz="2000" dirty="0"/>
                        <a:t>10AM – 12PM</a:t>
                      </a:r>
                    </a:p>
                  </a:txBody>
                  <a:tcPr/>
                </a:tc>
                <a:tc>
                  <a:txBody>
                    <a:bodyPr/>
                    <a:lstStyle/>
                    <a:p>
                      <a:pPr algn="ctr"/>
                      <a:r>
                        <a:rPr lang="en-US" sz="2000" dirty="0"/>
                        <a:t>Statistics</a:t>
                      </a:r>
                    </a:p>
                  </a:txBody>
                  <a:tcPr/>
                </a:tc>
                <a:tc>
                  <a:txBody>
                    <a:bodyPr/>
                    <a:lstStyle/>
                    <a:p>
                      <a:pPr algn="ctr"/>
                      <a:r>
                        <a:rPr lang="en-US" sz="2000" dirty="0"/>
                        <a:t>5085</a:t>
                      </a:r>
                    </a:p>
                  </a:txBody>
                  <a:tcPr/>
                </a:tc>
                <a:extLst>
                  <a:ext uri="{0D108BD9-81ED-4DB2-BD59-A6C34878D82A}">
                    <a16:rowId xmlns:a16="http://schemas.microsoft.com/office/drawing/2014/main" val="10001"/>
                  </a:ext>
                </a:extLst>
              </a:tr>
              <a:tr h="370840">
                <a:tc>
                  <a:txBody>
                    <a:bodyPr/>
                    <a:lstStyle/>
                    <a:p>
                      <a:pPr algn="ctr"/>
                      <a:r>
                        <a:rPr lang="en-US" sz="2000" dirty="0"/>
                        <a:t>33:136:386</a:t>
                      </a:r>
                    </a:p>
                  </a:txBody>
                  <a:tcPr/>
                </a:tc>
                <a:tc>
                  <a:txBody>
                    <a:bodyPr/>
                    <a:lstStyle/>
                    <a:p>
                      <a:pPr algn="ctr"/>
                      <a:r>
                        <a:rPr lang="en-US" sz="2000" dirty="0"/>
                        <a:t>6/16/2015</a:t>
                      </a:r>
                    </a:p>
                  </a:txBody>
                  <a:tcPr/>
                </a:tc>
                <a:tc>
                  <a:txBody>
                    <a:bodyPr/>
                    <a:lstStyle/>
                    <a:p>
                      <a:pPr algn="ctr"/>
                      <a:r>
                        <a:rPr lang="en-US" sz="2000" dirty="0"/>
                        <a:t>4PM</a:t>
                      </a:r>
                      <a:r>
                        <a:rPr lang="en-US" sz="2000" baseline="0" dirty="0"/>
                        <a:t> - </a:t>
                      </a:r>
                      <a:r>
                        <a:rPr lang="en-US" sz="2000" dirty="0"/>
                        <a:t>6PM </a:t>
                      </a:r>
                    </a:p>
                  </a:txBody>
                  <a:tcPr/>
                </a:tc>
                <a:tc>
                  <a:txBody>
                    <a:bodyPr/>
                    <a:lstStyle/>
                    <a:p>
                      <a:pPr algn="ctr"/>
                      <a:r>
                        <a:rPr lang="en-US" sz="2000" dirty="0"/>
                        <a:t>OM</a:t>
                      </a:r>
                    </a:p>
                  </a:txBody>
                  <a:tcPr/>
                </a:tc>
                <a:tc>
                  <a:txBody>
                    <a:bodyPr/>
                    <a:lstStyle/>
                    <a:p>
                      <a:pPr algn="ctr"/>
                      <a:r>
                        <a:rPr lang="en-US" sz="2000" dirty="0"/>
                        <a:t>5073</a:t>
                      </a:r>
                    </a:p>
                  </a:txBody>
                  <a:tcPr/>
                </a:tc>
                <a:extLst>
                  <a:ext uri="{0D108BD9-81ED-4DB2-BD59-A6C34878D82A}">
                    <a16:rowId xmlns:a16="http://schemas.microsoft.com/office/drawing/2014/main" val="10002"/>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t>33:136:385</a:t>
                      </a:r>
                    </a:p>
                  </a:txBody>
                  <a:tcPr/>
                </a:tc>
                <a:tc>
                  <a:txBody>
                    <a:bodyPr/>
                    <a:lstStyle/>
                    <a:p>
                      <a:pPr algn="ctr"/>
                      <a:r>
                        <a:rPr lang="en-US" sz="2000" dirty="0"/>
                        <a:t>6/16/2015</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10AM – 12PM</a:t>
                      </a:r>
                    </a:p>
                  </a:txBody>
                  <a:tcPr/>
                </a:tc>
                <a:tc>
                  <a:txBody>
                    <a:bodyPr/>
                    <a:lstStyle/>
                    <a:p>
                      <a:pPr algn="ctr"/>
                      <a:r>
                        <a:rPr lang="en-US" sz="2000" dirty="0"/>
                        <a:t>Statistics</a:t>
                      </a:r>
                    </a:p>
                  </a:txBody>
                  <a:tcPr/>
                </a:tc>
                <a:tc>
                  <a:txBody>
                    <a:bodyPr/>
                    <a:lstStyle/>
                    <a:p>
                      <a:pPr algn="ctr"/>
                      <a:r>
                        <a:rPr lang="en-US" sz="2000" dirty="0"/>
                        <a:t>3071</a:t>
                      </a:r>
                    </a:p>
                  </a:txBody>
                  <a:tcPr/>
                </a:tc>
                <a:extLst>
                  <a:ext uri="{0D108BD9-81ED-4DB2-BD59-A6C34878D82A}">
                    <a16:rowId xmlns:a16="http://schemas.microsoft.com/office/drawing/2014/main" val="10003"/>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t>33:136:370</a:t>
                      </a:r>
                    </a:p>
                  </a:txBody>
                  <a:tcPr/>
                </a:tc>
                <a:tc>
                  <a:txBody>
                    <a:bodyPr/>
                    <a:lstStyle/>
                    <a:p>
                      <a:pPr algn="ctr"/>
                      <a:r>
                        <a:rPr lang="en-US" sz="2000" dirty="0"/>
                        <a:t>6/16/2015</a:t>
                      </a:r>
                    </a:p>
                  </a:txBody>
                  <a:tcPr/>
                </a:tc>
                <a:tc>
                  <a:txBody>
                    <a:bodyPr/>
                    <a:lstStyle/>
                    <a:p>
                      <a:pPr algn="ctr"/>
                      <a:r>
                        <a:rPr lang="en-US" sz="2000" dirty="0"/>
                        <a:t>3PM – 2PM</a:t>
                      </a:r>
                    </a:p>
                  </a:txBody>
                  <a:tcPr/>
                </a:tc>
                <a:tc>
                  <a:txBody>
                    <a:bodyPr/>
                    <a:lstStyle/>
                    <a:p>
                      <a:pPr algn="ctr"/>
                      <a:r>
                        <a:rPr lang="en-US" sz="2000" dirty="0"/>
                        <a:t>MIS</a:t>
                      </a:r>
                    </a:p>
                  </a:txBody>
                  <a:tcPr/>
                </a:tc>
                <a:tc>
                  <a:txBody>
                    <a:bodyPr/>
                    <a:lstStyle/>
                    <a:p>
                      <a:pPr algn="ctr"/>
                      <a:r>
                        <a:rPr lang="en-US" sz="2000" dirty="0"/>
                        <a:t>5087</a:t>
                      </a:r>
                    </a:p>
                  </a:txBody>
                  <a:tcPr/>
                </a:tc>
                <a:extLst>
                  <a:ext uri="{0D108BD9-81ED-4DB2-BD59-A6C34878D82A}">
                    <a16:rowId xmlns:a16="http://schemas.microsoft.com/office/drawing/2014/main" val="1000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t>33:136:385</a:t>
                      </a:r>
                    </a:p>
                  </a:txBody>
                  <a:tcPr/>
                </a:tc>
                <a:tc>
                  <a:txBody>
                    <a:bodyPr/>
                    <a:lstStyle/>
                    <a:p>
                      <a:pPr algn="ctr"/>
                      <a:r>
                        <a:rPr lang="en-US" sz="2000" dirty="0"/>
                        <a:t>6/18/2015</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10AM – 12PM</a:t>
                      </a:r>
                    </a:p>
                  </a:txBody>
                  <a:tcPr/>
                </a:tc>
                <a:tc>
                  <a:txBody>
                    <a:bodyPr/>
                    <a:lstStyle/>
                    <a:p>
                      <a:pPr algn="ctr"/>
                      <a:r>
                        <a:rPr lang="en-US" sz="2000" dirty="0"/>
                        <a:t>Statistics</a:t>
                      </a:r>
                    </a:p>
                  </a:txBody>
                  <a:tcPr/>
                </a:tc>
                <a:tc>
                  <a:txBody>
                    <a:bodyPr/>
                    <a:lstStyle/>
                    <a:p>
                      <a:pPr algn="ctr"/>
                      <a:r>
                        <a:rPr lang="en-US" sz="2000" dirty="0"/>
                        <a:t>5085</a:t>
                      </a:r>
                    </a:p>
                  </a:txBody>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t>33:136:385</a:t>
                      </a:r>
                    </a:p>
                  </a:txBody>
                  <a:tcPr/>
                </a:tc>
                <a:tc>
                  <a:txBody>
                    <a:bodyPr/>
                    <a:lstStyle/>
                    <a:p>
                      <a:pPr algn="ctr"/>
                      <a:r>
                        <a:rPr lang="en-US" sz="2000" dirty="0"/>
                        <a:t>6/19/2015</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10AM – 12PM</a:t>
                      </a:r>
                    </a:p>
                  </a:txBody>
                  <a:tcPr/>
                </a:tc>
                <a:tc>
                  <a:txBody>
                    <a:bodyPr/>
                    <a:lstStyle/>
                    <a:p>
                      <a:pPr algn="ctr"/>
                      <a:r>
                        <a:rPr lang="en-US" sz="2000" dirty="0"/>
                        <a:t>Statistics</a:t>
                      </a:r>
                    </a:p>
                  </a:txBody>
                  <a:tcPr/>
                </a:tc>
                <a:tc>
                  <a:txBody>
                    <a:bodyPr/>
                    <a:lstStyle/>
                    <a:p>
                      <a:pPr algn="ctr"/>
                      <a:r>
                        <a:rPr lang="en-US" sz="2000" dirty="0"/>
                        <a:t>5087</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6367183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2NF</a:t>
            </a:r>
          </a:p>
        </p:txBody>
      </p:sp>
      <p:sp>
        <p:nvSpPr>
          <p:cNvPr id="3" name="Text Placeholder 2"/>
          <p:cNvSpPr>
            <a:spLocks noGrp="1"/>
          </p:cNvSpPr>
          <p:nvPr>
            <p:ph type="body" idx="1"/>
          </p:nvPr>
        </p:nvSpPr>
        <p:spPr/>
        <p:txBody>
          <a:bodyPr/>
          <a:lstStyle/>
          <a:p>
            <a:r>
              <a:rPr lang="en-US" dirty="0"/>
              <a:t>Second Normal Form</a:t>
            </a:r>
          </a:p>
        </p:txBody>
      </p:sp>
      <p:sp>
        <p:nvSpPr>
          <p:cNvPr id="4" name="Slide Number Placeholder 3"/>
          <p:cNvSpPr>
            <a:spLocks noGrp="1"/>
          </p:cNvSpPr>
          <p:nvPr>
            <p:ph type="sldNum" sz="quarter" idx="12"/>
          </p:nvPr>
        </p:nvSpPr>
        <p:spPr/>
        <p:txBody>
          <a:bodyPr/>
          <a:lstStyle/>
          <a:p>
            <a:fld id="{87F3E754-1C97-4481-A18C-9D97ADBDF344}" type="slidenum">
              <a:rPr lang="en-US" smtClean="0"/>
              <a:t>14</a:t>
            </a:fld>
            <a:endParaRPr lang="en-US"/>
          </a:p>
        </p:txBody>
      </p:sp>
    </p:spTree>
    <p:extLst>
      <p:ext uri="{BB962C8B-B14F-4D97-AF65-F5344CB8AC3E}">
        <p14:creationId xmlns:p14="http://schemas.microsoft.com/office/powerpoint/2010/main" val="20860137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4948" y="88818"/>
            <a:ext cx="8079581" cy="1037269"/>
          </a:xfrm>
        </p:spPr>
        <p:txBody>
          <a:bodyPr/>
          <a:lstStyle/>
          <a:p>
            <a:r>
              <a:rPr lang="en-US" dirty="0"/>
              <a:t>Second Normal Form</a:t>
            </a:r>
          </a:p>
        </p:txBody>
      </p:sp>
      <p:sp>
        <p:nvSpPr>
          <p:cNvPr id="8" name="Rectangle 5"/>
          <p:cNvSpPr>
            <a:spLocks noChangeArrowheads="1"/>
          </p:cNvSpPr>
          <p:nvPr/>
        </p:nvSpPr>
        <p:spPr bwMode="auto">
          <a:xfrm>
            <a:off x="2041719" y="1451470"/>
            <a:ext cx="8181438" cy="4706545"/>
          </a:xfrm>
          <a:prstGeom prst="rect">
            <a:avLst/>
          </a:prstGeom>
          <a:noFill/>
          <a:ln w="9525">
            <a:noFill/>
            <a:miter lim="800000"/>
            <a:headEnd/>
            <a:tailEnd/>
          </a:ln>
          <a:effectLst/>
        </p:spPr>
        <p:txBody>
          <a:bodyPr wrap="square" lIns="92075" tIns="46038" rIns="92075" bIns="46038">
            <a:spAutoFit/>
          </a:bodyPr>
          <a:lstStyle/>
          <a:p>
            <a:pPr marL="0" lvl="1" algn="just">
              <a:spcBef>
                <a:spcPct val="25000"/>
              </a:spcBef>
              <a:spcAft>
                <a:spcPct val="10000"/>
              </a:spcAft>
              <a:defRPr/>
            </a:pPr>
            <a:r>
              <a:rPr lang="en-US" sz="2400" b="1" dirty="0"/>
              <a:t>A database is said to be in the </a:t>
            </a:r>
            <a:r>
              <a:rPr lang="en-US" sz="2400" b="1" u="sng" dirty="0">
                <a:effectLst>
                  <a:outerShdw blurRad="38100" dist="38100" dir="2700000" algn="tl">
                    <a:srgbClr val="C0C0C0"/>
                  </a:outerShdw>
                </a:effectLst>
              </a:rPr>
              <a:t>second normal form (2NF)</a:t>
            </a:r>
            <a:r>
              <a:rPr lang="en-US" sz="2400" b="1" dirty="0"/>
              <a:t> if, for all its tables we have:</a:t>
            </a:r>
          </a:p>
          <a:p>
            <a:pPr marL="342900" lvl="1" indent="-342900" algn="just">
              <a:spcBef>
                <a:spcPct val="25000"/>
              </a:spcBef>
              <a:spcAft>
                <a:spcPct val="10000"/>
              </a:spcAft>
              <a:buFont typeface="Wingdings" panose="05000000000000000000" pitchFamily="2" charset="2"/>
              <a:buChar char="§"/>
              <a:defRPr/>
            </a:pPr>
            <a:r>
              <a:rPr lang="en-US" sz="2400" b="1" dirty="0"/>
              <a:t>1NF </a:t>
            </a:r>
          </a:p>
          <a:p>
            <a:pPr marL="342900" lvl="1" indent="-342900" algn="just">
              <a:spcBef>
                <a:spcPct val="25000"/>
              </a:spcBef>
              <a:spcAft>
                <a:spcPct val="10000"/>
              </a:spcAft>
              <a:buFont typeface="Wingdings" panose="05000000000000000000" pitchFamily="2" charset="2"/>
              <a:buChar char="§"/>
              <a:defRPr/>
            </a:pPr>
            <a:r>
              <a:rPr lang="en-US" sz="2400" b="1" dirty="0"/>
              <a:t>any non-key* field cannot depend on part of the primary key</a:t>
            </a:r>
          </a:p>
          <a:p>
            <a:pPr marL="0" lvl="1" algn="just">
              <a:spcBef>
                <a:spcPct val="25000"/>
              </a:spcBef>
              <a:spcAft>
                <a:spcPct val="10000"/>
              </a:spcAft>
              <a:defRPr/>
            </a:pPr>
            <a:endParaRPr lang="en-US" sz="2200" dirty="0"/>
          </a:p>
          <a:p>
            <a:pPr marL="342900" indent="-342900" algn="just">
              <a:spcBef>
                <a:spcPct val="25000"/>
              </a:spcBef>
              <a:spcAft>
                <a:spcPct val="10000"/>
              </a:spcAft>
              <a:buFont typeface="Wingdings" panose="05000000000000000000" pitchFamily="2" charset="2"/>
              <a:buChar char="Ø"/>
              <a:defRPr/>
            </a:pPr>
            <a:r>
              <a:rPr lang="en-US" sz="2200" i="1" dirty="0"/>
              <a:t>A table in 1NF that has a primary key constituted by a single field (that is, not a composite key) is automatically in 2NF. </a:t>
            </a:r>
          </a:p>
          <a:p>
            <a:pPr marL="342900" indent="-342900" algn="just">
              <a:spcBef>
                <a:spcPct val="25000"/>
              </a:spcBef>
              <a:spcAft>
                <a:spcPct val="10000"/>
              </a:spcAft>
              <a:buFont typeface="Wingdings" panose="05000000000000000000" pitchFamily="2" charset="2"/>
              <a:buChar char="Ø"/>
              <a:defRPr/>
            </a:pPr>
            <a:endParaRPr lang="en-US" sz="2200" i="1" dirty="0"/>
          </a:p>
          <a:p>
            <a:pPr algn="just">
              <a:spcBef>
                <a:spcPct val="25000"/>
              </a:spcBef>
              <a:spcAft>
                <a:spcPct val="10000"/>
              </a:spcAft>
              <a:defRPr/>
            </a:pPr>
            <a:r>
              <a:rPr lang="en-US" sz="2200" i="1" dirty="0"/>
              <a:t>By “non-key field” we mean a field that is not the primary key or part of a composite primary key.</a:t>
            </a:r>
          </a:p>
        </p:txBody>
      </p:sp>
      <p:sp>
        <p:nvSpPr>
          <p:cNvPr id="3" name="Slide Number Placeholder 2"/>
          <p:cNvSpPr>
            <a:spLocks noGrp="1"/>
          </p:cNvSpPr>
          <p:nvPr>
            <p:ph type="sldNum" sz="quarter" idx="12"/>
          </p:nvPr>
        </p:nvSpPr>
        <p:spPr/>
        <p:txBody>
          <a:bodyPr/>
          <a:lstStyle/>
          <a:p>
            <a:fld id="{87F3E754-1C97-4481-A18C-9D97ADBDF344}" type="slidenum">
              <a:rPr lang="en-US" smtClean="0"/>
              <a:t>15</a:t>
            </a:fld>
            <a:endParaRPr lang="en-US"/>
          </a:p>
        </p:txBody>
      </p:sp>
    </p:spTree>
    <p:extLst>
      <p:ext uri="{BB962C8B-B14F-4D97-AF65-F5344CB8AC3E}">
        <p14:creationId xmlns:p14="http://schemas.microsoft.com/office/powerpoint/2010/main" val="38156817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2661" y="366852"/>
            <a:ext cx="8079581" cy="959969"/>
          </a:xfrm>
        </p:spPr>
        <p:txBody>
          <a:bodyPr/>
          <a:lstStyle/>
          <a:p>
            <a:r>
              <a:rPr lang="en-US" dirty="0"/>
              <a:t>What does “depend” mean?</a:t>
            </a:r>
          </a:p>
        </p:txBody>
      </p:sp>
      <p:sp>
        <p:nvSpPr>
          <p:cNvPr id="3" name="Content Placeholder 2"/>
          <p:cNvSpPr>
            <a:spLocks noGrp="1"/>
          </p:cNvSpPr>
          <p:nvPr>
            <p:ph idx="1"/>
          </p:nvPr>
        </p:nvSpPr>
        <p:spPr>
          <a:xfrm>
            <a:off x="1891410" y="1440547"/>
            <a:ext cx="8487179" cy="3939941"/>
          </a:xfrm>
        </p:spPr>
        <p:txBody>
          <a:bodyPr>
            <a:normAutofit/>
          </a:bodyPr>
          <a:lstStyle/>
          <a:p>
            <a:pPr marL="0" indent="0" algn="just">
              <a:lnSpc>
                <a:spcPct val="110000"/>
              </a:lnSpc>
              <a:spcBef>
                <a:spcPct val="25000"/>
              </a:spcBef>
              <a:spcAft>
                <a:spcPct val="10000"/>
              </a:spcAft>
              <a:buNone/>
              <a:defRPr/>
            </a:pPr>
            <a:r>
              <a:rPr lang="en-US" sz="2000" dirty="0">
                <a:solidFill>
                  <a:srgbClr val="000000"/>
                </a:solidFill>
              </a:rPr>
              <a:t>Formally the term is “</a:t>
            </a:r>
            <a:r>
              <a:rPr lang="en-US" sz="2000" u="sng" dirty="0">
                <a:solidFill>
                  <a:srgbClr val="000000"/>
                </a:solidFill>
              </a:rPr>
              <a:t>functionally dependent”.</a:t>
            </a:r>
          </a:p>
          <a:p>
            <a:pPr marL="0" indent="0" algn="just">
              <a:lnSpc>
                <a:spcPct val="110000"/>
              </a:lnSpc>
              <a:spcBef>
                <a:spcPct val="25000"/>
              </a:spcBef>
              <a:spcAft>
                <a:spcPct val="10000"/>
              </a:spcAft>
              <a:buNone/>
              <a:defRPr/>
            </a:pPr>
            <a:endParaRPr lang="en-US" sz="2000" dirty="0">
              <a:solidFill>
                <a:srgbClr val="000000"/>
              </a:solidFill>
            </a:endParaRPr>
          </a:p>
          <a:p>
            <a:pPr marL="0" indent="0" algn="just">
              <a:lnSpc>
                <a:spcPct val="110000"/>
              </a:lnSpc>
              <a:spcBef>
                <a:spcPct val="25000"/>
              </a:spcBef>
              <a:spcAft>
                <a:spcPct val="10000"/>
              </a:spcAft>
              <a:buNone/>
              <a:defRPr/>
            </a:pPr>
            <a:r>
              <a:rPr lang="en-US" sz="2200" dirty="0">
                <a:solidFill>
                  <a:srgbClr val="000000"/>
                </a:solidFill>
              </a:rPr>
              <a:t>Attribute B is </a:t>
            </a:r>
            <a:r>
              <a:rPr lang="en-US" sz="2200" b="1" u="sng" dirty="0">
                <a:solidFill>
                  <a:srgbClr val="000000"/>
                </a:solidFill>
              </a:rPr>
              <a:t>functionally dependent</a:t>
            </a:r>
            <a:r>
              <a:rPr lang="en-US" sz="2200" dirty="0">
                <a:solidFill>
                  <a:srgbClr val="000000"/>
                </a:solidFill>
              </a:rPr>
              <a:t> on attribute A if given a value of attribute A, there is only one possible corresponding value of attribute B</a:t>
            </a:r>
          </a:p>
          <a:p>
            <a:pPr marL="0" lvl="1" indent="0" algn="just">
              <a:lnSpc>
                <a:spcPct val="110000"/>
              </a:lnSpc>
              <a:spcBef>
                <a:spcPct val="25000"/>
              </a:spcBef>
              <a:spcAft>
                <a:spcPct val="10000"/>
              </a:spcAft>
              <a:buNone/>
              <a:defRPr/>
            </a:pPr>
            <a:r>
              <a:rPr lang="en-US" sz="2000" dirty="0">
                <a:solidFill>
                  <a:srgbClr val="000000"/>
                </a:solidFill>
              </a:rPr>
              <a:t>- that is, any two records with the same value of A must have the same value of B</a:t>
            </a:r>
          </a:p>
          <a:p>
            <a:pPr marL="0" indent="0" algn="just">
              <a:lnSpc>
                <a:spcPct val="110000"/>
              </a:lnSpc>
              <a:buNone/>
            </a:pPr>
            <a:endParaRPr lang="en-US" sz="1800" dirty="0">
              <a:solidFill>
                <a:srgbClr val="000000"/>
              </a:solidFill>
            </a:endParaRPr>
          </a:p>
          <a:p>
            <a:pPr marL="0" indent="0" algn="just">
              <a:lnSpc>
                <a:spcPct val="110000"/>
              </a:lnSpc>
              <a:buNone/>
            </a:pPr>
            <a:r>
              <a:rPr lang="en-US" sz="2000" dirty="0">
                <a:solidFill>
                  <a:srgbClr val="000000"/>
                </a:solidFill>
              </a:rPr>
              <a:t>Sometimes functional dependencies are represented using the following diagram:</a:t>
            </a:r>
          </a:p>
        </p:txBody>
      </p:sp>
      <p:sp>
        <p:nvSpPr>
          <p:cNvPr id="4" name="Slide Number Placeholder 3"/>
          <p:cNvSpPr>
            <a:spLocks noGrp="1"/>
          </p:cNvSpPr>
          <p:nvPr>
            <p:ph type="sldNum" sz="quarter" idx="12"/>
          </p:nvPr>
        </p:nvSpPr>
        <p:spPr/>
        <p:txBody>
          <a:bodyPr/>
          <a:lstStyle/>
          <a:p>
            <a:fld id="{87F3E754-1C97-4481-A18C-9D97ADBDF344}" type="slidenum">
              <a:rPr lang="en-US" smtClean="0"/>
              <a:t>16</a:t>
            </a:fld>
            <a:endParaRPr lang="en-US"/>
          </a:p>
        </p:txBody>
      </p:sp>
      <p:sp>
        <p:nvSpPr>
          <p:cNvPr id="5" name="Oval 4"/>
          <p:cNvSpPr/>
          <p:nvPr/>
        </p:nvSpPr>
        <p:spPr>
          <a:xfrm>
            <a:off x="3618209" y="5192910"/>
            <a:ext cx="1828800" cy="79849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Attribute A</a:t>
            </a:r>
          </a:p>
        </p:txBody>
      </p:sp>
      <p:sp>
        <p:nvSpPr>
          <p:cNvPr id="6" name="Oval 5"/>
          <p:cNvSpPr/>
          <p:nvPr/>
        </p:nvSpPr>
        <p:spPr>
          <a:xfrm>
            <a:off x="7034011" y="5192910"/>
            <a:ext cx="1828800" cy="79849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Attribute B</a:t>
            </a:r>
          </a:p>
        </p:txBody>
      </p:sp>
      <p:cxnSp>
        <p:nvCxnSpPr>
          <p:cNvPr id="8" name="Straight Arrow Connector 7"/>
          <p:cNvCxnSpPr>
            <a:stCxn id="5" idx="6"/>
          </p:cNvCxnSpPr>
          <p:nvPr/>
        </p:nvCxnSpPr>
        <p:spPr>
          <a:xfrm>
            <a:off x="5447009" y="5592155"/>
            <a:ext cx="1587002" cy="0"/>
          </a:xfrm>
          <a:prstGeom prst="straightConnector1">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74736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2661" y="366852"/>
            <a:ext cx="8079581" cy="959969"/>
          </a:xfrm>
        </p:spPr>
        <p:txBody>
          <a:bodyPr/>
          <a:lstStyle/>
          <a:p>
            <a:r>
              <a:rPr lang="en-US" dirty="0"/>
              <a:t>Example</a:t>
            </a:r>
          </a:p>
        </p:txBody>
      </p:sp>
      <p:sp>
        <p:nvSpPr>
          <p:cNvPr id="3" name="Content Placeholder 2"/>
          <p:cNvSpPr>
            <a:spLocks noGrp="1"/>
          </p:cNvSpPr>
          <p:nvPr>
            <p:ph idx="1"/>
          </p:nvPr>
        </p:nvSpPr>
        <p:spPr>
          <a:xfrm>
            <a:off x="1891410" y="1440548"/>
            <a:ext cx="8487179" cy="2209425"/>
          </a:xfrm>
        </p:spPr>
        <p:txBody>
          <a:bodyPr>
            <a:normAutofit fontScale="85000" lnSpcReduction="10000"/>
          </a:bodyPr>
          <a:lstStyle/>
          <a:p>
            <a:pPr marL="0" indent="0" algn="just">
              <a:lnSpc>
                <a:spcPct val="110000"/>
              </a:lnSpc>
              <a:spcBef>
                <a:spcPct val="25000"/>
              </a:spcBef>
              <a:spcAft>
                <a:spcPct val="10000"/>
              </a:spcAft>
              <a:buNone/>
              <a:defRPr/>
            </a:pPr>
            <a:r>
              <a:rPr lang="en-US" dirty="0">
                <a:solidFill>
                  <a:srgbClr val="000000"/>
                </a:solidFill>
              </a:rPr>
              <a:t>There is only one person with a certain Social Security Number, so there is only one possible first name, last name, student ID, and everything that is unique to that person, such as address, phone,</a:t>
            </a:r>
            <a:r>
              <a:rPr lang="is-IS" dirty="0">
                <a:solidFill>
                  <a:srgbClr val="000000"/>
                </a:solidFill>
              </a:rPr>
              <a:t>…</a:t>
            </a:r>
            <a:endParaRPr lang="en-US" dirty="0">
              <a:solidFill>
                <a:srgbClr val="000000"/>
              </a:solidFill>
            </a:endParaRPr>
          </a:p>
          <a:p>
            <a:pPr marL="0" indent="0" algn="just">
              <a:lnSpc>
                <a:spcPct val="110000"/>
              </a:lnSpc>
              <a:spcBef>
                <a:spcPct val="25000"/>
              </a:spcBef>
              <a:spcAft>
                <a:spcPct val="10000"/>
              </a:spcAft>
              <a:buNone/>
              <a:defRPr/>
            </a:pPr>
            <a:r>
              <a:rPr lang="en-US" dirty="0">
                <a:solidFill>
                  <a:srgbClr val="000000"/>
                </a:solidFill>
              </a:rPr>
              <a:t>The same for student ID, so we have the following dependencies:</a:t>
            </a:r>
          </a:p>
        </p:txBody>
      </p:sp>
      <p:sp>
        <p:nvSpPr>
          <p:cNvPr id="4" name="Slide Number Placeholder 3"/>
          <p:cNvSpPr>
            <a:spLocks noGrp="1"/>
          </p:cNvSpPr>
          <p:nvPr>
            <p:ph type="sldNum" sz="quarter" idx="12"/>
          </p:nvPr>
        </p:nvSpPr>
        <p:spPr/>
        <p:txBody>
          <a:bodyPr/>
          <a:lstStyle/>
          <a:p>
            <a:fld id="{87F3E754-1C97-4481-A18C-9D97ADBDF344}" type="slidenum">
              <a:rPr lang="en-US" smtClean="0"/>
              <a:t>17</a:t>
            </a:fld>
            <a:endParaRPr lang="en-US"/>
          </a:p>
        </p:txBody>
      </p:sp>
      <p:grpSp>
        <p:nvGrpSpPr>
          <p:cNvPr id="33" name="Group 32"/>
          <p:cNvGrpSpPr/>
          <p:nvPr/>
        </p:nvGrpSpPr>
        <p:grpSpPr>
          <a:xfrm>
            <a:off x="3274987" y="3548928"/>
            <a:ext cx="6030757" cy="2656882"/>
            <a:chOff x="2094209" y="4201118"/>
            <a:chExt cx="5244602" cy="2656882"/>
          </a:xfrm>
        </p:grpSpPr>
        <p:sp>
          <p:nvSpPr>
            <p:cNvPr id="5" name="Oval 4"/>
            <p:cNvSpPr/>
            <p:nvPr/>
          </p:nvSpPr>
          <p:spPr>
            <a:xfrm>
              <a:off x="2094209" y="5192910"/>
              <a:ext cx="1336154" cy="79849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SSN</a:t>
              </a:r>
            </a:p>
          </p:txBody>
        </p:sp>
        <p:sp>
          <p:nvSpPr>
            <p:cNvPr id="6" name="Oval 5"/>
            <p:cNvSpPr/>
            <p:nvPr/>
          </p:nvSpPr>
          <p:spPr>
            <a:xfrm>
              <a:off x="5991611" y="5192910"/>
              <a:ext cx="1347200" cy="79849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First Name</a:t>
              </a:r>
            </a:p>
          </p:txBody>
        </p:sp>
        <p:cxnSp>
          <p:nvCxnSpPr>
            <p:cNvPr id="8" name="Straight Arrow Connector 7"/>
            <p:cNvCxnSpPr>
              <a:stCxn id="5" idx="6"/>
              <a:endCxn id="6" idx="2"/>
            </p:cNvCxnSpPr>
            <p:nvPr/>
          </p:nvCxnSpPr>
          <p:spPr>
            <a:xfrm>
              <a:off x="3430363" y="5592155"/>
              <a:ext cx="2561248" cy="0"/>
            </a:xfrm>
            <a:prstGeom prst="straightConnector1">
              <a:avLst/>
            </a:prstGeom>
            <a:ln>
              <a:headEnd type="none" w="med" len="med"/>
              <a:tailEnd type="arrow" w="med" len="med"/>
            </a:ln>
          </p:spPr>
          <p:style>
            <a:lnRef idx="3">
              <a:schemeClr val="accent1"/>
            </a:lnRef>
            <a:fillRef idx="0">
              <a:schemeClr val="accent1"/>
            </a:fillRef>
            <a:effectRef idx="2">
              <a:schemeClr val="accent1"/>
            </a:effectRef>
            <a:fontRef idx="minor">
              <a:schemeClr val="tx1"/>
            </a:fontRef>
          </p:style>
        </p:cxnSp>
        <p:sp>
          <p:nvSpPr>
            <p:cNvPr id="9" name="Oval 8"/>
            <p:cNvSpPr/>
            <p:nvPr/>
          </p:nvSpPr>
          <p:spPr>
            <a:xfrm>
              <a:off x="3923420" y="4201118"/>
              <a:ext cx="1292768" cy="79849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Student ID</a:t>
              </a:r>
            </a:p>
          </p:txBody>
        </p:sp>
        <p:sp>
          <p:nvSpPr>
            <p:cNvPr id="10" name="Oval 9"/>
            <p:cNvSpPr/>
            <p:nvPr/>
          </p:nvSpPr>
          <p:spPr>
            <a:xfrm>
              <a:off x="4840224" y="6059510"/>
              <a:ext cx="1331536" cy="79849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Last Name</a:t>
              </a:r>
            </a:p>
          </p:txBody>
        </p:sp>
        <p:cxnSp>
          <p:nvCxnSpPr>
            <p:cNvPr id="11" name="Straight Arrow Connector 10"/>
            <p:cNvCxnSpPr>
              <a:stCxn id="5" idx="7"/>
              <a:endCxn id="9" idx="3"/>
            </p:cNvCxnSpPr>
            <p:nvPr/>
          </p:nvCxnSpPr>
          <p:spPr>
            <a:xfrm flipV="1">
              <a:off x="3234688" y="4882672"/>
              <a:ext cx="878054" cy="427174"/>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13" name="Straight Arrow Connector 12"/>
            <p:cNvCxnSpPr>
              <a:stCxn id="5" idx="5"/>
              <a:endCxn id="10" idx="1"/>
            </p:cNvCxnSpPr>
            <p:nvPr/>
          </p:nvCxnSpPr>
          <p:spPr>
            <a:xfrm>
              <a:off x="3234688" y="5874464"/>
              <a:ext cx="1800535" cy="301982"/>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15" name="Straight Arrow Connector 14"/>
            <p:cNvCxnSpPr>
              <a:stCxn id="9" idx="2"/>
              <a:endCxn id="5" idx="0"/>
            </p:cNvCxnSpPr>
            <p:nvPr/>
          </p:nvCxnSpPr>
          <p:spPr>
            <a:xfrm flipH="1">
              <a:off x="2762287" y="4600363"/>
              <a:ext cx="1161133" cy="592547"/>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17" name="Straight Arrow Connector 16"/>
            <p:cNvCxnSpPr>
              <a:stCxn id="9" idx="5"/>
              <a:endCxn id="6" idx="1"/>
            </p:cNvCxnSpPr>
            <p:nvPr/>
          </p:nvCxnSpPr>
          <p:spPr>
            <a:xfrm>
              <a:off x="5026867" y="4882672"/>
              <a:ext cx="1162038" cy="427174"/>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19" name="Straight Arrow Connector 18"/>
            <p:cNvCxnSpPr>
              <a:stCxn id="9" idx="4"/>
              <a:endCxn id="10" idx="0"/>
            </p:cNvCxnSpPr>
            <p:nvPr/>
          </p:nvCxnSpPr>
          <p:spPr>
            <a:xfrm>
              <a:off x="4569804" y="4999608"/>
              <a:ext cx="936187" cy="1059902"/>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grpSp>
    </p:spTree>
    <p:extLst>
      <p:ext uri="{BB962C8B-B14F-4D97-AF65-F5344CB8AC3E}">
        <p14:creationId xmlns:p14="http://schemas.microsoft.com/office/powerpoint/2010/main" val="18117762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63291" y="131132"/>
            <a:ext cx="4418718" cy="1037269"/>
          </a:xfrm>
        </p:spPr>
        <p:txBody>
          <a:bodyPr>
            <a:normAutofit/>
          </a:bodyPr>
          <a:lstStyle/>
          <a:p>
            <a:r>
              <a:rPr lang="en-US" dirty="0"/>
              <a:t>Example – Pets I</a:t>
            </a:r>
          </a:p>
        </p:txBody>
      </p:sp>
      <p:sp>
        <p:nvSpPr>
          <p:cNvPr id="8" name="Rectangle 5"/>
          <p:cNvSpPr>
            <a:spLocks noChangeArrowheads="1"/>
          </p:cNvSpPr>
          <p:nvPr/>
        </p:nvSpPr>
        <p:spPr bwMode="auto">
          <a:xfrm>
            <a:off x="1888067" y="1168401"/>
            <a:ext cx="8335090" cy="5740675"/>
          </a:xfrm>
          <a:prstGeom prst="rect">
            <a:avLst/>
          </a:prstGeom>
          <a:noFill/>
          <a:ln w="9525">
            <a:noFill/>
            <a:miter lim="800000"/>
            <a:headEnd/>
            <a:tailEnd/>
          </a:ln>
          <a:effectLst/>
        </p:spPr>
        <p:txBody>
          <a:bodyPr wrap="square" lIns="92075" tIns="46038" rIns="92075" bIns="46038">
            <a:spAutoFit/>
          </a:bodyPr>
          <a:lstStyle/>
          <a:p>
            <a:pPr>
              <a:spcBef>
                <a:spcPct val="25000"/>
              </a:spcBef>
              <a:spcAft>
                <a:spcPct val="10000"/>
              </a:spcAft>
            </a:pPr>
            <a:endParaRPr lang="en-US" altLang="en-US" sz="1000" dirty="0"/>
          </a:p>
          <a:p>
            <a:pPr>
              <a:spcBef>
                <a:spcPct val="25000"/>
              </a:spcBef>
              <a:spcAft>
                <a:spcPct val="10000"/>
              </a:spcAft>
            </a:pPr>
            <a:endParaRPr lang="en-US" altLang="en-US" sz="1000" dirty="0"/>
          </a:p>
          <a:p>
            <a:pPr>
              <a:spcBef>
                <a:spcPct val="25000"/>
              </a:spcBef>
              <a:spcAft>
                <a:spcPct val="10000"/>
              </a:spcAft>
            </a:pPr>
            <a:endParaRPr lang="en-US" altLang="en-US" sz="1000" b="1" dirty="0"/>
          </a:p>
          <a:p>
            <a:pPr>
              <a:spcBef>
                <a:spcPct val="25000"/>
              </a:spcBef>
              <a:spcAft>
                <a:spcPct val="10000"/>
              </a:spcAft>
            </a:pPr>
            <a:r>
              <a:rPr lang="en-US" altLang="en-US" sz="2400" dirty="0"/>
              <a:t>CLIENT(</a:t>
            </a:r>
            <a:r>
              <a:rPr lang="en-US" altLang="en-US" sz="2400" u="sng" dirty="0"/>
              <a:t>ClientID</a:t>
            </a:r>
            <a:r>
              <a:rPr lang="en-US" altLang="en-US" sz="2400" dirty="0"/>
              <a:t>, ClientName, VetID, VetName, </a:t>
            </a:r>
            <a:r>
              <a:rPr lang="en-US" altLang="en-US" sz="2400" u="sng" dirty="0" err="1"/>
              <a:t>PetNo</a:t>
            </a:r>
            <a:r>
              <a:rPr lang="en-US" altLang="en-US" sz="2400" dirty="0"/>
              <a:t>, PetName, </a:t>
            </a:r>
            <a:r>
              <a:rPr lang="en-US" altLang="en-US" sz="2400" dirty="0" err="1"/>
              <a:t>PetType</a:t>
            </a:r>
            <a:r>
              <a:rPr lang="en-US" altLang="en-US" sz="2400" dirty="0"/>
              <a:t> )</a:t>
            </a:r>
          </a:p>
          <a:p>
            <a:pPr>
              <a:spcBef>
                <a:spcPct val="25000"/>
              </a:spcBef>
              <a:spcAft>
                <a:spcPct val="10000"/>
              </a:spcAft>
            </a:pPr>
            <a:endParaRPr lang="en-US" altLang="en-US" sz="2400" dirty="0"/>
          </a:p>
          <a:p>
            <a:pPr>
              <a:spcBef>
                <a:spcPct val="25000"/>
              </a:spcBef>
              <a:spcAft>
                <a:spcPct val="10000"/>
              </a:spcAft>
            </a:pPr>
            <a:endParaRPr lang="en-US" altLang="en-US" sz="2400" dirty="0"/>
          </a:p>
          <a:p>
            <a:pPr>
              <a:spcBef>
                <a:spcPct val="25000"/>
              </a:spcBef>
              <a:spcAft>
                <a:spcPct val="10000"/>
              </a:spcAft>
            </a:pPr>
            <a:endParaRPr lang="en-US" altLang="en-US" sz="2400" dirty="0"/>
          </a:p>
          <a:p>
            <a:pPr>
              <a:spcBef>
                <a:spcPct val="25000"/>
              </a:spcBef>
              <a:spcAft>
                <a:spcPct val="10000"/>
              </a:spcAft>
            </a:pPr>
            <a:endParaRPr lang="en-US" altLang="en-US" sz="2000" b="1" dirty="0"/>
          </a:p>
          <a:p>
            <a:pPr>
              <a:spcBef>
                <a:spcPct val="25000"/>
              </a:spcBef>
              <a:spcAft>
                <a:spcPct val="10000"/>
              </a:spcAft>
            </a:pPr>
            <a:endParaRPr lang="en-US" altLang="en-US" sz="2800" b="1" dirty="0">
              <a:latin typeface="Arial" panose="020B0604020202020204" pitchFamily="34" charset="0"/>
            </a:endParaRPr>
          </a:p>
          <a:p>
            <a:pPr>
              <a:spcBef>
                <a:spcPct val="25000"/>
              </a:spcBef>
              <a:spcAft>
                <a:spcPct val="10000"/>
              </a:spcAft>
            </a:pPr>
            <a:endParaRPr lang="en-US" altLang="en-US" sz="2800" b="1" dirty="0">
              <a:latin typeface="Arial" panose="020B0604020202020204" pitchFamily="34" charset="0"/>
            </a:endParaRPr>
          </a:p>
          <a:p>
            <a:pPr>
              <a:spcBef>
                <a:spcPct val="25000"/>
              </a:spcBef>
              <a:spcAft>
                <a:spcPct val="10000"/>
              </a:spcAft>
            </a:pPr>
            <a:endParaRPr lang="en-US" altLang="en-US" sz="2800" b="1" dirty="0">
              <a:latin typeface="Arial" panose="020B0604020202020204" pitchFamily="34" charset="0"/>
            </a:endParaRPr>
          </a:p>
          <a:p>
            <a:pPr>
              <a:spcBef>
                <a:spcPct val="25000"/>
              </a:spcBef>
              <a:spcAft>
                <a:spcPct val="10000"/>
              </a:spcAft>
            </a:pPr>
            <a:r>
              <a:rPr lang="en-US" altLang="en-US" sz="2000" dirty="0"/>
              <a:t>*Suppose for simplicity, that a client always goes to a single vet.</a:t>
            </a:r>
          </a:p>
        </p:txBody>
      </p:sp>
      <p:graphicFrame>
        <p:nvGraphicFramePr>
          <p:cNvPr id="3" name="Table 2"/>
          <p:cNvGraphicFramePr>
            <a:graphicFrameLocks noGrp="1"/>
          </p:cNvGraphicFramePr>
          <p:nvPr/>
        </p:nvGraphicFramePr>
        <p:xfrm>
          <a:off x="2058515" y="3064613"/>
          <a:ext cx="7994195" cy="2930366"/>
        </p:xfrm>
        <a:graphic>
          <a:graphicData uri="http://schemas.openxmlformats.org/drawingml/2006/table">
            <a:tbl>
              <a:tblPr firstRow="1" bandRow="1">
                <a:tableStyleId>{5C22544A-7EE6-4342-B048-85BDC9FD1C3A}</a:tableStyleId>
              </a:tblPr>
              <a:tblGrid>
                <a:gridCol w="1000470">
                  <a:extLst>
                    <a:ext uri="{9D8B030D-6E8A-4147-A177-3AD203B41FA5}">
                      <a16:colId xmlns:a16="http://schemas.microsoft.com/office/drawing/2014/main" val="20000"/>
                    </a:ext>
                  </a:extLst>
                </a:gridCol>
                <a:gridCol w="1746393">
                  <a:extLst>
                    <a:ext uri="{9D8B030D-6E8A-4147-A177-3AD203B41FA5}">
                      <a16:colId xmlns:a16="http://schemas.microsoft.com/office/drawing/2014/main" val="20001"/>
                    </a:ext>
                  </a:extLst>
                </a:gridCol>
                <a:gridCol w="799099">
                  <a:extLst>
                    <a:ext uri="{9D8B030D-6E8A-4147-A177-3AD203B41FA5}">
                      <a16:colId xmlns:a16="http://schemas.microsoft.com/office/drawing/2014/main" val="20002"/>
                    </a:ext>
                  </a:extLst>
                </a:gridCol>
                <a:gridCol w="1206745">
                  <a:extLst>
                    <a:ext uri="{9D8B030D-6E8A-4147-A177-3AD203B41FA5}">
                      <a16:colId xmlns:a16="http://schemas.microsoft.com/office/drawing/2014/main" val="20003"/>
                    </a:ext>
                  </a:extLst>
                </a:gridCol>
                <a:gridCol w="845574">
                  <a:extLst>
                    <a:ext uri="{9D8B030D-6E8A-4147-A177-3AD203B41FA5}">
                      <a16:colId xmlns:a16="http://schemas.microsoft.com/office/drawing/2014/main" val="20004"/>
                    </a:ext>
                  </a:extLst>
                </a:gridCol>
                <a:gridCol w="1264987">
                  <a:extLst>
                    <a:ext uri="{9D8B030D-6E8A-4147-A177-3AD203B41FA5}">
                      <a16:colId xmlns:a16="http://schemas.microsoft.com/office/drawing/2014/main" val="20005"/>
                    </a:ext>
                  </a:extLst>
                </a:gridCol>
                <a:gridCol w="1130927">
                  <a:extLst>
                    <a:ext uri="{9D8B030D-6E8A-4147-A177-3AD203B41FA5}">
                      <a16:colId xmlns:a16="http://schemas.microsoft.com/office/drawing/2014/main" val="20006"/>
                    </a:ext>
                  </a:extLst>
                </a:gridCol>
              </a:tblGrid>
              <a:tr h="320187">
                <a:tc>
                  <a:txBody>
                    <a:bodyPr/>
                    <a:lstStyle/>
                    <a:p>
                      <a:r>
                        <a:rPr lang="en-US" sz="1800" u="sng" dirty="0"/>
                        <a:t>ClientID</a:t>
                      </a:r>
                    </a:p>
                  </a:txBody>
                  <a:tcPr/>
                </a:tc>
                <a:tc>
                  <a:txBody>
                    <a:bodyPr/>
                    <a:lstStyle/>
                    <a:p>
                      <a:r>
                        <a:rPr lang="en-US" sz="1800" dirty="0"/>
                        <a:t>ClientName</a:t>
                      </a:r>
                    </a:p>
                  </a:txBody>
                  <a:tcPr/>
                </a:tc>
                <a:tc>
                  <a:txBody>
                    <a:bodyPr/>
                    <a:lstStyle/>
                    <a:p>
                      <a:r>
                        <a:rPr lang="en-US" sz="1800" dirty="0"/>
                        <a:t>VetID</a:t>
                      </a:r>
                    </a:p>
                  </a:txBody>
                  <a:tcPr/>
                </a:tc>
                <a:tc>
                  <a:txBody>
                    <a:bodyPr/>
                    <a:lstStyle/>
                    <a:p>
                      <a:r>
                        <a:rPr lang="en-US" sz="1800" dirty="0"/>
                        <a:t>VetName</a:t>
                      </a:r>
                    </a:p>
                  </a:txBody>
                  <a:tcPr/>
                </a:tc>
                <a:tc>
                  <a:txBody>
                    <a:bodyPr/>
                    <a:lstStyle/>
                    <a:p>
                      <a:r>
                        <a:rPr lang="en-US" sz="1800" u="sng" dirty="0"/>
                        <a:t>PetNo</a:t>
                      </a:r>
                    </a:p>
                  </a:txBody>
                  <a:tcPr/>
                </a:tc>
                <a:tc>
                  <a:txBody>
                    <a:bodyPr/>
                    <a:lstStyle/>
                    <a:p>
                      <a:r>
                        <a:rPr lang="en-US" sz="1800" dirty="0"/>
                        <a:t>PetName</a:t>
                      </a:r>
                    </a:p>
                  </a:txBody>
                  <a:tcPr/>
                </a:tc>
                <a:tc>
                  <a:txBody>
                    <a:bodyPr/>
                    <a:lstStyle/>
                    <a:p>
                      <a:r>
                        <a:rPr lang="en-US" sz="1800" dirty="0"/>
                        <a:t>PetType</a:t>
                      </a:r>
                    </a:p>
                  </a:txBody>
                  <a:tcPr/>
                </a:tc>
                <a:extLst>
                  <a:ext uri="{0D108BD9-81ED-4DB2-BD59-A6C34878D82A}">
                    <a16:rowId xmlns:a16="http://schemas.microsoft.com/office/drawing/2014/main" val="10000"/>
                  </a:ext>
                </a:extLst>
              </a:tr>
              <a:tr h="370046">
                <a:tc>
                  <a:txBody>
                    <a:bodyPr/>
                    <a:lstStyle/>
                    <a:p>
                      <a:r>
                        <a:rPr lang="en-US" sz="1800" dirty="0"/>
                        <a:t>2173</a:t>
                      </a:r>
                    </a:p>
                  </a:txBody>
                  <a:tcPr anchor="ctr"/>
                </a:tc>
                <a:tc>
                  <a:txBody>
                    <a:bodyPr/>
                    <a:lstStyle/>
                    <a:p>
                      <a:r>
                        <a:rPr lang="en-US" sz="1800" dirty="0"/>
                        <a:t>Barbara Smith</a:t>
                      </a:r>
                    </a:p>
                  </a:txBody>
                  <a:tcPr anchor="ctr"/>
                </a:tc>
                <a:tc>
                  <a:txBody>
                    <a:bodyPr/>
                    <a:lstStyle/>
                    <a:p>
                      <a:r>
                        <a:rPr lang="en-US" sz="1800" dirty="0"/>
                        <a:t>27</a:t>
                      </a:r>
                    </a:p>
                  </a:txBody>
                  <a:tcPr anchor="ctr"/>
                </a:tc>
                <a:tc>
                  <a:txBody>
                    <a:bodyPr/>
                    <a:lstStyle/>
                    <a:p>
                      <a:r>
                        <a:rPr lang="en-US" sz="1800" dirty="0"/>
                        <a:t>PetVet</a:t>
                      </a:r>
                    </a:p>
                  </a:txBody>
                  <a:tcPr anchor="ctr"/>
                </a:tc>
                <a:tc>
                  <a:txBody>
                    <a:bodyPr/>
                    <a:lstStyle/>
                    <a:p>
                      <a:r>
                        <a:rPr lang="en-US" sz="1800" dirty="0"/>
                        <a:t>1</a:t>
                      </a:r>
                    </a:p>
                  </a:txBody>
                  <a:tcPr/>
                </a:tc>
                <a:tc>
                  <a:txBody>
                    <a:bodyPr/>
                    <a:lstStyle/>
                    <a:p>
                      <a:r>
                        <a:rPr lang="en-US" sz="1800" dirty="0"/>
                        <a:t>Sam</a:t>
                      </a:r>
                    </a:p>
                  </a:txBody>
                  <a:tcPr/>
                </a:tc>
                <a:tc>
                  <a:txBody>
                    <a:bodyPr/>
                    <a:lstStyle/>
                    <a:p>
                      <a:r>
                        <a:rPr lang="en-US" sz="1800" dirty="0"/>
                        <a:t>Bird</a:t>
                      </a:r>
                    </a:p>
                  </a:txBody>
                  <a:tcPr/>
                </a:tc>
                <a:extLst>
                  <a:ext uri="{0D108BD9-81ED-4DB2-BD59-A6C34878D82A}">
                    <a16:rowId xmlns:a16="http://schemas.microsoft.com/office/drawing/2014/main" val="10001"/>
                  </a:ext>
                </a:extLst>
              </a:tr>
              <a:tr h="361474">
                <a:tc>
                  <a:txBody>
                    <a:bodyPr/>
                    <a:lstStyle/>
                    <a:p>
                      <a:r>
                        <a:rPr lang="en-US" sz="1800" dirty="0"/>
                        <a:t>2173</a:t>
                      </a:r>
                    </a:p>
                  </a:txBody>
                  <a:tcPr anchor="ctr"/>
                </a:tc>
                <a:tc>
                  <a:txBody>
                    <a:bodyPr/>
                    <a:lstStyle/>
                    <a:p>
                      <a:r>
                        <a:rPr lang="en-US" sz="1800" dirty="0"/>
                        <a:t>Barbara Smith</a:t>
                      </a:r>
                    </a:p>
                  </a:txBody>
                  <a:tcPr anchor="ctr"/>
                </a:tc>
                <a:tc>
                  <a:txBody>
                    <a:bodyPr/>
                    <a:lstStyle/>
                    <a:p>
                      <a:r>
                        <a:rPr lang="en-US" sz="1800" dirty="0"/>
                        <a:t>27</a:t>
                      </a:r>
                    </a:p>
                  </a:txBody>
                  <a:tcPr anchor="ctr"/>
                </a:tc>
                <a:tc>
                  <a:txBody>
                    <a:bodyPr/>
                    <a:lstStyle/>
                    <a:p>
                      <a:r>
                        <a:rPr lang="en-US" sz="1800" dirty="0"/>
                        <a:t>PetVet</a:t>
                      </a:r>
                    </a:p>
                  </a:txBody>
                  <a:tcPr anchor="ctr"/>
                </a:tc>
                <a:tc>
                  <a:txBody>
                    <a:bodyPr/>
                    <a:lstStyle/>
                    <a:p>
                      <a:r>
                        <a:rPr lang="en-US" sz="1800" dirty="0"/>
                        <a:t>2</a:t>
                      </a:r>
                    </a:p>
                  </a:txBody>
                  <a:tcPr/>
                </a:tc>
                <a:tc>
                  <a:txBody>
                    <a:bodyPr/>
                    <a:lstStyle/>
                    <a:p>
                      <a:r>
                        <a:rPr lang="en-US" sz="1800" dirty="0"/>
                        <a:t>Hoober</a:t>
                      </a:r>
                    </a:p>
                  </a:txBody>
                  <a:tcPr/>
                </a:tc>
                <a:tc>
                  <a:txBody>
                    <a:bodyPr/>
                    <a:lstStyle/>
                    <a:p>
                      <a:r>
                        <a:rPr lang="en-US" sz="1800" dirty="0"/>
                        <a:t>Dog</a:t>
                      </a:r>
                    </a:p>
                  </a:txBody>
                  <a:tcPr/>
                </a:tc>
                <a:extLst>
                  <a:ext uri="{0D108BD9-81ED-4DB2-BD59-A6C34878D82A}">
                    <a16:rowId xmlns:a16="http://schemas.microsoft.com/office/drawing/2014/main" val="10002"/>
                  </a:ext>
                </a:extLst>
              </a:tr>
              <a:tr h="320187">
                <a:tc>
                  <a:txBody>
                    <a:bodyPr/>
                    <a:lstStyle/>
                    <a:p>
                      <a:r>
                        <a:rPr lang="en-US" sz="1800" dirty="0"/>
                        <a:t>2173</a:t>
                      </a:r>
                    </a:p>
                  </a:txBody>
                  <a:tcPr anchor="ctr"/>
                </a:tc>
                <a:tc>
                  <a:txBody>
                    <a:bodyPr/>
                    <a:lstStyle/>
                    <a:p>
                      <a:r>
                        <a:rPr lang="en-US" sz="1800" dirty="0"/>
                        <a:t>Barbara Smith</a:t>
                      </a:r>
                    </a:p>
                  </a:txBody>
                  <a:tcPr anchor="ctr"/>
                </a:tc>
                <a:tc>
                  <a:txBody>
                    <a:bodyPr/>
                    <a:lstStyle/>
                    <a:p>
                      <a:r>
                        <a:rPr lang="en-US" sz="1800" dirty="0"/>
                        <a:t>27</a:t>
                      </a:r>
                    </a:p>
                  </a:txBody>
                  <a:tcPr anchor="ctr"/>
                </a:tc>
                <a:tc>
                  <a:txBody>
                    <a:bodyPr/>
                    <a:lstStyle/>
                    <a:p>
                      <a:r>
                        <a:rPr lang="en-US" sz="1800" dirty="0"/>
                        <a:t>PetVet</a:t>
                      </a:r>
                    </a:p>
                  </a:txBody>
                  <a:tcPr anchor="ctr"/>
                </a:tc>
                <a:tc>
                  <a:txBody>
                    <a:bodyPr/>
                    <a:lstStyle/>
                    <a:p>
                      <a:r>
                        <a:rPr lang="en-US" sz="1800" dirty="0"/>
                        <a:t>3</a:t>
                      </a:r>
                    </a:p>
                  </a:txBody>
                  <a:tcPr/>
                </a:tc>
                <a:tc>
                  <a:txBody>
                    <a:bodyPr/>
                    <a:lstStyle/>
                    <a:p>
                      <a:r>
                        <a:rPr lang="en-US" sz="1800" dirty="0"/>
                        <a:t>Charlie</a:t>
                      </a:r>
                    </a:p>
                  </a:txBody>
                  <a:tcPr/>
                </a:tc>
                <a:tc>
                  <a:txBody>
                    <a:bodyPr/>
                    <a:lstStyle/>
                    <a:p>
                      <a:r>
                        <a:rPr lang="en-US" sz="1800" dirty="0"/>
                        <a:t>Hamster</a:t>
                      </a:r>
                    </a:p>
                  </a:txBody>
                  <a:tcPr/>
                </a:tc>
                <a:extLst>
                  <a:ext uri="{0D108BD9-81ED-4DB2-BD59-A6C34878D82A}">
                    <a16:rowId xmlns:a16="http://schemas.microsoft.com/office/drawing/2014/main" val="10003"/>
                  </a:ext>
                </a:extLst>
              </a:tr>
              <a:tr h="320187">
                <a:tc>
                  <a:txBody>
                    <a:bodyPr/>
                    <a:lstStyle/>
                    <a:p>
                      <a:r>
                        <a:rPr lang="en-US" sz="1800" dirty="0"/>
                        <a:t>4519</a:t>
                      </a:r>
                    </a:p>
                  </a:txBody>
                  <a:tcPr anchor="ctr"/>
                </a:tc>
                <a:tc>
                  <a:txBody>
                    <a:bodyPr/>
                    <a:lstStyle/>
                    <a:p>
                      <a:r>
                        <a:rPr lang="en-US" sz="1800" dirty="0"/>
                        <a:t>John Ross</a:t>
                      </a:r>
                    </a:p>
                  </a:txBody>
                  <a:tcPr anchor="ctr"/>
                </a:tc>
                <a:tc>
                  <a:txBody>
                    <a:bodyPr/>
                    <a:lstStyle/>
                    <a:p>
                      <a:r>
                        <a:rPr lang="en-US" sz="1800" dirty="0"/>
                        <a:t>31</a:t>
                      </a:r>
                    </a:p>
                  </a:txBody>
                  <a:tcPr anchor="ctr"/>
                </a:tc>
                <a:tc>
                  <a:txBody>
                    <a:bodyPr/>
                    <a:lstStyle/>
                    <a:p>
                      <a:r>
                        <a:rPr lang="en-US" sz="1800" dirty="0"/>
                        <a:t>PetCare</a:t>
                      </a:r>
                    </a:p>
                  </a:txBody>
                  <a:tcPr anchor="ctr"/>
                </a:tc>
                <a:tc>
                  <a:txBody>
                    <a:bodyPr/>
                    <a:lstStyle/>
                    <a:p>
                      <a:r>
                        <a:rPr lang="en-US" sz="1800" dirty="0"/>
                        <a:t>1</a:t>
                      </a:r>
                    </a:p>
                  </a:txBody>
                  <a:tcPr/>
                </a:tc>
                <a:tc>
                  <a:txBody>
                    <a:bodyPr/>
                    <a:lstStyle/>
                    <a:p>
                      <a:r>
                        <a:rPr lang="en-US" sz="1800" dirty="0"/>
                        <a:t>Charlie</a:t>
                      </a:r>
                    </a:p>
                  </a:txBody>
                  <a:tcPr/>
                </a:tc>
                <a:tc>
                  <a:txBody>
                    <a:bodyPr/>
                    <a:lstStyle/>
                    <a:p>
                      <a:r>
                        <a:rPr lang="en-US" sz="1800" dirty="0"/>
                        <a:t>Cat</a:t>
                      </a:r>
                    </a:p>
                  </a:txBody>
                  <a:tcPr/>
                </a:tc>
                <a:extLst>
                  <a:ext uri="{0D108BD9-81ED-4DB2-BD59-A6C34878D82A}">
                    <a16:rowId xmlns:a16="http://schemas.microsoft.com/office/drawing/2014/main" val="10004"/>
                  </a:ext>
                </a:extLst>
              </a:tr>
              <a:tr h="320187">
                <a:tc>
                  <a:txBody>
                    <a:bodyPr/>
                    <a:lstStyle/>
                    <a:p>
                      <a:r>
                        <a:rPr lang="en-US" sz="1800" dirty="0"/>
                        <a:t>8005</a:t>
                      </a:r>
                    </a:p>
                  </a:txBody>
                  <a:tcPr anchor="ctr"/>
                </a:tc>
                <a:tc>
                  <a:txBody>
                    <a:bodyPr/>
                    <a:lstStyle/>
                    <a:p>
                      <a:r>
                        <a:rPr lang="en-US" sz="1800" dirty="0"/>
                        <a:t>Sandra Lee</a:t>
                      </a:r>
                    </a:p>
                  </a:txBody>
                  <a:tcPr anchor="ctr"/>
                </a:tc>
                <a:tc>
                  <a:txBody>
                    <a:bodyPr/>
                    <a:lstStyle/>
                    <a:p>
                      <a:r>
                        <a:rPr lang="en-US" sz="1800" dirty="0"/>
                        <a:t>27</a:t>
                      </a:r>
                    </a:p>
                  </a:txBody>
                  <a:tcPr anchor="ctr"/>
                </a:tc>
                <a:tc>
                  <a:txBody>
                    <a:bodyPr/>
                    <a:lstStyle/>
                    <a:p>
                      <a:r>
                        <a:rPr lang="en-US" sz="1800" dirty="0"/>
                        <a:t>PetVet</a:t>
                      </a:r>
                    </a:p>
                  </a:txBody>
                  <a:tcPr anchor="ctr"/>
                </a:tc>
                <a:tc>
                  <a:txBody>
                    <a:bodyPr/>
                    <a:lstStyle/>
                    <a:p>
                      <a:r>
                        <a:rPr lang="en-US" sz="1800" dirty="0"/>
                        <a:t>1</a:t>
                      </a:r>
                    </a:p>
                  </a:txBody>
                  <a:tcPr/>
                </a:tc>
                <a:tc>
                  <a:txBody>
                    <a:bodyPr/>
                    <a:lstStyle/>
                    <a:p>
                      <a:r>
                        <a:rPr lang="en-US" sz="1800" dirty="0"/>
                        <a:t>Beefer</a:t>
                      </a:r>
                    </a:p>
                  </a:txBody>
                  <a:tcPr/>
                </a:tc>
                <a:tc>
                  <a:txBody>
                    <a:bodyPr/>
                    <a:lstStyle/>
                    <a:p>
                      <a:r>
                        <a:rPr lang="en-US" sz="1800" dirty="0"/>
                        <a:t>Dog</a:t>
                      </a:r>
                    </a:p>
                  </a:txBody>
                  <a:tcPr/>
                </a:tc>
                <a:extLst>
                  <a:ext uri="{0D108BD9-81ED-4DB2-BD59-A6C34878D82A}">
                    <a16:rowId xmlns:a16="http://schemas.microsoft.com/office/drawing/2014/main" val="10005"/>
                  </a:ext>
                </a:extLst>
              </a:tr>
              <a:tr h="320187">
                <a:tc>
                  <a:txBody>
                    <a:bodyPr/>
                    <a:lstStyle/>
                    <a:p>
                      <a:r>
                        <a:rPr lang="en-US" sz="1800" dirty="0"/>
                        <a:t>8005</a:t>
                      </a:r>
                    </a:p>
                  </a:txBody>
                  <a:tcPr anchor="ctr"/>
                </a:tc>
                <a:tc>
                  <a:txBody>
                    <a:bodyPr/>
                    <a:lstStyle/>
                    <a:p>
                      <a:r>
                        <a:rPr lang="en-US" sz="1800" dirty="0"/>
                        <a:t>Sandra Lee</a:t>
                      </a:r>
                    </a:p>
                  </a:txBody>
                  <a:tcPr anchor="ctr"/>
                </a:tc>
                <a:tc>
                  <a:txBody>
                    <a:bodyPr/>
                    <a:lstStyle/>
                    <a:p>
                      <a:r>
                        <a:rPr lang="en-US" sz="1800" dirty="0"/>
                        <a:t>27</a:t>
                      </a:r>
                    </a:p>
                  </a:txBody>
                  <a:tcPr anchor="ctr"/>
                </a:tc>
                <a:tc>
                  <a:txBody>
                    <a:bodyPr/>
                    <a:lstStyle/>
                    <a:p>
                      <a:r>
                        <a:rPr lang="en-US" sz="1800" dirty="0"/>
                        <a:t>PetVet</a:t>
                      </a:r>
                    </a:p>
                  </a:txBody>
                  <a:tcPr anchor="ctr"/>
                </a:tc>
                <a:tc>
                  <a:txBody>
                    <a:bodyPr/>
                    <a:lstStyle/>
                    <a:p>
                      <a:r>
                        <a:rPr lang="en-US" sz="1800" dirty="0"/>
                        <a:t>2</a:t>
                      </a:r>
                    </a:p>
                  </a:txBody>
                  <a:tcPr/>
                </a:tc>
                <a:tc>
                  <a:txBody>
                    <a:bodyPr/>
                    <a:lstStyle/>
                    <a:p>
                      <a:r>
                        <a:rPr lang="en-US" sz="1800" dirty="0"/>
                        <a:t>Kirby</a:t>
                      </a:r>
                    </a:p>
                  </a:txBody>
                  <a:tcPr/>
                </a:tc>
                <a:tc>
                  <a:txBody>
                    <a:bodyPr/>
                    <a:lstStyle/>
                    <a:p>
                      <a:r>
                        <a:rPr lang="en-US" sz="1800" dirty="0"/>
                        <a:t>Cat</a:t>
                      </a:r>
                    </a:p>
                  </a:txBody>
                  <a:tcPr/>
                </a:tc>
                <a:extLst>
                  <a:ext uri="{0D108BD9-81ED-4DB2-BD59-A6C34878D82A}">
                    <a16:rowId xmlns:a16="http://schemas.microsoft.com/office/drawing/2014/main" val="10006"/>
                  </a:ext>
                </a:extLst>
              </a:tr>
              <a:tr h="320187">
                <a:tc>
                  <a:txBody>
                    <a:bodyPr/>
                    <a:lstStyle/>
                    <a:p>
                      <a:r>
                        <a:rPr lang="en-US" sz="1800" dirty="0"/>
                        <a:t>8112</a:t>
                      </a:r>
                    </a:p>
                  </a:txBody>
                  <a:tcPr anchor="ctr"/>
                </a:tc>
                <a:tc>
                  <a:txBody>
                    <a:bodyPr/>
                    <a:lstStyle/>
                    <a:p>
                      <a:r>
                        <a:rPr lang="en-US" sz="1800" dirty="0"/>
                        <a:t>Helen Williams</a:t>
                      </a:r>
                    </a:p>
                  </a:txBody>
                  <a:tcPr anchor="ctr"/>
                </a:tc>
                <a:tc>
                  <a:txBody>
                    <a:bodyPr/>
                    <a:lstStyle/>
                    <a:p>
                      <a:r>
                        <a:rPr lang="en-US" sz="1800" dirty="0"/>
                        <a:t>24</a:t>
                      </a:r>
                    </a:p>
                  </a:txBody>
                  <a:tcPr anchor="ctr"/>
                </a:tc>
                <a:tc>
                  <a:txBody>
                    <a:bodyPr/>
                    <a:lstStyle/>
                    <a:p>
                      <a:r>
                        <a:rPr lang="en-US" sz="1800" dirty="0"/>
                        <a:t>PetsRUs</a:t>
                      </a:r>
                    </a:p>
                  </a:txBody>
                  <a:tcPr anchor="ctr"/>
                </a:tc>
                <a:tc>
                  <a:txBody>
                    <a:bodyPr/>
                    <a:lstStyle/>
                    <a:p>
                      <a:r>
                        <a:rPr lang="en-US" sz="1800" dirty="0"/>
                        <a:t>1</a:t>
                      </a:r>
                    </a:p>
                  </a:txBody>
                  <a:tcPr/>
                </a:tc>
                <a:tc>
                  <a:txBody>
                    <a:bodyPr/>
                    <a:lstStyle/>
                    <a:p>
                      <a:r>
                        <a:rPr lang="en-US" sz="1800" dirty="0"/>
                        <a:t>Kirby</a:t>
                      </a:r>
                    </a:p>
                  </a:txBody>
                  <a:tcPr/>
                </a:tc>
                <a:tc>
                  <a:txBody>
                    <a:bodyPr/>
                    <a:lstStyle/>
                    <a:p>
                      <a:r>
                        <a:rPr lang="en-US" sz="1800" dirty="0"/>
                        <a:t>Dog</a:t>
                      </a:r>
                    </a:p>
                  </a:txBody>
                  <a:tcPr/>
                </a:tc>
                <a:extLst>
                  <a:ext uri="{0D108BD9-81ED-4DB2-BD59-A6C34878D82A}">
                    <a16:rowId xmlns:a16="http://schemas.microsoft.com/office/drawing/2014/main" val="10007"/>
                  </a:ext>
                </a:extLst>
              </a:tr>
            </a:tbl>
          </a:graphicData>
        </a:graphic>
      </p:graphicFrame>
      <p:sp>
        <p:nvSpPr>
          <p:cNvPr id="4" name="Slide Number Placeholder 3"/>
          <p:cNvSpPr>
            <a:spLocks noGrp="1"/>
          </p:cNvSpPr>
          <p:nvPr>
            <p:ph type="sldNum" sz="quarter" idx="12"/>
          </p:nvPr>
        </p:nvSpPr>
        <p:spPr/>
        <p:txBody>
          <a:bodyPr/>
          <a:lstStyle/>
          <a:p>
            <a:fld id="{87F3E754-1C97-4481-A18C-9D97ADBDF344}" type="slidenum">
              <a:rPr lang="en-US" smtClean="0"/>
              <a:t>18</a:t>
            </a:fld>
            <a:endParaRPr lang="en-US"/>
          </a:p>
        </p:txBody>
      </p:sp>
      <p:sp>
        <p:nvSpPr>
          <p:cNvPr id="5" name="Rectangle 4"/>
          <p:cNvSpPr/>
          <p:nvPr/>
        </p:nvSpPr>
        <p:spPr>
          <a:xfrm>
            <a:off x="1888067" y="963781"/>
            <a:ext cx="6216638" cy="960263"/>
          </a:xfrm>
          <a:prstGeom prst="rect">
            <a:avLst/>
          </a:prstGeom>
        </p:spPr>
        <p:txBody>
          <a:bodyPr wrap="none">
            <a:spAutoFit/>
          </a:bodyPr>
          <a:lstStyle/>
          <a:p>
            <a:pPr>
              <a:spcBef>
                <a:spcPct val="25000"/>
              </a:spcBef>
              <a:spcAft>
                <a:spcPct val="10000"/>
              </a:spcAft>
            </a:pPr>
            <a:r>
              <a:rPr lang="en-US" altLang="en-US" sz="2400" b="1" i="1" dirty="0"/>
              <a:t>Do we have database anomalies?</a:t>
            </a:r>
          </a:p>
          <a:p>
            <a:pPr>
              <a:spcBef>
                <a:spcPct val="25000"/>
              </a:spcBef>
              <a:spcAft>
                <a:spcPct val="10000"/>
              </a:spcAft>
            </a:pPr>
            <a:r>
              <a:rPr lang="en-US" altLang="en-US" sz="2400" b="1" i="1" dirty="0"/>
              <a:t>Is the database in 2NF? If not, how do we fix it?</a:t>
            </a:r>
          </a:p>
        </p:txBody>
      </p:sp>
    </p:spTree>
    <p:extLst>
      <p:ext uri="{BB962C8B-B14F-4D97-AF65-F5344CB8AC3E}">
        <p14:creationId xmlns:p14="http://schemas.microsoft.com/office/powerpoint/2010/main" val="708379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84263" y="88818"/>
            <a:ext cx="8079581" cy="1037269"/>
          </a:xfrm>
        </p:spPr>
        <p:txBody>
          <a:bodyPr/>
          <a:lstStyle/>
          <a:p>
            <a:r>
              <a:rPr lang="en-US" dirty="0"/>
              <a:t>Example – Pets (fixed for 2NF)</a:t>
            </a:r>
          </a:p>
        </p:txBody>
      </p:sp>
      <p:sp>
        <p:nvSpPr>
          <p:cNvPr id="8" name="Rectangle 5"/>
          <p:cNvSpPr>
            <a:spLocks noChangeArrowheads="1"/>
          </p:cNvSpPr>
          <p:nvPr/>
        </p:nvSpPr>
        <p:spPr bwMode="auto">
          <a:xfrm>
            <a:off x="1838518" y="1126087"/>
            <a:ext cx="8181438" cy="2955297"/>
          </a:xfrm>
          <a:prstGeom prst="rect">
            <a:avLst/>
          </a:prstGeom>
          <a:noFill/>
          <a:ln w="9525">
            <a:noFill/>
            <a:miter lim="800000"/>
            <a:headEnd/>
            <a:tailEnd/>
          </a:ln>
          <a:effectLst/>
        </p:spPr>
        <p:txBody>
          <a:bodyPr wrap="square" lIns="92075" tIns="46038" rIns="92075" bIns="46038">
            <a:spAutoFit/>
          </a:bodyPr>
          <a:lstStyle/>
          <a:p>
            <a:pPr>
              <a:spcBef>
                <a:spcPct val="25000"/>
              </a:spcBef>
              <a:spcAft>
                <a:spcPct val="10000"/>
              </a:spcAft>
            </a:pPr>
            <a:endParaRPr lang="en-US" altLang="en-US" sz="2400" b="1" dirty="0">
              <a:latin typeface="Arial" panose="020B0604020202020204" pitchFamily="34" charset="0"/>
            </a:endParaRPr>
          </a:p>
          <a:p>
            <a:pPr>
              <a:spcBef>
                <a:spcPct val="25000"/>
              </a:spcBef>
              <a:spcAft>
                <a:spcPct val="10000"/>
              </a:spcAft>
            </a:pPr>
            <a:endParaRPr lang="en-US" altLang="en-US" sz="2400" b="1" dirty="0">
              <a:latin typeface="Arial" panose="020B0604020202020204" pitchFamily="34" charset="0"/>
            </a:endParaRPr>
          </a:p>
          <a:p>
            <a:pPr>
              <a:spcBef>
                <a:spcPct val="25000"/>
              </a:spcBef>
              <a:spcAft>
                <a:spcPct val="10000"/>
              </a:spcAft>
            </a:pPr>
            <a:endParaRPr lang="en-US" altLang="en-US" sz="2400" b="1" dirty="0">
              <a:latin typeface="Arial" panose="020B0604020202020204" pitchFamily="34" charset="0"/>
            </a:endParaRPr>
          </a:p>
          <a:p>
            <a:pPr>
              <a:spcBef>
                <a:spcPct val="25000"/>
              </a:spcBef>
              <a:spcAft>
                <a:spcPct val="10000"/>
              </a:spcAft>
            </a:pPr>
            <a:endParaRPr lang="en-US" altLang="en-US" sz="2400" b="1" dirty="0">
              <a:latin typeface="Arial" panose="020B0604020202020204" pitchFamily="34" charset="0"/>
            </a:endParaRPr>
          </a:p>
          <a:p>
            <a:pPr>
              <a:spcBef>
                <a:spcPct val="25000"/>
              </a:spcBef>
              <a:spcAft>
                <a:spcPct val="10000"/>
              </a:spcAft>
            </a:pPr>
            <a:endParaRPr lang="en-US" altLang="en-US" sz="2400" b="1" dirty="0">
              <a:latin typeface="Arial" panose="020B0604020202020204" pitchFamily="34" charset="0"/>
            </a:endParaRPr>
          </a:p>
          <a:p>
            <a:pPr>
              <a:spcBef>
                <a:spcPct val="25000"/>
              </a:spcBef>
              <a:spcAft>
                <a:spcPct val="10000"/>
              </a:spcAft>
            </a:pPr>
            <a:endParaRPr lang="en-US" altLang="en-US" sz="2400" b="1" dirty="0">
              <a:latin typeface="Arial" panose="020B0604020202020204" pitchFamily="34" charset="0"/>
            </a:endParaRPr>
          </a:p>
        </p:txBody>
      </p:sp>
      <p:sp>
        <p:nvSpPr>
          <p:cNvPr id="9" name="Rectangle 5"/>
          <p:cNvSpPr>
            <a:spLocks noChangeArrowheads="1"/>
          </p:cNvSpPr>
          <p:nvPr/>
        </p:nvSpPr>
        <p:spPr bwMode="auto">
          <a:xfrm>
            <a:off x="1787166" y="1042197"/>
            <a:ext cx="8524681" cy="5378269"/>
          </a:xfrm>
          <a:prstGeom prst="rect">
            <a:avLst/>
          </a:prstGeom>
          <a:noFill/>
          <a:ln w="9525">
            <a:noFill/>
            <a:miter lim="800000"/>
            <a:headEnd/>
            <a:tailEnd/>
          </a:ln>
          <a:effectLst/>
        </p:spPr>
        <p:txBody>
          <a:bodyPr wrap="square" lIns="92075" tIns="46038" rIns="92075" bIns="46038">
            <a:spAutoFit/>
          </a:bodyPr>
          <a:lstStyle/>
          <a:p>
            <a:pPr>
              <a:spcBef>
                <a:spcPct val="25000"/>
              </a:spcBef>
              <a:spcAft>
                <a:spcPct val="10000"/>
              </a:spcAft>
            </a:pPr>
            <a:r>
              <a:rPr lang="en-US" altLang="en-US" sz="2800" b="1" i="1" dirty="0"/>
              <a:t>Now the DB is in 2NF.</a:t>
            </a:r>
          </a:p>
          <a:p>
            <a:pPr>
              <a:spcBef>
                <a:spcPct val="25000"/>
              </a:spcBef>
              <a:spcAft>
                <a:spcPct val="10000"/>
              </a:spcAft>
            </a:pPr>
            <a:endParaRPr lang="en-US" altLang="en-US" sz="300" dirty="0"/>
          </a:p>
          <a:p>
            <a:pPr>
              <a:spcBef>
                <a:spcPct val="25000"/>
              </a:spcBef>
              <a:spcAft>
                <a:spcPct val="10000"/>
              </a:spcAft>
            </a:pPr>
            <a:r>
              <a:rPr lang="en-US" altLang="en-US" sz="2400" dirty="0"/>
              <a:t>CLIENT (</a:t>
            </a:r>
            <a:r>
              <a:rPr lang="en-US" altLang="en-US" sz="2400" u="sng" dirty="0"/>
              <a:t>ClientID</a:t>
            </a:r>
            <a:r>
              <a:rPr lang="en-US" altLang="en-US" sz="2400" dirty="0"/>
              <a:t>, ClientName, VetID, VetName)</a:t>
            </a:r>
          </a:p>
          <a:p>
            <a:pPr>
              <a:spcBef>
                <a:spcPct val="25000"/>
              </a:spcBef>
              <a:spcAft>
                <a:spcPct val="10000"/>
              </a:spcAft>
            </a:pPr>
            <a:r>
              <a:rPr lang="en-US" altLang="en-US" sz="2400" dirty="0"/>
              <a:t>PET (</a:t>
            </a:r>
            <a:r>
              <a:rPr lang="en-US" altLang="en-US" sz="2400" u="sng" dirty="0"/>
              <a:t>ClientID</a:t>
            </a:r>
            <a:r>
              <a:rPr lang="en-US" altLang="en-US" sz="2400" dirty="0"/>
              <a:t>, </a:t>
            </a:r>
            <a:r>
              <a:rPr lang="en-US" altLang="en-US" sz="2400" u="sng" dirty="0"/>
              <a:t>PetNo</a:t>
            </a:r>
            <a:r>
              <a:rPr lang="en-US" altLang="en-US" sz="2400" dirty="0"/>
              <a:t>, PetName, PetType)</a:t>
            </a:r>
            <a:br>
              <a:rPr lang="en-US" altLang="en-US" sz="2400" dirty="0"/>
            </a:br>
            <a:r>
              <a:rPr lang="en-US" altLang="en-US" sz="2400" dirty="0"/>
              <a:t>       ClientID foreign key to CLIENT</a:t>
            </a:r>
          </a:p>
          <a:p>
            <a:pPr>
              <a:spcBef>
                <a:spcPct val="25000"/>
              </a:spcBef>
              <a:spcAft>
                <a:spcPct val="10000"/>
              </a:spcAft>
            </a:pPr>
            <a:endParaRPr lang="en-US" altLang="en-US" sz="2400" dirty="0"/>
          </a:p>
          <a:p>
            <a:pPr>
              <a:spcBef>
                <a:spcPct val="25000"/>
              </a:spcBef>
              <a:spcAft>
                <a:spcPct val="10000"/>
              </a:spcAft>
            </a:pPr>
            <a:endParaRPr lang="en-US" altLang="en-US" sz="2400" dirty="0"/>
          </a:p>
          <a:p>
            <a:pPr>
              <a:spcBef>
                <a:spcPct val="25000"/>
              </a:spcBef>
              <a:spcAft>
                <a:spcPct val="10000"/>
              </a:spcAft>
            </a:pPr>
            <a:endParaRPr lang="en-US" altLang="en-US" sz="2400" dirty="0"/>
          </a:p>
          <a:p>
            <a:pPr>
              <a:spcBef>
                <a:spcPct val="25000"/>
              </a:spcBef>
              <a:spcAft>
                <a:spcPct val="10000"/>
              </a:spcAft>
            </a:pPr>
            <a:endParaRPr lang="en-US" altLang="en-US" sz="3200" b="1" dirty="0"/>
          </a:p>
          <a:p>
            <a:pPr>
              <a:spcBef>
                <a:spcPct val="25000"/>
              </a:spcBef>
              <a:spcAft>
                <a:spcPct val="10000"/>
              </a:spcAft>
            </a:pPr>
            <a:endParaRPr lang="en-US" altLang="en-US" sz="2800" b="1" dirty="0"/>
          </a:p>
          <a:p>
            <a:pPr>
              <a:spcBef>
                <a:spcPct val="25000"/>
              </a:spcBef>
              <a:spcAft>
                <a:spcPct val="10000"/>
              </a:spcAft>
            </a:pPr>
            <a:endParaRPr lang="en-US" altLang="en-US" sz="1600" dirty="0"/>
          </a:p>
          <a:p>
            <a:pPr>
              <a:spcBef>
                <a:spcPct val="25000"/>
              </a:spcBef>
              <a:spcAft>
                <a:spcPct val="10000"/>
              </a:spcAft>
            </a:pPr>
            <a:r>
              <a:rPr lang="en-US" altLang="en-US" dirty="0"/>
              <a:t>*Suppose for simplicity, that a client always goes to a single vet.</a:t>
            </a:r>
          </a:p>
        </p:txBody>
      </p:sp>
      <p:graphicFrame>
        <p:nvGraphicFramePr>
          <p:cNvPr id="10" name="Table 9"/>
          <p:cNvGraphicFramePr>
            <a:graphicFrameLocks noGrp="1"/>
          </p:cNvGraphicFramePr>
          <p:nvPr/>
        </p:nvGraphicFramePr>
        <p:xfrm>
          <a:off x="1998982" y="3731330"/>
          <a:ext cx="4301067" cy="2115978"/>
        </p:xfrm>
        <a:graphic>
          <a:graphicData uri="http://schemas.openxmlformats.org/drawingml/2006/table">
            <a:tbl>
              <a:tblPr firstRow="1" bandRow="1">
                <a:tableStyleId>{5C22544A-7EE6-4342-B048-85BDC9FD1C3A}</a:tableStyleId>
              </a:tblPr>
              <a:tblGrid>
                <a:gridCol w="944440">
                  <a:extLst>
                    <a:ext uri="{9D8B030D-6E8A-4147-A177-3AD203B41FA5}">
                      <a16:colId xmlns:a16="http://schemas.microsoft.com/office/drawing/2014/main" val="20000"/>
                    </a:ext>
                  </a:extLst>
                </a:gridCol>
                <a:gridCol w="1616157">
                  <a:extLst>
                    <a:ext uri="{9D8B030D-6E8A-4147-A177-3AD203B41FA5}">
                      <a16:colId xmlns:a16="http://schemas.microsoft.com/office/drawing/2014/main" val="20001"/>
                    </a:ext>
                  </a:extLst>
                </a:gridCol>
                <a:gridCol w="721424">
                  <a:extLst>
                    <a:ext uri="{9D8B030D-6E8A-4147-A177-3AD203B41FA5}">
                      <a16:colId xmlns:a16="http://schemas.microsoft.com/office/drawing/2014/main" val="20002"/>
                    </a:ext>
                  </a:extLst>
                </a:gridCol>
                <a:gridCol w="1019046">
                  <a:extLst>
                    <a:ext uri="{9D8B030D-6E8A-4147-A177-3AD203B41FA5}">
                      <a16:colId xmlns:a16="http://schemas.microsoft.com/office/drawing/2014/main" val="20003"/>
                    </a:ext>
                  </a:extLst>
                </a:gridCol>
              </a:tblGrid>
              <a:tr h="320187">
                <a:tc>
                  <a:txBody>
                    <a:bodyPr/>
                    <a:lstStyle/>
                    <a:p>
                      <a:r>
                        <a:rPr lang="en-US" u="sng" dirty="0"/>
                        <a:t>ClientID</a:t>
                      </a:r>
                    </a:p>
                  </a:txBody>
                  <a:tcPr/>
                </a:tc>
                <a:tc>
                  <a:txBody>
                    <a:bodyPr/>
                    <a:lstStyle/>
                    <a:p>
                      <a:r>
                        <a:rPr lang="en-US" dirty="0"/>
                        <a:t>ClientName</a:t>
                      </a:r>
                    </a:p>
                  </a:txBody>
                  <a:tcPr/>
                </a:tc>
                <a:tc>
                  <a:txBody>
                    <a:bodyPr/>
                    <a:lstStyle/>
                    <a:p>
                      <a:r>
                        <a:rPr lang="en-US" dirty="0"/>
                        <a:t>VetID</a:t>
                      </a:r>
                    </a:p>
                  </a:txBody>
                  <a:tcPr/>
                </a:tc>
                <a:tc>
                  <a:txBody>
                    <a:bodyPr/>
                    <a:lstStyle/>
                    <a:p>
                      <a:r>
                        <a:rPr lang="en-US" dirty="0"/>
                        <a:t>VetName</a:t>
                      </a:r>
                    </a:p>
                  </a:txBody>
                  <a:tcPr/>
                </a:tc>
                <a:extLst>
                  <a:ext uri="{0D108BD9-81ED-4DB2-BD59-A6C34878D82A}">
                    <a16:rowId xmlns:a16="http://schemas.microsoft.com/office/drawing/2014/main" val="10000"/>
                  </a:ext>
                </a:extLst>
              </a:tr>
              <a:tr h="378618">
                <a:tc>
                  <a:txBody>
                    <a:bodyPr/>
                    <a:lstStyle/>
                    <a:p>
                      <a:r>
                        <a:rPr lang="en-US" dirty="0"/>
                        <a:t>2173</a:t>
                      </a:r>
                    </a:p>
                  </a:txBody>
                  <a:tcPr/>
                </a:tc>
                <a:tc>
                  <a:txBody>
                    <a:bodyPr/>
                    <a:lstStyle/>
                    <a:p>
                      <a:r>
                        <a:rPr lang="en-US" dirty="0"/>
                        <a:t>Barbara Smith</a:t>
                      </a:r>
                    </a:p>
                  </a:txBody>
                  <a:tcPr/>
                </a:tc>
                <a:tc>
                  <a:txBody>
                    <a:bodyPr/>
                    <a:lstStyle/>
                    <a:p>
                      <a:r>
                        <a:rPr lang="en-US" dirty="0"/>
                        <a:t>27</a:t>
                      </a:r>
                    </a:p>
                  </a:txBody>
                  <a:tcPr/>
                </a:tc>
                <a:tc>
                  <a:txBody>
                    <a:bodyPr/>
                    <a:lstStyle/>
                    <a:p>
                      <a:r>
                        <a:rPr lang="en-US" dirty="0"/>
                        <a:t>PetVet</a:t>
                      </a:r>
                    </a:p>
                  </a:txBody>
                  <a:tcPr/>
                </a:tc>
                <a:extLst>
                  <a:ext uri="{0D108BD9-81ED-4DB2-BD59-A6C34878D82A}">
                    <a16:rowId xmlns:a16="http://schemas.microsoft.com/office/drawing/2014/main" val="10001"/>
                  </a:ext>
                </a:extLst>
              </a:tr>
              <a:tr h="320187">
                <a:tc>
                  <a:txBody>
                    <a:bodyPr/>
                    <a:lstStyle/>
                    <a:p>
                      <a:r>
                        <a:rPr lang="en-US" dirty="0"/>
                        <a:t>4519</a:t>
                      </a:r>
                    </a:p>
                  </a:txBody>
                  <a:tcPr/>
                </a:tc>
                <a:tc>
                  <a:txBody>
                    <a:bodyPr/>
                    <a:lstStyle/>
                    <a:p>
                      <a:r>
                        <a:rPr lang="en-US" dirty="0"/>
                        <a:t>John Ross</a:t>
                      </a:r>
                    </a:p>
                  </a:txBody>
                  <a:tcPr/>
                </a:tc>
                <a:tc>
                  <a:txBody>
                    <a:bodyPr/>
                    <a:lstStyle/>
                    <a:p>
                      <a:r>
                        <a:rPr lang="en-US" dirty="0"/>
                        <a:t>31</a:t>
                      </a:r>
                    </a:p>
                  </a:txBody>
                  <a:tcPr/>
                </a:tc>
                <a:tc>
                  <a:txBody>
                    <a:bodyPr/>
                    <a:lstStyle/>
                    <a:p>
                      <a:r>
                        <a:rPr lang="en-US" dirty="0"/>
                        <a:t>PetCare</a:t>
                      </a:r>
                    </a:p>
                  </a:txBody>
                  <a:tcPr/>
                </a:tc>
                <a:extLst>
                  <a:ext uri="{0D108BD9-81ED-4DB2-BD59-A6C34878D82A}">
                    <a16:rowId xmlns:a16="http://schemas.microsoft.com/office/drawing/2014/main" val="10002"/>
                  </a:ext>
                </a:extLst>
              </a:tr>
              <a:tr h="320187">
                <a:tc>
                  <a:txBody>
                    <a:bodyPr/>
                    <a:lstStyle/>
                    <a:p>
                      <a:r>
                        <a:rPr lang="en-US" dirty="0"/>
                        <a:t>8005</a:t>
                      </a:r>
                    </a:p>
                  </a:txBody>
                  <a:tcPr/>
                </a:tc>
                <a:tc>
                  <a:txBody>
                    <a:bodyPr/>
                    <a:lstStyle/>
                    <a:p>
                      <a:r>
                        <a:rPr lang="en-US" dirty="0"/>
                        <a:t>Sandra Lee</a:t>
                      </a:r>
                    </a:p>
                  </a:txBody>
                  <a:tcPr/>
                </a:tc>
                <a:tc>
                  <a:txBody>
                    <a:bodyPr/>
                    <a:lstStyle/>
                    <a:p>
                      <a:r>
                        <a:rPr lang="en-US" dirty="0"/>
                        <a:t>27</a:t>
                      </a:r>
                    </a:p>
                  </a:txBody>
                  <a:tcPr/>
                </a:tc>
                <a:tc>
                  <a:txBody>
                    <a:bodyPr/>
                    <a:lstStyle/>
                    <a:p>
                      <a:r>
                        <a:rPr lang="en-US" dirty="0"/>
                        <a:t>PetVet</a:t>
                      </a:r>
                    </a:p>
                  </a:txBody>
                  <a:tcPr/>
                </a:tc>
                <a:extLst>
                  <a:ext uri="{0D108BD9-81ED-4DB2-BD59-A6C34878D82A}">
                    <a16:rowId xmlns:a16="http://schemas.microsoft.com/office/drawing/2014/main" val="10003"/>
                  </a:ext>
                </a:extLst>
              </a:tr>
              <a:tr h="320187">
                <a:tc>
                  <a:txBody>
                    <a:bodyPr/>
                    <a:lstStyle/>
                    <a:p>
                      <a:r>
                        <a:rPr lang="en-US" dirty="0"/>
                        <a:t>8112</a:t>
                      </a:r>
                    </a:p>
                  </a:txBody>
                  <a:tcPr/>
                </a:tc>
                <a:tc>
                  <a:txBody>
                    <a:bodyPr/>
                    <a:lstStyle/>
                    <a:p>
                      <a:r>
                        <a:rPr lang="en-US" dirty="0"/>
                        <a:t>Helen Williams</a:t>
                      </a:r>
                    </a:p>
                  </a:txBody>
                  <a:tcPr/>
                </a:tc>
                <a:tc>
                  <a:txBody>
                    <a:bodyPr/>
                    <a:lstStyle/>
                    <a:p>
                      <a:r>
                        <a:rPr lang="en-US" dirty="0"/>
                        <a:t>24</a:t>
                      </a:r>
                    </a:p>
                  </a:txBody>
                  <a:tcPr/>
                </a:tc>
                <a:tc>
                  <a:txBody>
                    <a:bodyPr/>
                    <a:lstStyle/>
                    <a:p>
                      <a:r>
                        <a:rPr lang="en-US" dirty="0"/>
                        <a:t>PetsRUs</a:t>
                      </a:r>
                    </a:p>
                  </a:txBody>
                  <a:tcPr/>
                </a:tc>
                <a:extLst>
                  <a:ext uri="{0D108BD9-81ED-4DB2-BD59-A6C34878D82A}">
                    <a16:rowId xmlns:a16="http://schemas.microsoft.com/office/drawing/2014/main" val="10004"/>
                  </a:ext>
                </a:extLst>
              </a:tr>
            </a:tbl>
          </a:graphicData>
        </a:graphic>
      </p:graphicFrame>
      <p:graphicFrame>
        <p:nvGraphicFramePr>
          <p:cNvPr id="11" name="Table 10"/>
          <p:cNvGraphicFramePr>
            <a:graphicFrameLocks noGrp="1"/>
          </p:cNvGraphicFramePr>
          <p:nvPr/>
        </p:nvGraphicFramePr>
        <p:xfrm>
          <a:off x="6511863" y="2860190"/>
          <a:ext cx="3747890" cy="3213258"/>
        </p:xfrm>
        <a:graphic>
          <a:graphicData uri="http://schemas.openxmlformats.org/drawingml/2006/table">
            <a:tbl>
              <a:tblPr firstRow="1" bandRow="1">
                <a:tableStyleId>{5C22544A-7EE6-4342-B048-85BDC9FD1C3A}</a:tableStyleId>
              </a:tblPr>
              <a:tblGrid>
                <a:gridCol w="939801">
                  <a:extLst>
                    <a:ext uri="{9D8B030D-6E8A-4147-A177-3AD203B41FA5}">
                      <a16:colId xmlns:a16="http://schemas.microsoft.com/office/drawing/2014/main" val="20000"/>
                    </a:ext>
                  </a:extLst>
                </a:gridCol>
                <a:gridCol w="753533">
                  <a:extLst>
                    <a:ext uri="{9D8B030D-6E8A-4147-A177-3AD203B41FA5}">
                      <a16:colId xmlns:a16="http://schemas.microsoft.com/office/drawing/2014/main" val="20001"/>
                    </a:ext>
                  </a:extLst>
                </a:gridCol>
                <a:gridCol w="1049867">
                  <a:extLst>
                    <a:ext uri="{9D8B030D-6E8A-4147-A177-3AD203B41FA5}">
                      <a16:colId xmlns:a16="http://schemas.microsoft.com/office/drawing/2014/main" val="20002"/>
                    </a:ext>
                  </a:extLst>
                </a:gridCol>
                <a:gridCol w="1004689">
                  <a:extLst>
                    <a:ext uri="{9D8B030D-6E8A-4147-A177-3AD203B41FA5}">
                      <a16:colId xmlns:a16="http://schemas.microsoft.com/office/drawing/2014/main" val="20003"/>
                    </a:ext>
                  </a:extLst>
                </a:gridCol>
              </a:tblGrid>
              <a:tr h="320187">
                <a:tc>
                  <a:txBody>
                    <a:bodyPr/>
                    <a:lstStyle/>
                    <a:p>
                      <a:r>
                        <a:rPr lang="en-US" u="sng" dirty="0"/>
                        <a:t>ClientID</a:t>
                      </a:r>
                    </a:p>
                  </a:txBody>
                  <a:tcPr/>
                </a:tc>
                <a:tc>
                  <a:txBody>
                    <a:bodyPr/>
                    <a:lstStyle/>
                    <a:p>
                      <a:r>
                        <a:rPr lang="en-US" u="sng" dirty="0"/>
                        <a:t>PetNo</a:t>
                      </a:r>
                    </a:p>
                  </a:txBody>
                  <a:tcPr/>
                </a:tc>
                <a:tc>
                  <a:txBody>
                    <a:bodyPr/>
                    <a:lstStyle/>
                    <a:p>
                      <a:r>
                        <a:rPr lang="en-US" dirty="0"/>
                        <a:t>PetName</a:t>
                      </a:r>
                    </a:p>
                  </a:txBody>
                  <a:tcPr/>
                </a:tc>
                <a:tc>
                  <a:txBody>
                    <a:bodyPr/>
                    <a:lstStyle/>
                    <a:p>
                      <a:r>
                        <a:rPr lang="en-US" dirty="0"/>
                        <a:t>PetType</a:t>
                      </a:r>
                    </a:p>
                  </a:txBody>
                  <a:tcPr/>
                </a:tc>
                <a:extLst>
                  <a:ext uri="{0D108BD9-81ED-4DB2-BD59-A6C34878D82A}">
                    <a16:rowId xmlns:a16="http://schemas.microsoft.com/office/drawing/2014/main" val="10000"/>
                  </a:ext>
                </a:extLst>
              </a:tr>
              <a:tr h="378618">
                <a:tc>
                  <a:txBody>
                    <a:bodyPr/>
                    <a:lstStyle/>
                    <a:p>
                      <a:r>
                        <a:rPr lang="en-US" dirty="0"/>
                        <a:t>2173</a:t>
                      </a:r>
                    </a:p>
                  </a:txBody>
                  <a:tcPr/>
                </a:tc>
                <a:tc>
                  <a:txBody>
                    <a:bodyPr/>
                    <a:lstStyle/>
                    <a:p>
                      <a:r>
                        <a:rPr lang="en-US" dirty="0"/>
                        <a:t>1</a:t>
                      </a:r>
                    </a:p>
                  </a:txBody>
                  <a:tcPr/>
                </a:tc>
                <a:tc>
                  <a:txBody>
                    <a:bodyPr/>
                    <a:lstStyle/>
                    <a:p>
                      <a:r>
                        <a:rPr lang="en-US" dirty="0"/>
                        <a:t>Sam</a:t>
                      </a:r>
                    </a:p>
                  </a:txBody>
                  <a:tcPr/>
                </a:tc>
                <a:tc>
                  <a:txBody>
                    <a:bodyPr/>
                    <a:lstStyle/>
                    <a:p>
                      <a:r>
                        <a:rPr lang="en-US" dirty="0"/>
                        <a:t>Bird</a:t>
                      </a:r>
                    </a:p>
                  </a:txBody>
                  <a:tcPr/>
                </a:tc>
                <a:extLst>
                  <a:ext uri="{0D108BD9-81ED-4DB2-BD59-A6C34878D82A}">
                    <a16:rowId xmlns:a16="http://schemas.microsoft.com/office/drawing/2014/main" val="10001"/>
                  </a:ext>
                </a:extLst>
              </a:tr>
              <a:tr h="320187">
                <a:tc>
                  <a:txBody>
                    <a:bodyPr/>
                    <a:lstStyle/>
                    <a:p>
                      <a:r>
                        <a:rPr lang="en-US" dirty="0"/>
                        <a:t>2173</a:t>
                      </a:r>
                    </a:p>
                  </a:txBody>
                  <a:tcPr/>
                </a:tc>
                <a:tc>
                  <a:txBody>
                    <a:bodyPr/>
                    <a:lstStyle/>
                    <a:p>
                      <a:r>
                        <a:rPr lang="en-US" dirty="0"/>
                        <a:t>2</a:t>
                      </a:r>
                    </a:p>
                  </a:txBody>
                  <a:tcPr/>
                </a:tc>
                <a:tc>
                  <a:txBody>
                    <a:bodyPr/>
                    <a:lstStyle/>
                    <a:p>
                      <a:r>
                        <a:rPr lang="en-US" dirty="0"/>
                        <a:t>Hoober</a:t>
                      </a:r>
                    </a:p>
                  </a:txBody>
                  <a:tcPr/>
                </a:tc>
                <a:tc>
                  <a:txBody>
                    <a:bodyPr/>
                    <a:lstStyle/>
                    <a:p>
                      <a:r>
                        <a:rPr lang="en-US" dirty="0"/>
                        <a:t>Dog</a:t>
                      </a:r>
                    </a:p>
                  </a:txBody>
                  <a:tcPr/>
                </a:tc>
                <a:extLst>
                  <a:ext uri="{0D108BD9-81ED-4DB2-BD59-A6C34878D82A}">
                    <a16:rowId xmlns:a16="http://schemas.microsoft.com/office/drawing/2014/main" val="10002"/>
                  </a:ext>
                </a:extLst>
              </a:tr>
              <a:tr h="320187">
                <a:tc>
                  <a:txBody>
                    <a:bodyPr/>
                    <a:lstStyle/>
                    <a:p>
                      <a:r>
                        <a:rPr lang="en-US" dirty="0"/>
                        <a:t>2173</a:t>
                      </a:r>
                    </a:p>
                  </a:txBody>
                  <a:tcPr/>
                </a:tc>
                <a:tc>
                  <a:txBody>
                    <a:bodyPr/>
                    <a:lstStyle/>
                    <a:p>
                      <a:r>
                        <a:rPr lang="en-US" dirty="0"/>
                        <a:t>3</a:t>
                      </a:r>
                    </a:p>
                  </a:txBody>
                  <a:tcPr/>
                </a:tc>
                <a:tc>
                  <a:txBody>
                    <a:bodyPr/>
                    <a:lstStyle/>
                    <a:p>
                      <a:r>
                        <a:rPr lang="en-US" dirty="0"/>
                        <a:t>Charlie</a:t>
                      </a:r>
                    </a:p>
                  </a:txBody>
                  <a:tcPr/>
                </a:tc>
                <a:tc>
                  <a:txBody>
                    <a:bodyPr/>
                    <a:lstStyle/>
                    <a:p>
                      <a:r>
                        <a:rPr lang="en-US" dirty="0"/>
                        <a:t>Hamster</a:t>
                      </a:r>
                    </a:p>
                  </a:txBody>
                  <a:tcPr/>
                </a:tc>
                <a:extLst>
                  <a:ext uri="{0D108BD9-81ED-4DB2-BD59-A6C34878D82A}">
                    <a16:rowId xmlns:a16="http://schemas.microsoft.com/office/drawing/2014/main" val="10003"/>
                  </a:ext>
                </a:extLst>
              </a:tr>
              <a:tr h="320187">
                <a:tc>
                  <a:txBody>
                    <a:bodyPr/>
                    <a:lstStyle/>
                    <a:p>
                      <a:r>
                        <a:rPr lang="en-US" dirty="0"/>
                        <a:t>4519</a:t>
                      </a:r>
                    </a:p>
                  </a:txBody>
                  <a:tcPr/>
                </a:tc>
                <a:tc>
                  <a:txBody>
                    <a:bodyPr/>
                    <a:lstStyle/>
                    <a:p>
                      <a:r>
                        <a:rPr lang="en-US" dirty="0"/>
                        <a:t>1</a:t>
                      </a:r>
                    </a:p>
                  </a:txBody>
                  <a:tcPr/>
                </a:tc>
                <a:tc>
                  <a:txBody>
                    <a:bodyPr/>
                    <a:lstStyle/>
                    <a:p>
                      <a:r>
                        <a:rPr lang="en-US" dirty="0"/>
                        <a:t>Charlie</a:t>
                      </a:r>
                    </a:p>
                  </a:txBody>
                  <a:tcPr/>
                </a:tc>
                <a:tc>
                  <a:txBody>
                    <a:bodyPr/>
                    <a:lstStyle/>
                    <a:p>
                      <a:r>
                        <a:rPr lang="en-US" dirty="0"/>
                        <a:t>Cat</a:t>
                      </a:r>
                    </a:p>
                  </a:txBody>
                  <a:tcPr/>
                </a:tc>
                <a:extLst>
                  <a:ext uri="{0D108BD9-81ED-4DB2-BD59-A6C34878D82A}">
                    <a16:rowId xmlns:a16="http://schemas.microsoft.com/office/drawing/2014/main" val="10004"/>
                  </a:ext>
                </a:extLst>
              </a:tr>
              <a:tr h="320187">
                <a:tc>
                  <a:txBody>
                    <a:bodyPr/>
                    <a:lstStyle/>
                    <a:p>
                      <a:r>
                        <a:rPr lang="en-US" dirty="0"/>
                        <a:t>8005</a:t>
                      </a:r>
                    </a:p>
                  </a:txBody>
                  <a:tcPr/>
                </a:tc>
                <a:tc>
                  <a:txBody>
                    <a:bodyPr/>
                    <a:lstStyle/>
                    <a:p>
                      <a:r>
                        <a:rPr lang="en-US" dirty="0"/>
                        <a:t>1</a:t>
                      </a:r>
                    </a:p>
                  </a:txBody>
                  <a:tcPr/>
                </a:tc>
                <a:tc>
                  <a:txBody>
                    <a:bodyPr/>
                    <a:lstStyle/>
                    <a:p>
                      <a:r>
                        <a:rPr lang="en-US" dirty="0"/>
                        <a:t>Beefer</a:t>
                      </a:r>
                    </a:p>
                  </a:txBody>
                  <a:tcPr/>
                </a:tc>
                <a:tc>
                  <a:txBody>
                    <a:bodyPr/>
                    <a:lstStyle/>
                    <a:p>
                      <a:r>
                        <a:rPr lang="en-US" dirty="0"/>
                        <a:t>Dog</a:t>
                      </a:r>
                    </a:p>
                  </a:txBody>
                  <a:tcPr/>
                </a:tc>
                <a:extLst>
                  <a:ext uri="{0D108BD9-81ED-4DB2-BD59-A6C34878D82A}">
                    <a16:rowId xmlns:a16="http://schemas.microsoft.com/office/drawing/2014/main" val="10005"/>
                  </a:ext>
                </a:extLst>
              </a:tr>
              <a:tr h="320187">
                <a:tc>
                  <a:txBody>
                    <a:bodyPr/>
                    <a:lstStyle/>
                    <a:p>
                      <a:r>
                        <a:rPr lang="en-US" dirty="0"/>
                        <a:t>8005</a:t>
                      </a:r>
                    </a:p>
                  </a:txBody>
                  <a:tcPr/>
                </a:tc>
                <a:tc>
                  <a:txBody>
                    <a:bodyPr/>
                    <a:lstStyle/>
                    <a:p>
                      <a:r>
                        <a:rPr lang="en-US" dirty="0"/>
                        <a:t>2</a:t>
                      </a:r>
                    </a:p>
                  </a:txBody>
                  <a:tcPr/>
                </a:tc>
                <a:tc>
                  <a:txBody>
                    <a:bodyPr/>
                    <a:lstStyle/>
                    <a:p>
                      <a:r>
                        <a:rPr lang="en-US" dirty="0"/>
                        <a:t>Kirby</a:t>
                      </a:r>
                    </a:p>
                  </a:txBody>
                  <a:tcPr/>
                </a:tc>
                <a:tc>
                  <a:txBody>
                    <a:bodyPr/>
                    <a:lstStyle/>
                    <a:p>
                      <a:r>
                        <a:rPr lang="en-US" dirty="0"/>
                        <a:t>Cat</a:t>
                      </a:r>
                    </a:p>
                  </a:txBody>
                  <a:tcPr/>
                </a:tc>
                <a:extLst>
                  <a:ext uri="{0D108BD9-81ED-4DB2-BD59-A6C34878D82A}">
                    <a16:rowId xmlns:a16="http://schemas.microsoft.com/office/drawing/2014/main" val="10006"/>
                  </a:ext>
                </a:extLst>
              </a:tr>
              <a:tr h="320187">
                <a:tc>
                  <a:txBody>
                    <a:bodyPr/>
                    <a:lstStyle/>
                    <a:p>
                      <a:r>
                        <a:rPr lang="en-US" dirty="0"/>
                        <a:t>8112</a:t>
                      </a:r>
                    </a:p>
                  </a:txBody>
                  <a:tcPr/>
                </a:tc>
                <a:tc>
                  <a:txBody>
                    <a:bodyPr/>
                    <a:lstStyle/>
                    <a:p>
                      <a:r>
                        <a:rPr lang="en-US" dirty="0"/>
                        <a:t>1</a:t>
                      </a:r>
                    </a:p>
                  </a:txBody>
                  <a:tcPr/>
                </a:tc>
                <a:tc>
                  <a:txBody>
                    <a:bodyPr/>
                    <a:lstStyle/>
                    <a:p>
                      <a:r>
                        <a:rPr lang="en-US" dirty="0"/>
                        <a:t>Kirby</a:t>
                      </a:r>
                    </a:p>
                  </a:txBody>
                  <a:tcPr/>
                </a:tc>
                <a:tc>
                  <a:txBody>
                    <a:bodyPr/>
                    <a:lstStyle/>
                    <a:p>
                      <a:r>
                        <a:rPr lang="en-US" dirty="0"/>
                        <a:t>Dog</a:t>
                      </a:r>
                    </a:p>
                  </a:txBody>
                  <a:tcPr/>
                </a:tc>
                <a:extLst>
                  <a:ext uri="{0D108BD9-81ED-4DB2-BD59-A6C34878D82A}">
                    <a16:rowId xmlns:a16="http://schemas.microsoft.com/office/drawing/2014/main" val="10007"/>
                  </a:ext>
                </a:extLst>
              </a:tr>
            </a:tbl>
          </a:graphicData>
        </a:graphic>
      </p:graphicFrame>
      <p:sp>
        <p:nvSpPr>
          <p:cNvPr id="3" name="Slide Number Placeholder 2"/>
          <p:cNvSpPr>
            <a:spLocks noGrp="1"/>
          </p:cNvSpPr>
          <p:nvPr>
            <p:ph type="sldNum" sz="quarter" idx="12"/>
          </p:nvPr>
        </p:nvSpPr>
        <p:spPr/>
        <p:txBody>
          <a:bodyPr/>
          <a:lstStyle/>
          <a:p>
            <a:fld id="{87F3E754-1C97-4481-A18C-9D97ADBDF344}" type="slidenum">
              <a:rPr lang="en-US" smtClean="0"/>
              <a:t>19</a:t>
            </a:fld>
            <a:endParaRPr lang="en-US"/>
          </a:p>
        </p:txBody>
      </p:sp>
    </p:spTree>
    <p:extLst>
      <p:ext uri="{BB962C8B-B14F-4D97-AF65-F5344CB8AC3E}">
        <p14:creationId xmlns:p14="http://schemas.microsoft.com/office/powerpoint/2010/main" val="15260720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ChangeArrowheads="1"/>
          </p:cNvSpPr>
          <p:nvPr/>
        </p:nvSpPr>
        <p:spPr bwMode="auto">
          <a:xfrm>
            <a:off x="1966138" y="1250778"/>
            <a:ext cx="8335090" cy="4971234"/>
          </a:xfrm>
          <a:prstGeom prst="rect">
            <a:avLst/>
          </a:prstGeom>
          <a:noFill/>
          <a:ln w="9525">
            <a:noFill/>
            <a:miter lim="800000"/>
            <a:headEnd/>
            <a:tailEnd/>
          </a:ln>
          <a:effectLst/>
        </p:spPr>
        <p:txBody>
          <a:bodyPr wrap="square" lIns="92075" tIns="46038" rIns="92075" bIns="46038">
            <a:spAutoFit/>
          </a:bodyPr>
          <a:lstStyle/>
          <a:p>
            <a:pPr>
              <a:spcBef>
                <a:spcPct val="25000"/>
              </a:spcBef>
              <a:spcAft>
                <a:spcPct val="10000"/>
              </a:spcAft>
            </a:pPr>
            <a:r>
              <a:rPr lang="en-US" altLang="en-US" sz="2800" b="1" i="1" dirty="0"/>
              <a:t>Is the table in 2NF? If not, how do we fix it?</a:t>
            </a:r>
          </a:p>
          <a:p>
            <a:pPr>
              <a:spcBef>
                <a:spcPct val="25000"/>
              </a:spcBef>
              <a:spcAft>
                <a:spcPct val="10000"/>
              </a:spcAft>
            </a:pPr>
            <a:endParaRPr lang="en-US" altLang="en-US" sz="1000" dirty="0"/>
          </a:p>
          <a:p>
            <a:pPr>
              <a:spcBef>
                <a:spcPct val="25000"/>
              </a:spcBef>
              <a:spcAft>
                <a:spcPct val="10000"/>
              </a:spcAft>
            </a:pPr>
            <a:endParaRPr lang="en-US" altLang="en-US" sz="1000" dirty="0"/>
          </a:p>
          <a:p>
            <a:pPr>
              <a:spcBef>
                <a:spcPct val="25000"/>
              </a:spcBef>
              <a:spcAft>
                <a:spcPct val="10000"/>
              </a:spcAft>
            </a:pPr>
            <a:r>
              <a:rPr lang="en-US" altLang="en-US" sz="2400" dirty="0"/>
              <a:t>ROOMBOOKINGS (</a:t>
            </a:r>
            <a:r>
              <a:rPr lang="en-US" altLang="en-US" sz="2400" u="sng" dirty="0"/>
              <a:t>CourseID</a:t>
            </a:r>
            <a:r>
              <a:rPr lang="en-US" altLang="en-US" sz="2400" dirty="0"/>
              <a:t>, </a:t>
            </a:r>
            <a:r>
              <a:rPr lang="en-US" altLang="en-US" sz="2400" u="sng" dirty="0"/>
              <a:t>Date</a:t>
            </a:r>
            <a:r>
              <a:rPr lang="en-US" altLang="en-US" sz="2400" dirty="0"/>
              <a:t>, Time, </a:t>
            </a:r>
            <a:r>
              <a:rPr lang="en-US" altLang="en-US" sz="2400" dirty="0" err="1"/>
              <a:t>CourseTitle</a:t>
            </a:r>
            <a:r>
              <a:rPr lang="en-US" altLang="en-US" sz="2400" dirty="0"/>
              <a:t>, Room)</a:t>
            </a:r>
          </a:p>
          <a:p>
            <a:pPr>
              <a:spcBef>
                <a:spcPct val="25000"/>
              </a:spcBef>
              <a:spcAft>
                <a:spcPct val="10000"/>
              </a:spcAft>
            </a:pPr>
            <a:endParaRPr lang="en-US" altLang="en-US" sz="2000" dirty="0"/>
          </a:p>
          <a:p>
            <a:pPr>
              <a:spcBef>
                <a:spcPct val="25000"/>
              </a:spcBef>
              <a:spcAft>
                <a:spcPct val="10000"/>
              </a:spcAft>
            </a:pPr>
            <a:endParaRPr lang="en-US" altLang="en-US" sz="2000" dirty="0"/>
          </a:p>
          <a:p>
            <a:pPr>
              <a:spcBef>
                <a:spcPct val="25000"/>
              </a:spcBef>
              <a:spcAft>
                <a:spcPct val="10000"/>
              </a:spcAft>
            </a:pPr>
            <a:endParaRPr lang="en-US" altLang="en-US" sz="2000" dirty="0"/>
          </a:p>
          <a:p>
            <a:pPr>
              <a:spcBef>
                <a:spcPct val="25000"/>
              </a:spcBef>
              <a:spcAft>
                <a:spcPct val="10000"/>
              </a:spcAft>
            </a:pPr>
            <a:endParaRPr lang="en-US" altLang="en-US" sz="2000" dirty="0"/>
          </a:p>
          <a:p>
            <a:pPr>
              <a:spcBef>
                <a:spcPct val="25000"/>
              </a:spcBef>
              <a:spcAft>
                <a:spcPct val="10000"/>
              </a:spcAft>
            </a:pPr>
            <a:endParaRPr lang="en-US" altLang="en-US" sz="2000" dirty="0"/>
          </a:p>
          <a:p>
            <a:pPr>
              <a:spcBef>
                <a:spcPct val="25000"/>
              </a:spcBef>
              <a:spcAft>
                <a:spcPct val="10000"/>
              </a:spcAft>
            </a:pPr>
            <a:endParaRPr lang="en-US" altLang="en-US" sz="2000" dirty="0"/>
          </a:p>
          <a:p>
            <a:pPr>
              <a:spcBef>
                <a:spcPct val="25000"/>
              </a:spcBef>
              <a:spcAft>
                <a:spcPct val="10000"/>
              </a:spcAft>
            </a:pPr>
            <a:endParaRPr lang="en-US" altLang="en-US" dirty="0"/>
          </a:p>
          <a:p>
            <a:pPr>
              <a:spcBef>
                <a:spcPct val="25000"/>
              </a:spcBef>
              <a:spcAft>
                <a:spcPct val="10000"/>
              </a:spcAft>
            </a:pPr>
            <a:r>
              <a:rPr lang="en-US" altLang="en-US" dirty="0"/>
              <a:t>*Suppose for simplicity, that there is only one section of each course, and that it meets only once in a day, and always at the same time.</a:t>
            </a:r>
            <a:endParaRPr lang="en-US" altLang="en-US" sz="5400" b="1" dirty="0">
              <a:latin typeface="Arial" panose="020B0604020202020204" pitchFamily="34" charset="0"/>
            </a:endParaRPr>
          </a:p>
        </p:txBody>
      </p:sp>
      <p:sp>
        <p:nvSpPr>
          <p:cNvPr id="2" name="Title 1"/>
          <p:cNvSpPr>
            <a:spLocks noGrp="1"/>
          </p:cNvSpPr>
          <p:nvPr>
            <p:ph type="title"/>
          </p:nvPr>
        </p:nvSpPr>
        <p:spPr>
          <a:xfrm>
            <a:off x="1864546" y="113531"/>
            <a:ext cx="8436682" cy="1037269"/>
          </a:xfrm>
        </p:spPr>
        <p:txBody>
          <a:bodyPr>
            <a:normAutofit/>
          </a:bodyPr>
          <a:lstStyle/>
          <a:p>
            <a:r>
              <a:rPr lang="en-US" dirty="0"/>
              <a:t>Example – Classes in a department</a:t>
            </a:r>
          </a:p>
        </p:txBody>
      </p:sp>
      <p:sp>
        <p:nvSpPr>
          <p:cNvPr id="3" name="Slide Number Placeholder 2"/>
          <p:cNvSpPr>
            <a:spLocks noGrp="1"/>
          </p:cNvSpPr>
          <p:nvPr>
            <p:ph type="sldNum" sz="quarter" idx="12"/>
          </p:nvPr>
        </p:nvSpPr>
        <p:spPr/>
        <p:txBody>
          <a:bodyPr/>
          <a:lstStyle/>
          <a:p>
            <a:fld id="{87F3E754-1C97-4481-A18C-9D97ADBDF344}" type="slidenum">
              <a:rPr lang="en-US" smtClean="0"/>
              <a:t>20</a:t>
            </a:fld>
            <a:endParaRPr lang="en-US" dirty="0"/>
          </a:p>
        </p:txBody>
      </p:sp>
      <p:graphicFrame>
        <p:nvGraphicFramePr>
          <p:cNvPr id="7" name="Table 6"/>
          <p:cNvGraphicFramePr>
            <a:graphicFrameLocks noGrp="1"/>
          </p:cNvGraphicFramePr>
          <p:nvPr/>
        </p:nvGraphicFramePr>
        <p:xfrm>
          <a:off x="2283382" y="2744967"/>
          <a:ext cx="7374168" cy="2773680"/>
        </p:xfrm>
        <a:graphic>
          <a:graphicData uri="http://schemas.openxmlformats.org/drawingml/2006/table">
            <a:tbl>
              <a:tblPr firstRow="1" bandRow="1">
                <a:tableStyleId>{5C22544A-7EE6-4342-B048-85BDC9FD1C3A}</a:tableStyleId>
              </a:tblPr>
              <a:tblGrid>
                <a:gridCol w="1808093">
                  <a:extLst>
                    <a:ext uri="{9D8B030D-6E8A-4147-A177-3AD203B41FA5}">
                      <a16:colId xmlns:a16="http://schemas.microsoft.com/office/drawing/2014/main" val="20000"/>
                    </a:ext>
                  </a:extLst>
                </a:gridCol>
                <a:gridCol w="1501051">
                  <a:extLst>
                    <a:ext uri="{9D8B030D-6E8A-4147-A177-3AD203B41FA5}">
                      <a16:colId xmlns:a16="http://schemas.microsoft.com/office/drawing/2014/main" val="20001"/>
                    </a:ext>
                  </a:extLst>
                </a:gridCol>
                <a:gridCol w="1737639">
                  <a:extLst>
                    <a:ext uri="{9D8B030D-6E8A-4147-A177-3AD203B41FA5}">
                      <a16:colId xmlns:a16="http://schemas.microsoft.com/office/drawing/2014/main" val="20004"/>
                    </a:ext>
                  </a:extLst>
                </a:gridCol>
                <a:gridCol w="1389185">
                  <a:extLst>
                    <a:ext uri="{9D8B030D-6E8A-4147-A177-3AD203B41FA5}">
                      <a16:colId xmlns:a16="http://schemas.microsoft.com/office/drawing/2014/main" val="20002"/>
                    </a:ext>
                  </a:extLst>
                </a:gridCol>
                <a:gridCol w="938200">
                  <a:extLst>
                    <a:ext uri="{9D8B030D-6E8A-4147-A177-3AD203B41FA5}">
                      <a16:colId xmlns:a16="http://schemas.microsoft.com/office/drawing/2014/main" val="20003"/>
                    </a:ext>
                  </a:extLst>
                </a:gridCol>
              </a:tblGrid>
              <a:tr h="370840">
                <a:tc>
                  <a:txBody>
                    <a:bodyPr/>
                    <a:lstStyle/>
                    <a:p>
                      <a:pPr algn="ctr"/>
                      <a:r>
                        <a:rPr lang="en-US" sz="2000" u="sng" dirty="0"/>
                        <a:t>CourseID</a:t>
                      </a:r>
                    </a:p>
                  </a:txBody>
                  <a:tcPr/>
                </a:tc>
                <a:tc>
                  <a:txBody>
                    <a:bodyPr/>
                    <a:lstStyle/>
                    <a:p>
                      <a:pPr algn="ctr"/>
                      <a:r>
                        <a:rPr lang="en-US" sz="2000" u="sng" dirty="0"/>
                        <a:t>Date</a:t>
                      </a:r>
                    </a:p>
                  </a:txBody>
                  <a:tcPr/>
                </a:tc>
                <a:tc>
                  <a:txBody>
                    <a:bodyPr/>
                    <a:lstStyle/>
                    <a:p>
                      <a:pPr algn="ctr"/>
                      <a:r>
                        <a:rPr lang="en-US" sz="2000" dirty="0"/>
                        <a:t>Time</a:t>
                      </a:r>
                    </a:p>
                  </a:txBody>
                  <a:tcPr/>
                </a:tc>
                <a:tc>
                  <a:txBody>
                    <a:bodyPr/>
                    <a:lstStyle/>
                    <a:p>
                      <a:pPr algn="ctr"/>
                      <a:r>
                        <a:rPr lang="en-US" sz="2000" dirty="0"/>
                        <a:t>CourseTitle</a:t>
                      </a:r>
                    </a:p>
                  </a:txBody>
                  <a:tcPr/>
                </a:tc>
                <a:tc>
                  <a:txBody>
                    <a:bodyPr/>
                    <a:lstStyle/>
                    <a:p>
                      <a:pPr algn="ctr"/>
                      <a:r>
                        <a:rPr lang="en-US" sz="2000" dirty="0"/>
                        <a:t>Room</a:t>
                      </a:r>
                    </a:p>
                  </a:txBody>
                  <a:tcPr/>
                </a:tc>
                <a:extLst>
                  <a:ext uri="{0D108BD9-81ED-4DB2-BD59-A6C34878D82A}">
                    <a16:rowId xmlns:a16="http://schemas.microsoft.com/office/drawing/2014/main" val="10000"/>
                  </a:ext>
                </a:extLst>
              </a:tr>
              <a:tr h="370840">
                <a:tc>
                  <a:txBody>
                    <a:bodyPr/>
                    <a:lstStyle/>
                    <a:p>
                      <a:pPr algn="ctr"/>
                      <a:r>
                        <a:rPr lang="en-US" sz="2000" dirty="0"/>
                        <a:t>33:136:385</a:t>
                      </a:r>
                    </a:p>
                  </a:txBody>
                  <a:tcPr/>
                </a:tc>
                <a:tc>
                  <a:txBody>
                    <a:bodyPr/>
                    <a:lstStyle/>
                    <a:p>
                      <a:pPr algn="ctr"/>
                      <a:r>
                        <a:rPr lang="en-US" sz="2000" dirty="0"/>
                        <a:t>6/15/2015</a:t>
                      </a:r>
                    </a:p>
                  </a:txBody>
                  <a:tcPr/>
                </a:tc>
                <a:tc>
                  <a:txBody>
                    <a:bodyPr/>
                    <a:lstStyle/>
                    <a:p>
                      <a:pPr algn="ctr"/>
                      <a:r>
                        <a:rPr lang="en-US" sz="2000" dirty="0"/>
                        <a:t>10AM – 12PM</a:t>
                      </a:r>
                    </a:p>
                  </a:txBody>
                  <a:tcPr/>
                </a:tc>
                <a:tc>
                  <a:txBody>
                    <a:bodyPr/>
                    <a:lstStyle/>
                    <a:p>
                      <a:pPr algn="ctr"/>
                      <a:r>
                        <a:rPr lang="en-US" sz="2000" dirty="0"/>
                        <a:t>Statistics</a:t>
                      </a:r>
                    </a:p>
                  </a:txBody>
                  <a:tcPr/>
                </a:tc>
                <a:tc>
                  <a:txBody>
                    <a:bodyPr/>
                    <a:lstStyle/>
                    <a:p>
                      <a:pPr algn="ctr"/>
                      <a:r>
                        <a:rPr lang="en-US" sz="2000" dirty="0"/>
                        <a:t>5085</a:t>
                      </a:r>
                    </a:p>
                  </a:txBody>
                  <a:tcPr/>
                </a:tc>
                <a:extLst>
                  <a:ext uri="{0D108BD9-81ED-4DB2-BD59-A6C34878D82A}">
                    <a16:rowId xmlns:a16="http://schemas.microsoft.com/office/drawing/2014/main" val="10001"/>
                  </a:ext>
                </a:extLst>
              </a:tr>
              <a:tr h="370840">
                <a:tc>
                  <a:txBody>
                    <a:bodyPr/>
                    <a:lstStyle/>
                    <a:p>
                      <a:pPr algn="ctr"/>
                      <a:r>
                        <a:rPr lang="en-US" sz="2000" dirty="0"/>
                        <a:t>33:136:386</a:t>
                      </a:r>
                    </a:p>
                  </a:txBody>
                  <a:tcPr/>
                </a:tc>
                <a:tc>
                  <a:txBody>
                    <a:bodyPr/>
                    <a:lstStyle/>
                    <a:p>
                      <a:pPr algn="ctr"/>
                      <a:r>
                        <a:rPr lang="en-US" sz="2000" dirty="0"/>
                        <a:t>6/16/2015</a:t>
                      </a:r>
                    </a:p>
                  </a:txBody>
                  <a:tcPr/>
                </a:tc>
                <a:tc>
                  <a:txBody>
                    <a:bodyPr/>
                    <a:lstStyle/>
                    <a:p>
                      <a:pPr algn="ctr"/>
                      <a:r>
                        <a:rPr lang="en-US" sz="2000" dirty="0"/>
                        <a:t>4PM</a:t>
                      </a:r>
                      <a:r>
                        <a:rPr lang="en-US" sz="2000" baseline="0" dirty="0"/>
                        <a:t> - </a:t>
                      </a:r>
                      <a:r>
                        <a:rPr lang="en-US" sz="2000" dirty="0"/>
                        <a:t>6PM </a:t>
                      </a:r>
                    </a:p>
                  </a:txBody>
                  <a:tcPr/>
                </a:tc>
                <a:tc>
                  <a:txBody>
                    <a:bodyPr/>
                    <a:lstStyle/>
                    <a:p>
                      <a:pPr algn="ctr"/>
                      <a:r>
                        <a:rPr lang="en-US" sz="2000" dirty="0"/>
                        <a:t>OM</a:t>
                      </a:r>
                    </a:p>
                  </a:txBody>
                  <a:tcPr/>
                </a:tc>
                <a:tc>
                  <a:txBody>
                    <a:bodyPr/>
                    <a:lstStyle/>
                    <a:p>
                      <a:pPr algn="ctr"/>
                      <a:r>
                        <a:rPr lang="en-US" sz="2000" dirty="0"/>
                        <a:t>5073</a:t>
                      </a:r>
                    </a:p>
                  </a:txBody>
                  <a:tcPr/>
                </a:tc>
                <a:extLst>
                  <a:ext uri="{0D108BD9-81ED-4DB2-BD59-A6C34878D82A}">
                    <a16:rowId xmlns:a16="http://schemas.microsoft.com/office/drawing/2014/main" val="10002"/>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t>33:136:385</a:t>
                      </a:r>
                    </a:p>
                  </a:txBody>
                  <a:tcPr/>
                </a:tc>
                <a:tc>
                  <a:txBody>
                    <a:bodyPr/>
                    <a:lstStyle/>
                    <a:p>
                      <a:pPr algn="ctr"/>
                      <a:r>
                        <a:rPr lang="en-US" sz="2000" dirty="0"/>
                        <a:t>6/16/2015</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10AM – 12PM</a:t>
                      </a:r>
                    </a:p>
                  </a:txBody>
                  <a:tcPr/>
                </a:tc>
                <a:tc>
                  <a:txBody>
                    <a:bodyPr/>
                    <a:lstStyle/>
                    <a:p>
                      <a:pPr algn="ctr"/>
                      <a:r>
                        <a:rPr lang="en-US" sz="2000" dirty="0"/>
                        <a:t>Statistics</a:t>
                      </a:r>
                    </a:p>
                  </a:txBody>
                  <a:tcPr/>
                </a:tc>
                <a:tc>
                  <a:txBody>
                    <a:bodyPr/>
                    <a:lstStyle/>
                    <a:p>
                      <a:pPr algn="ctr"/>
                      <a:r>
                        <a:rPr lang="en-US" sz="2000" dirty="0"/>
                        <a:t>3071</a:t>
                      </a:r>
                    </a:p>
                  </a:txBody>
                  <a:tcPr/>
                </a:tc>
                <a:extLst>
                  <a:ext uri="{0D108BD9-81ED-4DB2-BD59-A6C34878D82A}">
                    <a16:rowId xmlns:a16="http://schemas.microsoft.com/office/drawing/2014/main" val="10003"/>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t>33:136:370</a:t>
                      </a:r>
                    </a:p>
                  </a:txBody>
                  <a:tcPr/>
                </a:tc>
                <a:tc>
                  <a:txBody>
                    <a:bodyPr/>
                    <a:lstStyle/>
                    <a:p>
                      <a:pPr algn="ctr"/>
                      <a:r>
                        <a:rPr lang="en-US" sz="2000" dirty="0"/>
                        <a:t>6/16/2015</a:t>
                      </a:r>
                    </a:p>
                  </a:txBody>
                  <a:tcPr/>
                </a:tc>
                <a:tc>
                  <a:txBody>
                    <a:bodyPr/>
                    <a:lstStyle/>
                    <a:p>
                      <a:pPr algn="ctr"/>
                      <a:r>
                        <a:rPr lang="en-US" sz="2000" dirty="0"/>
                        <a:t>3PM – 2PM</a:t>
                      </a:r>
                    </a:p>
                  </a:txBody>
                  <a:tcPr/>
                </a:tc>
                <a:tc>
                  <a:txBody>
                    <a:bodyPr/>
                    <a:lstStyle/>
                    <a:p>
                      <a:pPr algn="ctr"/>
                      <a:r>
                        <a:rPr lang="en-US" sz="2000" dirty="0"/>
                        <a:t>MIS</a:t>
                      </a:r>
                    </a:p>
                  </a:txBody>
                  <a:tcPr/>
                </a:tc>
                <a:tc>
                  <a:txBody>
                    <a:bodyPr/>
                    <a:lstStyle/>
                    <a:p>
                      <a:pPr algn="ctr"/>
                      <a:r>
                        <a:rPr lang="en-US" sz="2000" dirty="0"/>
                        <a:t>5087</a:t>
                      </a:r>
                    </a:p>
                  </a:txBody>
                  <a:tcPr/>
                </a:tc>
                <a:extLst>
                  <a:ext uri="{0D108BD9-81ED-4DB2-BD59-A6C34878D82A}">
                    <a16:rowId xmlns:a16="http://schemas.microsoft.com/office/drawing/2014/main" val="1000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t>33:136:385</a:t>
                      </a:r>
                    </a:p>
                  </a:txBody>
                  <a:tcPr/>
                </a:tc>
                <a:tc>
                  <a:txBody>
                    <a:bodyPr/>
                    <a:lstStyle/>
                    <a:p>
                      <a:pPr algn="ctr"/>
                      <a:r>
                        <a:rPr lang="en-US" sz="2000" dirty="0"/>
                        <a:t>6/18/2015</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10AM – 12PM</a:t>
                      </a:r>
                    </a:p>
                  </a:txBody>
                  <a:tcPr/>
                </a:tc>
                <a:tc>
                  <a:txBody>
                    <a:bodyPr/>
                    <a:lstStyle/>
                    <a:p>
                      <a:pPr algn="ctr"/>
                      <a:r>
                        <a:rPr lang="en-US" sz="2000" dirty="0"/>
                        <a:t>Statistics</a:t>
                      </a:r>
                    </a:p>
                  </a:txBody>
                  <a:tcPr/>
                </a:tc>
                <a:tc>
                  <a:txBody>
                    <a:bodyPr/>
                    <a:lstStyle/>
                    <a:p>
                      <a:pPr algn="ctr"/>
                      <a:r>
                        <a:rPr lang="en-US" sz="2000" dirty="0"/>
                        <a:t>5085</a:t>
                      </a:r>
                    </a:p>
                  </a:txBody>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t>33:136:385</a:t>
                      </a:r>
                    </a:p>
                  </a:txBody>
                  <a:tcPr/>
                </a:tc>
                <a:tc>
                  <a:txBody>
                    <a:bodyPr/>
                    <a:lstStyle/>
                    <a:p>
                      <a:pPr algn="ctr"/>
                      <a:r>
                        <a:rPr lang="en-US" sz="2000" dirty="0"/>
                        <a:t>6/19/2015</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10AM – 12PM</a:t>
                      </a:r>
                    </a:p>
                  </a:txBody>
                  <a:tcPr/>
                </a:tc>
                <a:tc>
                  <a:txBody>
                    <a:bodyPr/>
                    <a:lstStyle/>
                    <a:p>
                      <a:pPr algn="ctr"/>
                      <a:r>
                        <a:rPr lang="en-US" sz="2000" dirty="0"/>
                        <a:t>Statistics</a:t>
                      </a:r>
                    </a:p>
                  </a:txBody>
                  <a:tcPr/>
                </a:tc>
                <a:tc>
                  <a:txBody>
                    <a:bodyPr/>
                    <a:lstStyle/>
                    <a:p>
                      <a:pPr algn="ctr"/>
                      <a:r>
                        <a:rPr lang="en-US" sz="2000" dirty="0"/>
                        <a:t>5087</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1189388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ChangeArrowheads="1"/>
          </p:cNvSpPr>
          <p:nvPr/>
        </p:nvSpPr>
        <p:spPr bwMode="auto">
          <a:xfrm>
            <a:off x="1924663" y="2141114"/>
            <a:ext cx="8335090" cy="3532378"/>
          </a:xfrm>
          <a:prstGeom prst="rect">
            <a:avLst/>
          </a:prstGeom>
          <a:noFill/>
          <a:ln w="9525">
            <a:noFill/>
            <a:miter lim="800000"/>
            <a:headEnd/>
            <a:tailEnd/>
          </a:ln>
          <a:effectLst/>
        </p:spPr>
        <p:txBody>
          <a:bodyPr wrap="square" lIns="92075" tIns="46038" rIns="92075" bIns="46038">
            <a:spAutoFit/>
          </a:bodyPr>
          <a:lstStyle/>
          <a:p>
            <a:pPr>
              <a:spcBef>
                <a:spcPct val="25000"/>
              </a:spcBef>
              <a:spcAft>
                <a:spcPct val="10000"/>
              </a:spcAft>
            </a:pPr>
            <a:r>
              <a:rPr lang="en-US" altLang="en-US" sz="2400" dirty="0"/>
              <a:t>COURSES (</a:t>
            </a:r>
            <a:r>
              <a:rPr lang="en-US" altLang="en-US" sz="2400" u="sng" dirty="0"/>
              <a:t>CourseID</a:t>
            </a:r>
            <a:r>
              <a:rPr lang="en-US" altLang="en-US" sz="2400" dirty="0"/>
              <a:t>, Time, </a:t>
            </a:r>
            <a:r>
              <a:rPr lang="en-US" altLang="en-US" sz="2400" dirty="0" err="1"/>
              <a:t>CourseTitle</a:t>
            </a:r>
            <a:r>
              <a:rPr lang="en-US" altLang="en-US" sz="2400" dirty="0"/>
              <a:t>)</a:t>
            </a:r>
          </a:p>
          <a:p>
            <a:pPr>
              <a:spcBef>
                <a:spcPct val="25000"/>
              </a:spcBef>
              <a:spcAft>
                <a:spcPct val="10000"/>
              </a:spcAft>
            </a:pPr>
            <a:r>
              <a:rPr lang="en-US" altLang="en-US" sz="2400" dirty="0"/>
              <a:t>BOOKINGS (</a:t>
            </a:r>
            <a:r>
              <a:rPr lang="en-US" altLang="en-US" sz="2400" u="sng" dirty="0" err="1"/>
              <a:t>CourseID</a:t>
            </a:r>
            <a:r>
              <a:rPr lang="en-US" altLang="en-US" sz="2400" dirty="0"/>
              <a:t>, </a:t>
            </a:r>
            <a:r>
              <a:rPr lang="en-US" altLang="en-US" sz="2400" u="sng" dirty="0"/>
              <a:t>Date</a:t>
            </a:r>
            <a:r>
              <a:rPr lang="en-US" altLang="en-US" sz="2400" dirty="0"/>
              <a:t>, Room)</a:t>
            </a:r>
          </a:p>
          <a:p>
            <a:pPr>
              <a:spcBef>
                <a:spcPct val="25000"/>
              </a:spcBef>
              <a:spcAft>
                <a:spcPct val="10000"/>
              </a:spcAft>
            </a:pPr>
            <a:r>
              <a:rPr lang="en-US" altLang="en-US" sz="2400" dirty="0"/>
              <a:t>	</a:t>
            </a:r>
            <a:r>
              <a:rPr lang="en-US" altLang="en-US" sz="2400" dirty="0" err="1"/>
              <a:t>CourseID</a:t>
            </a:r>
            <a:r>
              <a:rPr lang="en-US" altLang="en-US" sz="2400" dirty="0"/>
              <a:t> foreign key to COURSES</a:t>
            </a:r>
          </a:p>
          <a:p>
            <a:pPr>
              <a:spcBef>
                <a:spcPct val="25000"/>
              </a:spcBef>
              <a:spcAft>
                <a:spcPct val="10000"/>
              </a:spcAft>
            </a:pPr>
            <a:endParaRPr lang="en-US" altLang="en-US" sz="2000" dirty="0"/>
          </a:p>
          <a:p>
            <a:pPr>
              <a:spcBef>
                <a:spcPct val="25000"/>
              </a:spcBef>
              <a:spcAft>
                <a:spcPct val="10000"/>
              </a:spcAft>
            </a:pPr>
            <a:r>
              <a:rPr lang="en-US" altLang="en-US" sz="2800" b="1" i="1" dirty="0"/>
              <a:t>Now the DB is in 2NF.</a:t>
            </a:r>
          </a:p>
          <a:p>
            <a:pPr>
              <a:spcBef>
                <a:spcPct val="25000"/>
              </a:spcBef>
              <a:spcAft>
                <a:spcPct val="10000"/>
              </a:spcAft>
            </a:pPr>
            <a:endParaRPr lang="en-US" altLang="en-US" sz="2000" dirty="0"/>
          </a:p>
          <a:p>
            <a:pPr>
              <a:spcBef>
                <a:spcPct val="25000"/>
              </a:spcBef>
              <a:spcAft>
                <a:spcPct val="10000"/>
              </a:spcAft>
            </a:pPr>
            <a:r>
              <a:rPr lang="en-US" altLang="en-US" dirty="0"/>
              <a:t>*Suppose for simplicity, that there is only one section of each course, and that it meets only once in a day always at the same time.</a:t>
            </a:r>
            <a:endParaRPr lang="en-US" altLang="en-US" sz="5400" b="1" dirty="0">
              <a:latin typeface="Arial" panose="020B0604020202020204" pitchFamily="34" charset="0"/>
            </a:endParaRPr>
          </a:p>
        </p:txBody>
      </p:sp>
      <p:sp>
        <p:nvSpPr>
          <p:cNvPr id="2" name="Title 1"/>
          <p:cNvSpPr>
            <a:spLocks noGrp="1"/>
          </p:cNvSpPr>
          <p:nvPr>
            <p:ph type="title"/>
          </p:nvPr>
        </p:nvSpPr>
        <p:spPr>
          <a:xfrm>
            <a:off x="1864546" y="113530"/>
            <a:ext cx="8550791" cy="1823554"/>
          </a:xfrm>
        </p:spPr>
        <p:txBody>
          <a:bodyPr>
            <a:normAutofit/>
          </a:bodyPr>
          <a:lstStyle/>
          <a:p>
            <a:r>
              <a:rPr lang="en-US" dirty="0"/>
              <a:t>Example – Classes in a department (fixed for 2NF)</a:t>
            </a:r>
          </a:p>
        </p:txBody>
      </p:sp>
      <p:sp>
        <p:nvSpPr>
          <p:cNvPr id="3" name="Slide Number Placeholder 2"/>
          <p:cNvSpPr>
            <a:spLocks noGrp="1"/>
          </p:cNvSpPr>
          <p:nvPr>
            <p:ph type="sldNum" sz="quarter" idx="12"/>
          </p:nvPr>
        </p:nvSpPr>
        <p:spPr/>
        <p:txBody>
          <a:bodyPr/>
          <a:lstStyle/>
          <a:p>
            <a:fld id="{87F3E754-1C97-4481-A18C-9D97ADBDF344}" type="slidenum">
              <a:rPr lang="en-US" smtClean="0"/>
              <a:t>21</a:t>
            </a:fld>
            <a:endParaRPr lang="en-US"/>
          </a:p>
        </p:txBody>
      </p:sp>
    </p:spTree>
    <p:extLst>
      <p:ext uri="{BB962C8B-B14F-4D97-AF65-F5344CB8AC3E}">
        <p14:creationId xmlns:p14="http://schemas.microsoft.com/office/powerpoint/2010/main" val="5393530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3NF</a:t>
            </a:r>
          </a:p>
        </p:txBody>
      </p:sp>
      <p:sp>
        <p:nvSpPr>
          <p:cNvPr id="3" name="Text Placeholder 2"/>
          <p:cNvSpPr>
            <a:spLocks noGrp="1"/>
          </p:cNvSpPr>
          <p:nvPr>
            <p:ph type="body" idx="1"/>
          </p:nvPr>
        </p:nvSpPr>
        <p:spPr/>
        <p:txBody>
          <a:bodyPr/>
          <a:lstStyle/>
          <a:p>
            <a:r>
              <a:rPr lang="en-US" dirty="0"/>
              <a:t>Third Normal Form</a:t>
            </a:r>
          </a:p>
        </p:txBody>
      </p:sp>
      <p:sp>
        <p:nvSpPr>
          <p:cNvPr id="4" name="Slide Number Placeholder 3"/>
          <p:cNvSpPr>
            <a:spLocks noGrp="1"/>
          </p:cNvSpPr>
          <p:nvPr>
            <p:ph type="sldNum" sz="quarter" idx="12"/>
          </p:nvPr>
        </p:nvSpPr>
        <p:spPr/>
        <p:txBody>
          <a:bodyPr/>
          <a:lstStyle/>
          <a:p>
            <a:fld id="{87F3E754-1C97-4481-A18C-9D97ADBDF344}" type="slidenum">
              <a:rPr lang="en-US" smtClean="0"/>
              <a:t>22</a:t>
            </a:fld>
            <a:endParaRPr lang="en-US"/>
          </a:p>
        </p:txBody>
      </p:sp>
    </p:spTree>
    <p:extLst>
      <p:ext uri="{BB962C8B-B14F-4D97-AF65-F5344CB8AC3E}">
        <p14:creationId xmlns:p14="http://schemas.microsoft.com/office/powerpoint/2010/main" val="29821133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4948" y="88818"/>
            <a:ext cx="8079581" cy="1037269"/>
          </a:xfrm>
        </p:spPr>
        <p:txBody>
          <a:bodyPr/>
          <a:lstStyle/>
          <a:p>
            <a:r>
              <a:rPr lang="en-US" dirty="0"/>
              <a:t>Third Normal Form</a:t>
            </a:r>
          </a:p>
        </p:txBody>
      </p:sp>
      <p:sp>
        <p:nvSpPr>
          <p:cNvPr id="8" name="Rectangle 5"/>
          <p:cNvSpPr>
            <a:spLocks noChangeArrowheads="1"/>
          </p:cNvSpPr>
          <p:nvPr/>
        </p:nvSpPr>
        <p:spPr bwMode="auto">
          <a:xfrm>
            <a:off x="1859643" y="1375650"/>
            <a:ext cx="8472714" cy="4174092"/>
          </a:xfrm>
          <a:prstGeom prst="rect">
            <a:avLst/>
          </a:prstGeom>
          <a:noFill/>
          <a:ln w="9525">
            <a:noFill/>
            <a:miter lim="800000"/>
            <a:headEnd/>
            <a:tailEnd/>
          </a:ln>
          <a:effectLst/>
        </p:spPr>
        <p:txBody>
          <a:bodyPr wrap="square" lIns="92075" tIns="46038" rIns="92075" bIns="46038">
            <a:spAutoFit/>
          </a:bodyPr>
          <a:lstStyle/>
          <a:p>
            <a:pPr algn="just">
              <a:spcBef>
                <a:spcPct val="25000"/>
              </a:spcBef>
              <a:spcAft>
                <a:spcPct val="10000"/>
              </a:spcAft>
              <a:defRPr/>
            </a:pPr>
            <a:r>
              <a:rPr lang="en-US" sz="2400" b="1" dirty="0"/>
              <a:t>A database is said to be in the </a:t>
            </a:r>
            <a:r>
              <a:rPr lang="en-US" sz="2400" b="1" u="sng" dirty="0"/>
              <a:t>third normal form (3NF)</a:t>
            </a:r>
            <a:r>
              <a:rPr lang="en-US" sz="2400" b="1" dirty="0"/>
              <a:t> if, for all its tables we have:</a:t>
            </a:r>
          </a:p>
          <a:p>
            <a:pPr marL="342900" indent="-342900" algn="just">
              <a:spcBef>
                <a:spcPct val="25000"/>
              </a:spcBef>
              <a:spcAft>
                <a:spcPct val="10000"/>
              </a:spcAft>
              <a:buFont typeface="Wingdings" panose="05000000000000000000" pitchFamily="2" charset="2"/>
              <a:buChar char="§"/>
              <a:defRPr/>
            </a:pPr>
            <a:r>
              <a:rPr lang="en-US" sz="2400" b="1" dirty="0"/>
              <a:t>2NF </a:t>
            </a:r>
          </a:p>
          <a:p>
            <a:pPr marL="342900" indent="-342900" algn="just">
              <a:spcBef>
                <a:spcPct val="25000"/>
              </a:spcBef>
              <a:spcAft>
                <a:spcPct val="10000"/>
              </a:spcAft>
              <a:buFont typeface="Wingdings" panose="05000000000000000000" pitchFamily="2" charset="2"/>
              <a:buChar char="§"/>
              <a:defRPr/>
            </a:pPr>
            <a:r>
              <a:rPr lang="en-US" sz="2400" b="1" dirty="0"/>
              <a:t>No non-key attribute is dependent on any other non-key attribute</a:t>
            </a:r>
            <a:r>
              <a:rPr lang="en-US" sz="2400" b="1" i="1" dirty="0"/>
              <a:t>, EXCEPT if that latter attribute could have been used as an alternative primary key of the table</a:t>
            </a:r>
            <a:r>
              <a:rPr lang="en-US" sz="2400" b="1" dirty="0"/>
              <a:t>; The same thing for a composition of attributes: no non-key is dependent on a composition of non-key attributes </a:t>
            </a:r>
            <a:r>
              <a:rPr lang="en-US" sz="2400" b="1" i="1" dirty="0"/>
              <a:t>EXCEPT when that composition could have been used as a composite key.</a:t>
            </a:r>
          </a:p>
          <a:p>
            <a:pPr marL="342900" indent="-342900" algn="just">
              <a:spcBef>
                <a:spcPct val="25000"/>
              </a:spcBef>
              <a:spcAft>
                <a:spcPct val="10000"/>
              </a:spcAft>
              <a:buFont typeface="Wingdings" panose="05000000000000000000" pitchFamily="2" charset="2"/>
              <a:buChar char="§"/>
              <a:defRPr/>
            </a:pPr>
            <a:endParaRPr lang="en-US" sz="2400" b="1" dirty="0"/>
          </a:p>
        </p:txBody>
      </p:sp>
      <p:sp>
        <p:nvSpPr>
          <p:cNvPr id="3" name="Slide Number Placeholder 2"/>
          <p:cNvSpPr>
            <a:spLocks noGrp="1"/>
          </p:cNvSpPr>
          <p:nvPr>
            <p:ph type="sldNum" sz="quarter" idx="12"/>
          </p:nvPr>
        </p:nvSpPr>
        <p:spPr/>
        <p:txBody>
          <a:bodyPr/>
          <a:lstStyle/>
          <a:p>
            <a:fld id="{87F3E754-1C97-4481-A18C-9D97ADBDF344}" type="slidenum">
              <a:rPr lang="en-US" smtClean="0"/>
              <a:t>23</a:t>
            </a:fld>
            <a:endParaRPr lang="en-US"/>
          </a:p>
        </p:txBody>
      </p:sp>
    </p:spTree>
    <p:extLst>
      <p:ext uri="{BB962C8B-B14F-4D97-AF65-F5344CB8AC3E}">
        <p14:creationId xmlns:p14="http://schemas.microsoft.com/office/powerpoint/2010/main" val="28801421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84263" y="88818"/>
            <a:ext cx="8079581" cy="1037269"/>
          </a:xfrm>
        </p:spPr>
        <p:txBody>
          <a:bodyPr/>
          <a:lstStyle/>
          <a:p>
            <a:r>
              <a:rPr lang="en-US" dirty="0"/>
              <a:t>Example – Pets II </a:t>
            </a:r>
          </a:p>
        </p:txBody>
      </p:sp>
      <p:sp>
        <p:nvSpPr>
          <p:cNvPr id="8" name="Rectangle 5"/>
          <p:cNvSpPr>
            <a:spLocks noChangeArrowheads="1"/>
          </p:cNvSpPr>
          <p:nvPr/>
        </p:nvSpPr>
        <p:spPr bwMode="auto">
          <a:xfrm>
            <a:off x="1838518" y="1126087"/>
            <a:ext cx="8181438" cy="2955297"/>
          </a:xfrm>
          <a:prstGeom prst="rect">
            <a:avLst/>
          </a:prstGeom>
          <a:noFill/>
          <a:ln w="9525">
            <a:noFill/>
            <a:miter lim="800000"/>
            <a:headEnd/>
            <a:tailEnd/>
          </a:ln>
          <a:effectLst/>
        </p:spPr>
        <p:txBody>
          <a:bodyPr wrap="square" lIns="92075" tIns="46038" rIns="92075" bIns="46038">
            <a:spAutoFit/>
          </a:bodyPr>
          <a:lstStyle/>
          <a:p>
            <a:pPr>
              <a:spcBef>
                <a:spcPct val="25000"/>
              </a:spcBef>
              <a:spcAft>
                <a:spcPct val="10000"/>
              </a:spcAft>
            </a:pPr>
            <a:endParaRPr lang="en-US" altLang="en-US" sz="2400" b="1" dirty="0">
              <a:latin typeface="Arial" panose="020B0604020202020204" pitchFamily="34" charset="0"/>
            </a:endParaRPr>
          </a:p>
          <a:p>
            <a:pPr>
              <a:spcBef>
                <a:spcPct val="25000"/>
              </a:spcBef>
              <a:spcAft>
                <a:spcPct val="10000"/>
              </a:spcAft>
            </a:pPr>
            <a:endParaRPr lang="en-US" altLang="en-US" sz="2400" b="1" dirty="0">
              <a:latin typeface="Arial" panose="020B0604020202020204" pitchFamily="34" charset="0"/>
            </a:endParaRPr>
          </a:p>
          <a:p>
            <a:pPr>
              <a:spcBef>
                <a:spcPct val="25000"/>
              </a:spcBef>
              <a:spcAft>
                <a:spcPct val="10000"/>
              </a:spcAft>
            </a:pPr>
            <a:endParaRPr lang="en-US" altLang="en-US" sz="2400" b="1" dirty="0">
              <a:latin typeface="Arial" panose="020B0604020202020204" pitchFamily="34" charset="0"/>
            </a:endParaRPr>
          </a:p>
          <a:p>
            <a:pPr>
              <a:spcBef>
                <a:spcPct val="25000"/>
              </a:spcBef>
              <a:spcAft>
                <a:spcPct val="10000"/>
              </a:spcAft>
            </a:pPr>
            <a:endParaRPr lang="en-US" altLang="en-US" sz="2400" b="1" dirty="0">
              <a:latin typeface="Arial" panose="020B0604020202020204" pitchFamily="34" charset="0"/>
            </a:endParaRPr>
          </a:p>
          <a:p>
            <a:pPr>
              <a:spcBef>
                <a:spcPct val="25000"/>
              </a:spcBef>
              <a:spcAft>
                <a:spcPct val="10000"/>
              </a:spcAft>
            </a:pPr>
            <a:endParaRPr lang="en-US" altLang="en-US" sz="2400" b="1" dirty="0">
              <a:latin typeface="Arial" panose="020B0604020202020204" pitchFamily="34" charset="0"/>
            </a:endParaRPr>
          </a:p>
          <a:p>
            <a:pPr>
              <a:spcBef>
                <a:spcPct val="25000"/>
              </a:spcBef>
              <a:spcAft>
                <a:spcPct val="10000"/>
              </a:spcAft>
            </a:pPr>
            <a:endParaRPr lang="en-US" altLang="en-US" sz="2400" b="1" dirty="0">
              <a:latin typeface="Arial" panose="020B0604020202020204" pitchFamily="34" charset="0"/>
            </a:endParaRPr>
          </a:p>
        </p:txBody>
      </p:sp>
      <p:sp>
        <p:nvSpPr>
          <p:cNvPr id="9" name="Rectangle 5"/>
          <p:cNvSpPr>
            <a:spLocks noChangeArrowheads="1"/>
          </p:cNvSpPr>
          <p:nvPr/>
        </p:nvSpPr>
        <p:spPr bwMode="auto">
          <a:xfrm>
            <a:off x="1838519" y="973349"/>
            <a:ext cx="8524681" cy="5562165"/>
          </a:xfrm>
          <a:prstGeom prst="rect">
            <a:avLst/>
          </a:prstGeom>
          <a:noFill/>
          <a:ln w="9525">
            <a:noFill/>
            <a:miter lim="800000"/>
            <a:headEnd/>
            <a:tailEnd/>
          </a:ln>
          <a:effectLst/>
        </p:spPr>
        <p:txBody>
          <a:bodyPr wrap="square" lIns="92075" tIns="46038" rIns="92075" bIns="46038">
            <a:spAutoFit/>
          </a:bodyPr>
          <a:lstStyle/>
          <a:p>
            <a:pPr>
              <a:spcBef>
                <a:spcPct val="25000"/>
              </a:spcBef>
              <a:spcAft>
                <a:spcPct val="10000"/>
              </a:spcAft>
            </a:pPr>
            <a:r>
              <a:rPr lang="en-US" altLang="en-US" sz="2400" b="1" i="1" dirty="0"/>
              <a:t>Do we have anomalies?</a:t>
            </a:r>
          </a:p>
          <a:p>
            <a:pPr>
              <a:spcBef>
                <a:spcPct val="25000"/>
              </a:spcBef>
              <a:spcAft>
                <a:spcPct val="10000"/>
              </a:spcAft>
            </a:pPr>
            <a:r>
              <a:rPr lang="en-US" altLang="en-US" sz="2400" b="1" i="1" dirty="0"/>
              <a:t>Is the database in 3NF? If not, how do we fix it?</a:t>
            </a:r>
          </a:p>
          <a:p>
            <a:pPr>
              <a:spcBef>
                <a:spcPct val="25000"/>
              </a:spcBef>
              <a:spcAft>
                <a:spcPct val="10000"/>
              </a:spcAft>
            </a:pPr>
            <a:endParaRPr lang="en-US" altLang="en-US" sz="1200" dirty="0"/>
          </a:p>
          <a:p>
            <a:pPr>
              <a:spcBef>
                <a:spcPct val="25000"/>
              </a:spcBef>
              <a:spcAft>
                <a:spcPct val="10000"/>
              </a:spcAft>
            </a:pPr>
            <a:r>
              <a:rPr lang="en-US" altLang="en-US" sz="2400" dirty="0"/>
              <a:t>CLIENT (</a:t>
            </a:r>
            <a:r>
              <a:rPr lang="en-US" altLang="en-US" sz="2400" u="sng" dirty="0"/>
              <a:t>ClientID</a:t>
            </a:r>
            <a:r>
              <a:rPr lang="en-US" altLang="en-US" sz="2400" dirty="0"/>
              <a:t>, ClientName, VetID, VetName)</a:t>
            </a:r>
          </a:p>
          <a:p>
            <a:pPr>
              <a:spcBef>
                <a:spcPct val="25000"/>
              </a:spcBef>
              <a:spcAft>
                <a:spcPct val="10000"/>
              </a:spcAft>
            </a:pPr>
            <a:r>
              <a:rPr lang="en-US" altLang="en-US" sz="2400" dirty="0"/>
              <a:t>PET (</a:t>
            </a:r>
            <a:r>
              <a:rPr lang="en-US" altLang="en-US" sz="2400" u="sng" dirty="0"/>
              <a:t>ClientID</a:t>
            </a:r>
            <a:r>
              <a:rPr lang="en-US" altLang="en-US" sz="2400" dirty="0"/>
              <a:t>, </a:t>
            </a:r>
            <a:r>
              <a:rPr lang="en-US" altLang="en-US" sz="2400" u="sng" dirty="0"/>
              <a:t>PetNo</a:t>
            </a:r>
            <a:r>
              <a:rPr lang="en-US" altLang="en-US" sz="2400" dirty="0"/>
              <a:t>, PetName, PetType)</a:t>
            </a:r>
            <a:br>
              <a:rPr lang="en-US" altLang="en-US" sz="2400" dirty="0"/>
            </a:br>
            <a:r>
              <a:rPr lang="en-US" altLang="en-US" sz="2400" dirty="0"/>
              <a:t>       ClientID foreign key to CLIENT</a:t>
            </a:r>
          </a:p>
          <a:p>
            <a:pPr>
              <a:spcBef>
                <a:spcPct val="25000"/>
              </a:spcBef>
              <a:spcAft>
                <a:spcPct val="10000"/>
              </a:spcAft>
            </a:pPr>
            <a:endParaRPr lang="en-US" altLang="en-US" sz="2400" dirty="0"/>
          </a:p>
          <a:p>
            <a:pPr>
              <a:spcBef>
                <a:spcPct val="25000"/>
              </a:spcBef>
              <a:spcAft>
                <a:spcPct val="10000"/>
              </a:spcAft>
            </a:pPr>
            <a:endParaRPr lang="en-US" altLang="en-US" sz="2400" dirty="0"/>
          </a:p>
          <a:p>
            <a:pPr>
              <a:spcBef>
                <a:spcPct val="25000"/>
              </a:spcBef>
              <a:spcAft>
                <a:spcPct val="10000"/>
              </a:spcAft>
            </a:pPr>
            <a:endParaRPr lang="en-US" altLang="en-US" sz="2800" b="1" dirty="0"/>
          </a:p>
          <a:p>
            <a:pPr>
              <a:spcBef>
                <a:spcPct val="25000"/>
              </a:spcBef>
              <a:spcAft>
                <a:spcPct val="10000"/>
              </a:spcAft>
            </a:pPr>
            <a:endParaRPr lang="en-US" altLang="en-US" sz="2800" b="1" dirty="0"/>
          </a:p>
          <a:p>
            <a:pPr>
              <a:spcBef>
                <a:spcPct val="25000"/>
              </a:spcBef>
              <a:spcAft>
                <a:spcPct val="10000"/>
              </a:spcAft>
            </a:pPr>
            <a:endParaRPr lang="en-US" altLang="en-US" sz="1400" b="1" dirty="0"/>
          </a:p>
          <a:p>
            <a:pPr>
              <a:spcBef>
                <a:spcPct val="25000"/>
              </a:spcBef>
              <a:spcAft>
                <a:spcPct val="10000"/>
              </a:spcAft>
            </a:pPr>
            <a:r>
              <a:rPr lang="en-US" altLang="en-US" dirty="0"/>
              <a:t>*Suppose for simplicity, that a client goes to a single vet.</a:t>
            </a:r>
          </a:p>
        </p:txBody>
      </p:sp>
      <p:graphicFrame>
        <p:nvGraphicFramePr>
          <p:cNvPr id="10" name="Table 9"/>
          <p:cNvGraphicFramePr>
            <a:graphicFrameLocks noGrp="1"/>
          </p:cNvGraphicFramePr>
          <p:nvPr/>
        </p:nvGraphicFramePr>
        <p:xfrm>
          <a:off x="1884263" y="4045279"/>
          <a:ext cx="4301067" cy="2115978"/>
        </p:xfrm>
        <a:graphic>
          <a:graphicData uri="http://schemas.openxmlformats.org/drawingml/2006/table">
            <a:tbl>
              <a:tblPr firstRow="1" bandRow="1">
                <a:tableStyleId>{5C22544A-7EE6-4342-B048-85BDC9FD1C3A}</a:tableStyleId>
              </a:tblPr>
              <a:tblGrid>
                <a:gridCol w="944440">
                  <a:extLst>
                    <a:ext uri="{9D8B030D-6E8A-4147-A177-3AD203B41FA5}">
                      <a16:colId xmlns:a16="http://schemas.microsoft.com/office/drawing/2014/main" val="20000"/>
                    </a:ext>
                  </a:extLst>
                </a:gridCol>
                <a:gridCol w="1616157">
                  <a:extLst>
                    <a:ext uri="{9D8B030D-6E8A-4147-A177-3AD203B41FA5}">
                      <a16:colId xmlns:a16="http://schemas.microsoft.com/office/drawing/2014/main" val="20001"/>
                    </a:ext>
                  </a:extLst>
                </a:gridCol>
                <a:gridCol w="721424">
                  <a:extLst>
                    <a:ext uri="{9D8B030D-6E8A-4147-A177-3AD203B41FA5}">
                      <a16:colId xmlns:a16="http://schemas.microsoft.com/office/drawing/2014/main" val="20002"/>
                    </a:ext>
                  </a:extLst>
                </a:gridCol>
                <a:gridCol w="1019046">
                  <a:extLst>
                    <a:ext uri="{9D8B030D-6E8A-4147-A177-3AD203B41FA5}">
                      <a16:colId xmlns:a16="http://schemas.microsoft.com/office/drawing/2014/main" val="20003"/>
                    </a:ext>
                  </a:extLst>
                </a:gridCol>
              </a:tblGrid>
              <a:tr h="320187">
                <a:tc>
                  <a:txBody>
                    <a:bodyPr/>
                    <a:lstStyle/>
                    <a:p>
                      <a:r>
                        <a:rPr lang="en-US" u="sng" dirty="0"/>
                        <a:t>ClientID</a:t>
                      </a:r>
                    </a:p>
                  </a:txBody>
                  <a:tcPr/>
                </a:tc>
                <a:tc>
                  <a:txBody>
                    <a:bodyPr/>
                    <a:lstStyle/>
                    <a:p>
                      <a:r>
                        <a:rPr lang="en-US" dirty="0"/>
                        <a:t>ClientName</a:t>
                      </a:r>
                    </a:p>
                  </a:txBody>
                  <a:tcPr/>
                </a:tc>
                <a:tc>
                  <a:txBody>
                    <a:bodyPr/>
                    <a:lstStyle/>
                    <a:p>
                      <a:r>
                        <a:rPr lang="en-US" dirty="0"/>
                        <a:t>VetID</a:t>
                      </a:r>
                    </a:p>
                  </a:txBody>
                  <a:tcPr/>
                </a:tc>
                <a:tc>
                  <a:txBody>
                    <a:bodyPr/>
                    <a:lstStyle/>
                    <a:p>
                      <a:r>
                        <a:rPr lang="en-US" dirty="0"/>
                        <a:t>VetName</a:t>
                      </a:r>
                    </a:p>
                  </a:txBody>
                  <a:tcPr/>
                </a:tc>
                <a:extLst>
                  <a:ext uri="{0D108BD9-81ED-4DB2-BD59-A6C34878D82A}">
                    <a16:rowId xmlns:a16="http://schemas.microsoft.com/office/drawing/2014/main" val="10000"/>
                  </a:ext>
                </a:extLst>
              </a:tr>
              <a:tr h="378618">
                <a:tc>
                  <a:txBody>
                    <a:bodyPr/>
                    <a:lstStyle/>
                    <a:p>
                      <a:r>
                        <a:rPr lang="en-US" dirty="0"/>
                        <a:t>2173</a:t>
                      </a:r>
                    </a:p>
                  </a:txBody>
                  <a:tcPr/>
                </a:tc>
                <a:tc>
                  <a:txBody>
                    <a:bodyPr/>
                    <a:lstStyle/>
                    <a:p>
                      <a:r>
                        <a:rPr lang="en-US" dirty="0"/>
                        <a:t>Barbara Smith</a:t>
                      </a:r>
                    </a:p>
                  </a:txBody>
                  <a:tcPr/>
                </a:tc>
                <a:tc>
                  <a:txBody>
                    <a:bodyPr/>
                    <a:lstStyle/>
                    <a:p>
                      <a:r>
                        <a:rPr lang="en-US" dirty="0"/>
                        <a:t>27</a:t>
                      </a:r>
                    </a:p>
                  </a:txBody>
                  <a:tcPr/>
                </a:tc>
                <a:tc>
                  <a:txBody>
                    <a:bodyPr/>
                    <a:lstStyle/>
                    <a:p>
                      <a:r>
                        <a:rPr lang="en-US" dirty="0"/>
                        <a:t>PetVet</a:t>
                      </a:r>
                    </a:p>
                  </a:txBody>
                  <a:tcPr/>
                </a:tc>
                <a:extLst>
                  <a:ext uri="{0D108BD9-81ED-4DB2-BD59-A6C34878D82A}">
                    <a16:rowId xmlns:a16="http://schemas.microsoft.com/office/drawing/2014/main" val="10001"/>
                  </a:ext>
                </a:extLst>
              </a:tr>
              <a:tr h="320187">
                <a:tc>
                  <a:txBody>
                    <a:bodyPr/>
                    <a:lstStyle/>
                    <a:p>
                      <a:r>
                        <a:rPr lang="en-US" dirty="0"/>
                        <a:t>4519</a:t>
                      </a:r>
                    </a:p>
                  </a:txBody>
                  <a:tcPr/>
                </a:tc>
                <a:tc>
                  <a:txBody>
                    <a:bodyPr/>
                    <a:lstStyle/>
                    <a:p>
                      <a:r>
                        <a:rPr lang="en-US" dirty="0"/>
                        <a:t>John Ross</a:t>
                      </a:r>
                    </a:p>
                  </a:txBody>
                  <a:tcPr/>
                </a:tc>
                <a:tc>
                  <a:txBody>
                    <a:bodyPr/>
                    <a:lstStyle/>
                    <a:p>
                      <a:r>
                        <a:rPr lang="en-US" dirty="0"/>
                        <a:t>31</a:t>
                      </a:r>
                    </a:p>
                  </a:txBody>
                  <a:tcPr/>
                </a:tc>
                <a:tc>
                  <a:txBody>
                    <a:bodyPr/>
                    <a:lstStyle/>
                    <a:p>
                      <a:r>
                        <a:rPr lang="en-US" dirty="0"/>
                        <a:t>PetCare</a:t>
                      </a:r>
                    </a:p>
                  </a:txBody>
                  <a:tcPr/>
                </a:tc>
                <a:extLst>
                  <a:ext uri="{0D108BD9-81ED-4DB2-BD59-A6C34878D82A}">
                    <a16:rowId xmlns:a16="http://schemas.microsoft.com/office/drawing/2014/main" val="10002"/>
                  </a:ext>
                </a:extLst>
              </a:tr>
              <a:tr h="320187">
                <a:tc>
                  <a:txBody>
                    <a:bodyPr/>
                    <a:lstStyle/>
                    <a:p>
                      <a:r>
                        <a:rPr lang="en-US" dirty="0"/>
                        <a:t>8005</a:t>
                      </a:r>
                    </a:p>
                  </a:txBody>
                  <a:tcPr/>
                </a:tc>
                <a:tc>
                  <a:txBody>
                    <a:bodyPr/>
                    <a:lstStyle/>
                    <a:p>
                      <a:r>
                        <a:rPr lang="en-US" dirty="0"/>
                        <a:t>Sandra Lee</a:t>
                      </a:r>
                    </a:p>
                  </a:txBody>
                  <a:tcPr/>
                </a:tc>
                <a:tc>
                  <a:txBody>
                    <a:bodyPr/>
                    <a:lstStyle/>
                    <a:p>
                      <a:r>
                        <a:rPr lang="en-US" dirty="0"/>
                        <a:t>27</a:t>
                      </a:r>
                    </a:p>
                  </a:txBody>
                  <a:tcPr/>
                </a:tc>
                <a:tc>
                  <a:txBody>
                    <a:bodyPr/>
                    <a:lstStyle/>
                    <a:p>
                      <a:r>
                        <a:rPr lang="en-US" dirty="0"/>
                        <a:t>PetVet</a:t>
                      </a:r>
                    </a:p>
                  </a:txBody>
                  <a:tcPr/>
                </a:tc>
                <a:extLst>
                  <a:ext uri="{0D108BD9-81ED-4DB2-BD59-A6C34878D82A}">
                    <a16:rowId xmlns:a16="http://schemas.microsoft.com/office/drawing/2014/main" val="10003"/>
                  </a:ext>
                </a:extLst>
              </a:tr>
              <a:tr h="320187">
                <a:tc>
                  <a:txBody>
                    <a:bodyPr/>
                    <a:lstStyle/>
                    <a:p>
                      <a:r>
                        <a:rPr lang="en-US" dirty="0"/>
                        <a:t>8112</a:t>
                      </a:r>
                    </a:p>
                  </a:txBody>
                  <a:tcPr/>
                </a:tc>
                <a:tc>
                  <a:txBody>
                    <a:bodyPr/>
                    <a:lstStyle/>
                    <a:p>
                      <a:r>
                        <a:rPr lang="en-US" dirty="0"/>
                        <a:t>Helen Williams</a:t>
                      </a:r>
                    </a:p>
                  </a:txBody>
                  <a:tcPr/>
                </a:tc>
                <a:tc>
                  <a:txBody>
                    <a:bodyPr/>
                    <a:lstStyle/>
                    <a:p>
                      <a:r>
                        <a:rPr lang="en-US" dirty="0"/>
                        <a:t>24</a:t>
                      </a:r>
                    </a:p>
                  </a:txBody>
                  <a:tcPr/>
                </a:tc>
                <a:tc>
                  <a:txBody>
                    <a:bodyPr/>
                    <a:lstStyle/>
                    <a:p>
                      <a:r>
                        <a:rPr lang="en-US" dirty="0"/>
                        <a:t>PetsRUs</a:t>
                      </a:r>
                    </a:p>
                  </a:txBody>
                  <a:tcPr/>
                </a:tc>
                <a:extLst>
                  <a:ext uri="{0D108BD9-81ED-4DB2-BD59-A6C34878D82A}">
                    <a16:rowId xmlns:a16="http://schemas.microsoft.com/office/drawing/2014/main" val="10004"/>
                  </a:ext>
                </a:extLst>
              </a:tr>
            </a:tbl>
          </a:graphicData>
        </a:graphic>
      </p:graphicFrame>
      <p:graphicFrame>
        <p:nvGraphicFramePr>
          <p:cNvPr id="11" name="Table 10"/>
          <p:cNvGraphicFramePr>
            <a:graphicFrameLocks noGrp="1"/>
          </p:cNvGraphicFramePr>
          <p:nvPr/>
        </p:nvGraphicFramePr>
        <p:xfrm>
          <a:off x="6689262" y="3043548"/>
          <a:ext cx="3747890" cy="3213258"/>
        </p:xfrm>
        <a:graphic>
          <a:graphicData uri="http://schemas.openxmlformats.org/drawingml/2006/table">
            <a:tbl>
              <a:tblPr firstRow="1" bandRow="1">
                <a:tableStyleId>{5C22544A-7EE6-4342-B048-85BDC9FD1C3A}</a:tableStyleId>
              </a:tblPr>
              <a:tblGrid>
                <a:gridCol w="939801">
                  <a:extLst>
                    <a:ext uri="{9D8B030D-6E8A-4147-A177-3AD203B41FA5}">
                      <a16:colId xmlns:a16="http://schemas.microsoft.com/office/drawing/2014/main" val="20000"/>
                    </a:ext>
                  </a:extLst>
                </a:gridCol>
                <a:gridCol w="753533">
                  <a:extLst>
                    <a:ext uri="{9D8B030D-6E8A-4147-A177-3AD203B41FA5}">
                      <a16:colId xmlns:a16="http://schemas.microsoft.com/office/drawing/2014/main" val="20001"/>
                    </a:ext>
                  </a:extLst>
                </a:gridCol>
                <a:gridCol w="1049867">
                  <a:extLst>
                    <a:ext uri="{9D8B030D-6E8A-4147-A177-3AD203B41FA5}">
                      <a16:colId xmlns:a16="http://schemas.microsoft.com/office/drawing/2014/main" val="20002"/>
                    </a:ext>
                  </a:extLst>
                </a:gridCol>
                <a:gridCol w="1004689">
                  <a:extLst>
                    <a:ext uri="{9D8B030D-6E8A-4147-A177-3AD203B41FA5}">
                      <a16:colId xmlns:a16="http://schemas.microsoft.com/office/drawing/2014/main" val="20003"/>
                    </a:ext>
                  </a:extLst>
                </a:gridCol>
              </a:tblGrid>
              <a:tr h="320187">
                <a:tc>
                  <a:txBody>
                    <a:bodyPr/>
                    <a:lstStyle/>
                    <a:p>
                      <a:r>
                        <a:rPr lang="en-US" u="sng" dirty="0"/>
                        <a:t>ClientID</a:t>
                      </a:r>
                    </a:p>
                  </a:txBody>
                  <a:tcPr/>
                </a:tc>
                <a:tc>
                  <a:txBody>
                    <a:bodyPr/>
                    <a:lstStyle/>
                    <a:p>
                      <a:r>
                        <a:rPr lang="en-US" u="sng" dirty="0"/>
                        <a:t>PetNo</a:t>
                      </a:r>
                    </a:p>
                  </a:txBody>
                  <a:tcPr/>
                </a:tc>
                <a:tc>
                  <a:txBody>
                    <a:bodyPr/>
                    <a:lstStyle/>
                    <a:p>
                      <a:r>
                        <a:rPr lang="en-US" dirty="0"/>
                        <a:t>PetName</a:t>
                      </a:r>
                    </a:p>
                  </a:txBody>
                  <a:tcPr/>
                </a:tc>
                <a:tc>
                  <a:txBody>
                    <a:bodyPr/>
                    <a:lstStyle/>
                    <a:p>
                      <a:r>
                        <a:rPr lang="en-US" dirty="0"/>
                        <a:t>PetType</a:t>
                      </a:r>
                    </a:p>
                  </a:txBody>
                  <a:tcPr/>
                </a:tc>
                <a:extLst>
                  <a:ext uri="{0D108BD9-81ED-4DB2-BD59-A6C34878D82A}">
                    <a16:rowId xmlns:a16="http://schemas.microsoft.com/office/drawing/2014/main" val="10000"/>
                  </a:ext>
                </a:extLst>
              </a:tr>
              <a:tr h="378618">
                <a:tc>
                  <a:txBody>
                    <a:bodyPr/>
                    <a:lstStyle/>
                    <a:p>
                      <a:r>
                        <a:rPr lang="en-US" dirty="0"/>
                        <a:t>2173</a:t>
                      </a:r>
                    </a:p>
                  </a:txBody>
                  <a:tcPr/>
                </a:tc>
                <a:tc>
                  <a:txBody>
                    <a:bodyPr/>
                    <a:lstStyle/>
                    <a:p>
                      <a:r>
                        <a:rPr lang="en-US" dirty="0"/>
                        <a:t>1</a:t>
                      </a:r>
                    </a:p>
                  </a:txBody>
                  <a:tcPr/>
                </a:tc>
                <a:tc>
                  <a:txBody>
                    <a:bodyPr/>
                    <a:lstStyle/>
                    <a:p>
                      <a:r>
                        <a:rPr lang="en-US" dirty="0"/>
                        <a:t>Sam</a:t>
                      </a:r>
                    </a:p>
                  </a:txBody>
                  <a:tcPr/>
                </a:tc>
                <a:tc>
                  <a:txBody>
                    <a:bodyPr/>
                    <a:lstStyle/>
                    <a:p>
                      <a:r>
                        <a:rPr lang="en-US" dirty="0"/>
                        <a:t>Bird</a:t>
                      </a:r>
                    </a:p>
                  </a:txBody>
                  <a:tcPr/>
                </a:tc>
                <a:extLst>
                  <a:ext uri="{0D108BD9-81ED-4DB2-BD59-A6C34878D82A}">
                    <a16:rowId xmlns:a16="http://schemas.microsoft.com/office/drawing/2014/main" val="10001"/>
                  </a:ext>
                </a:extLst>
              </a:tr>
              <a:tr h="320187">
                <a:tc>
                  <a:txBody>
                    <a:bodyPr/>
                    <a:lstStyle/>
                    <a:p>
                      <a:r>
                        <a:rPr lang="en-US" dirty="0"/>
                        <a:t>2173</a:t>
                      </a:r>
                    </a:p>
                  </a:txBody>
                  <a:tcPr/>
                </a:tc>
                <a:tc>
                  <a:txBody>
                    <a:bodyPr/>
                    <a:lstStyle/>
                    <a:p>
                      <a:r>
                        <a:rPr lang="en-US" dirty="0"/>
                        <a:t>2</a:t>
                      </a:r>
                    </a:p>
                  </a:txBody>
                  <a:tcPr/>
                </a:tc>
                <a:tc>
                  <a:txBody>
                    <a:bodyPr/>
                    <a:lstStyle/>
                    <a:p>
                      <a:r>
                        <a:rPr lang="en-US" dirty="0"/>
                        <a:t>Hoober</a:t>
                      </a:r>
                    </a:p>
                  </a:txBody>
                  <a:tcPr/>
                </a:tc>
                <a:tc>
                  <a:txBody>
                    <a:bodyPr/>
                    <a:lstStyle/>
                    <a:p>
                      <a:r>
                        <a:rPr lang="en-US" dirty="0"/>
                        <a:t>Dog</a:t>
                      </a:r>
                    </a:p>
                  </a:txBody>
                  <a:tcPr/>
                </a:tc>
                <a:extLst>
                  <a:ext uri="{0D108BD9-81ED-4DB2-BD59-A6C34878D82A}">
                    <a16:rowId xmlns:a16="http://schemas.microsoft.com/office/drawing/2014/main" val="10002"/>
                  </a:ext>
                </a:extLst>
              </a:tr>
              <a:tr h="320187">
                <a:tc>
                  <a:txBody>
                    <a:bodyPr/>
                    <a:lstStyle/>
                    <a:p>
                      <a:r>
                        <a:rPr lang="en-US" dirty="0"/>
                        <a:t>2173</a:t>
                      </a:r>
                    </a:p>
                  </a:txBody>
                  <a:tcPr/>
                </a:tc>
                <a:tc>
                  <a:txBody>
                    <a:bodyPr/>
                    <a:lstStyle/>
                    <a:p>
                      <a:r>
                        <a:rPr lang="en-US" dirty="0"/>
                        <a:t>3</a:t>
                      </a:r>
                    </a:p>
                  </a:txBody>
                  <a:tcPr/>
                </a:tc>
                <a:tc>
                  <a:txBody>
                    <a:bodyPr/>
                    <a:lstStyle/>
                    <a:p>
                      <a:r>
                        <a:rPr lang="en-US" dirty="0"/>
                        <a:t>Charlie</a:t>
                      </a:r>
                    </a:p>
                  </a:txBody>
                  <a:tcPr/>
                </a:tc>
                <a:tc>
                  <a:txBody>
                    <a:bodyPr/>
                    <a:lstStyle/>
                    <a:p>
                      <a:r>
                        <a:rPr lang="en-US" dirty="0"/>
                        <a:t>Hamster</a:t>
                      </a:r>
                    </a:p>
                  </a:txBody>
                  <a:tcPr/>
                </a:tc>
                <a:extLst>
                  <a:ext uri="{0D108BD9-81ED-4DB2-BD59-A6C34878D82A}">
                    <a16:rowId xmlns:a16="http://schemas.microsoft.com/office/drawing/2014/main" val="10003"/>
                  </a:ext>
                </a:extLst>
              </a:tr>
              <a:tr h="320187">
                <a:tc>
                  <a:txBody>
                    <a:bodyPr/>
                    <a:lstStyle/>
                    <a:p>
                      <a:r>
                        <a:rPr lang="en-US" dirty="0"/>
                        <a:t>4519</a:t>
                      </a:r>
                    </a:p>
                  </a:txBody>
                  <a:tcPr/>
                </a:tc>
                <a:tc>
                  <a:txBody>
                    <a:bodyPr/>
                    <a:lstStyle/>
                    <a:p>
                      <a:r>
                        <a:rPr lang="en-US" dirty="0"/>
                        <a:t>1</a:t>
                      </a:r>
                    </a:p>
                  </a:txBody>
                  <a:tcPr/>
                </a:tc>
                <a:tc>
                  <a:txBody>
                    <a:bodyPr/>
                    <a:lstStyle/>
                    <a:p>
                      <a:r>
                        <a:rPr lang="en-US" dirty="0"/>
                        <a:t>Charlie</a:t>
                      </a:r>
                    </a:p>
                  </a:txBody>
                  <a:tcPr/>
                </a:tc>
                <a:tc>
                  <a:txBody>
                    <a:bodyPr/>
                    <a:lstStyle/>
                    <a:p>
                      <a:r>
                        <a:rPr lang="en-US" dirty="0"/>
                        <a:t>Cat</a:t>
                      </a:r>
                    </a:p>
                  </a:txBody>
                  <a:tcPr/>
                </a:tc>
                <a:extLst>
                  <a:ext uri="{0D108BD9-81ED-4DB2-BD59-A6C34878D82A}">
                    <a16:rowId xmlns:a16="http://schemas.microsoft.com/office/drawing/2014/main" val="10004"/>
                  </a:ext>
                </a:extLst>
              </a:tr>
              <a:tr h="320187">
                <a:tc>
                  <a:txBody>
                    <a:bodyPr/>
                    <a:lstStyle/>
                    <a:p>
                      <a:r>
                        <a:rPr lang="en-US" dirty="0"/>
                        <a:t>8005</a:t>
                      </a:r>
                    </a:p>
                  </a:txBody>
                  <a:tcPr/>
                </a:tc>
                <a:tc>
                  <a:txBody>
                    <a:bodyPr/>
                    <a:lstStyle/>
                    <a:p>
                      <a:r>
                        <a:rPr lang="en-US" dirty="0"/>
                        <a:t>1</a:t>
                      </a:r>
                    </a:p>
                  </a:txBody>
                  <a:tcPr/>
                </a:tc>
                <a:tc>
                  <a:txBody>
                    <a:bodyPr/>
                    <a:lstStyle/>
                    <a:p>
                      <a:r>
                        <a:rPr lang="en-US" dirty="0"/>
                        <a:t>Beefer</a:t>
                      </a:r>
                    </a:p>
                  </a:txBody>
                  <a:tcPr/>
                </a:tc>
                <a:tc>
                  <a:txBody>
                    <a:bodyPr/>
                    <a:lstStyle/>
                    <a:p>
                      <a:r>
                        <a:rPr lang="en-US" dirty="0"/>
                        <a:t>Dog</a:t>
                      </a:r>
                    </a:p>
                  </a:txBody>
                  <a:tcPr/>
                </a:tc>
                <a:extLst>
                  <a:ext uri="{0D108BD9-81ED-4DB2-BD59-A6C34878D82A}">
                    <a16:rowId xmlns:a16="http://schemas.microsoft.com/office/drawing/2014/main" val="10005"/>
                  </a:ext>
                </a:extLst>
              </a:tr>
              <a:tr h="320187">
                <a:tc>
                  <a:txBody>
                    <a:bodyPr/>
                    <a:lstStyle/>
                    <a:p>
                      <a:r>
                        <a:rPr lang="en-US" dirty="0"/>
                        <a:t>8005</a:t>
                      </a:r>
                    </a:p>
                  </a:txBody>
                  <a:tcPr/>
                </a:tc>
                <a:tc>
                  <a:txBody>
                    <a:bodyPr/>
                    <a:lstStyle/>
                    <a:p>
                      <a:r>
                        <a:rPr lang="en-US" dirty="0"/>
                        <a:t>2</a:t>
                      </a:r>
                    </a:p>
                  </a:txBody>
                  <a:tcPr/>
                </a:tc>
                <a:tc>
                  <a:txBody>
                    <a:bodyPr/>
                    <a:lstStyle/>
                    <a:p>
                      <a:r>
                        <a:rPr lang="en-US" dirty="0"/>
                        <a:t>Kirby</a:t>
                      </a:r>
                    </a:p>
                  </a:txBody>
                  <a:tcPr/>
                </a:tc>
                <a:tc>
                  <a:txBody>
                    <a:bodyPr/>
                    <a:lstStyle/>
                    <a:p>
                      <a:r>
                        <a:rPr lang="en-US" dirty="0"/>
                        <a:t>Cat</a:t>
                      </a:r>
                    </a:p>
                  </a:txBody>
                  <a:tcPr/>
                </a:tc>
                <a:extLst>
                  <a:ext uri="{0D108BD9-81ED-4DB2-BD59-A6C34878D82A}">
                    <a16:rowId xmlns:a16="http://schemas.microsoft.com/office/drawing/2014/main" val="10006"/>
                  </a:ext>
                </a:extLst>
              </a:tr>
              <a:tr h="320187">
                <a:tc>
                  <a:txBody>
                    <a:bodyPr/>
                    <a:lstStyle/>
                    <a:p>
                      <a:r>
                        <a:rPr lang="en-US" dirty="0"/>
                        <a:t>8112</a:t>
                      </a:r>
                    </a:p>
                  </a:txBody>
                  <a:tcPr/>
                </a:tc>
                <a:tc>
                  <a:txBody>
                    <a:bodyPr/>
                    <a:lstStyle/>
                    <a:p>
                      <a:r>
                        <a:rPr lang="en-US" dirty="0"/>
                        <a:t>1</a:t>
                      </a:r>
                    </a:p>
                  </a:txBody>
                  <a:tcPr/>
                </a:tc>
                <a:tc>
                  <a:txBody>
                    <a:bodyPr/>
                    <a:lstStyle/>
                    <a:p>
                      <a:r>
                        <a:rPr lang="en-US" dirty="0"/>
                        <a:t>Kirby</a:t>
                      </a:r>
                    </a:p>
                  </a:txBody>
                  <a:tcPr/>
                </a:tc>
                <a:tc>
                  <a:txBody>
                    <a:bodyPr/>
                    <a:lstStyle/>
                    <a:p>
                      <a:r>
                        <a:rPr lang="en-US" dirty="0"/>
                        <a:t>Dog</a:t>
                      </a:r>
                    </a:p>
                  </a:txBody>
                  <a:tcPr/>
                </a:tc>
                <a:extLst>
                  <a:ext uri="{0D108BD9-81ED-4DB2-BD59-A6C34878D82A}">
                    <a16:rowId xmlns:a16="http://schemas.microsoft.com/office/drawing/2014/main" val="10007"/>
                  </a:ext>
                </a:extLst>
              </a:tr>
            </a:tbl>
          </a:graphicData>
        </a:graphic>
      </p:graphicFrame>
      <p:sp>
        <p:nvSpPr>
          <p:cNvPr id="3" name="Slide Number Placeholder 2"/>
          <p:cNvSpPr>
            <a:spLocks noGrp="1"/>
          </p:cNvSpPr>
          <p:nvPr>
            <p:ph type="sldNum" sz="quarter" idx="12"/>
          </p:nvPr>
        </p:nvSpPr>
        <p:spPr/>
        <p:txBody>
          <a:bodyPr/>
          <a:lstStyle/>
          <a:p>
            <a:fld id="{87F3E754-1C97-4481-A18C-9D97ADBDF344}" type="slidenum">
              <a:rPr lang="en-US" smtClean="0"/>
              <a:t>24</a:t>
            </a:fld>
            <a:endParaRPr lang="en-US"/>
          </a:p>
        </p:txBody>
      </p:sp>
    </p:spTree>
    <p:extLst>
      <p:ext uri="{BB962C8B-B14F-4D97-AF65-F5344CB8AC3E}">
        <p14:creationId xmlns:p14="http://schemas.microsoft.com/office/powerpoint/2010/main" val="8820556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84263" y="88818"/>
            <a:ext cx="8079581" cy="1037269"/>
          </a:xfrm>
        </p:spPr>
        <p:txBody>
          <a:bodyPr/>
          <a:lstStyle/>
          <a:p>
            <a:r>
              <a:rPr lang="en-US" dirty="0"/>
              <a:t>Example – Pets (fixed for 3NF) </a:t>
            </a:r>
          </a:p>
        </p:txBody>
      </p:sp>
      <p:sp>
        <p:nvSpPr>
          <p:cNvPr id="8" name="Rectangle 5"/>
          <p:cNvSpPr>
            <a:spLocks noChangeArrowheads="1"/>
          </p:cNvSpPr>
          <p:nvPr/>
        </p:nvSpPr>
        <p:spPr bwMode="auto">
          <a:xfrm>
            <a:off x="1838518" y="1126087"/>
            <a:ext cx="8181438" cy="2955297"/>
          </a:xfrm>
          <a:prstGeom prst="rect">
            <a:avLst/>
          </a:prstGeom>
          <a:noFill/>
          <a:ln w="9525">
            <a:noFill/>
            <a:miter lim="800000"/>
            <a:headEnd/>
            <a:tailEnd/>
          </a:ln>
          <a:effectLst/>
        </p:spPr>
        <p:txBody>
          <a:bodyPr wrap="square" lIns="92075" tIns="46038" rIns="92075" bIns="46038">
            <a:spAutoFit/>
          </a:bodyPr>
          <a:lstStyle/>
          <a:p>
            <a:pPr>
              <a:spcBef>
                <a:spcPct val="25000"/>
              </a:spcBef>
              <a:spcAft>
                <a:spcPct val="10000"/>
              </a:spcAft>
            </a:pPr>
            <a:endParaRPr lang="en-US" altLang="en-US" sz="2400" b="1" dirty="0">
              <a:latin typeface="Arial" panose="020B0604020202020204" pitchFamily="34" charset="0"/>
            </a:endParaRPr>
          </a:p>
          <a:p>
            <a:pPr>
              <a:spcBef>
                <a:spcPct val="25000"/>
              </a:spcBef>
              <a:spcAft>
                <a:spcPct val="10000"/>
              </a:spcAft>
            </a:pPr>
            <a:endParaRPr lang="en-US" altLang="en-US" sz="2400" b="1" dirty="0">
              <a:latin typeface="Arial" panose="020B0604020202020204" pitchFamily="34" charset="0"/>
            </a:endParaRPr>
          </a:p>
          <a:p>
            <a:pPr>
              <a:spcBef>
                <a:spcPct val="25000"/>
              </a:spcBef>
              <a:spcAft>
                <a:spcPct val="10000"/>
              </a:spcAft>
            </a:pPr>
            <a:endParaRPr lang="en-US" altLang="en-US" sz="2400" b="1" dirty="0">
              <a:latin typeface="Arial" panose="020B0604020202020204" pitchFamily="34" charset="0"/>
            </a:endParaRPr>
          </a:p>
          <a:p>
            <a:pPr>
              <a:spcBef>
                <a:spcPct val="25000"/>
              </a:spcBef>
              <a:spcAft>
                <a:spcPct val="10000"/>
              </a:spcAft>
            </a:pPr>
            <a:endParaRPr lang="en-US" altLang="en-US" sz="2400" b="1" dirty="0">
              <a:latin typeface="Arial" panose="020B0604020202020204" pitchFamily="34" charset="0"/>
            </a:endParaRPr>
          </a:p>
          <a:p>
            <a:pPr>
              <a:spcBef>
                <a:spcPct val="25000"/>
              </a:spcBef>
              <a:spcAft>
                <a:spcPct val="10000"/>
              </a:spcAft>
            </a:pPr>
            <a:endParaRPr lang="en-US" altLang="en-US" sz="2400" b="1" dirty="0">
              <a:latin typeface="Arial" panose="020B0604020202020204" pitchFamily="34" charset="0"/>
            </a:endParaRPr>
          </a:p>
          <a:p>
            <a:pPr>
              <a:spcBef>
                <a:spcPct val="25000"/>
              </a:spcBef>
              <a:spcAft>
                <a:spcPct val="10000"/>
              </a:spcAft>
            </a:pPr>
            <a:endParaRPr lang="en-US" altLang="en-US" sz="2400" b="1" dirty="0">
              <a:latin typeface="Arial" panose="020B0604020202020204" pitchFamily="34" charset="0"/>
            </a:endParaRPr>
          </a:p>
        </p:txBody>
      </p:sp>
      <p:sp>
        <p:nvSpPr>
          <p:cNvPr id="9" name="Rectangle 5"/>
          <p:cNvSpPr>
            <a:spLocks noChangeArrowheads="1"/>
          </p:cNvSpPr>
          <p:nvPr/>
        </p:nvSpPr>
        <p:spPr bwMode="auto">
          <a:xfrm>
            <a:off x="1884263" y="1430548"/>
            <a:ext cx="8524681" cy="4651146"/>
          </a:xfrm>
          <a:prstGeom prst="rect">
            <a:avLst/>
          </a:prstGeom>
          <a:noFill/>
          <a:ln w="9525">
            <a:noFill/>
            <a:miter lim="800000"/>
            <a:headEnd/>
            <a:tailEnd/>
          </a:ln>
          <a:effectLst/>
        </p:spPr>
        <p:txBody>
          <a:bodyPr wrap="square" lIns="92075" tIns="46038" rIns="92075" bIns="46038">
            <a:spAutoFit/>
          </a:bodyPr>
          <a:lstStyle/>
          <a:p>
            <a:pPr>
              <a:spcBef>
                <a:spcPct val="25000"/>
              </a:spcBef>
              <a:spcAft>
                <a:spcPct val="10000"/>
              </a:spcAft>
            </a:pPr>
            <a:r>
              <a:rPr lang="en-US" altLang="en-US" sz="2800" b="1" i="1" dirty="0"/>
              <a:t>Now the database is in 3NF:</a:t>
            </a:r>
          </a:p>
          <a:p>
            <a:pPr>
              <a:spcBef>
                <a:spcPct val="25000"/>
              </a:spcBef>
              <a:spcAft>
                <a:spcPct val="10000"/>
              </a:spcAft>
            </a:pPr>
            <a:endParaRPr lang="en-US" altLang="en-US" sz="1200" dirty="0"/>
          </a:p>
          <a:p>
            <a:pPr>
              <a:spcBef>
                <a:spcPct val="25000"/>
              </a:spcBef>
              <a:spcAft>
                <a:spcPct val="10000"/>
              </a:spcAft>
            </a:pPr>
            <a:r>
              <a:rPr lang="en-US" altLang="en-US" sz="2400" dirty="0"/>
              <a:t>CLIENT (</a:t>
            </a:r>
            <a:r>
              <a:rPr lang="en-US" altLang="en-US" sz="2400" u="sng" dirty="0"/>
              <a:t>ClientID</a:t>
            </a:r>
            <a:r>
              <a:rPr lang="en-US" altLang="en-US" sz="2400" dirty="0"/>
              <a:t>, ClientName, VetID)</a:t>
            </a:r>
          </a:p>
          <a:p>
            <a:pPr>
              <a:spcBef>
                <a:spcPct val="25000"/>
              </a:spcBef>
              <a:spcAft>
                <a:spcPct val="10000"/>
              </a:spcAft>
            </a:pPr>
            <a:r>
              <a:rPr lang="en-US" altLang="en-US" sz="2400" dirty="0"/>
              <a:t>	VetID foreign key to VET</a:t>
            </a:r>
          </a:p>
          <a:p>
            <a:pPr>
              <a:spcBef>
                <a:spcPct val="25000"/>
              </a:spcBef>
              <a:spcAft>
                <a:spcPct val="10000"/>
              </a:spcAft>
            </a:pPr>
            <a:r>
              <a:rPr lang="en-US" altLang="en-US" sz="2400" dirty="0"/>
              <a:t>PET (</a:t>
            </a:r>
            <a:r>
              <a:rPr lang="en-US" altLang="en-US" sz="2400" u="sng" dirty="0"/>
              <a:t>ClientID</a:t>
            </a:r>
            <a:r>
              <a:rPr lang="en-US" altLang="en-US" sz="2400" dirty="0"/>
              <a:t>, </a:t>
            </a:r>
            <a:r>
              <a:rPr lang="en-US" altLang="en-US" sz="2400" u="sng" dirty="0"/>
              <a:t>PetNo</a:t>
            </a:r>
            <a:r>
              <a:rPr lang="en-US" altLang="en-US" sz="2400" dirty="0"/>
              <a:t>, PetName, PetType)</a:t>
            </a:r>
            <a:br>
              <a:rPr lang="en-US" altLang="en-US" sz="2400" dirty="0"/>
            </a:br>
            <a:r>
              <a:rPr lang="en-US" altLang="en-US" sz="2400" dirty="0"/>
              <a:t>      	 ClientID foreign key to CLIENT</a:t>
            </a:r>
          </a:p>
          <a:p>
            <a:pPr>
              <a:spcBef>
                <a:spcPct val="25000"/>
              </a:spcBef>
              <a:spcAft>
                <a:spcPct val="10000"/>
              </a:spcAft>
            </a:pPr>
            <a:r>
              <a:rPr lang="en-US" altLang="en-US" sz="2400" dirty="0"/>
              <a:t>VET (</a:t>
            </a:r>
            <a:r>
              <a:rPr lang="en-US" altLang="en-US" sz="2400" u="sng" dirty="0"/>
              <a:t>VetID</a:t>
            </a:r>
            <a:r>
              <a:rPr lang="en-US" altLang="en-US" sz="2400" dirty="0"/>
              <a:t>, VetName)</a:t>
            </a:r>
          </a:p>
          <a:p>
            <a:pPr>
              <a:spcBef>
                <a:spcPct val="25000"/>
              </a:spcBef>
              <a:spcAft>
                <a:spcPct val="10000"/>
              </a:spcAft>
            </a:pPr>
            <a:endParaRPr lang="en-US" altLang="en-US" sz="2800" b="1" dirty="0"/>
          </a:p>
          <a:p>
            <a:pPr>
              <a:spcBef>
                <a:spcPct val="25000"/>
              </a:spcBef>
              <a:spcAft>
                <a:spcPct val="10000"/>
              </a:spcAft>
            </a:pPr>
            <a:endParaRPr lang="en-US" altLang="en-US" sz="2800" b="1" dirty="0"/>
          </a:p>
          <a:p>
            <a:pPr>
              <a:spcBef>
                <a:spcPct val="25000"/>
              </a:spcBef>
              <a:spcAft>
                <a:spcPct val="10000"/>
              </a:spcAft>
            </a:pPr>
            <a:r>
              <a:rPr lang="en-US" altLang="en-US" dirty="0"/>
              <a:t>*Suppose for simplicity, that a client always goes to a single vet.</a:t>
            </a:r>
          </a:p>
        </p:txBody>
      </p:sp>
      <p:sp>
        <p:nvSpPr>
          <p:cNvPr id="3" name="Slide Number Placeholder 2"/>
          <p:cNvSpPr>
            <a:spLocks noGrp="1"/>
          </p:cNvSpPr>
          <p:nvPr>
            <p:ph type="sldNum" sz="quarter" idx="12"/>
          </p:nvPr>
        </p:nvSpPr>
        <p:spPr/>
        <p:txBody>
          <a:bodyPr/>
          <a:lstStyle/>
          <a:p>
            <a:fld id="{87F3E754-1C97-4481-A18C-9D97ADBDF344}" type="slidenum">
              <a:rPr lang="en-US" smtClean="0"/>
              <a:t>25</a:t>
            </a:fld>
            <a:endParaRPr lang="en-US"/>
          </a:p>
        </p:txBody>
      </p:sp>
    </p:spTree>
    <p:extLst>
      <p:ext uri="{BB962C8B-B14F-4D97-AF65-F5344CB8AC3E}">
        <p14:creationId xmlns:p14="http://schemas.microsoft.com/office/powerpoint/2010/main" val="34822179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4948" y="88818"/>
            <a:ext cx="8079581" cy="1037269"/>
          </a:xfrm>
        </p:spPr>
        <p:txBody>
          <a:bodyPr>
            <a:normAutofit/>
          </a:bodyPr>
          <a:lstStyle/>
          <a:p>
            <a:r>
              <a:rPr lang="en-US" dirty="0"/>
              <a:t>Example – Property taxes</a:t>
            </a:r>
          </a:p>
        </p:txBody>
      </p:sp>
      <p:sp>
        <p:nvSpPr>
          <p:cNvPr id="8" name="Rectangle 5"/>
          <p:cNvSpPr>
            <a:spLocks noChangeArrowheads="1"/>
          </p:cNvSpPr>
          <p:nvPr/>
        </p:nvSpPr>
        <p:spPr bwMode="auto">
          <a:xfrm>
            <a:off x="1852248" y="1317987"/>
            <a:ext cx="8585093" cy="5217455"/>
          </a:xfrm>
          <a:prstGeom prst="rect">
            <a:avLst/>
          </a:prstGeom>
          <a:noFill/>
          <a:ln w="9525">
            <a:noFill/>
            <a:miter lim="800000"/>
            <a:headEnd/>
            <a:tailEnd/>
          </a:ln>
          <a:effectLst/>
        </p:spPr>
        <p:txBody>
          <a:bodyPr wrap="square" lIns="92075" tIns="46038" rIns="92075" bIns="46038">
            <a:spAutoFit/>
          </a:bodyPr>
          <a:lstStyle/>
          <a:p>
            <a:pPr algn="just"/>
            <a:r>
              <a:rPr lang="en-US" altLang="en-US" sz="2400" b="1" i="1" dirty="0"/>
              <a:t>Is the following database in 3NF? If not, how do we fix it?</a:t>
            </a:r>
          </a:p>
          <a:p>
            <a:pPr algn="just"/>
            <a:endParaRPr lang="en-US" sz="1600" dirty="0"/>
          </a:p>
          <a:p>
            <a:pPr algn="just"/>
            <a:r>
              <a:rPr lang="en-US" sz="2400" dirty="0"/>
              <a:t>HOUSE (</a:t>
            </a:r>
            <a:r>
              <a:rPr lang="en-US" sz="2400" u="sng" dirty="0"/>
              <a:t>HouseID</a:t>
            </a:r>
            <a:r>
              <a:rPr lang="en-US" sz="2400" dirty="0"/>
              <a:t>, Street, City, </a:t>
            </a:r>
            <a:r>
              <a:rPr lang="en-US" sz="2400" dirty="0" err="1"/>
              <a:t>PropertyTax</a:t>
            </a:r>
            <a:r>
              <a:rPr lang="en-US" sz="2400" dirty="0"/>
              <a:t>)</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altLang="en-US" sz="2400" dirty="0"/>
          </a:p>
          <a:p>
            <a:pPr algn="just"/>
            <a:endParaRPr lang="en-US" altLang="en-US" sz="1100" dirty="0"/>
          </a:p>
          <a:p>
            <a:pPr algn="just"/>
            <a:r>
              <a:rPr lang="en-US" altLang="en-US" dirty="0"/>
              <a:t>*Suppose for simplicity, that a the property tax is the same for all houses in the same city.</a:t>
            </a:r>
          </a:p>
        </p:txBody>
      </p:sp>
      <p:sp>
        <p:nvSpPr>
          <p:cNvPr id="3" name="Slide Number Placeholder 2"/>
          <p:cNvSpPr>
            <a:spLocks noGrp="1"/>
          </p:cNvSpPr>
          <p:nvPr>
            <p:ph type="sldNum" sz="quarter" idx="12"/>
          </p:nvPr>
        </p:nvSpPr>
        <p:spPr/>
        <p:txBody>
          <a:bodyPr/>
          <a:lstStyle/>
          <a:p>
            <a:fld id="{87F3E754-1C97-4481-A18C-9D97ADBDF344}" type="slidenum">
              <a:rPr lang="en-US" smtClean="0"/>
              <a:t>26</a:t>
            </a:fld>
            <a:endParaRPr lang="en-US"/>
          </a:p>
        </p:txBody>
      </p:sp>
      <p:graphicFrame>
        <p:nvGraphicFramePr>
          <p:cNvPr id="4" name="Table 3"/>
          <p:cNvGraphicFramePr>
            <a:graphicFrameLocks noGrp="1"/>
          </p:cNvGraphicFramePr>
          <p:nvPr/>
        </p:nvGraphicFramePr>
        <p:xfrm>
          <a:off x="2695343" y="2504694"/>
          <a:ext cx="6594897" cy="3474720"/>
        </p:xfrm>
        <a:graphic>
          <a:graphicData uri="http://schemas.openxmlformats.org/drawingml/2006/table">
            <a:tbl>
              <a:tblPr firstRow="1" bandRow="1">
                <a:tableStyleId>{5C22544A-7EE6-4342-B048-85BDC9FD1C3A}</a:tableStyleId>
              </a:tblPr>
              <a:tblGrid>
                <a:gridCol w="1133412">
                  <a:extLst>
                    <a:ext uri="{9D8B030D-6E8A-4147-A177-3AD203B41FA5}">
                      <a16:colId xmlns:a16="http://schemas.microsoft.com/office/drawing/2014/main" val="20000"/>
                    </a:ext>
                  </a:extLst>
                </a:gridCol>
                <a:gridCol w="2024312">
                  <a:extLst>
                    <a:ext uri="{9D8B030D-6E8A-4147-A177-3AD203B41FA5}">
                      <a16:colId xmlns:a16="http://schemas.microsoft.com/office/drawing/2014/main" val="20001"/>
                    </a:ext>
                  </a:extLst>
                </a:gridCol>
                <a:gridCol w="1997618">
                  <a:extLst>
                    <a:ext uri="{9D8B030D-6E8A-4147-A177-3AD203B41FA5}">
                      <a16:colId xmlns:a16="http://schemas.microsoft.com/office/drawing/2014/main" val="20002"/>
                    </a:ext>
                  </a:extLst>
                </a:gridCol>
                <a:gridCol w="1439555">
                  <a:extLst>
                    <a:ext uri="{9D8B030D-6E8A-4147-A177-3AD203B41FA5}">
                      <a16:colId xmlns:a16="http://schemas.microsoft.com/office/drawing/2014/main" val="20003"/>
                    </a:ext>
                  </a:extLst>
                </a:gridCol>
              </a:tblGrid>
              <a:tr h="333255">
                <a:tc>
                  <a:txBody>
                    <a:bodyPr/>
                    <a:lstStyle/>
                    <a:p>
                      <a:r>
                        <a:rPr lang="en-US" sz="2000" u="sng" dirty="0"/>
                        <a:t>HouseID</a:t>
                      </a:r>
                    </a:p>
                  </a:txBody>
                  <a:tcPr/>
                </a:tc>
                <a:tc>
                  <a:txBody>
                    <a:bodyPr/>
                    <a:lstStyle/>
                    <a:p>
                      <a:r>
                        <a:rPr lang="en-US" sz="2000" dirty="0"/>
                        <a:t>Street</a:t>
                      </a:r>
                    </a:p>
                  </a:txBody>
                  <a:tcPr/>
                </a:tc>
                <a:tc>
                  <a:txBody>
                    <a:bodyPr/>
                    <a:lstStyle/>
                    <a:p>
                      <a:r>
                        <a:rPr lang="en-US" sz="2000" dirty="0"/>
                        <a:t>City</a:t>
                      </a:r>
                    </a:p>
                  </a:txBody>
                  <a:tcPr/>
                </a:tc>
                <a:tc>
                  <a:txBody>
                    <a:bodyPr/>
                    <a:lstStyle/>
                    <a:p>
                      <a:r>
                        <a:rPr lang="en-US" sz="2000" dirty="0"/>
                        <a:t>PropertyTax</a:t>
                      </a:r>
                    </a:p>
                  </a:txBody>
                  <a:tcPr/>
                </a:tc>
                <a:extLst>
                  <a:ext uri="{0D108BD9-81ED-4DB2-BD59-A6C34878D82A}">
                    <a16:rowId xmlns:a16="http://schemas.microsoft.com/office/drawing/2014/main" val="10000"/>
                  </a:ext>
                </a:extLst>
              </a:tr>
              <a:tr h="333255">
                <a:tc>
                  <a:txBody>
                    <a:bodyPr/>
                    <a:lstStyle/>
                    <a:p>
                      <a:r>
                        <a:rPr lang="en-US" sz="2000" dirty="0"/>
                        <a:t>111</a:t>
                      </a:r>
                    </a:p>
                  </a:txBody>
                  <a:tcPr/>
                </a:tc>
                <a:tc>
                  <a:txBody>
                    <a:bodyPr/>
                    <a:lstStyle/>
                    <a:p>
                      <a:r>
                        <a:rPr lang="en-US" sz="2000" dirty="0"/>
                        <a:t>25</a:t>
                      </a:r>
                      <a:r>
                        <a:rPr lang="en-US" sz="2000" baseline="0" dirty="0"/>
                        <a:t> 4</a:t>
                      </a:r>
                      <a:r>
                        <a:rPr lang="en-US" sz="2000" baseline="30000" dirty="0"/>
                        <a:t>th</a:t>
                      </a:r>
                      <a:r>
                        <a:rPr lang="en-US" sz="2000" baseline="0" dirty="0"/>
                        <a:t> Ave.</a:t>
                      </a:r>
                      <a:endParaRPr lang="en-US" sz="2000" dirty="0"/>
                    </a:p>
                  </a:txBody>
                  <a:tcPr/>
                </a:tc>
                <a:tc>
                  <a:txBody>
                    <a:bodyPr/>
                    <a:lstStyle/>
                    <a:p>
                      <a:r>
                        <a:rPr lang="en-US" sz="2000" dirty="0"/>
                        <a:t>Edison</a:t>
                      </a:r>
                    </a:p>
                  </a:txBody>
                  <a:tcPr/>
                </a:tc>
                <a:tc>
                  <a:txBody>
                    <a:bodyPr/>
                    <a:lstStyle/>
                    <a:p>
                      <a:r>
                        <a:rPr lang="en-US" sz="2000" dirty="0"/>
                        <a:t>4.7%</a:t>
                      </a:r>
                    </a:p>
                  </a:txBody>
                  <a:tcPr/>
                </a:tc>
                <a:extLst>
                  <a:ext uri="{0D108BD9-81ED-4DB2-BD59-A6C34878D82A}">
                    <a16:rowId xmlns:a16="http://schemas.microsoft.com/office/drawing/2014/main" val="10001"/>
                  </a:ext>
                </a:extLst>
              </a:tr>
              <a:tr h="333255">
                <a:tc>
                  <a:txBody>
                    <a:bodyPr/>
                    <a:lstStyle/>
                    <a:p>
                      <a:r>
                        <a:rPr lang="en-US" sz="2000" dirty="0"/>
                        <a:t>125</a:t>
                      </a:r>
                    </a:p>
                  </a:txBody>
                  <a:tcPr/>
                </a:tc>
                <a:tc>
                  <a:txBody>
                    <a:bodyPr/>
                    <a:lstStyle/>
                    <a:p>
                      <a:r>
                        <a:rPr lang="en-US" sz="2000" dirty="0"/>
                        <a:t>569 Magnolia St.</a:t>
                      </a:r>
                    </a:p>
                  </a:txBody>
                  <a:tcPr/>
                </a:tc>
                <a:tc>
                  <a:txBody>
                    <a:bodyPr/>
                    <a:lstStyle/>
                    <a:p>
                      <a:r>
                        <a:rPr lang="en-US" sz="2000" dirty="0"/>
                        <a:t>Edison</a:t>
                      </a:r>
                    </a:p>
                  </a:txBody>
                  <a:tcPr/>
                </a:tc>
                <a:tc>
                  <a:txBody>
                    <a:bodyPr/>
                    <a:lstStyle/>
                    <a:p>
                      <a:r>
                        <a:rPr lang="en-US" sz="2000" dirty="0"/>
                        <a:t>4.7%</a:t>
                      </a:r>
                    </a:p>
                  </a:txBody>
                  <a:tcPr/>
                </a:tc>
                <a:extLst>
                  <a:ext uri="{0D108BD9-81ED-4DB2-BD59-A6C34878D82A}">
                    <a16:rowId xmlns:a16="http://schemas.microsoft.com/office/drawing/2014/main" val="10002"/>
                  </a:ext>
                </a:extLst>
              </a:tr>
              <a:tr h="333255">
                <a:tc>
                  <a:txBody>
                    <a:bodyPr/>
                    <a:lstStyle/>
                    <a:p>
                      <a:r>
                        <a:rPr lang="en-US" sz="2000" dirty="0"/>
                        <a:t>129</a:t>
                      </a:r>
                    </a:p>
                  </a:txBody>
                  <a:tcPr/>
                </a:tc>
                <a:tc>
                  <a:txBody>
                    <a:bodyPr/>
                    <a:lstStyle/>
                    <a:p>
                      <a:r>
                        <a:rPr lang="en-US" sz="2000" dirty="0"/>
                        <a:t>85 River</a:t>
                      </a:r>
                      <a:r>
                        <a:rPr lang="en-US" sz="2000" baseline="0" dirty="0"/>
                        <a:t> Road</a:t>
                      </a:r>
                      <a:endParaRPr lang="en-US" sz="2000" dirty="0"/>
                    </a:p>
                  </a:txBody>
                  <a:tcPr/>
                </a:tc>
                <a:tc>
                  <a:txBody>
                    <a:bodyPr/>
                    <a:lstStyle/>
                    <a:p>
                      <a:r>
                        <a:rPr lang="en-US" sz="2000" dirty="0"/>
                        <a:t>Piscataway</a:t>
                      </a:r>
                    </a:p>
                  </a:txBody>
                  <a:tcPr/>
                </a:tc>
                <a:tc>
                  <a:txBody>
                    <a:bodyPr/>
                    <a:lstStyle/>
                    <a:p>
                      <a:r>
                        <a:rPr lang="en-US" sz="2000" dirty="0"/>
                        <a:t>2.5%</a:t>
                      </a:r>
                    </a:p>
                  </a:txBody>
                  <a:tcPr/>
                </a:tc>
                <a:extLst>
                  <a:ext uri="{0D108BD9-81ED-4DB2-BD59-A6C34878D82A}">
                    <a16:rowId xmlns:a16="http://schemas.microsoft.com/office/drawing/2014/main" val="10003"/>
                  </a:ext>
                </a:extLst>
              </a:tr>
              <a:tr h="333255">
                <a:tc>
                  <a:txBody>
                    <a:bodyPr/>
                    <a:lstStyle/>
                    <a:p>
                      <a:r>
                        <a:rPr lang="en-US" sz="2000" dirty="0"/>
                        <a:t>133</a:t>
                      </a:r>
                    </a:p>
                  </a:txBody>
                  <a:tcPr/>
                </a:tc>
                <a:tc>
                  <a:txBody>
                    <a:bodyPr/>
                    <a:lstStyle/>
                    <a:p>
                      <a:r>
                        <a:rPr lang="en-US" sz="2000" dirty="0"/>
                        <a:t>222</a:t>
                      </a:r>
                      <a:r>
                        <a:rPr lang="en-US" sz="2000" baseline="0" dirty="0"/>
                        <a:t> George St.</a:t>
                      </a:r>
                      <a:endParaRPr lang="en-US" sz="2000" dirty="0"/>
                    </a:p>
                  </a:txBody>
                  <a:tcPr/>
                </a:tc>
                <a:tc>
                  <a:txBody>
                    <a:bodyPr/>
                    <a:lstStyle/>
                    <a:p>
                      <a:r>
                        <a:rPr lang="en-US" sz="2000" dirty="0"/>
                        <a:t>New Brunswick</a:t>
                      </a:r>
                    </a:p>
                  </a:txBody>
                  <a:tcPr/>
                </a:tc>
                <a:tc>
                  <a:txBody>
                    <a:bodyPr/>
                    <a:lstStyle/>
                    <a:p>
                      <a:r>
                        <a:rPr lang="en-US" sz="2000" dirty="0"/>
                        <a:t>5.6%</a:t>
                      </a:r>
                    </a:p>
                  </a:txBody>
                  <a:tcPr/>
                </a:tc>
                <a:extLst>
                  <a:ext uri="{0D108BD9-81ED-4DB2-BD59-A6C34878D82A}">
                    <a16:rowId xmlns:a16="http://schemas.microsoft.com/office/drawing/2014/main" val="10004"/>
                  </a:ext>
                </a:extLst>
              </a:tr>
              <a:tr h="333255">
                <a:tc>
                  <a:txBody>
                    <a:bodyPr/>
                    <a:lstStyle/>
                    <a:p>
                      <a:r>
                        <a:rPr lang="en-US" sz="2000" dirty="0"/>
                        <a:t>135</a:t>
                      </a:r>
                    </a:p>
                  </a:txBody>
                  <a:tcPr/>
                </a:tc>
                <a:tc>
                  <a:txBody>
                    <a:bodyPr/>
                    <a:lstStyle/>
                    <a:p>
                      <a:r>
                        <a:rPr lang="en-US" sz="2000" dirty="0"/>
                        <a:t>142 River Road</a:t>
                      </a:r>
                    </a:p>
                  </a:txBody>
                  <a:tcPr/>
                </a:tc>
                <a:tc>
                  <a:txBody>
                    <a:bodyPr/>
                    <a:lstStyle/>
                    <a:p>
                      <a:r>
                        <a:rPr lang="en-US" sz="2000" dirty="0"/>
                        <a:t>Piscataway</a:t>
                      </a:r>
                    </a:p>
                  </a:txBody>
                  <a:tcPr/>
                </a:tc>
                <a:tc>
                  <a:txBody>
                    <a:bodyPr/>
                    <a:lstStyle/>
                    <a:p>
                      <a:r>
                        <a:rPr lang="en-US" sz="2000" dirty="0"/>
                        <a:t>2.5%</a:t>
                      </a:r>
                    </a:p>
                  </a:txBody>
                  <a:tcPr/>
                </a:tc>
                <a:extLst>
                  <a:ext uri="{0D108BD9-81ED-4DB2-BD59-A6C34878D82A}">
                    <a16:rowId xmlns:a16="http://schemas.microsoft.com/office/drawing/2014/main" val="10005"/>
                  </a:ext>
                </a:extLst>
              </a:tr>
              <a:tr h="333255">
                <a:tc>
                  <a:txBody>
                    <a:bodyPr/>
                    <a:lstStyle/>
                    <a:p>
                      <a:r>
                        <a:rPr lang="en-US" sz="2000" dirty="0"/>
                        <a:t>149</a:t>
                      </a:r>
                    </a:p>
                  </a:txBody>
                  <a:tcPr/>
                </a:tc>
                <a:tc>
                  <a:txBody>
                    <a:bodyPr/>
                    <a:lstStyle/>
                    <a:p>
                      <a:r>
                        <a:rPr lang="en-US" sz="2000" dirty="0"/>
                        <a:t>268</a:t>
                      </a:r>
                      <a:r>
                        <a:rPr lang="en-US" sz="2000" baseline="0" dirty="0"/>
                        <a:t> Easton Ave.</a:t>
                      </a:r>
                      <a:endParaRPr lang="en-US" sz="2000" dirty="0"/>
                    </a:p>
                  </a:txBody>
                  <a:tcPr/>
                </a:tc>
                <a:tc>
                  <a:txBody>
                    <a:bodyPr/>
                    <a:lstStyle/>
                    <a:p>
                      <a:r>
                        <a:rPr lang="en-US" sz="2000" dirty="0"/>
                        <a:t>New Brunswick</a:t>
                      </a:r>
                    </a:p>
                  </a:txBody>
                  <a:tcPr/>
                </a:tc>
                <a:tc>
                  <a:txBody>
                    <a:bodyPr/>
                    <a:lstStyle/>
                    <a:p>
                      <a:r>
                        <a:rPr lang="en-US" sz="2000" dirty="0"/>
                        <a:t>5.6%</a:t>
                      </a:r>
                    </a:p>
                  </a:txBody>
                  <a:tcPr/>
                </a:tc>
                <a:extLst>
                  <a:ext uri="{0D108BD9-81ED-4DB2-BD59-A6C34878D82A}">
                    <a16:rowId xmlns:a16="http://schemas.microsoft.com/office/drawing/2014/main" val="10006"/>
                  </a:ext>
                </a:extLst>
              </a:tr>
              <a:tr h="333255">
                <a:tc>
                  <a:txBody>
                    <a:bodyPr/>
                    <a:lstStyle/>
                    <a:p>
                      <a:r>
                        <a:rPr lang="en-US" sz="2000" dirty="0"/>
                        <a:t>158</a:t>
                      </a:r>
                    </a:p>
                  </a:txBody>
                  <a:tcPr/>
                </a:tc>
                <a:tc>
                  <a:txBody>
                    <a:bodyPr/>
                    <a:lstStyle/>
                    <a:p>
                      <a:r>
                        <a:rPr lang="en-US" sz="2000" dirty="0"/>
                        <a:t>275 Easton Ave.</a:t>
                      </a:r>
                    </a:p>
                  </a:txBody>
                  <a:tcPr/>
                </a:tc>
                <a:tc>
                  <a:txBody>
                    <a:bodyPr/>
                    <a:lstStyle/>
                    <a:p>
                      <a:r>
                        <a:rPr lang="en-US" sz="2000" dirty="0"/>
                        <a:t>New Brunswick</a:t>
                      </a:r>
                    </a:p>
                  </a:txBody>
                  <a:tcPr/>
                </a:tc>
                <a:tc>
                  <a:txBody>
                    <a:bodyPr/>
                    <a:lstStyle/>
                    <a:p>
                      <a:r>
                        <a:rPr lang="en-US" sz="2000" dirty="0"/>
                        <a:t>5.6%</a:t>
                      </a: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9777014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ChangeArrowheads="1"/>
          </p:cNvSpPr>
          <p:nvPr/>
        </p:nvSpPr>
        <p:spPr bwMode="auto">
          <a:xfrm>
            <a:off x="1864545" y="1667874"/>
            <a:ext cx="8335090" cy="5457521"/>
          </a:xfrm>
          <a:prstGeom prst="rect">
            <a:avLst/>
          </a:prstGeom>
          <a:noFill/>
          <a:ln w="9525">
            <a:noFill/>
            <a:miter lim="800000"/>
            <a:headEnd/>
            <a:tailEnd/>
          </a:ln>
          <a:effectLst/>
        </p:spPr>
        <p:txBody>
          <a:bodyPr wrap="square" lIns="92075" tIns="46038" rIns="92075" bIns="46038">
            <a:spAutoFit/>
          </a:bodyPr>
          <a:lstStyle/>
          <a:p>
            <a:pPr algn="just">
              <a:spcBef>
                <a:spcPct val="25000"/>
              </a:spcBef>
              <a:spcAft>
                <a:spcPct val="10000"/>
              </a:spcAft>
            </a:pPr>
            <a:r>
              <a:rPr lang="en-US" altLang="en-US" sz="2800" b="1" i="1" dirty="0"/>
              <a:t>The following table is in 3NF!</a:t>
            </a:r>
          </a:p>
          <a:p>
            <a:pPr algn="just">
              <a:spcBef>
                <a:spcPct val="25000"/>
              </a:spcBef>
              <a:spcAft>
                <a:spcPct val="10000"/>
              </a:spcAft>
            </a:pPr>
            <a:endParaRPr lang="en-US" altLang="en-US" sz="2800" b="1" i="1" dirty="0"/>
          </a:p>
          <a:p>
            <a:pPr algn="just">
              <a:spcBef>
                <a:spcPct val="25000"/>
              </a:spcBef>
              <a:spcAft>
                <a:spcPct val="10000"/>
              </a:spcAft>
            </a:pPr>
            <a:r>
              <a:rPr lang="en-US" altLang="en-US" sz="2400" dirty="0"/>
              <a:t>EMPLOYEES (</a:t>
            </a:r>
            <a:r>
              <a:rPr lang="en-US" altLang="en-US" sz="2400" u="sng" dirty="0" err="1"/>
              <a:t>EmployeeID</a:t>
            </a:r>
            <a:r>
              <a:rPr lang="en-US" altLang="en-US" sz="2400" dirty="0"/>
              <a:t>, </a:t>
            </a:r>
            <a:r>
              <a:rPr lang="en-US" altLang="en-US" sz="2400" dirty="0" err="1"/>
              <a:t>FirstName</a:t>
            </a:r>
            <a:r>
              <a:rPr lang="en-US" altLang="en-US" sz="2400" dirty="0"/>
              <a:t>, </a:t>
            </a:r>
            <a:r>
              <a:rPr lang="en-US" altLang="en-US" sz="2400" dirty="0" err="1"/>
              <a:t>LastName</a:t>
            </a:r>
            <a:r>
              <a:rPr lang="en-US" altLang="en-US" sz="2400" dirty="0"/>
              <a:t>, Street, City, Zip, State, SSN)</a:t>
            </a:r>
          </a:p>
          <a:p>
            <a:pPr algn="just">
              <a:spcBef>
                <a:spcPct val="25000"/>
              </a:spcBef>
              <a:spcAft>
                <a:spcPct val="10000"/>
              </a:spcAft>
            </a:pPr>
            <a:endParaRPr lang="en-US" altLang="en-US" sz="2800" b="1" i="1" dirty="0"/>
          </a:p>
          <a:p>
            <a:pPr algn="just">
              <a:spcBef>
                <a:spcPct val="25000"/>
              </a:spcBef>
              <a:spcAft>
                <a:spcPct val="10000"/>
              </a:spcAft>
            </a:pPr>
            <a:r>
              <a:rPr lang="en-US" altLang="en-US" sz="2400" i="1" dirty="0"/>
              <a:t>FirstName, </a:t>
            </a:r>
            <a:r>
              <a:rPr lang="en-US" altLang="en-US" sz="2400" i="1" dirty="0" err="1"/>
              <a:t>LastName</a:t>
            </a:r>
            <a:r>
              <a:rPr lang="en-US" altLang="en-US" sz="2400" i="1" dirty="0"/>
              <a:t>, Street, City, Zip, State </a:t>
            </a:r>
            <a:r>
              <a:rPr lang="en-US" altLang="en-US" sz="2400" dirty="0"/>
              <a:t>are non-key fields that depend on SSN which is also a non-key. Yet, this does not violate 3NF since SSN could be a primary key to the table EMPLOYEES since its unique for each employee.</a:t>
            </a:r>
          </a:p>
          <a:p>
            <a:pPr algn="just">
              <a:spcBef>
                <a:spcPct val="25000"/>
              </a:spcBef>
              <a:spcAft>
                <a:spcPct val="10000"/>
              </a:spcAft>
            </a:pPr>
            <a:r>
              <a:rPr lang="en-US" altLang="en-US" sz="2400" i="1" dirty="0"/>
              <a:t>In fact, the table above does not suffer from anomalies or redundancy.</a:t>
            </a:r>
            <a:endParaRPr lang="en-US" altLang="en-US" sz="2400" dirty="0"/>
          </a:p>
          <a:p>
            <a:pPr algn="just">
              <a:spcBef>
                <a:spcPct val="25000"/>
              </a:spcBef>
              <a:spcAft>
                <a:spcPct val="10000"/>
              </a:spcAft>
            </a:pPr>
            <a:endParaRPr lang="en-US" altLang="en-US" sz="2000" dirty="0"/>
          </a:p>
        </p:txBody>
      </p:sp>
      <p:sp>
        <p:nvSpPr>
          <p:cNvPr id="2" name="Title 1"/>
          <p:cNvSpPr>
            <a:spLocks noGrp="1"/>
          </p:cNvSpPr>
          <p:nvPr>
            <p:ph type="title"/>
          </p:nvPr>
        </p:nvSpPr>
        <p:spPr>
          <a:xfrm>
            <a:off x="1864546" y="113531"/>
            <a:ext cx="8550791" cy="1354323"/>
          </a:xfrm>
        </p:spPr>
        <p:txBody>
          <a:bodyPr>
            <a:normAutofit/>
          </a:bodyPr>
          <a:lstStyle/>
          <a:p>
            <a:r>
              <a:rPr lang="en-US" dirty="0"/>
              <a:t>Example of the exception to the rule</a:t>
            </a:r>
          </a:p>
        </p:txBody>
      </p:sp>
      <p:sp>
        <p:nvSpPr>
          <p:cNvPr id="3" name="Slide Number Placeholder 2"/>
          <p:cNvSpPr>
            <a:spLocks noGrp="1"/>
          </p:cNvSpPr>
          <p:nvPr>
            <p:ph type="sldNum" sz="quarter" idx="12"/>
          </p:nvPr>
        </p:nvSpPr>
        <p:spPr/>
        <p:txBody>
          <a:bodyPr/>
          <a:lstStyle/>
          <a:p>
            <a:fld id="{87F3E754-1C97-4481-A18C-9D97ADBDF344}" type="slidenum">
              <a:rPr lang="en-US" smtClean="0"/>
              <a:t>27</a:t>
            </a:fld>
            <a:endParaRPr lang="en-US"/>
          </a:p>
        </p:txBody>
      </p:sp>
    </p:spTree>
    <p:extLst>
      <p:ext uri="{BB962C8B-B14F-4D97-AF65-F5344CB8AC3E}">
        <p14:creationId xmlns:p14="http://schemas.microsoft.com/office/powerpoint/2010/main" val="18873111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ChangeArrowheads="1"/>
          </p:cNvSpPr>
          <p:nvPr/>
        </p:nvSpPr>
        <p:spPr bwMode="auto">
          <a:xfrm>
            <a:off x="1864545" y="1667873"/>
            <a:ext cx="8335090" cy="4431086"/>
          </a:xfrm>
          <a:prstGeom prst="rect">
            <a:avLst/>
          </a:prstGeom>
          <a:noFill/>
          <a:ln w="9525">
            <a:noFill/>
            <a:miter lim="800000"/>
            <a:headEnd/>
            <a:tailEnd/>
          </a:ln>
          <a:effectLst/>
        </p:spPr>
        <p:txBody>
          <a:bodyPr wrap="square" lIns="92075" tIns="46038" rIns="92075" bIns="46038">
            <a:spAutoFit/>
          </a:bodyPr>
          <a:lstStyle/>
          <a:p>
            <a:pPr>
              <a:spcBef>
                <a:spcPct val="25000"/>
              </a:spcBef>
              <a:spcAft>
                <a:spcPct val="10000"/>
              </a:spcAft>
            </a:pPr>
            <a:r>
              <a:rPr lang="en-US" altLang="en-US" sz="2800" b="1" i="1" dirty="0"/>
              <a:t>Is the database in 3NF? If not, how do we fix it?</a:t>
            </a:r>
          </a:p>
          <a:p>
            <a:pPr>
              <a:spcBef>
                <a:spcPct val="25000"/>
              </a:spcBef>
              <a:spcAft>
                <a:spcPct val="10000"/>
              </a:spcAft>
            </a:pPr>
            <a:endParaRPr lang="en-US" altLang="en-US" sz="2400" dirty="0"/>
          </a:p>
          <a:p>
            <a:pPr>
              <a:spcBef>
                <a:spcPct val="25000"/>
              </a:spcBef>
              <a:spcAft>
                <a:spcPct val="10000"/>
              </a:spcAft>
            </a:pPr>
            <a:r>
              <a:rPr lang="en-US" altLang="en-US" sz="2400" dirty="0"/>
              <a:t>COURSES (</a:t>
            </a:r>
            <a:r>
              <a:rPr lang="en-US" altLang="en-US" sz="2400" u="sng" dirty="0"/>
              <a:t>CourseID</a:t>
            </a:r>
            <a:r>
              <a:rPr lang="en-US" altLang="en-US" sz="2400" dirty="0"/>
              <a:t>, Time, </a:t>
            </a:r>
            <a:r>
              <a:rPr lang="en-US" altLang="en-US" sz="2400" dirty="0" err="1"/>
              <a:t>CourseTitle</a:t>
            </a:r>
            <a:r>
              <a:rPr lang="en-US" altLang="en-US" sz="2400" dirty="0"/>
              <a:t>)</a:t>
            </a:r>
          </a:p>
          <a:p>
            <a:pPr>
              <a:spcBef>
                <a:spcPct val="25000"/>
              </a:spcBef>
              <a:spcAft>
                <a:spcPct val="10000"/>
              </a:spcAft>
            </a:pPr>
            <a:r>
              <a:rPr lang="en-US" altLang="en-US" sz="2400" dirty="0"/>
              <a:t>BOOKINGS (</a:t>
            </a:r>
            <a:r>
              <a:rPr lang="en-US" altLang="en-US" sz="2400" u="sng" dirty="0" err="1"/>
              <a:t>CourseID</a:t>
            </a:r>
            <a:r>
              <a:rPr lang="en-US" altLang="en-US" sz="2400" dirty="0"/>
              <a:t>, </a:t>
            </a:r>
            <a:r>
              <a:rPr lang="en-US" altLang="en-US" sz="2400" u="sng" dirty="0"/>
              <a:t>Date</a:t>
            </a:r>
            <a:r>
              <a:rPr lang="en-US" altLang="en-US" sz="2400" dirty="0"/>
              <a:t>, Room)</a:t>
            </a:r>
          </a:p>
          <a:p>
            <a:pPr>
              <a:spcBef>
                <a:spcPct val="25000"/>
              </a:spcBef>
              <a:spcAft>
                <a:spcPct val="10000"/>
              </a:spcAft>
            </a:pPr>
            <a:r>
              <a:rPr lang="en-US" altLang="en-US" sz="2400" dirty="0"/>
              <a:t>	</a:t>
            </a:r>
            <a:r>
              <a:rPr lang="en-US" altLang="en-US" sz="2400" dirty="0" err="1"/>
              <a:t>CourseID</a:t>
            </a:r>
            <a:r>
              <a:rPr lang="en-US" altLang="en-US" sz="2400" dirty="0"/>
              <a:t> foreign key to COURSES</a:t>
            </a:r>
          </a:p>
          <a:p>
            <a:pPr>
              <a:spcBef>
                <a:spcPct val="25000"/>
              </a:spcBef>
              <a:spcAft>
                <a:spcPct val="10000"/>
              </a:spcAft>
            </a:pPr>
            <a:endParaRPr lang="en-US" altLang="en-US" sz="2000" dirty="0"/>
          </a:p>
          <a:p>
            <a:pPr>
              <a:spcBef>
                <a:spcPct val="25000"/>
              </a:spcBef>
              <a:spcAft>
                <a:spcPct val="10000"/>
              </a:spcAft>
            </a:pPr>
            <a:endParaRPr lang="en-US" altLang="en-US" sz="2000" dirty="0"/>
          </a:p>
          <a:p>
            <a:pPr>
              <a:spcBef>
                <a:spcPct val="25000"/>
              </a:spcBef>
              <a:spcAft>
                <a:spcPct val="10000"/>
              </a:spcAft>
            </a:pPr>
            <a:endParaRPr lang="en-US" altLang="en-US" sz="2000" dirty="0"/>
          </a:p>
          <a:p>
            <a:pPr>
              <a:spcBef>
                <a:spcPct val="25000"/>
              </a:spcBef>
              <a:spcAft>
                <a:spcPct val="10000"/>
              </a:spcAft>
            </a:pPr>
            <a:r>
              <a:rPr lang="en-US" altLang="en-US" dirty="0"/>
              <a:t>*Suppose for simplicity, that there is only one section of each course, and that it meets only once in a day, and always at the same time.</a:t>
            </a:r>
            <a:endParaRPr lang="en-US" altLang="en-US" sz="5400" b="1" dirty="0">
              <a:latin typeface="Arial" panose="020B0604020202020204" pitchFamily="34" charset="0"/>
            </a:endParaRPr>
          </a:p>
        </p:txBody>
      </p:sp>
      <p:sp>
        <p:nvSpPr>
          <p:cNvPr id="2" name="Title 1"/>
          <p:cNvSpPr>
            <a:spLocks noGrp="1"/>
          </p:cNvSpPr>
          <p:nvPr>
            <p:ph type="title"/>
          </p:nvPr>
        </p:nvSpPr>
        <p:spPr>
          <a:xfrm>
            <a:off x="1864546" y="113531"/>
            <a:ext cx="8550791" cy="1354323"/>
          </a:xfrm>
        </p:spPr>
        <p:txBody>
          <a:bodyPr>
            <a:normAutofit/>
          </a:bodyPr>
          <a:lstStyle/>
          <a:p>
            <a:r>
              <a:rPr lang="en-US" dirty="0"/>
              <a:t>Example – Classes in a department</a:t>
            </a:r>
          </a:p>
        </p:txBody>
      </p:sp>
      <p:sp>
        <p:nvSpPr>
          <p:cNvPr id="3" name="Slide Number Placeholder 2"/>
          <p:cNvSpPr>
            <a:spLocks noGrp="1"/>
          </p:cNvSpPr>
          <p:nvPr>
            <p:ph type="sldNum" sz="quarter" idx="12"/>
          </p:nvPr>
        </p:nvSpPr>
        <p:spPr/>
        <p:txBody>
          <a:bodyPr/>
          <a:lstStyle/>
          <a:p>
            <a:fld id="{87F3E754-1C97-4481-A18C-9D97ADBDF344}" type="slidenum">
              <a:rPr lang="en-US" smtClean="0"/>
              <a:t>28</a:t>
            </a:fld>
            <a:endParaRPr lang="en-US"/>
          </a:p>
        </p:txBody>
      </p:sp>
    </p:spTree>
    <p:extLst>
      <p:ext uri="{BB962C8B-B14F-4D97-AF65-F5344CB8AC3E}">
        <p14:creationId xmlns:p14="http://schemas.microsoft.com/office/powerpoint/2010/main" val="78826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ChangeArrowheads="1"/>
          </p:cNvSpPr>
          <p:nvPr/>
        </p:nvSpPr>
        <p:spPr bwMode="auto">
          <a:xfrm>
            <a:off x="1864545" y="1358780"/>
            <a:ext cx="8335090" cy="4629602"/>
          </a:xfrm>
          <a:prstGeom prst="rect">
            <a:avLst/>
          </a:prstGeom>
          <a:noFill/>
          <a:ln w="9525">
            <a:noFill/>
            <a:miter lim="800000"/>
            <a:headEnd/>
            <a:tailEnd/>
          </a:ln>
          <a:effectLst/>
        </p:spPr>
        <p:txBody>
          <a:bodyPr wrap="square" lIns="92075" tIns="46038" rIns="92075" bIns="46038">
            <a:spAutoFit/>
          </a:bodyPr>
          <a:lstStyle/>
          <a:p>
            <a:pPr>
              <a:spcBef>
                <a:spcPct val="25000"/>
              </a:spcBef>
              <a:spcAft>
                <a:spcPct val="10000"/>
              </a:spcAft>
            </a:pPr>
            <a:r>
              <a:rPr lang="en-US" altLang="en-US" sz="2800" b="1" i="1" dirty="0"/>
              <a:t>We could also have</a:t>
            </a:r>
            <a:endParaRPr lang="en-US" altLang="en-US" sz="2400" dirty="0"/>
          </a:p>
          <a:p>
            <a:pPr>
              <a:spcBef>
                <a:spcPct val="25000"/>
              </a:spcBef>
              <a:spcAft>
                <a:spcPct val="10000"/>
              </a:spcAft>
            </a:pPr>
            <a:r>
              <a:rPr lang="en-US" altLang="en-US" sz="2400" dirty="0"/>
              <a:t>CLIENT (</a:t>
            </a:r>
            <a:r>
              <a:rPr lang="en-US" altLang="en-US" sz="2400" u="sng" dirty="0" err="1"/>
              <a:t>ClientID</a:t>
            </a:r>
            <a:r>
              <a:rPr lang="en-US" altLang="en-US" sz="2400" dirty="0"/>
              <a:t>, </a:t>
            </a:r>
            <a:r>
              <a:rPr lang="en-US" altLang="en-US" sz="2400" dirty="0" err="1"/>
              <a:t>ClientName</a:t>
            </a:r>
            <a:r>
              <a:rPr lang="en-US" altLang="en-US" sz="2400" dirty="0"/>
              <a:t>, </a:t>
            </a:r>
            <a:r>
              <a:rPr lang="en-US" altLang="en-US" sz="2400" dirty="0" err="1"/>
              <a:t>VetID</a:t>
            </a:r>
            <a:r>
              <a:rPr lang="en-US" altLang="en-US" sz="2400" dirty="0"/>
              <a:t>)</a:t>
            </a:r>
          </a:p>
          <a:p>
            <a:pPr>
              <a:spcBef>
                <a:spcPct val="25000"/>
              </a:spcBef>
              <a:spcAft>
                <a:spcPct val="10000"/>
              </a:spcAft>
            </a:pPr>
            <a:r>
              <a:rPr lang="en-US" altLang="en-US" sz="2400" dirty="0"/>
              <a:t>	</a:t>
            </a:r>
            <a:r>
              <a:rPr lang="en-US" altLang="en-US" sz="2400" dirty="0" err="1"/>
              <a:t>VetID</a:t>
            </a:r>
            <a:r>
              <a:rPr lang="en-US" altLang="en-US" sz="2400" dirty="0"/>
              <a:t> foreign key to VET</a:t>
            </a:r>
          </a:p>
          <a:p>
            <a:pPr>
              <a:spcBef>
                <a:spcPct val="25000"/>
              </a:spcBef>
              <a:spcAft>
                <a:spcPct val="10000"/>
              </a:spcAft>
            </a:pPr>
            <a:r>
              <a:rPr lang="en-US" altLang="en-US" sz="2400" dirty="0"/>
              <a:t>PET (</a:t>
            </a:r>
            <a:r>
              <a:rPr lang="en-US" altLang="en-US" sz="2400" u="sng" dirty="0" err="1">
                <a:solidFill>
                  <a:srgbClr val="FF0000"/>
                </a:solidFill>
              </a:rPr>
              <a:t>PetID</a:t>
            </a:r>
            <a:r>
              <a:rPr lang="en-US" altLang="en-US" sz="2400" dirty="0"/>
              <a:t>, </a:t>
            </a:r>
            <a:r>
              <a:rPr lang="en-US" altLang="en-US" sz="2400" dirty="0" err="1"/>
              <a:t>ClientID</a:t>
            </a:r>
            <a:r>
              <a:rPr lang="en-US" altLang="en-US" sz="2400" dirty="0"/>
              <a:t>, </a:t>
            </a:r>
            <a:r>
              <a:rPr lang="en-US" altLang="en-US" sz="2400" dirty="0" err="1"/>
              <a:t>PetNo</a:t>
            </a:r>
            <a:r>
              <a:rPr lang="en-US" altLang="en-US" sz="2400" dirty="0"/>
              <a:t>, </a:t>
            </a:r>
            <a:r>
              <a:rPr lang="en-US" altLang="en-US" sz="2400" dirty="0" err="1"/>
              <a:t>PetName</a:t>
            </a:r>
            <a:r>
              <a:rPr lang="en-US" altLang="en-US" sz="2400" dirty="0"/>
              <a:t>, </a:t>
            </a:r>
            <a:r>
              <a:rPr lang="en-US" altLang="en-US" sz="2400" dirty="0" err="1"/>
              <a:t>PetType</a:t>
            </a:r>
            <a:r>
              <a:rPr lang="en-US" altLang="en-US" sz="2400" dirty="0"/>
              <a:t>)</a:t>
            </a:r>
            <a:br>
              <a:rPr lang="en-US" altLang="en-US" sz="2400" dirty="0"/>
            </a:br>
            <a:r>
              <a:rPr lang="en-US" altLang="en-US" sz="2400" dirty="0"/>
              <a:t>      	 </a:t>
            </a:r>
            <a:r>
              <a:rPr lang="en-US" altLang="en-US" sz="2400" dirty="0" err="1"/>
              <a:t>ClientID</a:t>
            </a:r>
            <a:r>
              <a:rPr lang="en-US" altLang="en-US" sz="2400" dirty="0"/>
              <a:t> foreign key to CLIENT</a:t>
            </a:r>
          </a:p>
          <a:p>
            <a:pPr>
              <a:spcBef>
                <a:spcPct val="25000"/>
              </a:spcBef>
              <a:spcAft>
                <a:spcPct val="10000"/>
              </a:spcAft>
            </a:pPr>
            <a:r>
              <a:rPr lang="en-US" altLang="en-US" sz="2400" dirty="0"/>
              <a:t>VET (</a:t>
            </a:r>
            <a:r>
              <a:rPr lang="en-US" altLang="en-US" sz="2400" u="sng" dirty="0" err="1"/>
              <a:t>VetID</a:t>
            </a:r>
            <a:r>
              <a:rPr lang="en-US" altLang="en-US" sz="2400" dirty="0"/>
              <a:t>, </a:t>
            </a:r>
            <a:r>
              <a:rPr lang="en-US" altLang="en-US" sz="2400" dirty="0" err="1"/>
              <a:t>VetName</a:t>
            </a:r>
            <a:r>
              <a:rPr lang="en-US" altLang="en-US" sz="2400" dirty="0"/>
              <a:t>)</a:t>
            </a:r>
          </a:p>
          <a:p>
            <a:pPr>
              <a:spcBef>
                <a:spcPct val="25000"/>
              </a:spcBef>
              <a:spcAft>
                <a:spcPct val="10000"/>
              </a:spcAft>
            </a:pPr>
            <a:endParaRPr lang="en-US" altLang="en-US" sz="2400" dirty="0"/>
          </a:p>
          <a:p>
            <a:pPr>
              <a:spcBef>
                <a:spcPct val="25000"/>
              </a:spcBef>
              <a:spcAft>
                <a:spcPct val="10000"/>
              </a:spcAft>
            </a:pPr>
            <a:r>
              <a:rPr lang="en-US" altLang="en-US" sz="2400" dirty="0"/>
              <a:t>This is another example of the exception. </a:t>
            </a:r>
            <a:r>
              <a:rPr lang="en-US" altLang="en-US" sz="2400" dirty="0" err="1"/>
              <a:t>PetName</a:t>
            </a:r>
            <a:r>
              <a:rPr lang="en-US" altLang="en-US" sz="2400" dirty="0"/>
              <a:t> and </a:t>
            </a:r>
            <a:r>
              <a:rPr lang="en-US" altLang="en-US" sz="2400" dirty="0" err="1"/>
              <a:t>PetType</a:t>
            </a:r>
            <a:r>
              <a:rPr lang="en-US" altLang="en-US" sz="2400" dirty="0"/>
              <a:t> depend on a composition of non-keys (</a:t>
            </a:r>
            <a:r>
              <a:rPr lang="en-US" altLang="en-US" sz="2400" dirty="0" err="1"/>
              <a:t>ClientID</a:t>
            </a:r>
            <a:r>
              <a:rPr lang="en-US" altLang="en-US" sz="2400" dirty="0"/>
              <a:t>, </a:t>
            </a:r>
            <a:r>
              <a:rPr lang="en-US" altLang="en-US" sz="2400" dirty="0" err="1"/>
              <a:t>PetNo</a:t>
            </a:r>
            <a:r>
              <a:rPr lang="en-US" altLang="en-US" sz="2400" dirty="0"/>
              <a:t>), however the latter could be the primary key, so the </a:t>
            </a:r>
            <a:r>
              <a:rPr lang="en-US" altLang="en-US" sz="2400" dirty="0" err="1"/>
              <a:t>tbale</a:t>
            </a:r>
            <a:r>
              <a:rPr lang="en-US" altLang="en-US" sz="2400" dirty="0"/>
              <a:t> is in 3NF.</a:t>
            </a:r>
          </a:p>
        </p:txBody>
      </p:sp>
      <p:sp>
        <p:nvSpPr>
          <p:cNvPr id="2" name="Title 1"/>
          <p:cNvSpPr>
            <a:spLocks noGrp="1"/>
          </p:cNvSpPr>
          <p:nvPr>
            <p:ph type="title"/>
          </p:nvPr>
        </p:nvSpPr>
        <p:spPr>
          <a:xfrm>
            <a:off x="1864546" y="113531"/>
            <a:ext cx="8550791" cy="1354323"/>
          </a:xfrm>
        </p:spPr>
        <p:txBody>
          <a:bodyPr>
            <a:normAutofit/>
          </a:bodyPr>
          <a:lstStyle/>
          <a:p>
            <a:r>
              <a:rPr lang="en-US" dirty="0"/>
              <a:t>Back to the Pets DB…</a:t>
            </a:r>
          </a:p>
        </p:txBody>
      </p:sp>
      <p:sp>
        <p:nvSpPr>
          <p:cNvPr id="3" name="Slide Number Placeholder 2"/>
          <p:cNvSpPr>
            <a:spLocks noGrp="1"/>
          </p:cNvSpPr>
          <p:nvPr>
            <p:ph type="sldNum" sz="quarter" idx="12"/>
          </p:nvPr>
        </p:nvSpPr>
        <p:spPr/>
        <p:txBody>
          <a:bodyPr/>
          <a:lstStyle/>
          <a:p>
            <a:fld id="{87F3E754-1C97-4481-A18C-9D97ADBDF344}" type="slidenum">
              <a:rPr lang="en-US" smtClean="0"/>
              <a:t>29</a:t>
            </a:fld>
            <a:endParaRPr lang="en-US"/>
          </a:p>
        </p:txBody>
      </p:sp>
    </p:spTree>
    <p:extLst>
      <p:ext uri="{BB962C8B-B14F-4D97-AF65-F5344CB8AC3E}">
        <p14:creationId xmlns:p14="http://schemas.microsoft.com/office/powerpoint/2010/main" val="39792179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Steps to design a DB</a:t>
            </a:r>
          </a:p>
        </p:txBody>
      </p:sp>
      <p:sp>
        <p:nvSpPr>
          <p:cNvPr id="4" name="Slide Number Placeholder 3"/>
          <p:cNvSpPr>
            <a:spLocks noGrp="1"/>
          </p:cNvSpPr>
          <p:nvPr>
            <p:ph type="sldNum" sz="quarter" idx="12"/>
          </p:nvPr>
        </p:nvSpPr>
        <p:spPr/>
        <p:txBody>
          <a:bodyPr/>
          <a:lstStyle/>
          <a:p>
            <a:fld id="{87F3E754-1C97-4481-A18C-9D97ADBDF344}" type="slidenum">
              <a:rPr lang="en-US" smtClean="0"/>
              <a:t>30</a:t>
            </a:fld>
            <a:endParaRPr lang="en-US"/>
          </a:p>
        </p:txBody>
      </p:sp>
    </p:spTree>
    <p:extLst>
      <p:ext uri="{BB962C8B-B14F-4D97-AF65-F5344CB8AC3E}">
        <p14:creationId xmlns:p14="http://schemas.microsoft.com/office/powerpoint/2010/main" val="35904017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3146" y="145306"/>
            <a:ext cx="8079581" cy="865904"/>
          </a:xfrm>
        </p:spPr>
        <p:txBody>
          <a:bodyPr>
            <a:normAutofit/>
          </a:bodyPr>
          <a:lstStyle/>
          <a:p>
            <a:r>
              <a:rPr lang="en-US" dirty="0"/>
              <a:t>Steps to Design a Database</a:t>
            </a:r>
          </a:p>
        </p:txBody>
      </p:sp>
      <p:sp>
        <p:nvSpPr>
          <p:cNvPr id="4" name="Content Placeholder 3"/>
          <p:cNvSpPr>
            <a:spLocks noGrp="1" noChangeArrowheads="1"/>
          </p:cNvSpPr>
          <p:nvPr>
            <p:ph idx="1"/>
          </p:nvPr>
        </p:nvSpPr>
        <p:spPr bwMode="auto">
          <a:xfrm>
            <a:off x="1900284" y="1452212"/>
            <a:ext cx="8501672" cy="332462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2075" tIns="46038" rIns="92075" bIns="46038" rtlCol="0">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342900" indent="-342900">
              <a:lnSpc>
                <a:spcPct val="110000"/>
              </a:lnSpc>
              <a:spcBef>
                <a:spcPct val="25000"/>
              </a:spcBef>
              <a:spcAft>
                <a:spcPct val="10000"/>
              </a:spcAft>
              <a:buFont typeface="+mj-lt"/>
              <a:buAutoNum type="arabicPeriod"/>
            </a:pPr>
            <a:r>
              <a:rPr lang="en-US" altLang="en-US" dirty="0">
                <a:latin typeface="+mn-lt"/>
              </a:rPr>
              <a:t>Identify the tables (usually they correspond to the entities involved in the problem).</a:t>
            </a:r>
          </a:p>
          <a:p>
            <a:pPr marL="342900" indent="-342900">
              <a:lnSpc>
                <a:spcPct val="110000"/>
              </a:lnSpc>
              <a:spcBef>
                <a:spcPct val="25000"/>
              </a:spcBef>
              <a:spcAft>
                <a:spcPct val="10000"/>
              </a:spcAft>
              <a:buFont typeface="+mj-lt"/>
              <a:buAutoNum type="arabicPeriod"/>
            </a:pPr>
            <a:r>
              <a:rPr lang="en-US" altLang="en-US" dirty="0">
                <a:latin typeface="+mn-lt"/>
              </a:rPr>
              <a:t>Identify the fields relevant for each table. Create the primary key of each table.</a:t>
            </a:r>
          </a:p>
          <a:p>
            <a:pPr marL="342900" indent="-342900">
              <a:lnSpc>
                <a:spcPct val="110000"/>
              </a:lnSpc>
              <a:spcBef>
                <a:spcPct val="25000"/>
              </a:spcBef>
              <a:spcAft>
                <a:spcPct val="10000"/>
              </a:spcAft>
              <a:buFont typeface="+mj-lt"/>
              <a:buAutoNum type="arabicPeriod"/>
            </a:pPr>
            <a:r>
              <a:rPr lang="en-US" altLang="en-US" dirty="0">
                <a:latin typeface="+mn-lt"/>
              </a:rPr>
              <a:t>Identify and create relationships: place foreign keys in the corresponding tables.</a:t>
            </a:r>
          </a:p>
          <a:p>
            <a:pPr marL="342900" indent="-342900">
              <a:lnSpc>
                <a:spcPct val="110000"/>
              </a:lnSpc>
              <a:spcBef>
                <a:spcPct val="25000"/>
              </a:spcBef>
              <a:spcAft>
                <a:spcPct val="10000"/>
              </a:spcAft>
              <a:buFont typeface="+mj-lt"/>
              <a:buAutoNum type="arabicPeriod"/>
            </a:pPr>
            <a:r>
              <a:rPr lang="en-US" altLang="en-US" b="1" dirty="0">
                <a:latin typeface="+mn-lt"/>
              </a:rPr>
              <a:t>Review your database design: </a:t>
            </a:r>
            <a:r>
              <a:rPr lang="is-IS" altLang="en-US" b="1" dirty="0">
                <a:latin typeface="+mn-lt"/>
              </a:rPr>
              <a:t>see next slide...</a:t>
            </a:r>
            <a:endParaRPr lang="en-US" altLang="en-US" b="1" dirty="0">
              <a:latin typeface="+mn-lt"/>
            </a:endParaRPr>
          </a:p>
        </p:txBody>
      </p:sp>
      <p:sp>
        <p:nvSpPr>
          <p:cNvPr id="3" name="Slide Number Placeholder 2"/>
          <p:cNvSpPr>
            <a:spLocks noGrp="1"/>
          </p:cNvSpPr>
          <p:nvPr>
            <p:ph type="sldNum" sz="quarter" idx="12"/>
          </p:nvPr>
        </p:nvSpPr>
        <p:spPr/>
        <p:txBody>
          <a:bodyPr/>
          <a:lstStyle/>
          <a:p>
            <a:fld id="{87F3E754-1C97-4481-A18C-9D97ADBDF344}" type="slidenum">
              <a:rPr lang="en-US" smtClean="0"/>
              <a:t>31</a:t>
            </a:fld>
            <a:endParaRPr lang="en-US"/>
          </a:p>
        </p:txBody>
      </p:sp>
    </p:spTree>
    <p:extLst>
      <p:ext uri="{BB962C8B-B14F-4D97-AF65-F5344CB8AC3E}">
        <p14:creationId xmlns:p14="http://schemas.microsoft.com/office/powerpoint/2010/main" val="40109166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3145" y="145306"/>
            <a:ext cx="8361874" cy="1007003"/>
          </a:xfrm>
        </p:spPr>
        <p:txBody>
          <a:bodyPr>
            <a:normAutofit/>
          </a:bodyPr>
          <a:lstStyle/>
          <a:p>
            <a:r>
              <a:rPr lang="en-US" dirty="0"/>
              <a:t>Review your database design</a:t>
            </a:r>
          </a:p>
        </p:txBody>
      </p:sp>
      <p:sp>
        <p:nvSpPr>
          <p:cNvPr id="4" name="Content Placeholder 3"/>
          <p:cNvSpPr>
            <a:spLocks noGrp="1" noChangeArrowheads="1"/>
          </p:cNvSpPr>
          <p:nvPr>
            <p:ph idx="1"/>
          </p:nvPr>
        </p:nvSpPr>
        <p:spPr bwMode="auto">
          <a:xfrm>
            <a:off x="1947320" y="1452210"/>
            <a:ext cx="8384083" cy="45434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2075" tIns="46038" rIns="92075" bIns="46038" rtlCol="0">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457200" indent="-457200" algn="just">
              <a:lnSpc>
                <a:spcPct val="110000"/>
              </a:lnSpc>
              <a:spcBef>
                <a:spcPct val="25000"/>
              </a:spcBef>
              <a:spcAft>
                <a:spcPct val="10000"/>
              </a:spcAft>
              <a:buFont typeface="+mj-lt"/>
              <a:buAutoNum type="alphaLcPeriod"/>
            </a:pPr>
            <a:r>
              <a:rPr lang="en-US" altLang="en-US" b="1" dirty="0">
                <a:latin typeface="+mn-lt"/>
              </a:rPr>
              <a:t>Simulate queries: </a:t>
            </a:r>
            <a:r>
              <a:rPr lang="en-US" altLang="en-US" dirty="0">
                <a:latin typeface="+mn-lt"/>
              </a:rPr>
              <a:t>can the database give you all the information you may need, that is, is it capable of relating all the different entities you need to relate? </a:t>
            </a:r>
          </a:p>
          <a:p>
            <a:pPr marL="457200" indent="-457200" algn="just">
              <a:lnSpc>
                <a:spcPct val="110000"/>
              </a:lnSpc>
              <a:spcBef>
                <a:spcPct val="25000"/>
              </a:spcBef>
              <a:spcAft>
                <a:spcPct val="10000"/>
              </a:spcAft>
              <a:buFont typeface="+mj-lt"/>
              <a:buAutoNum type="alphaLcPeriod"/>
            </a:pPr>
            <a:r>
              <a:rPr lang="en-US" altLang="en-US" dirty="0">
                <a:latin typeface="+mn-lt"/>
              </a:rPr>
              <a:t>Check for </a:t>
            </a:r>
            <a:r>
              <a:rPr lang="en-US" altLang="en-US" b="1" dirty="0">
                <a:latin typeface="+mn-lt"/>
              </a:rPr>
              <a:t>redundant relationships</a:t>
            </a:r>
            <a:r>
              <a:rPr lang="en-US" altLang="en-US" dirty="0">
                <a:latin typeface="+mn-lt"/>
              </a:rPr>
              <a:t>: Do any of the relationships can be indirectly obtained from combining others? If so, delete the redundant ones.</a:t>
            </a:r>
          </a:p>
          <a:p>
            <a:pPr marL="457200" indent="-457200" algn="just">
              <a:lnSpc>
                <a:spcPct val="110000"/>
              </a:lnSpc>
              <a:spcBef>
                <a:spcPct val="25000"/>
              </a:spcBef>
              <a:spcAft>
                <a:spcPct val="10000"/>
              </a:spcAft>
              <a:buFont typeface="+mj-lt"/>
              <a:buAutoNum type="alphaLcPeriod"/>
            </a:pPr>
            <a:r>
              <a:rPr lang="en-US" altLang="en-US" dirty="0">
                <a:latin typeface="+mn-lt"/>
              </a:rPr>
              <a:t>Go over each table to check for </a:t>
            </a:r>
            <a:r>
              <a:rPr lang="en-US" altLang="en-US" b="1" dirty="0">
                <a:latin typeface="+mn-lt"/>
              </a:rPr>
              <a:t>anomalies</a:t>
            </a:r>
            <a:r>
              <a:rPr lang="en-US" altLang="en-US" dirty="0">
                <a:latin typeface="+mn-lt"/>
              </a:rPr>
              <a:t> and make sure they are all in </a:t>
            </a:r>
            <a:r>
              <a:rPr lang="en-US" altLang="en-US" b="1" dirty="0">
                <a:latin typeface="+mn-lt"/>
              </a:rPr>
              <a:t>3NF</a:t>
            </a:r>
            <a:r>
              <a:rPr lang="en-US" altLang="en-US" dirty="0">
                <a:latin typeface="+mn-lt"/>
              </a:rPr>
              <a:t>.</a:t>
            </a:r>
          </a:p>
          <a:p>
            <a:pPr marL="457200" indent="-457200" algn="just">
              <a:lnSpc>
                <a:spcPct val="110000"/>
              </a:lnSpc>
              <a:spcBef>
                <a:spcPct val="25000"/>
              </a:spcBef>
              <a:spcAft>
                <a:spcPct val="10000"/>
              </a:spcAft>
              <a:buFont typeface="+mj-lt"/>
              <a:buAutoNum type="alphaLcPeriod"/>
            </a:pPr>
            <a:r>
              <a:rPr lang="en-US" altLang="en-US" dirty="0">
                <a:latin typeface="+mn-lt"/>
              </a:rPr>
              <a:t>Review again (yes!) the model to make sure the database can give you all the information you might need.</a:t>
            </a:r>
          </a:p>
        </p:txBody>
      </p:sp>
      <p:sp>
        <p:nvSpPr>
          <p:cNvPr id="3" name="Slide Number Placeholder 2"/>
          <p:cNvSpPr>
            <a:spLocks noGrp="1"/>
          </p:cNvSpPr>
          <p:nvPr>
            <p:ph type="sldNum" sz="quarter" idx="12"/>
          </p:nvPr>
        </p:nvSpPr>
        <p:spPr/>
        <p:txBody>
          <a:bodyPr/>
          <a:lstStyle/>
          <a:p>
            <a:fld id="{87F3E754-1C97-4481-A18C-9D97ADBDF344}" type="slidenum">
              <a:rPr lang="en-US" smtClean="0"/>
              <a:t>32</a:t>
            </a:fld>
            <a:endParaRPr lang="en-US" dirty="0"/>
          </a:p>
        </p:txBody>
      </p:sp>
    </p:spTree>
    <p:extLst>
      <p:ext uri="{BB962C8B-B14F-4D97-AF65-F5344CB8AC3E}">
        <p14:creationId xmlns:p14="http://schemas.microsoft.com/office/powerpoint/2010/main" val="17346264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2487</Words>
  <Application>Microsoft Office PowerPoint</Application>
  <PresentationFormat>Widescreen</PresentationFormat>
  <Paragraphs>802</Paragraphs>
  <Slides>32</Slides>
  <Notes>32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Calibri</vt:lpstr>
      <vt:lpstr>Calibri Light</vt:lpstr>
      <vt:lpstr>Wingdings</vt:lpstr>
      <vt:lpstr>Office Theme</vt:lpstr>
      <vt:lpstr> Normal Forms</vt:lpstr>
      <vt:lpstr>Outline</vt:lpstr>
      <vt:lpstr>Recall the database anomalies…</vt:lpstr>
      <vt:lpstr>Update anomaly</vt:lpstr>
      <vt:lpstr>Delete anomaly</vt:lpstr>
      <vt:lpstr>Insertion anomaly</vt:lpstr>
      <vt:lpstr>What about this design?</vt:lpstr>
      <vt:lpstr>Normal Forms</vt:lpstr>
      <vt:lpstr>1NF</vt:lpstr>
      <vt:lpstr>First Normal Form (1NF)</vt:lpstr>
      <vt:lpstr>Examples – Students and courses</vt:lpstr>
      <vt:lpstr>Example - Pets</vt:lpstr>
      <vt:lpstr>Example – Classes in a department</vt:lpstr>
      <vt:lpstr>2NF</vt:lpstr>
      <vt:lpstr>Second Normal Form</vt:lpstr>
      <vt:lpstr>What does “depend” mean?</vt:lpstr>
      <vt:lpstr>Example</vt:lpstr>
      <vt:lpstr>Example – Pets I</vt:lpstr>
      <vt:lpstr>Example – Pets (fixed for 2NF)</vt:lpstr>
      <vt:lpstr>Example – Classes in a department</vt:lpstr>
      <vt:lpstr>Example – Classes in a department (fixed for 2NF)</vt:lpstr>
      <vt:lpstr>3NF</vt:lpstr>
      <vt:lpstr>Third Normal Form</vt:lpstr>
      <vt:lpstr>Example – Pets II </vt:lpstr>
      <vt:lpstr>Example – Pets (fixed for 3NF) </vt:lpstr>
      <vt:lpstr>Example – Property taxes</vt:lpstr>
      <vt:lpstr>Example of the exception to the rule</vt:lpstr>
      <vt:lpstr>Example – Classes in a department</vt:lpstr>
      <vt:lpstr>Back to the Pets DB…</vt:lpstr>
      <vt:lpstr>Steps to design a DB</vt:lpstr>
      <vt:lpstr>Steps to Design a Database</vt:lpstr>
      <vt:lpstr>Review your database design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Normal Forms</dc:title>
  <dc:creator>Disha Parkhi</dc:creator>
  <cp:lastModifiedBy>Disha Parkhi</cp:lastModifiedBy>
  <cp:revision>2</cp:revision>
  <dcterms:created xsi:type="dcterms:W3CDTF">2020-08-22T21:10:23Z</dcterms:created>
  <dcterms:modified xsi:type="dcterms:W3CDTF">2020-10-12T12:41:51Z</dcterms:modified>
</cp:coreProperties>
</file>