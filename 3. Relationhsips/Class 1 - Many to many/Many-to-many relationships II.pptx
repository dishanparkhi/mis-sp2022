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317" r:id="rId4"/>
    <p:sldId id="306" r:id="rId5"/>
    <p:sldId id="307" r:id="rId6"/>
    <p:sldId id="321" r:id="rId7"/>
    <p:sldId id="322" r:id="rId8"/>
    <p:sldId id="32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57"/>
            <p14:sldId id="258"/>
            <p14:sldId id="317"/>
            <p14:sldId id="306"/>
            <p14:sldId id="307"/>
            <p14:sldId id="321"/>
            <p14:sldId id="322"/>
            <p14:sldId id="3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D14E1321-8226-4D39-A340-20995A5214DF}"/>
    <pc:docChg chg="undo custSel modSld">
      <pc:chgData name="Disha Parkhi" userId="7ca7a02737f3c9a0" providerId="LiveId" clId="{D14E1321-8226-4D39-A340-20995A5214DF}" dt="2021-03-03T19:09:16.002" v="35" actId="14734"/>
      <pc:docMkLst>
        <pc:docMk/>
      </pc:docMkLst>
      <pc:sldChg chg="modSp mod">
        <pc:chgData name="Disha Parkhi" userId="7ca7a02737f3c9a0" providerId="LiveId" clId="{D14E1321-8226-4D39-A340-20995A5214DF}" dt="2021-03-03T19:00:43.344" v="31" actId="20577"/>
        <pc:sldMkLst>
          <pc:docMk/>
          <pc:sldMk cId="2122074438" sldId="306"/>
        </pc:sldMkLst>
        <pc:spChg chg="mod">
          <ac:chgData name="Disha Parkhi" userId="7ca7a02737f3c9a0" providerId="LiveId" clId="{D14E1321-8226-4D39-A340-20995A5214DF}" dt="2021-03-03T19:00:43.344" v="31" actId="20577"/>
          <ac:spMkLst>
            <pc:docMk/>
            <pc:sldMk cId="2122074438" sldId="306"/>
            <ac:spMk id="8" creationId="{00000000-0000-0000-0000-000000000000}"/>
          </ac:spMkLst>
        </pc:spChg>
      </pc:sldChg>
      <pc:sldChg chg="modSp mod">
        <pc:chgData name="Disha Parkhi" userId="7ca7a02737f3c9a0" providerId="LiveId" clId="{D14E1321-8226-4D39-A340-20995A5214DF}" dt="2021-03-03T19:09:16.002" v="35" actId="14734"/>
        <pc:sldMkLst>
          <pc:docMk/>
          <pc:sldMk cId="319408075" sldId="322"/>
        </pc:sldMkLst>
        <pc:graphicFrameChg chg="modGraphic">
          <ac:chgData name="Disha Parkhi" userId="7ca7a02737f3c9a0" providerId="LiveId" clId="{D14E1321-8226-4D39-A340-20995A5214DF}" dt="2021-03-03T19:09:16.002" v="35" actId="14734"/>
          <ac:graphicFrameMkLst>
            <pc:docMk/>
            <pc:sldMk cId="319408075" sldId="322"/>
            <ac:graphicFrameMk id="8"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C5393-CD2C-43D2-8472-B20BB7EA4DD1}" type="datetimeFigureOut">
              <a:rPr lang="en-US" smtClean="0"/>
              <a:t>3/3/2021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13DCC-012A-4CF6-BCEB-B0E7D3103250}" type="slidenum">
              <a:rPr lang="en-US" smtClean="0"/>
              <a:t>‹#›</a:t>
            </a:fld>
            <a:endParaRPr lang="en-US"/>
          </a:p>
        </p:txBody>
      </p:sp>
    </p:spTree>
    <p:extLst>
      <p:ext uri="{BB962C8B-B14F-4D97-AF65-F5344CB8AC3E}">
        <p14:creationId xmlns:p14="http://schemas.microsoft.com/office/powerpoint/2010/main" val="355007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6</a:t>
            </a:fld>
            <a:endParaRPr lang="en-US"/>
          </a:p>
        </p:txBody>
      </p:sp>
    </p:spTree>
    <p:extLst>
      <p:ext uri="{BB962C8B-B14F-4D97-AF65-F5344CB8AC3E}">
        <p14:creationId xmlns:p14="http://schemas.microsoft.com/office/powerpoint/2010/main" val="3324414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574D6CA-5B07-41E0-A7A1-3547E26766A1}" type="slidenum">
              <a:rPr lang="en-US" smtClean="0"/>
              <a:t>7</a:t>
            </a:fld>
            <a:endParaRPr lang="en-US"/>
          </a:p>
        </p:txBody>
      </p:sp>
    </p:spTree>
    <p:extLst>
      <p:ext uri="{BB962C8B-B14F-4D97-AF65-F5344CB8AC3E}">
        <p14:creationId xmlns:p14="http://schemas.microsoft.com/office/powerpoint/2010/main" val="3097756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A0E5-B84E-49F4-9CEA-0506F10BF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C13DE3-BD29-4B9A-A7A8-C67E0861E5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5A01C6-96AC-4D98-ACED-59A488014B17}"/>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5" name="Footer Placeholder 4">
            <a:extLst>
              <a:ext uri="{FF2B5EF4-FFF2-40B4-BE49-F238E27FC236}">
                <a16:creationId xmlns:a16="http://schemas.microsoft.com/office/drawing/2014/main" id="{E16BEAB9-D812-46AD-A3D9-C6C885AC3C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647E0-10E9-40F3-A999-C807071B85CE}"/>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419562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12A1-7634-421D-A7C4-AB1B353B45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95EA00-BAA5-4395-A34D-82E4276586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D83156-AE14-4447-B533-82BC78CA831E}"/>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5" name="Footer Placeholder 4">
            <a:extLst>
              <a:ext uri="{FF2B5EF4-FFF2-40B4-BE49-F238E27FC236}">
                <a16:creationId xmlns:a16="http://schemas.microsoft.com/office/drawing/2014/main" id="{C7AD9804-8F61-4422-BC29-0075A2803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2C4AA-F8EC-40BE-9614-2336FEE98109}"/>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1446965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CB591-9BED-4D20-9562-DDE46AFF0E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568552-54ED-462C-A700-40681C10B8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1D2BC6-DC60-4EDC-9F18-94A2C578D741}"/>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5" name="Footer Placeholder 4">
            <a:extLst>
              <a:ext uri="{FF2B5EF4-FFF2-40B4-BE49-F238E27FC236}">
                <a16:creationId xmlns:a16="http://schemas.microsoft.com/office/drawing/2014/main" id="{7FF2F7DA-607C-489B-9B46-6AC56FD7FB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D29F53-2786-49EC-A4E9-D2132967A9B0}"/>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2252784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1495-E2A5-426D-9C24-6F1EA717B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464D8A-5832-48DD-B1D4-103E94E517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508F26-4829-4464-BDD8-D9D2C2FA89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D6A560-5564-4F10-87BA-B7CF92A89035}"/>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6" name="Footer Placeholder 5">
            <a:extLst>
              <a:ext uri="{FF2B5EF4-FFF2-40B4-BE49-F238E27FC236}">
                <a16:creationId xmlns:a16="http://schemas.microsoft.com/office/drawing/2014/main" id="{DD5DA24A-F3F8-46DD-931B-6795880A58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50D8C8-9FEE-4841-A54A-FFCEC25D21C4}"/>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123427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9EB82-B47D-4ED1-A542-7780DC51C2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2F5343-8007-49BC-A734-A4E1AADF03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23DCEC-4150-4367-8B78-AAC6D1EEC2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541E4F-18E6-4BF9-917E-FCE1A80677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67BFC4-C834-4593-95A6-D9C988ADF9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D506CF-0FFC-4653-900D-45F858AEB6D3}"/>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8" name="Footer Placeholder 7">
            <a:extLst>
              <a:ext uri="{FF2B5EF4-FFF2-40B4-BE49-F238E27FC236}">
                <a16:creationId xmlns:a16="http://schemas.microsoft.com/office/drawing/2014/main" id="{F1DEA02D-0C87-43C7-8B9D-C1DC0732EF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4FDE76-7DB7-4513-9D5F-C66D4FA9B0B0}"/>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690527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8CE65-2BE2-4D9C-A114-03EB19F952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C8B79A-3483-497F-87F3-6AD21CB49D6B}"/>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4" name="Footer Placeholder 3">
            <a:extLst>
              <a:ext uri="{FF2B5EF4-FFF2-40B4-BE49-F238E27FC236}">
                <a16:creationId xmlns:a16="http://schemas.microsoft.com/office/drawing/2014/main" id="{7B5C5F7A-88B4-4375-8130-F66A852EE0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8287A5-45C0-47A0-B1FF-6D5655C41D81}"/>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3057900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B09967-2EA7-45D6-8ABD-13D6FA889D16}"/>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3" name="Footer Placeholder 2">
            <a:extLst>
              <a:ext uri="{FF2B5EF4-FFF2-40B4-BE49-F238E27FC236}">
                <a16:creationId xmlns:a16="http://schemas.microsoft.com/office/drawing/2014/main" id="{7EDC369E-D31E-40AC-A211-66663CB5F6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39879F-5392-420E-8402-F516B25E5451}"/>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2783976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1CE1-61AE-4ADF-B367-54B7782534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2E69D4-5F6B-4328-9261-29C42F3C12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EAF867-5B22-4223-A412-333209D62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6EB94-CC7C-4751-AFA2-07A3B316F454}"/>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6" name="Footer Placeholder 5">
            <a:extLst>
              <a:ext uri="{FF2B5EF4-FFF2-40B4-BE49-F238E27FC236}">
                <a16:creationId xmlns:a16="http://schemas.microsoft.com/office/drawing/2014/main" id="{73A22A47-9876-4E8F-AEA3-AB20CB60DA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11B666-AABA-45B4-9431-4CA5C230D305}"/>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253612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B346-C1F0-4033-9AD4-D7B466390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F6A2D0-CC09-4F4E-9BB2-69F60361C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5C0415-563F-40BC-944D-5444D5D39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4BB860-B467-4425-8523-0B5790089EC5}"/>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6" name="Footer Placeholder 5">
            <a:extLst>
              <a:ext uri="{FF2B5EF4-FFF2-40B4-BE49-F238E27FC236}">
                <a16:creationId xmlns:a16="http://schemas.microsoft.com/office/drawing/2014/main" id="{51089EBA-89DF-44B7-8DA4-599B66D11C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277EF6-AC06-45FC-9010-51498486D54E}"/>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22062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EFFCF-FBA8-4F03-97A3-A964798035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E91DAE-1D11-4A15-B028-1ECEFB4254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E5C6-1114-4A59-AB61-858EC1BC8E1C}"/>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5" name="Footer Placeholder 4">
            <a:extLst>
              <a:ext uri="{FF2B5EF4-FFF2-40B4-BE49-F238E27FC236}">
                <a16:creationId xmlns:a16="http://schemas.microsoft.com/office/drawing/2014/main" id="{21EAE370-305F-4973-B6EA-C54CC49ECF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63041C-F356-482B-A447-CC5110E559E9}"/>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3458559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ADB5D9-7498-4D00-9864-F6697CADC6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D71D32-A229-48A3-8F0F-D698A3DBDD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CCEC0D-67D4-46A0-A930-9CA41274CA23}"/>
              </a:ext>
            </a:extLst>
          </p:cNvPr>
          <p:cNvSpPr>
            <a:spLocks noGrp="1"/>
          </p:cNvSpPr>
          <p:nvPr>
            <p:ph type="dt" sz="half" idx="10"/>
          </p:nvPr>
        </p:nvSpPr>
        <p:spPr/>
        <p:txBody>
          <a:bodyPr/>
          <a:lstStyle/>
          <a:p>
            <a:fld id="{9D51ACAB-133E-4092-BB21-7FF10F923D2F}" type="datetimeFigureOut">
              <a:rPr lang="en-US" smtClean="0"/>
              <a:t>3/3/2021</a:t>
            </a:fld>
            <a:endParaRPr lang="en-US"/>
          </a:p>
        </p:txBody>
      </p:sp>
      <p:sp>
        <p:nvSpPr>
          <p:cNvPr id="5" name="Footer Placeholder 4">
            <a:extLst>
              <a:ext uri="{FF2B5EF4-FFF2-40B4-BE49-F238E27FC236}">
                <a16:creationId xmlns:a16="http://schemas.microsoft.com/office/drawing/2014/main" id="{3C667432-864B-44FA-A858-DC0D86922E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BBC31-55BC-463F-BE1F-164CACCEA7AE}"/>
              </a:ext>
            </a:extLst>
          </p:cNvPr>
          <p:cNvSpPr>
            <a:spLocks noGrp="1"/>
          </p:cNvSpPr>
          <p:nvPr>
            <p:ph type="sldNum" sz="quarter" idx="12"/>
          </p:nvPr>
        </p:nvSpPr>
        <p:spPr/>
        <p:txBody>
          <a:bodyPr/>
          <a:lstStyle/>
          <a:p>
            <a:fld id="{68B3DEBF-FABF-4AD8-98B6-3918029125C2}" type="slidenum">
              <a:rPr lang="en-US" smtClean="0"/>
              <a:t>‹#›</a:t>
            </a:fld>
            <a:endParaRPr lang="en-US"/>
          </a:p>
        </p:txBody>
      </p:sp>
    </p:spTree>
    <p:extLst>
      <p:ext uri="{BB962C8B-B14F-4D97-AF65-F5344CB8AC3E}">
        <p14:creationId xmlns:p14="http://schemas.microsoft.com/office/powerpoint/2010/main" val="303879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C6D3D3-98AD-4D50-BB6F-A6BC1E747D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E84D38-86A8-4CDA-A5BE-9EE27258DE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B6737F-B532-4624-9F19-6C3FBCF77F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51ACAB-133E-4092-BB21-7FF10F923D2F}" type="datetimeFigureOut">
              <a:rPr lang="en-US" smtClean="0"/>
              <a:t>3/3/2021</a:t>
            </a:fld>
            <a:endParaRPr lang="en-US"/>
          </a:p>
        </p:txBody>
      </p:sp>
      <p:sp>
        <p:nvSpPr>
          <p:cNvPr id="5" name="Footer Placeholder 4">
            <a:extLst>
              <a:ext uri="{FF2B5EF4-FFF2-40B4-BE49-F238E27FC236}">
                <a16:creationId xmlns:a16="http://schemas.microsoft.com/office/drawing/2014/main" id="{190432BB-9547-43CB-9B56-41A364D941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094F21-ED4B-4837-85FF-6EA576C58A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3DEBF-FABF-4AD8-98B6-3918029125C2}" type="slidenum">
              <a:rPr lang="en-US" smtClean="0"/>
              <a:t>‹#›</a:t>
            </a:fld>
            <a:endParaRPr lang="en-US"/>
          </a:p>
        </p:txBody>
      </p:sp>
    </p:spTree>
    <p:extLst>
      <p:ext uri="{BB962C8B-B14F-4D97-AF65-F5344CB8AC3E}">
        <p14:creationId xmlns:p14="http://schemas.microsoft.com/office/powerpoint/2010/main" val="2832645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Many-to-many relationships I</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p>
          <a:p>
            <a:r>
              <a:rPr lang="en-US" b="1" dirty="0"/>
              <a:t>Management Information Systems</a:t>
            </a:r>
          </a:p>
          <a:p>
            <a:r>
              <a:rPr lang="en-US" sz="2000"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Slide Number Placeholder 2"/>
          <p:cNvSpPr>
            <a:spLocks noGrp="1"/>
          </p:cNvSpPr>
          <p:nvPr>
            <p:ph type="sldNum" sz="quarter" idx="12"/>
          </p:nvPr>
        </p:nvSpPr>
        <p:spPr/>
        <p:txBody>
          <a:bodyPr/>
          <a:lstStyle/>
          <a:p>
            <a:fld id="{87F3E754-1C97-4481-A18C-9D97ADBDF344}" type="slidenum">
              <a:rPr lang="en-US" smtClean="0"/>
              <a:t>2</a:t>
            </a:fld>
            <a:endParaRPr lang="en-US"/>
          </a:p>
        </p:txBody>
      </p:sp>
      <p:sp>
        <p:nvSpPr>
          <p:cNvPr id="4" name="Rectangle 5"/>
          <p:cNvSpPr>
            <a:spLocks noChangeArrowheads="1"/>
          </p:cNvSpPr>
          <p:nvPr/>
        </p:nvSpPr>
        <p:spPr bwMode="auto">
          <a:xfrm>
            <a:off x="1849496" y="1987688"/>
            <a:ext cx="4731414" cy="2786020"/>
          </a:xfrm>
          <a:prstGeom prst="rect">
            <a:avLst/>
          </a:prstGeom>
          <a:noFill/>
          <a:ln w="9525">
            <a:noFill/>
            <a:miter lim="800000"/>
            <a:headEnd/>
            <a:tailEnd/>
          </a:ln>
          <a:effectLst/>
        </p:spPr>
        <p:txBody>
          <a:bodyPr wrap="square" lIns="92075" tIns="46038" rIns="92075" bIns="46038">
            <a:spAutoFit/>
          </a:bodyPr>
          <a:lstStyle/>
          <a:p>
            <a:pPr algn="just"/>
            <a:endParaRPr lang="en-US" sz="2500" dirty="0"/>
          </a:p>
          <a:p>
            <a:pPr marL="342900" indent="-342900" algn="just">
              <a:buFont typeface="Wingdings" panose="05000000000000000000" pitchFamily="2" charset="2"/>
              <a:buChar char="§"/>
            </a:pPr>
            <a:r>
              <a:rPr lang="en-US" sz="2500" b="1" dirty="0"/>
              <a:t>Many-to-Many Relationship Design Exercise</a:t>
            </a:r>
            <a:r>
              <a:rPr lang="en-US" sz="2500" dirty="0"/>
              <a:t>:</a:t>
            </a:r>
          </a:p>
          <a:p>
            <a:pPr marL="800100" lvl="1" indent="-342900" algn="just">
              <a:buFont typeface="Wingdings" panose="05000000000000000000" pitchFamily="2" charset="2"/>
              <a:buChar char="§"/>
            </a:pPr>
            <a:r>
              <a:rPr lang="en-US" sz="2500" dirty="0"/>
              <a:t>The Focus Group</a:t>
            </a:r>
          </a:p>
          <a:p>
            <a:pPr marL="800100" lvl="1" indent="-342900" algn="just">
              <a:buFont typeface="Wingdings" panose="05000000000000000000" pitchFamily="2" charset="2"/>
              <a:buChar char="§"/>
            </a:pPr>
            <a:endParaRPr lang="en-US" sz="2500" dirty="0"/>
          </a:p>
          <a:p>
            <a:pPr lvl="1" algn="just"/>
            <a:endParaRPr lang="en-US" sz="2500" dirty="0"/>
          </a:p>
          <a:p>
            <a:pPr marL="800100" lvl="1" indent="-342900" algn="just">
              <a:buFont typeface="Wingdings" panose="05000000000000000000" pitchFamily="2" charset="2"/>
              <a:buChar char="§"/>
            </a:pPr>
            <a:endParaRPr lang="en-US" sz="2500" dirty="0"/>
          </a:p>
        </p:txBody>
      </p:sp>
      <p:sp>
        <p:nvSpPr>
          <p:cNvPr id="5" name="Content Placeholder 8"/>
          <p:cNvSpPr txBox="1">
            <a:spLocks/>
          </p:cNvSpPr>
          <p:nvPr/>
        </p:nvSpPr>
        <p:spPr>
          <a:xfrm>
            <a:off x="6961909" y="1993392"/>
            <a:ext cx="3163455"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Chapter 7: 139-159 (yes, including the exercises not done in class)</a:t>
            </a:r>
          </a:p>
          <a:p>
            <a:pPr marL="0" indent="0">
              <a:lnSpc>
                <a:spcPct val="100000"/>
              </a:lnSpc>
              <a:buNone/>
            </a:pPr>
            <a:endParaRPr lang="en-US" dirty="0"/>
          </a:p>
        </p:txBody>
      </p:sp>
    </p:spTree>
    <p:extLst>
      <p:ext uri="{BB962C8B-B14F-4D97-AF65-F5344CB8AC3E}">
        <p14:creationId xmlns:p14="http://schemas.microsoft.com/office/powerpoint/2010/main" val="10729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Focus Group</a:t>
            </a:r>
          </a:p>
        </p:txBody>
      </p:sp>
      <p:sp>
        <p:nvSpPr>
          <p:cNvPr id="3" name="Text Placeholder 2"/>
          <p:cNvSpPr>
            <a:spLocks noGrp="1"/>
          </p:cNvSpPr>
          <p:nvPr>
            <p:ph type="body" idx="1"/>
          </p:nvPr>
        </p:nvSpPr>
        <p:spPr/>
        <p:txBody>
          <a:bodyPr/>
          <a:lstStyle/>
          <a:p>
            <a:r>
              <a:rPr lang="en-US" dirty="0"/>
              <a:t>DB Design Exercise</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2228414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1054" y="20502"/>
            <a:ext cx="8079581" cy="1037269"/>
          </a:xfrm>
        </p:spPr>
        <p:txBody>
          <a:bodyPr>
            <a:normAutofit fontScale="90000"/>
          </a:bodyPr>
          <a:lstStyle/>
          <a:p>
            <a:r>
              <a:rPr lang="en-US" dirty="0"/>
              <a:t>Many-to-Many Relationships I</a:t>
            </a:r>
            <a:br>
              <a:rPr lang="en-US" dirty="0"/>
            </a:br>
            <a:r>
              <a:rPr lang="en-US" sz="2700" b="1" dirty="0"/>
              <a:t>The Focus Group</a:t>
            </a:r>
          </a:p>
        </p:txBody>
      </p:sp>
      <p:sp>
        <p:nvSpPr>
          <p:cNvPr id="8" name="Rectangle 5"/>
          <p:cNvSpPr>
            <a:spLocks noChangeArrowheads="1"/>
          </p:cNvSpPr>
          <p:nvPr/>
        </p:nvSpPr>
        <p:spPr bwMode="auto">
          <a:xfrm>
            <a:off x="1691054" y="1225048"/>
            <a:ext cx="8827477" cy="6117701"/>
          </a:xfrm>
          <a:prstGeom prst="rect">
            <a:avLst/>
          </a:prstGeom>
          <a:noFill/>
          <a:ln w="9525">
            <a:noFill/>
            <a:miter lim="800000"/>
            <a:headEnd/>
            <a:tailEnd/>
          </a:ln>
          <a:effectLst/>
        </p:spPr>
        <p:txBody>
          <a:bodyPr wrap="square" lIns="92075" tIns="46038" rIns="92075" bIns="46038">
            <a:spAutoFit/>
          </a:bodyPr>
          <a:lstStyle/>
          <a:p>
            <a:pPr algn="just"/>
            <a:r>
              <a:rPr lang="en-US" sz="2000" dirty="0"/>
              <a:t>Your firm performs marketing research using focus groups, which are composed of volunteer consumers.  We would like to design a database to keep track of these groups and associated information.</a:t>
            </a:r>
          </a:p>
          <a:p>
            <a:pPr algn="just"/>
            <a:endParaRPr lang="en-US" sz="1050" dirty="0"/>
          </a:p>
          <a:p>
            <a:pPr algn="just"/>
            <a:r>
              <a:rPr lang="en-US" sz="2000" dirty="0">
                <a:solidFill>
                  <a:srgbClr val="00B050"/>
                </a:solidFill>
              </a:rPr>
              <a:t>For each consumer volunteer, you would like to store the name, address, phone number, date of birth, gender, marital status, number of children, and approximate annual family income. (Consumer)</a:t>
            </a:r>
          </a:p>
          <a:p>
            <a:pPr algn="just"/>
            <a:endParaRPr lang="en-US" sz="1050" dirty="0">
              <a:solidFill>
                <a:srgbClr val="00B050"/>
              </a:solidFill>
            </a:endParaRPr>
          </a:p>
          <a:p>
            <a:pPr algn="just"/>
            <a:r>
              <a:rPr lang="en-US" sz="2000" dirty="0">
                <a:solidFill>
                  <a:srgbClr val="0070C0"/>
                </a:solidFill>
              </a:rPr>
              <a:t>Each focus group consists of 5-20 consumer volunteers, although there is no strict upper limit on the size of a group.  Consumer volunteers can sometimes be members of more than one group.  In addition to storing which consumers are members of each group, you also want to store each group's name, date formed, and description.(Groups)</a:t>
            </a:r>
          </a:p>
          <a:p>
            <a:pPr algn="just"/>
            <a:endParaRPr lang="en-US" sz="1050" dirty="0">
              <a:solidFill>
                <a:srgbClr val="0070C0"/>
              </a:solidFill>
            </a:endParaRPr>
          </a:p>
          <a:p>
            <a:pPr algn="just"/>
            <a:r>
              <a:rPr lang="en-US" sz="2000" dirty="0">
                <a:solidFill>
                  <a:srgbClr val="C00000"/>
                </a:solidFill>
              </a:rPr>
              <a:t>Each group can have multiple meetings.  For each meeting, you want to store date/time started, date/time ended, and a brief description of the discussion topic.  Each meeting has a single moderator, who is one of your employees and not considered a member of the group.  Different meetings of the same group may have different moderators.  For each employee, you want to store the name, regular and mobile phone numbers, date of birth, date hired, and gender. (Employee)</a:t>
            </a:r>
          </a:p>
        </p:txBody>
      </p:sp>
      <p:sp>
        <p:nvSpPr>
          <p:cNvPr id="3" name="Slide Number Placeholder 2"/>
          <p:cNvSpPr>
            <a:spLocks noGrp="1"/>
          </p:cNvSpPr>
          <p:nvPr>
            <p:ph type="sldNum" sz="quarter" idx="12"/>
          </p:nvPr>
        </p:nvSpPr>
        <p:spPr/>
        <p:txBody>
          <a:bodyPr/>
          <a:lstStyle/>
          <a:p>
            <a:fld id="{87F3E754-1C97-4481-A18C-9D97ADBDF344}" type="slidenum">
              <a:rPr lang="en-US" smtClean="0"/>
              <a:t>4</a:t>
            </a:fld>
            <a:endParaRPr lang="en-US"/>
          </a:p>
        </p:txBody>
      </p:sp>
    </p:spTree>
    <p:extLst>
      <p:ext uri="{BB962C8B-B14F-4D97-AF65-F5344CB8AC3E}">
        <p14:creationId xmlns:p14="http://schemas.microsoft.com/office/powerpoint/2010/main" val="2122074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1852248" y="1606390"/>
            <a:ext cx="8585093" cy="3786294"/>
          </a:xfrm>
          <a:prstGeom prst="rect">
            <a:avLst/>
          </a:prstGeom>
          <a:noFill/>
          <a:ln w="9525">
            <a:noFill/>
            <a:miter lim="800000"/>
            <a:headEnd/>
            <a:tailEnd/>
          </a:ln>
          <a:effectLst/>
        </p:spPr>
        <p:txBody>
          <a:bodyPr wrap="square" lIns="92075" tIns="46038" rIns="92075" bIns="46038">
            <a:spAutoFit/>
          </a:bodyPr>
          <a:lstStyle/>
          <a:p>
            <a:pPr algn="just"/>
            <a:r>
              <a:rPr lang="en-US" sz="2000" dirty="0"/>
              <a:t> Assume that you do have access to a complete zip code table.</a:t>
            </a:r>
          </a:p>
          <a:p>
            <a:pPr algn="just"/>
            <a:endParaRPr lang="en-US" sz="2000" dirty="0"/>
          </a:p>
          <a:p>
            <a:pPr algn="just"/>
            <a:r>
              <a:rPr lang="en-US" sz="2000" dirty="0"/>
              <a:t>Design a database to store all the information described above.  Note that a lot of further data about your employees is stored in your Human Resource department's database, which we will not consider here.  Make sure focus group database stores enough information to be able to answer all of the following queries:</a:t>
            </a:r>
          </a:p>
          <a:p>
            <a:pPr marL="342900" indent="-342900">
              <a:buFont typeface="Wingdings" panose="05000000000000000000" pitchFamily="2" charset="2"/>
              <a:buChar char="§"/>
            </a:pPr>
            <a:r>
              <a:rPr lang="en-US" sz="2000" dirty="0"/>
              <a:t>Who are the members of group </a:t>
            </a:r>
            <a:r>
              <a:rPr lang="en-US" sz="2000" i="1" dirty="0"/>
              <a:t>X</a:t>
            </a:r>
            <a:r>
              <a:rPr lang="en-US" sz="2000" dirty="0"/>
              <a:t>?</a:t>
            </a:r>
          </a:p>
          <a:p>
            <a:pPr marL="342900" indent="-342900">
              <a:buFont typeface="Wingdings" panose="05000000000000000000" pitchFamily="2" charset="2"/>
              <a:buChar char="§"/>
            </a:pPr>
            <a:r>
              <a:rPr lang="en-US" sz="2000" dirty="0"/>
              <a:t>Which groups have consumer </a:t>
            </a:r>
            <a:r>
              <a:rPr lang="en-US" sz="2000" i="1" dirty="0"/>
              <a:t>Y</a:t>
            </a:r>
            <a:r>
              <a:rPr lang="en-US" sz="2000" dirty="0"/>
              <a:t> as a member?</a:t>
            </a:r>
          </a:p>
          <a:p>
            <a:pPr marL="342900" indent="-342900">
              <a:buFont typeface="Wingdings" panose="05000000000000000000" pitchFamily="2" charset="2"/>
              <a:buChar char="§"/>
            </a:pPr>
            <a:r>
              <a:rPr lang="en-US" sz="2000" dirty="0"/>
              <a:t>What are the dates of all meetings moderated by employee </a:t>
            </a:r>
            <a:r>
              <a:rPr lang="en-US" sz="2000" i="1" dirty="0"/>
              <a:t>Z</a:t>
            </a:r>
            <a:r>
              <a:rPr lang="en-US" sz="2000" dirty="0"/>
              <a:t>?</a:t>
            </a:r>
          </a:p>
          <a:p>
            <a:pPr marL="342900" indent="-342900">
              <a:buFont typeface="Wingdings" panose="05000000000000000000" pitchFamily="2" charset="2"/>
              <a:buChar char="§"/>
            </a:pPr>
            <a:r>
              <a:rPr lang="en-US" sz="2000" dirty="0"/>
              <a:t>Which groups have ever had meetings moderated by employee </a:t>
            </a:r>
            <a:r>
              <a:rPr lang="en-US" sz="2000" i="1" dirty="0"/>
              <a:t>W</a:t>
            </a:r>
            <a:r>
              <a:rPr lang="en-US" sz="2000" dirty="0"/>
              <a:t>?</a:t>
            </a:r>
          </a:p>
          <a:p>
            <a:pPr lvl="0"/>
            <a:endParaRPr lang="en-US" sz="2000" dirty="0"/>
          </a:p>
        </p:txBody>
      </p:sp>
      <p:sp>
        <p:nvSpPr>
          <p:cNvPr id="3" name="Slide Number Placeholder 2"/>
          <p:cNvSpPr>
            <a:spLocks noGrp="1"/>
          </p:cNvSpPr>
          <p:nvPr>
            <p:ph type="sldNum" sz="quarter" idx="12"/>
          </p:nvPr>
        </p:nvSpPr>
        <p:spPr/>
        <p:txBody>
          <a:bodyPr/>
          <a:lstStyle/>
          <a:p>
            <a:fld id="{87F3E754-1C97-4481-A18C-9D97ADBDF344}" type="slidenum">
              <a:rPr lang="en-US" smtClean="0"/>
              <a:t>5</a:t>
            </a:fld>
            <a:endParaRPr lang="en-US"/>
          </a:p>
        </p:txBody>
      </p:sp>
      <p:sp>
        <p:nvSpPr>
          <p:cNvPr id="5" name="Title 1"/>
          <p:cNvSpPr txBox="1">
            <a:spLocks/>
          </p:cNvSpPr>
          <p:nvPr/>
        </p:nvSpPr>
        <p:spPr>
          <a:xfrm>
            <a:off x="1852248" y="291916"/>
            <a:ext cx="8585093" cy="10096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dirty="0"/>
              <a:t>Many-to-Many Relationships I (cont.)</a:t>
            </a:r>
            <a:br>
              <a:rPr lang="en-US" dirty="0"/>
            </a:br>
            <a:r>
              <a:rPr lang="en-US" sz="2700" b="1" dirty="0">
                <a:solidFill>
                  <a:schemeClr val="tx1"/>
                </a:solidFill>
              </a:rPr>
              <a:t>The Focus Group</a:t>
            </a:r>
          </a:p>
        </p:txBody>
      </p:sp>
    </p:spTree>
    <p:extLst>
      <p:ext uri="{BB962C8B-B14F-4D97-AF65-F5344CB8AC3E}">
        <p14:creationId xmlns:p14="http://schemas.microsoft.com/office/powerpoint/2010/main" val="3189724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7F3E754-1C97-4481-A18C-9D97ADBDF344}" type="slidenum">
              <a:rPr lang="en-US" smtClean="0"/>
              <a:t>6</a:t>
            </a:fld>
            <a:endParaRPr lang="en-US"/>
          </a:p>
        </p:txBody>
      </p:sp>
      <p:sp>
        <p:nvSpPr>
          <p:cNvPr id="5" name="Title 1"/>
          <p:cNvSpPr txBox="1">
            <a:spLocks/>
          </p:cNvSpPr>
          <p:nvPr/>
        </p:nvSpPr>
        <p:spPr>
          <a:xfrm>
            <a:off x="1852248" y="291916"/>
            <a:ext cx="8585093" cy="10096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dirty="0"/>
              <a:t>Many-to-Many Relationships I (cont.)</a:t>
            </a:r>
            <a:br>
              <a:rPr lang="en-US" dirty="0"/>
            </a:br>
            <a:r>
              <a:rPr lang="en-US" sz="2700" b="1" dirty="0">
                <a:solidFill>
                  <a:schemeClr val="tx1"/>
                </a:solidFill>
              </a:rPr>
              <a:t>The Focus Group</a:t>
            </a:r>
          </a:p>
        </p:txBody>
      </p:sp>
      <p:graphicFrame>
        <p:nvGraphicFramePr>
          <p:cNvPr id="2" name="Table 1"/>
          <p:cNvGraphicFramePr>
            <a:graphicFrameLocks noGrp="1"/>
          </p:cNvGraphicFramePr>
          <p:nvPr/>
        </p:nvGraphicFramePr>
        <p:xfrm>
          <a:off x="1830646" y="2440473"/>
          <a:ext cx="4500605" cy="2499360"/>
        </p:xfrm>
        <a:graphic>
          <a:graphicData uri="http://schemas.openxmlformats.org/drawingml/2006/table">
            <a:tbl>
              <a:tblPr firstRow="1" bandRow="1">
                <a:tableStyleId>{5C22544A-7EE6-4342-B048-85BDC9FD1C3A}</a:tableStyleId>
              </a:tblPr>
              <a:tblGrid>
                <a:gridCol w="1450157">
                  <a:extLst>
                    <a:ext uri="{9D8B030D-6E8A-4147-A177-3AD203B41FA5}">
                      <a16:colId xmlns:a16="http://schemas.microsoft.com/office/drawing/2014/main" val="20000"/>
                    </a:ext>
                  </a:extLst>
                </a:gridCol>
                <a:gridCol w="860445">
                  <a:extLst>
                    <a:ext uri="{9D8B030D-6E8A-4147-A177-3AD203B41FA5}">
                      <a16:colId xmlns:a16="http://schemas.microsoft.com/office/drawing/2014/main" val="20001"/>
                    </a:ext>
                  </a:extLst>
                </a:gridCol>
                <a:gridCol w="600807">
                  <a:extLst>
                    <a:ext uri="{9D8B030D-6E8A-4147-A177-3AD203B41FA5}">
                      <a16:colId xmlns:a16="http://schemas.microsoft.com/office/drawing/2014/main" val="20002"/>
                    </a:ext>
                  </a:extLst>
                </a:gridCol>
                <a:gridCol w="1589196">
                  <a:extLst>
                    <a:ext uri="{9D8B030D-6E8A-4147-A177-3AD203B41FA5}">
                      <a16:colId xmlns:a16="http://schemas.microsoft.com/office/drawing/2014/main" val="20003"/>
                    </a:ext>
                  </a:extLst>
                </a:gridCol>
              </a:tblGrid>
              <a:tr h="304176">
                <a:tc gridSpan="4">
                  <a:txBody>
                    <a:bodyPr/>
                    <a:lstStyle/>
                    <a:p>
                      <a:pPr algn="ctr"/>
                      <a:r>
                        <a:rPr lang="en-US" sz="1600" b="1" u="none" dirty="0"/>
                        <a:t>CONSUMER</a:t>
                      </a:r>
                    </a:p>
                  </a:txBody>
                  <a:tcPr/>
                </a:tc>
                <a:tc hMerge="1">
                  <a:txBody>
                    <a:bodyPr/>
                    <a:lstStyle/>
                    <a:p>
                      <a:endParaRPr lang="en-US" sz="1600" b="1" dirty="0"/>
                    </a:p>
                  </a:txBody>
                  <a:tcPr/>
                </a:tc>
                <a:tc hMerge="1">
                  <a:txBody>
                    <a:bodyPr/>
                    <a:lstStyle/>
                    <a:p>
                      <a:pPr algn="ctr"/>
                      <a:endParaRPr lang="en-US" sz="1600" b="1" dirty="0"/>
                    </a:p>
                  </a:txBody>
                  <a:tcPr/>
                </a:tc>
                <a:tc hMerge="1">
                  <a:txBody>
                    <a:bodyPr/>
                    <a:lstStyle/>
                    <a:p>
                      <a:pPr algn="ctr"/>
                      <a:endParaRPr lang="en-US" sz="1600" b="1" dirty="0"/>
                    </a:p>
                  </a:txBody>
                  <a:tcPr/>
                </a:tc>
                <a:extLst>
                  <a:ext uri="{0D108BD9-81ED-4DB2-BD59-A6C34878D82A}">
                    <a16:rowId xmlns:a16="http://schemas.microsoft.com/office/drawing/2014/main" val="10000"/>
                  </a:ext>
                </a:extLst>
              </a:tr>
              <a:tr h="304176">
                <a:tc>
                  <a:txBody>
                    <a:bodyPr/>
                    <a:lstStyle/>
                    <a:p>
                      <a:r>
                        <a:rPr lang="en-US" sz="1600" b="1" u="sng" dirty="0" err="1"/>
                        <a:t>Consumer</a:t>
                      </a:r>
                      <a:r>
                        <a:rPr lang="en-US" sz="1600" b="1" u="sng" baseline="0" dirty="0" err="1"/>
                        <a:t>ID</a:t>
                      </a:r>
                      <a:endParaRPr lang="en-US" sz="1600" b="1" u="sng" dirty="0"/>
                    </a:p>
                  </a:txBody>
                  <a:tcPr>
                    <a:solidFill>
                      <a:schemeClr val="accent1"/>
                    </a:solidFill>
                  </a:tcPr>
                </a:tc>
                <a:tc>
                  <a:txBody>
                    <a:bodyPr/>
                    <a:lstStyle/>
                    <a:p>
                      <a:r>
                        <a:rPr lang="en-US" sz="1600" b="1" dirty="0" err="1"/>
                        <a:t>FName</a:t>
                      </a:r>
                      <a:endParaRPr lang="en-US" sz="1600" b="1" dirty="0"/>
                    </a:p>
                  </a:txBody>
                  <a:tcPr>
                    <a:solidFill>
                      <a:schemeClr val="accent1"/>
                    </a:solidFill>
                  </a:tcPr>
                </a:tc>
                <a:tc>
                  <a:txBody>
                    <a:bodyPr/>
                    <a:lstStyle/>
                    <a:p>
                      <a:pPr algn="ctr"/>
                      <a:r>
                        <a:rPr lang="en-US" sz="1600" b="1" dirty="0"/>
                        <a:t>.....</a:t>
                      </a:r>
                    </a:p>
                  </a:txBody>
                  <a:tcPr>
                    <a:solidFill>
                      <a:schemeClr val="accent1"/>
                    </a:solidFill>
                  </a:tcPr>
                </a:tc>
                <a:tc>
                  <a:txBody>
                    <a:bodyPr/>
                    <a:lstStyle/>
                    <a:p>
                      <a:pPr algn="ctr"/>
                      <a:r>
                        <a:rPr lang="en-US" sz="1600" b="1" dirty="0"/>
                        <a:t>Groups</a:t>
                      </a:r>
                    </a:p>
                  </a:txBody>
                  <a:tcPr>
                    <a:solidFill>
                      <a:schemeClr val="accent1"/>
                    </a:solidFill>
                  </a:tcPr>
                </a:tc>
                <a:extLst>
                  <a:ext uri="{0D108BD9-81ED-4DB2-BD59-A6C34878D82A}">
                    <a16:rowId xmlns:a16="http://schemas.microsoft.com/office/drawing/2014/main" val="10001"/>
                  </a:ext>
                </a:extLst>
              </a:tr>
              <a:tr h="304176">
                <a:tc>
                  <a:txBody>
                    <a:bodyPr/>
                    <a:lstStyle/>
                    <a:p>
                      <a:r>
                        <a:rPr lang="en-US" dirty="0"/>
                        <a:t>1</a:t>
                      </a:r>
                    </a:p>
                  </a:txBody>
                  <a:tcPr/>
                </a:tc>
                <a:tc>
                  <a:txBody>
                    <a:bodyPr/>
                    <a:lstStyle/>
                    <a:p>
                      <a:r>
                        <a:rPr lang="en-US" sz="1600" b="0" dirty="0"/>
                        <a:t>Maria</a:t>
                      </a:r>
                    </a:p>
                  </a:txBody>
                  <a:tcPr/>
                </a:tc>
                <a:tc>
                  <a:txBody>
                    <a:bodyPr/>
                    <a:lstStyle/>
                    <a:p>
                      <a:pPr algn="ctr"/>
                      <a:r>
                        <a:rPr lang="en-US" sz="1600" b="0" dirty="0"/>
                        <a:t>…..</a:t>
                      </a:r>
                    </a:p>
                  </a:txBody>
                  <a:tcPr/>
                </a:tc>
                <a:tc>
                  <a:txBody>
                    <a:bodyPr/>
                    <a:lstStyle/>
                    <a:p>
                      <a:pPr algn="ctr"/>
                      <a:r>
                        <a:rPr lang="en-US" sz="1600" b="0" dirty="0"/>
                        <a:t>G12, G26</a:t>
                      </a:r>
                    </a:p>
                  </a:txBody>
                  <a:tcPr/>
                </a:tc>
                <a:extLst>
                  <a:ext uri="{0D108BD9-81ED-4DB2-BD59-A6C34878D82A}">
                    <a16:rowId xmlns:a16="http://schemas.microsoft.com/office/drawing/2014/main" val="10002"/>
                  </a:ext>
                </a:extLst>
              </a:tr>
              <a:tr h="304176">
                <a:tc>
                  <a:txBody>
                    <a:bodyPr/>
                    <a:lstStyle/>
                    <a:p>
                      <a:r>
                        <a:rPr lang="en-US" dirty="0"/>
                        <a:t>2</a:t>
                      </a:r>
                    </a:p>
                  </a:txBody>
                  <a:tcPr/>
                </a:tc>
                <a:tc>
                  <a:txBody>
                    <a:bodyPr/>
                    <a:lstStyle/>
                    <a:p>
                      <a:r>
                        <a:rPr lang="en-US" sz="1600" b="0" dirty="0"/>
                        <a:t>John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G12</a:t>
                      </a:r>
                    </a:p>
                  </a:txBody>
                  <a:tcPr/>
                </a:tc>
                <a:extLst>
                  <a:ext uri="{0D108BD9-81ED-4DB2-BD59-A6C34878D82A}">
                    <a16:rowId xmlns:a16="http://schemas.microsoft.com/office/drawing/2014/main" val="10003"/>
                  </a:ext>
                </a:extLst>
              </a:tr>
              <a:tr h="304176">
                <a:tc>
                  <a:txBody>
                    <a:bodyPr/>
                    <a:lstStyle/>
                    <a:p>
                      <a:r>
                        <a:rPr lang="en-US" dirty="0"/>
                        <a:t>3</a:t>
                      </a:r>
                    </a:p>
                  </a:txBody>
                  <a:tcPr/>
                </a:tc>
                <a:tc>
                  <a:txBody>
                    <a:bodyPr/>
                    <a:lstStyle/>
                    <a:p>
                      <a:r>
                        <a:rPr lang="en-US" sz="1600" b="0" dirty="0"/>
                        <a:t>Kevin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G29</a:t>
                      </a:r>
                    </a:p>
                  </a:txBody>
                  <a:tcPr/>
                </a:tc>
                <a:extLst>
                  <a:ext uri="{0D108BD9-81ED-4DB2-BD59-A6C34878D82A}">
                    <a16:rowId xmlns:a16="http://schemas.microsoft.com/office/drawing/2014/main" val="10004"/>
                  </a:ext>
                </a:extLst>
              </a:tr>
              <a:tr h="304176">
                <a:tc>
                  <a:txBody>
                    <a:bodyPr/>
                    <a:lstStyle/>
                    <a:p>
                      <a:r>
                        <a:rPr lang="en-US" dirty="0"/>
                        <a:t>4</a:t>
                      </a:r>
                    </a:p>
                  </a:txBody>
                  <a:tcPr/>
                </a:tc>
                <a:tc>
                  <a:txBody>
                    <a:bodyPr/>
                    <a:lstStyle/>
                    <a:p>
                      <a:r>
                        <a:rPr lang="en-US" sz="1600" b="0" dirty="0"/>
                        <a:t>Joanna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G12, G26, G29</a:t>
                      </a:r>
                    </a:p>
                  </a:txBody>
                  <a:tcPr/>
                </a:tc>
                <a:extLst>
                  <a:ext uri="{0D108BD9-81ED-4DB2-BD59-A6C34878D82A}">
                    <a16:rowId xmlns:a16="http://schemas.microsoft.com/office/drawing/2014/main" val="10005"/>
                  </a:ext>
                </a:extLst>
              </a:tr>
              <a:tr h="304176">
                <a:tc>
                  <a:txBody>
                    <a:bodyPr/>
                    <a:lstStyle/>
                    <a:p>
                      <a:r>
                        <a:rPr lang="en-US" dirty="0"/>
                        <a:t>5</a:t>
                      </a:r>
                    </a:p>
                  </a:txBody>
                  <a:tcPr/>
                </a:tc>
                <a:tc>
                  <a:txBody>
                    <a:bodyPr/>
                    <a:lstStyle/>
                    <a:p>
                      <a:r>
                        <a:rPr lang="en-US" sz="1600" b="0" dirty="0"/>
                        <a:t>Anna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G29</a:t>
                      </a:r>
                    </a:p>
                  </a:txBody>
                  <a:tcPr/>
                </a:tc>
                <a:extLst>
                  <a:ext uri="{0D108BD9-81ED-4DB2-BD59-A6C34878D82A}">
                    <a16:rowId xmlns:a16="http://schemas.microsoft.com/office/drawing/2014/main" val="10006"/>
                  </a:ext>
                </a:extLst>
              </a:tr>
            </a:tbl>
          </a:graphicData>
        </a:graphic>
      </p:graphicFrame>
      <p:graphicFrame>
        <p:nvGraphicFramePr>
          <p:cNvPr id="4" name="Table 3"/>
          <p:cNvGraphicFramePr>
            <a:graphicFrameLocks noGrp="1"/>
          </p:cNvGraphicFramePr>
          <p:nvPr/>
        </p:nvGraphicFramePr>
        <p:xfrm>
          <a:off x="6795644" y="2124362"/>
          <a:ext cx="3320710" cy="3494116"/>
        </p:xfrm>
        <a:graphic>
          <a:graphicData uri="http://schemas.openxmlformats.org/drawingml/2006/table">
            <a:tbl>
              <a:tblPr firstRow="1" bandRow="1">
                <a:tableStyleId>{5C22544A-7EE6-4342-B048-85BDC9FD1C3A}</a:tableStyleId>
              </a:tblPr>
              <a:tblGrid>
                <a:gridCol w="995581">
                  <a:extLst>
                    <a:ext uri="{9D8B030D-6E8A-4147-A177-3AD203B41FA5}">
                      <a16:colId xmlns:a16="http://schemas.microsoft.com/office/drawing/2014/main" val="20000"/>
                    </a:ext>
                  </a:extLst>
                </a:gridCol>
                <a:gridCol w="1826139">
                  <a:extLst>
                    <a:ext uri="{9D8B030D-6E8A-4147-A177-3AD203B41FA5}">
                      <a16:colId xmlns:a16="http://schemas.microsoft.com/office/drawing/2014/main" val="20001"/>
                    </a:ext>
                  </a:extLst>
                </a:gridCol>
                <a:gridCol w="498990">
                  <a:extLst>
                    <a:ext uri="{9D8B030D-6E8A-4147-A177-3AD203B41FA5}">
                      <a16:colId xmlns:a16="http://schemas.microsoft.com/office/drawing/2014/main" val="20002"/>
                    </a:ext>
                  </a:extLst>
                </a:gridCol>
              </a:tblGrid>
              <a:tr h="346264">
                <a:tc gridSpan="3">
                  <a:txBody>
                    <a:bodyPr/>
                    <a:lstStyle/>
                    <a:p>
                      <a:pPr algn="ctr"/>
                      <a:r>
                        <a:rPr lang="en-US" sz="1600" u="none" dirty="0"/>
                        <a:t>GROUPS</a:t>
                      </a:r>
                    </a:p>
                  </a:txBody>
                  <a:tcPr/>
                </a:tc>
                <a:tc hMerge="1">
                  <a:txBody>
                    <a:bodyPr/>
                    <a:lstStyle/>
                    <a:p>
                      <a:endParaRPr lang="en-US" sz="1600" dirty="0"/>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0" dirty="0"/>
                    </a:p>
                  </a:txBody>
                  <a:tcPr/>
                </a:tc>
                <a:extLst>
                  <a:ext uri="{0D108BD9-81ED-4DB2-BD59-A6C34878D82A}">
                    <a16:rowId xmlns:a16="http://schemas.microsoft.com/office/drawing/2014/main" val="10000"/>
                  </a:ext>
                </a:extLst>
              </a:tr>
              <a:tr h="346264">
                <a:tc>
                  <a:txBody>
                    <a:bodyPr/>
                    <a:lstStyle/>
                    <a:p>
                      <a:r>
                        <a:rPr lang="en-US" sz="1600" b="1" u="sng" dirty="0" err="1">
                          <a:solidFill>
                            <a:schemeClr val="tx1"/>
                          </a:solidFill>
                        </a:rPr>
                        <a:t>GroupID</a:t>
                      </a:r>
                      <a:endParaRPr lang="en-US" sz="1600" b="1" u="sng" dirty="0">
                        <a:solidFill>
                          <a:schemeClr val="tx1"/>
                        </a:solidFill>
                      </a:endParaRPr>
                    </a:p>
                  </a:txBody>
                  <a:tcPr>
                    <a:solidFill>
                      <a:schemeClr val="accent1"/>
                    </a:solidFill>
                  </a:tcPr>
                </a:tc>
                <a:tc>
                  <a:txBody>
                    <a:bodyPr/>
                    <a:lstStyle/>
                    <a:p>
                      <a:r>
                        <a:rPr lang="en-US" sz="1600" b="1" dirty="0" err="1">
                          <a:solidFill>
                            <a:schemeClr val="tx1"/>
                          </a:solidFill>
                        </a:rPr>
                        <a:t>GroupName</a:t>
                      </a:r>
                      <a:endParaRPr lang="en-US" sz="1600" b="1" dirty="0">
                        <a:solidFill>
                          <a:schemeClr val="tx1"/>
                        </a:solidFill>
                      </a:endParaRPr>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solidFill>
                      <a:schemeClr val="accent1"/>
                    </a:solidFill>
                  </a:tcPr>
                </a:tc>
                <a:extLst>
                  <a:ext uri="{0D108BD9-81ED-4DB2-BD59-A6C34878D82A}">
                    <a16:rowId xmlns:a16="http://schemas.microsoft.com/office/drawing/2014/main" val="10001"/>
                  </a:ext>
                </a:extLst>
              </a:tr>
              <a:tr h="849920">
                <a:tc>
                  <a:txBody>
                    <a:bodyPr/>
                    <a:lstStyle/>
                    <a:p>
                      <a:r>
                        <a:rPr lang="en-US" sz="1600" dirty="0"/>
                        <a:t>G12</a:t>
                      </a:r>
                    </a:p>
                  </a:txBody>
                  <a:tcPr/>
                </a:tc>
                <a:tc>
                  <a:txBody>
                    <a:bodyPr/>
                    <a:lstStyle/>
                    <a:p>
                      <a:r>
                        <a:rPr lang="en-US" sz="1600" dirty="0"/>
                        <a:t>Filtering valuable content from social networks</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2"/>
                  </a:ext>
                </a:extLst>
              </a:tr>
              <a:tr h="849920">
                <a:tc>
                  <a:txBody>
                    <a:bodyPr/>
                    <a:lstStyle/>
                    <a:p>
                      <a:r>
                        <a:rPr lang="en-US" sz="1600" dirty="0"/>
                        <a:t>G26</a:t>
                      </a:r>
                    </a:p>
                  </a:txBody>
                  <a:tcPr/>
                </a:tc>
                <a:tc>
                  <a:txBody>
                    <a:bodyPr/>
                    <a:lstStyle/>
                    <a:p>
                      <a:r>
                        <a:rPr lang="en-US" sz="1600" dirty="0"/>
                        <a:t>Impact of campaigns</a:t>
                      </a:r>
                      <a:r>
                        <a:rPr lang="en-US" sz="1600" baseline="0" dirty="0"/>
                        <a:t> made by hotel brands</a:t>
                      </a:r>
                      <a:endParaRPr 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3"/>
                  </a:ext>
                </a:extLst>
              </a:tr>
              <a:tr h="1101748">
                <a:tc>
                  <a:txBody>
                    <a:bodyPr/>
                    <a:lstStyle/>
                    <a:p>
                      <a:r>
                        <a:rPr lang="en-US" sz="1600" dirty="0"/>
                        <a:t>G29</a:t>
                      </a:r>
                    </a:p>
                  </a:txBody>
                  <a:tcPr/>
                </a:tc>
                <a:tc>
                  <a:txBody>
                    <a:bodyPr/>
                    <a:lstStyle/>
                    <a:p>
                      <a:r>
                        <a:rPr lang="en-US" sz="1600" dirty="0"/>
                        <a:t>Improving brand reputation of a new real estate agency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4"/>
                  </a:ext>
                </a:extLst>
              </a:tr>
            </a:tbl>
          </a:graphicData>
        </a:graphic>
      </p:graphicFrame>
      <p:sp>
        <p:nvSpPr>
          <p:cNvPr id="16" name="TextBox 15"/>
          <p:cNvSpPr txBox="1"/>
          <p:nvPr/>
        </p:nvSpPr>
        <p:spPr>
          <a:xfrm>
            <a:off x="2441252" y="1393941"/>
            <a:ext cx="7407083" cy="400110"/>
          </a:xfrm>
          <a:prstGeom prst="rect">
            <a:avLst/>
          </a:prstGeom>
          <a:noFill/>
        </p:spPr>
        <p:txBody>
          <a:bodyPr wrap="square" rtlCol="0">
            <a:spAutoFit/>
          </a:bodyPr>
          <a:lstStyle/>
          <a:p>
            <a:r>
              <a:rPr lang="en-US" sz="2000" dirty="0"/>
              <a:t>What is the relationship between CONSUMER and GROUPS?</a:t>
            </a:r>
          </a:p>
        </p:txBody>
      </p:sp>
    </p:spTree>
    <p:extLst>
      <p:ext uri="{BB962C8B-B14F-4D97-AF65-F5344CB8AC3E}">
        <p14:creationId xmlns:p14="http://schemas.microsoft.com/office/powerpoint/2010/main" val="1142271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7F3E754-1C97-4481-A18C-9D97ADBDF344}" type="slidenum">
              <a:rPr lang="en-US" smtClean="0"/>
              <a:t>7</a:t>
            </a:fld>
            <a:endParaRPr lang="en-US"/>
          </a:p>
        </p:txBody>
      </p:sp>
      <p:sp>
        <p:nvSpPr>
          <p:cNvPr id="5" name="Title 1"/>
          <p:cNvSpPr txBox="1">
            <a:spLocks/>
          </p:cNvSpPr>
          <p:nvPr/>
        </p:nvSpPr>
        <p:spPr>
          <a:xfrm>
            <a:off x="1852248" y="291916"/>
            <a:ext cx="8585093" cy="10096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dirty="0"/>
              <a:t>Many-to-Many Relationships I (cont.)</a:t>
            </a:r>
            <a:br>
              <a:rPr lang="en-US" dirty="0"/>
            </a:br>
            <a:r>
              <a:rPr lang="en-US" sz="2700" b="1" dirty="0">
                <a:solidFill>
                  <a:schemeClr val="tx1"/>
                </a:solidFill>
              </a:rPr>
              <a:t>The Focus Group</a:t>
            </a:r>
          </a:p>
        </p:txBody>
      </p:sp>
      <p:graphicFrame>
        <p:nvGraphicFramePr>
          <p:cNvPr id="8" name="Table 7"/>
          <p:cNvGraphicFramePr>
            <a:graphicFrameLocks noGrp="1"/>
          </p:cNvGraphicFramePr>
          <p:nvPr>
            <p:extLst>
              <p:ext uri="{D42A27DB-BD31-4B8C-83A1-F6EECF244321}">
                <p14:modId xmlns:p14="http://schemas.microsoft.com/office/powerpoint/2010/main" val="1596733568"/>
              </p:ext>
            </p:extLst>
          </p:nvPr>
        </p:nvGraphicFramePr>
        <p:xfrm>
          <a:off x="7589395" y="1841400"/>
          <a:ext cx="2639404" cy="3972560"/>
        </p:xfrm>
        <a:graphic>
          <a:graphicData uri="http://schemas.openxmlformats.org/drawingml/2006/table">
            <a:tbl>
              <a:tblPr firstRow="1" bandRow="1">
                <a:tableStyleId>{5C22544A-7EE6-4342-B048-85BDC9FD1C3A}</a:tableStyleId>
              </a:tblPr>
              <a:tblGrid>
                <a:gridCol w="1319702">
                  <a:extLst>
                    <a:ext uri="{9D8B030D-6E8A-4147-A177-3AD203B41FA5}">
                      <a16:colId xmlns:a16="http://schemas.microsoft.com/office/drawing/2014/main" val="20000"/>
                    </a:ext>
                  </a:extLst>
                </a:gridCol>
                <a:gridCol w="1319702">
                  <a:extLst>
                    <a:ext uri="{9D8B030D-6E8A-4147-A177-3AD203B41FA5}">
                      <a16:colId xmlns:a16="http://schemas.microsoft.com/office/drawing/2014/main" val="20001"/>
                    </a:ext>
                  </a:extLst>
                </a:gridCol>
              </a:tblGrid>
              <a:tr h="370840">
                <a:tc gridSpan="2">
                  <a:txBody>
                    <a:bodyPr/>
                    <a:lstStyle/>
                    <a:p>
                      <a:pPr algn="ctr"/>
                      <a:r>
                        <a:rPr lang="en-US" u="none" dirty="0"/>
                        <a:t>ENROLL</a:t>
                      </a:r>
                    </a:p>
                  </a:txBody>
                  <a:tcPr/>
                </a:tc>
                <a:tc hMerge="1">
                  <a:txBody>
                    <a:bodyPr/>
                    <a:lstStyle/>
                    <a:p>
                      <a:endParaRPr lang="en-US" u="sng" dirty="0"/>
                    </a:p>
                  </a:txBody>
                  <a:tcPr/>
                </a:tc>
                <a:extLst>
                  <a:ext uri="{0D108BD9-81ED-4DB2-BD59-A6C34878D82A}">
                    <a16:rowId xmlns:a16="http://schemas.microsoft.com/office/drawing/2014/main" val="10000"/>
                  </a:ext>
                </a:extLst>
              </a:tr>
              <a:tr h="370840">
                <a:tc>
                  <a:txBody>
                    <a:bodyPr/>
                    <a:lstStyle/>
                    <a:p>
                      <a:r>
                        <a:rPr lang="en-US" b="1" u="sng" dirty="0" err="1">
                          <a:solidFill>
                            <a:schemeClr val="tx1"/>
                          </a:solidFill>
                        </a:rPr>
                        <a:t>GroupID</a:t>
                      </a:r>
                      <a:endParaRPr lang="en-US" b="1" u="sng" dirty="0">
                        <a:solidFill>
                          <a:schemeClr val="tx1"/>
                        </a:solidFill>
                      </a:endParaRPr>
                    </a:p>
                  </a:txBody>
                  <a:tcPr>
                    <a:solidFill>
                      <a:schemeClr val="accent1"/>
                    </a:solidFill>
                  </a:tcPr>
                </a:tc>
                <a:tc>
                  <a:txBody>
                    <a:bodyPr/>
                    <a:lstStyle/>
                    <a:p>
                      <a:r>
                        <a:rPr lang="en-US" b="1" u="sng" dirty="0" err="1">
                          <a:solidFill>
                            <a:schemeClr val="tx1"/>
                          </a:solidFill>
                        </a:rPr>
                        <a:t>ConsumerID</a:t>
                      </a:r>
                      <a:endParaRPr lang="en-US" b="1" u="sng" dirty="0">
                        <a:solidFill>
                          <a:schemeClr val="tx1"/>
                        </a:solidFill>
                      </a:endParaRPr>
                    </a:p>
                  </a:txBody>
                  <a:tcPr>
                    <a:solidFill>
                      <a:schemeClr val="accent1"/>
                    </a:solidFill>
                  </a:tcPr>
                </a:tc>
                <a:extLst>
                  <a:ext uri="{0D108BD9-81ED-4DB2-BD59-A6C34878D82A}">
                    <a16:rowId xmlns:a16="http://schemas.microsoft.com/office/drawing/2014/main" val="10001"/>
                  </a:ext>
                </a:extLst>
              </a:tr>
              <a:tr h="370840">
                <a:tc>
                  <a:txBody>
                    <a:bodyPr/>
                    <a:lstStyle/>
                    <a:p>
                      <a:r>
                        <a:rPr lang="en-US" dirty="0"/>
                        <a:t>G12</a:t>
                      </a:r>
                    </a:p>
                  </a:txBody>
                  <a:tcPr/>
                </a:tc>
                <a:tc>
                  <a:txBody>
                    <a:bodyPr/>
                    <a:lstStyle/>
                    <a:p>
                      <a:r>
                        <a:rPr lang="en-US" dirty="0"/>
                        <a:t>1</a:t>
                      </a:r>
                    </a:p>
                  </a:txBody>
                  <a:tcPr/>
                </a:tc>
                <a:extLst>
                  <a:ext uri="{0D108BD9-81ED-4DB2-BD59-A6C34878D82A}">
                    <a16:rowId xmlns:a16="http://schemas.microsoft.com/office/drawing/2014/main" val="10002"/>
                  </a:ext>
                </a:extLst>
              </a:tr>
              <a:tr h="370840">
                <a:tc>
                  <a:txBody>
                    <a:bodyPr/>
                    <a:lstStyle/>
                    <a:p>
                      <a:r>
                        <a:rPr lang="en-US" dirty="0"/>
                        <a:t>G26</a:t>
                      </a:r>
                    </a:p>
                  </a:txBody>
                  <a:tcPr/>
                </a:tc>
                <a:tc>
                  <a:txBody>
                    <a:bodyPr/>
                    <a:lstStyle/>
                    <a:p>
                      <a:r>
                        <a:rPr lang="en-US" dirty="0"/>
                        <a:t>1</a:t>
                      </a:r>
                    </a:p>
                  </a:txBody>
                  <a:tcPr/>
                </a:tc>
                <a:extLst>
                  <a:ext uri="{0D108BD9-81ED-4DB2-BD59-A6C34878D82A}">
                    <a16:rowId xmlns:a16="http://schemas.microsoft.com/office/drawing/2014/main" val="10003"/>
                  </a:ext>
                </a:extLst>
              </a:tr>
              <a:tr h="370840">
                <a:tc>
                  <a:txBody>
                    <a:bodyPr/>
                    <a:lstStyle/>
                    <a:p>
                      <a:r>
                        <a:rPr lang="en-US" dirty="0"/>
                        <a:t>G12</a:t>
                      </a:r>
                    </a:p>
                  </a:txBody>
                  <a:tcPr/>
                </a:tc>
                <a:tc>
                  <a:txBody>
                    <a:bodyPr/>
                    <a:lstStyle/>
                    <a:p>
                      <a:r>
                        <a:rPr lang="en-US" dirty="0"/>
                        <a:t>2</a:t>
                      </a:r>
                    </a:p>
                  </a:txBody>
                  <a:tcPr/>
                </a:tc>
                <a:extLst>
                  <a:ext uri="{0D108BD9-81ED-4DB2-BD59-A6C34878D82A}">
                    <a16:rowId xmlns:a16="http://schemas.microsoft.com/office/drawing/2014/main" val="10004"/>
                  </a:ext>
                </a:extLst>
              </a:tr>
              <a:tr h="370840">
                <a:tc>
                  <a:txBody>
                    <a:bodyPr/>
                    <a:lstStyle/>
                    <a:p>
                      <a:r>
                        <a:rPr lang="en-US" dirty="0"/>
                        <a:t>G29</a:t>
                      </a:r>
                    </a:p>
                  </a:txBody>
                  <a:tcPr/>
                </a:tc>
                <a:tc>
                  <a:txBody>
                    <a:bodyPr/>
                    <a:lstStyle/>
                    <a:p>
                      <a:r>
                        <a:rPr lang="en-US" dirty="0"/>
                        <a:t>3</a:t>
                      </a:r>
                    </a:p>
                  </a:txBody>
                  <a:tcPr/>
                </a:tc>
                <a:extLst>
                  <a:ext uri="{0D108BD9-81ED-4DB2-BD59-A6C34878D82A}">
                    <a16:rowId xmlns:a16="http://schemas.microsoft.com/office/drawing/2014/main" val="10005"/>
                  </a:ext>
                </a:extLst>
              </a:tr>
              <a:tr h="370840">
                <a:tc>
                  <a:txBody>
                    <a:bodyPr/>
                    <a:lstStyle/>
                    <a:p>
                      <a:r>
                        <a:rPr lang="en-US" dirty="0"/>
                        <a:t>G12</a:t>
                      </a:r>
                    </a:p>
                  </a:txBody>
                  <a:tcPr/>
                </a:tc>
                <a:tc>
                  <a:txBody>
                    <a:bodyPr/>
                    <a:lstStyle/>
                    <a:p>
                      <a:r>
                        <a:rPr lang="en-US" dirty="0"/>
                        <a:t>4</a:t>
                      </a:r>
                    </a:p>
                  </a:txBody>
                  <a:tcPr/>
                </a:tc>
                <a:extLst>
                  <a:ext uri="{0D108BD9-81ED-4DB2-BD59-A6C34878D82A}">
                    <a16:rowId xmlns:a16="http://schemas.microsoft.com/office/drawing/2014/main" val="10006"/>
                  </a:ext>
                </a:extLst>
              </a:tr>
              <a:tr h="268152">
                <a:tc>
                  <a:txBody>
                    <a:bodyPr/>
                    <a:lstStyle/>
                    <a:p>
                      <a:r>
                        <a:rPr lang="en-US" dirty="0"/>
                        <a:t>G26</a:t>
                      </a:r>
                    </a:p>
                  </a:txBody>
                  <a:tcPr/>
                </a:tc>
                <a:tc>
                  <a:txBody>
                    <a:bodyPr/>
                    <a:lstStyle/>
                    <a:p>
                      <a:r>
                        <a:rPr lang="en-US" dirty="0"/>
                        <a:t>4</a:t>
                      </a:r>
                    </a:p>
                  </a:txBody>
                  <a:tcPr/>
                </a:tc>
                <a:extLst>
                  <a:ext uri="{0D108BD9-81ED-4DB2-BD59-A6C34878D82A}">
                    <a16:rowId xmlns:a16="http://schemas.microsoft.com/office/drawing/2014/main" val="10007"/>
                  </a:ext>
                </a:extLst>
              </a:tr>
              <a:tr h="370840">
                <a:tc>
                  <a:txBody>
                    <a:bodyPr/>
                    <a:lstStyle/>
                    <a:p>
                      <a:r>
                        <a:rPr lang="en-US" dirty="0"/>
                        <a:t>G29</a:t>
                      </a:r>
                    </a:p>
                  </a:txBody>
                  <a:tcPr/>
                </a:tc>
                <a:tc>
                  <a:txBody>
                    <a:bodyPr/>
                    <a:lstStyle/>
                    <a:p>
                      <a:r>
                        <a:rPr lang="en-US" dirty="0"/>
                        <a:t>4</a:t>
                      </a:r>
                    </a:p>
                  </a:txBody>
                  <a:tcPr/>
                </a:tc>
                <a:extLst>
                  <a:ext uri="{0D108BD9-81ED-4DB2-BD59-A6C34878D82A}">
                    <a16:rowId xmlns:a16="http://schemas.microsoft.com/office/drawing/2014/main" val="10008"/>
                  </a:ext>
                </a:extLst>
              </a:tr>
              <a:tr h="370840">
                <a:tc>
                  <a:txBody>
                    <a:bodyPr/>
                    <a:lstStyle/>
                    <a:p>
                      <a:r>
                        <a:rPr lang="en-US" dirty="0"/>
                        <a:t>G29</a:t>
                      </a:r>
                    </a:p>
                  </a:txBody>
                  <a:tcPr/>
                </a:tc>
                <a:tc>
                  <a:txBody>
                    <a:bodyPr/>
                    <a:lstStyle/>
                    <a:p>
                      <a:r>
                        <a:rPr lang="en-US" dirty="0"/>
                        <a:t>5</a:t>
                      </a:r>
                    </a:p>
                  </a:txBody>
                  <a:tcPr/>
                </a:tc>
                <a:extLst>
                  <a:ext uri="{0D108BD9-81ED-4DB2-BD59-A6C34878D82A}">
                    <a16:rowId xmlns:a16="http://schemas.microsoft.com/office/drawing/2014/main" val="10009"/>
                  </a:ext>
                </a:extLst>
              </a:tr>
            </a:tbl>
          </a:graphicData>
        </a:graphic>
      </p:graphicFrame>
      <p:graphicFrame>
        <p:nvGraphicFramePr>
          <p:cNvPr id="9" name="Table 8"/>
          <p:cNvGraphicFramePr>
            <a:graphicFrameLocks noGrp="1"/>
          </p:cNvGraphicFramePr>
          <p:nvPr/>
        </p:nvGraphicFramePr>
        <p:xfrm>
          <a:off x="2379470" y="1462791"/>
          <a:ext cx="3295492" cy="2499360"/>
        </p:xfrm>
        <a:graphic>
          <a:graphicData uri="http://schemas.openxmlformats.org/drawingml/2006/table">
            <a:tbl>
              <a:tblPr firstRow="1" bandRow="1">
                <a:tableStyleId>{5C22544A-7EE6-4342-B048-85BDC9FD1C3A}</a:tableStyleId>
              </a:tblPr>
              <a:tblGrid>
                <a:gridCol w="1450157">
                  <a:extLst>
                    <a:ext uri="{9D8B030D-6E8A-4147-A177-3AD203B41FA5}">
                      <a16:colId xmlns:a16="http://schemas.microsoft.com/office/drawing/2014/main" val="20000"/>
                    </a:ext>
                  </a:extLst>
                </a:gridCol>
                <a:gridCol w="1244528">
                  <a:extLst>
                    <a:ext uri="{9D8B030D-6E8A-4147-A177-3AD203B41FA5}">
                      <a16:colId xmlns:a16="http://schemas.microsoft.com/office/drawing/2014/main" val="20001"/>
                    </a:ext>
                  </a:extLst>
                </a:gridCol>
                <a:gridCol w="600807">
                  <a:extLst>
                    <a:ext uri="{9D8B030D-6E8A-4147-A177-3AD203B41FA5}">
                      <a16:colId xmlns:a16="http://schemas.microsoft.com/office/drawing/2014/main" val="20002"/>
                    </a:ext>
                  </a:extLst>
                </a:gridCol>
              </a:tblGrid>
              <a:tr h="304176">
                <a:tc gridSpan="3">
                  <a:txBody>
                    <a:bodyPr/>
                    <a:lstStyle/>
                    <a:p>
                      <a:pPr algn="ctr"/>
                      <a:r>
                        <a:rPr lang="en-US" sz="1600" b="1" u="none" dirty="0"/>
                        <a:t>CONSUMER</a:t>
                      </a:r>
                    </a:p>
                  </a:txBody>
                  <a:tcPr/>
                </a:tc>
                <a:tc hMerge="1">
                  <a:txBody>
                    <a:bodyPr/>
                    <a:lstStyle/>
                    <a:p>
                      <a:endParaRPr lang="en-US" sz="1600" b="1" dirty="0"/>
                    </a:p>
                  </a:txBody>
                  <a:tcPr/>
                </a:tc>
                <a:tc hMerge="1">
                  <a:txBody>
                    <a:bodyPr/>
                    <a:lstStyle/>
                    <a:p>
                      <a:pPr algn="ctr"/>
                      <a:endParaRPr lang="en-US" sz="1600" b="1" dirty="0"/>
                    </a:p>
                  </a:txBody>
                  <a:tcPr/>
                </a:tc>
                <a:extLst>
                  <a:ext uri="{0D108BD9-81ED-4DB2-BD59-A6C34878D82A}">
                    <a16:rowId xmlns:a16="http://schemas.microsoft.com/office/drawing/2014/main" val="10000"/>
                  </a:ext>
                </a:extLst>
              </a:tr>
              <a:tr h="304176">
                <a:tc>
                  <a:txBody>
                    <a:bodyPr/>
                    <a:lstStyle/>
                    <a:p>
                      <a:r>
                        <a:rPr lang="en-US" sz="1600" b="1" u="sng" dirty="0" err="1"/>
                        <a:t>Consumer</a:t>
                      </a:r>
                      <a:r>
                        <a:rPr lang="en-US" sz="1600" b="1" u="sng" baseline="0" dirty="0" err="1"/>
                        <a:t>ID</a:t>
                      </a:r>
                      <a:endParaRPr lang="en-US" sz="1600" b="1" u="sng" dirty="0"/>
                    </a:p>
                  </a:txBody>
                  <a:tcPr>
                    <a:solidFill>
                      <a:schemeClr val="accent1"/>
                    </a:solidFill>
                  </a:tcPr>
                </a:tc>
                <a:tc>
                  <a:txBody>
                    <a:bodyPr/>
                    <a:lstStyle/>
                    <a:p>
                      <a:r>
                        <a:rPr lang="en-US" sz="1600" b="1" dirty="0" err="1"/>
                        <a:t>FirstName</a:t>
                      </a:r>
                      <a:endParaRPr lang="en-US" sz="1600" b="1" dirty="0"/>
                    </a:p>
                  </a:txBody>
                  <a:tcPr>
                    <a:solidFill>
                      <a:schemeClr val="accent1"/>
                    </a:solidFill>
                  </a:tcPr>
                </a:tc>
                <a:tc>
                  <a:txBody>
                    <a:bodyPr/>
                    <a:lstStyle/>
                    <a:p>
                      <a:pPr algn="ctr"/>
                      <a:r>
                        <a:rPr lang="en-US" sz="1600" b="1" dirty="0"/>
                        <a:t>.....</a:t>
                      </a:r>
                    </a:p>
                  </a:txBody>
                  <a:tcPr>
                    <a:solidFill>
                      <a:schemeClr val="accent1"/>
                    </a:solidFill>
                  </a:tcPr>
                </a:tc>
                <a:extLst>
                  <a:ext uri="{0D108BD9-81ED-4DB2-BD59-A6C34878D82A}">
                    <a16:rowId xmlns:a16="http://schemas.microsoft.com/office/drawing/2014/main" val="10001"/>
                  </a:ext>
                </a:extLst>
              </a:tr>
              <a:tr h="304176">
                <a:tc>
                  <a:txBody>
                    <a:bodyPr/>
                    <a:lstStyle/>
                    <a:p>
                      <a:r>
                        <a:rPr lang="en-US" dirty="0"/>
                        <a:t>1</a:t>
                      </a:r>
                    </a:p>
                  </a:txBody>
                  <a:tcPr/>
                </a:tc>
                <a:tc>
                  <a:txBody>
                    <a:bodyPr/>
                    <a:lstStyle/>
                    <a:p>
                      <a:r>
                        <a:rPr lang="en-US" sz="1600" b="0" dirty="0"/>
                        <a:t>Maria</a:t>
                      </a:r>
                    </a:p>
                  </a:txBody>
                  <a:tcPr/>
                </a:tc>
                <a:tc>
                  <a:txBody>
                    <a:bodyPr/>
                    <a:lstStyle/>
                    <a:p>
                      <a:pPr algn="ctr"/>
                      <a:r>
                        <a:rPr lang="en-US" sz="1600" b="0" dirty="0"/>
                        <a:t>…..</a:t>
                      </a:r>
                    </a:p>
                  </a:txBody>
                  <a:tcPr/>
                </a:tc>
                <a:extLst>
                  <a:ext uri="{0D108BD9-81ED-4DB2-BD59-A6C34878D82A}">
                    <a16:rowId xmlns:a16="http://schemas.microsoft.com/office/drawing/2014/main" val="10002"/>
                  </a:ext>
                </a:extLst>
              </a:tr>
              <a:tr h="304176">
                <a:tc>
                  <a:txBody>
                    <a:bodyPr/>
                    <a:lstStyle/>
                    <a:p>
                      <a:r>
                        <a:rPr lang="en-US" dirty="0"/>
                        <a:t>2</a:t>
                      </a:r>
                    </a:p>
                  </a:txBody>
                  <a:tcPr/>
                </a:tc>
                <a:tc>
                  <a:txBody>
                    <a:bodyPr/>
                    <a:lstStyle/>
                    <a:p>
                      <a:r>
                        <a:rPr lang="en-US" sz="1600" b="0" dirty="0"/>
                        <a:t>John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3"/>
                  </a:ext>
                </a:extLst>
              </a:tr>
              <a:tr h="304176">
                <a:tc>
                  <a:txBody>
                    <a:bodyPr/>
                    <a:lstStyle/>
                    <a:p>
                      <a:r>
                        <a:rPr lang="en-US" dirty="0"/>
                        <a:t>3</a:t>
                      </a:r>
                    </a:p>
                  </a:txBody>
                  <a:tcPr/>
                </a:tc>
                <a:tc>
                  <a:txBody>
                    <a:bodyPr/>
                    <a:lstStyle/>
                    <a:p>
                      <a:r>
                        <a:rPr lang="en-US" sz="1600" b="0" dirty="0"/>
                        <a:t>Kevin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4"/>
                  </a:ext>
                </a:extLst>
              </a:tr>
              <a:tr h="304176">
                <a:tc>
                  <a:txBody>
                    <a:bodyPr/>
                    <a:lstStyle/>
                    <a:p>
                      <a:r>
                        <a:rPr lang="en-US" dirty="0"/>
                        <a:t>4</a:t>
                      </a:r>
                    </a:p>
                  </a:txBody>
                  <a:tcPr/>
                </a:tc>
                <a:tc>
                  <a:txBody>
                    <a:bodyPr/>
                    <a:lstStyle/>
                    <a:p>
                      <a:r>
                        <a:rPr lang="en-US" sz="1600" b="0" dirty="0"/>
                        <a:t>Joanna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5"/>
                  </a:ext>
                </a:extLst>
              </a:tr>
              <a:tr h="304176">
                <a:tc>
                  <a:txBody>
                    <a:bodyPr/>
                    <a:lstStyle/>
                    <a:p>
                      <a:r>
                        <a:rPr lang="en-US" dirty="0"/>
                        <a:t>5</a:t>
                      </a:r>
                    </a:p>
                  </a:txBody>
                  <a:tcPr/>
                </a:tc>
                <a:tc>
                  <a:txBody>
                    <a:bodyPr/>
                    <a:lstStyle/>
                    <a:p>
                      <a:r>
                        <a:rPr lang="en-US" sz="1600" b="0" dirty="0"/>
                        <a:t>Anna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2165919" y="4120347"/>
          <a:ext cx="3978875" cy="2651760"/>
        </p:xfrm>
        <a:graphic>
          <a:graphicData uri="http://schemas.openxmlformats.org/drawingml/2006/table">
            <a:tbl>
              <a:tblPr firstRow="1" bandRow="1">
                <a:tableStyleId>{5C22544A-7EE6-4342-B048-85BDC9FD1C3A}</a:tableStyleId>
              </a:tblPr>
              <a:tblGrid>
                <a:gridCol w="881448">
                  <a:extLst>
                    <a:ext uri="{9D8B030D-6E8A-4147-A177-3AD203B41FA5}">
                      <a16:colId xmlns:a16="http://schemas.microsoft.com/office/drawing/2014/main" val="20000"/>
                    </a:ext>
                  </a:extLst>
                </a:gridCol>
                <a:gridCol w="2495019">
                  <a:extLst>
                    <a:ext uri="{9D8B030D-6E8A-4147-A177-3AD203B41FA5}">
                      <a16:colId xmlns:a16="http://schemas.microsoft.com/office/drawing/2014/main" val="20001"/>
                    </a:ext>
                  </a:extLst>
                </a:gridCol>
                <a:gridCol w="602408">
                  <a:extLst>
                    <a:ext uri="{9D8B030D-6E8A-4147-A177-3AD203B41FA5}">
                      <a16:colId xmlns:a16="http://schemas.microsoft.com/office/drawing/2014/main" val="20002"/>
                    </a:ext>
                  </a:extLst>
                </a:gridCol>
              </a:tblGrid>
              <a:tr h="331127">
                <a:tc gridSpan="3">
                  <a:txBody>
                    <a:bodyPr/>
                    <a:lstStyle/>
                    <a:p>
                      <a:pPr algn="ctr"/>
                      <a:r>
                        <a:rPr lang="en-US" sz="1600" u="none" dirty="0"/>
                        <a:t>GROUPS</a:t>
                      </a:r>
                    </a:p>
                  </a:txBody>
                  <a:tcPr/>
                </a:tc>
                <a:tc hMerge="1">
                  <a:txBody>
                    <a:bodyPr/>
                    <a:lstStyle/>
                    <a:p>
                      <a:endParaRPr lang="en-US" sz="1600" dirty="0"/>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0" dirty="0"/>
                    </a:p>
                  </a:txBody>
                  <a:tcPr/>
                </a:tc>
                <a:extLst>
                  <a:ext uri="{0D108BD9-81ED-4DB2-BD59-A6C34878D82A}">
                    <a16:rowId xmlns:a16="http://schemas.microsoft.com/office/drawing/2014/main" val="10000"/>
                  </a:ext>
                </a:extLst>
              </a:tr>
              <a:tr h="331127">
                <a:tc>
                  <a:txBody>
                    <a:bodyPr/>
                    <a:lstStyle/>
                    <a:p>
                      <a:r>
                        <a:rPr lang="en-US" sz="1600" b="1" u="sng" dirty="0" err="1">
                          <a:solidFill>
                            <a:schemeClr val="tx1"/>
                          </a:solidFill>
                        </a:rPr>
                        <a:t>GroupID</a:t>
                      </a:r>
                      <a:endParaRPr lang="en-US" sz="1600" b="1" u="sng" dirty="0">
                        <a:solidFill>
                          <a:schemeClr val="tx1"/>
                        </a:solidFill>
                      </a:endParaRPr>
                    </a:p>
                  </a:txBody>
                  <a:tcPr>
                    <a:solidFill>
                      <a:schemeClr val="accent1"/>
                    </a:solidFill>
                  </a:tcPr>
                </a:tc>
                <a:tc>
                  <a:txBody>
                    <a:bodyPr/>
                    <a:lstStyle/>
                    <a:p>
                      <a:r>
                        <a:rPr lang="en-US" sz="1600" b="1" dirty="0" err="1">
                          <a:solidFill>
                            <a:schemeClr val="tx1"/>
                          </a:solidFill>
                        </a:rPr>
                        <a:t>GroupName</a:t>
                      </a:r>
                      <a:endParaRPr lang="en-US" sz="1600" b="1" dirty="0">
                        <a:solidFill>
                          <a:schemeClr val="tx1"/>
                        </a:solidFill>
                      </a:endParaRPr>
                    </a:p>
                  </a:txBody>
                  <a:tcP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solidFill>
                      <a:schemeClr val="accent1"/>
                    </a:solidFill>
                  </a:tcPr>
                </a:tc>
                <a:extLst>
                  <a:ext uri="{0D108BD9-81ED-4DB2-BD59-A6C34878D82A}">
                    <a16:rowId xmlns:a16="http://schemas.microsoft.com/office/drawing/2014/main" val="10001"/>
                  </a:ext>
                </a:extLst>
              </a:tr>
              <a:tr h="517102">
                <a:tc>
                  <a:txBody>
                    <a:bodyPr/>
                    <a:lstStyle/>
                    <a:p>
                      <a:r>
                        <a:rPr lang="en-US" sz="1600" dirty="0"/>
                        <a:t>G12</a:t>
                      </a:r>
                    </a:p>
                  </a:txBody>
                  <a:tcPr/>
                </a:tc>
                <a:tc>
                  <a:txBody>
                    <a:bodyPr/>
                    <a:lstStyle/>
                    <a:p>
                      <a:r>
                        <a:rPr lang="en-US" sz="1600" dirty="0"/>
                        <a:t>Filtering valuable content from social networks</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2"/>
                  </a:ext>
                </a:extLst>
              </a:tr>
              <a:tr h="517102">
                <a:tc>
                  <a:txBody>
                    <a:bodyPr/>
                    <a:lstStyle/>
                    <a:p>
                      <a:r>
                        <a:rPr lang="en-US" sz="1600" dirty="0"/>
                        <a:t>G26</a:t>
                      </a:r>
                    </a:p>
                  </a:txBody>
                  <a:tcPr/>
                </a:tc>
                <a:tc>
                  <a:txBody>
                    <a:bodyPr/>
                    <a:lstStyle/>
                    <a:p>
                      <a:r>
                        <a:rPr lang="en-US" sz="1600" dirty="0"/>
                        <a:t>Impact of campaigns</a:t>
                      </a:r>
                      <a:r>
                        <a:rPr lang="en-US" sz="1600" baseline="0" dirty="0"/>
                        <a:t> made by hotel brands</a:t>
                      </a:r>
                      <a:endParaRPr 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3"/>
                  </a:ext>
                </a:extLst>
              </a:tr>
              <a:tr h="517102">
                <a:tc>
                  <a:txBody>
                    <a:bodyPr/>
                    <a:lstStyle/>
                    <a:p>
                      <a:r>
                        <a:rPr lang="en-US" sz="1600" dirty="0"/>
                        <a:t>G29</a:t>
                      </a:r>
                    </a:p>
                  </a:txBody>
                  <a:tcPr/>
                </a:tc>
                <a:tc>
                  <a:txBody>
                    <a:bodyPr/>
                    <a:lstStyle/>
                    <a:p>
                      <a:r>
                        <a:rPr lang="en-US" sz="1600" dirty="0"/>
                        <a:t>Improving brand reputation of a new real estate agency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t>…..</a:t>
                      </a:r>
                    </a:p>
                  </a:txBody>
                  <a:tcPr/>
                </a:tc>
                <a:extLst>
                  <a:ext uri="{0D108BD9-81ED-4DB2-BD59-A6C34878D82A}">
                    <a16:rowId xmlns:a16="http://schemas.microsoft.com/office/drawing/2014/main" val="10004"/>
                  </a:ext>
                </a:extLst>
              </a:tr>
            </a:tbl>
          </a:graphicData>
        </a:graphic>
      </p:graphicFrame>
      <p:cxnSp>
        <p:nvCxnSpPr>
          <p:cNvPr id="13" name="Straight Connector 12"/>
          <p:cNvCxnSpPr/>
          <p:nvPr/>
        </p:nvCxnSpPr>
        <p:spPr>
          <a:xfrm flipV="1">
            <a:off x="6144794" y="3566984"/>
            <a:ext cx="1450493" cy="749644"/>
          </a:xfrm>
          <a:prstGeom prst="line">
            <a:avLst/>
          </a:prstGeom>
          <a:ln w="28575"/>
        </p:spPr>
        <p:style>
          <a:lnRef idx="3">
            <a:schemeClr val="dk1"/>
          </a:lnRef>
          <a:fillRef idx="0">
            <a:schemeClr val="dk1"/>
          </a:fillRef>
          <a:effectRef idx="2">
            <a:schemeClr val="dk1"/>
          </a:effectRef>
          <a:fontRef idx="minor">
            <a:schemeClr val="tx1"/>
          </a:fontRef>
        </p:style>
      </p:cxnSp>
      <p:cxnSp>
        <p:nvCxnSpPr>
          <p:cNvPr id="18" name="Straight Connector 17"/>
          <p:cNvCxnSpPr/>
          <p:nvPr/>
        </p:nvCxnSpPr>
        <p:spPr>
          <a:xfrm>
            <a:off x="5659395" y="1622855"/>
            <a:ext cx="1927650" cy="411891"/>
          </a:xfrm>
          <a:prstGeom prst="line">
            <a:avLst/>
          </a:prstGeom>
          <a:ln w="28575"/>
        </p:spPr>
        <p:style>
          <a:lnRef idx="3">
            <a:schemeClr val="dk1"/>
          </a:lnRef>
          <a:fillRef idx="0">
            <a:schemeClr val="dk1"/>
          </a:fillRef>
          <a:effectRef idx="2">
            <a:schemeClr val="dk1"/>
          </a:effectRef>
          <a:fontRef idx="minor">
            <a:schemeClr val="tx1"/>
          </a:fontRef>
        </p:style>
      </p:cxnSp>
      <p:sp>
        <p:nvSpPr>
          <p:cNvPr id="20" name="Diamond 19"/>
          <p:cNvSpPr/>
          <p:nvPr/>
        </p:nvSpPr>
        <p:spPr>
          <a:xfrm>
            <a:off x="6429790" y="1622855"/>
            <a:ext cx="386861" cy="41189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p:cNvSpPr/>
          <p:nvPr/>
        </p:nvSpPr>
        <p:spPr>
          <a:xfrm>
            <a:off x="6635416" y="3735861"/>
            <a:ext cx="386861" cy="41189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5651153" y="1321486"/>
            <a:ext cx="378940" cy="369332"/>
          </a:xfrm>
          <a:prstGeom prst="rect">
            <a:avLst/>
          </a:prstGeom>
          <a:noFill/>
        </p:spPr>
        <p:txBody>
          <a:bodyPr wrap="square" rtlCol="0">
            <a:spAutoFit/>
          </a:bodyPr>
          <a:lstStyle/>
          <a:p>
            <a:r>
              <a:rPr lang="en-US" dirty="0"/>
              <a:t>1</a:t>
            </a:r>
          </a:p>
        </p:txBody>
      </p:sp>
      <p:sp>
        <p:nvSpPr>
          <p:cNvPr id="24" name="TextBox 23"/>
          <p:cNvSpPr txBox="1"/>
          <p:nvPr/>
        </p:nvSpPr>
        <p:spPr>
          <a:xfrm>
            <a:off x="7216346" y="1644133"/>
            <a:ext cx="378940" cy="369332"/>
          </a:xfrm>
          <a:prstGeom prst="rect">
            <a:avLst/>
          </a:prstGeom>
          <a:noFill/>
        </p:spPr>
        <p:txBody>
          <a:bodyPr wrap="square" rtlCol="0">
            <a:spAutoFit/>
          </a:bodyPr>
          <a:lstStyle/>
          <a:p>
            <a:r>
              <a:rPr lang="en-US" dirty="0"/>
              <a:t>M</a:t>
            </a:r>
          </a:p>
        </p:txBody>
      </p:sp>
      <p:sp>
        <p:nvSpPr>
          <p:cNvPr id="25" name="TextBox 24"/>
          <p:cNvSpPr txBox="1"/>
          <p:nvPr/>
        </p:nvSpPr>
        <p:spPr>
          <a:xfrm>
            <a:off x="6062405" y="3921894"/>
            <a:ext cx="378940" cy="369332"/>
          </a:xfrm>
          <a:prstGeom prst="rect">
            <a:avLst/>
          </a:prstGeom>
          <a:noFill/>
        </p:spPr>
        <p:txBody>
          <a:bodyPr wrap="square" rtlCol="0">
            <a:spAutoFit/>
          </a:bodyPr>
          <a:lstStyle/>
          <a:p>
            <a:r>
              <a:rPr lang="en-US" dirty="0"/>
              <a:t>1</a:t>
            </a:r>
          </a:p>
        </p:txBody>
      </p:sp>
      <p:sp>
        <p:nvSpPr>
          <p:cNvPr id="26" name="TextBox 25"/>
          <p:cNvSpPr txBox="1"/>
          <p:nvPr/>
        </p:nvSpPr>
        <p:spPr>
          <a:xfrm>
            <a:off x="7224588" y="3258748"/>
            <a:ext cx="378940" cy="369332"/>
          </a:xfrm>
          <a:prstGeom prst="rect">
            <a:avLst/>
          </a:prstGeom>
          <a:noFill/>
        </p:spPr>
        <p:txBody>
          <a:bodyPr wrap="square" rtlCol="0">
            <a:spAutoFit/>
          </a:bodyPr>
          <a:lstStyle/>
          <a:p>
            <a:r>
              <a:rPr lang="en-US" dirty="0"/>
              <a:t>M</a:t>
            </a:r>
          </a:p>
        </p:txBody>
      </p:sp>
      <p:sp>
        <p:nvSpPr>
          <p:cNvPr id="27" name="TextBox 26"/>
          <p:cNvSpPr txBox="1"/>
          <p:nvPr/>
        </p:nvSpPr>
        <p:spPr>
          <a:xfrm>
            <a:off x="6816650" y="5848867"/>
            <a:ext cx="3407614" cy="707886"/>
          </a:xfrm>
          <a:prstGeom prst="rect">
            <a:avLst/>
          </a:prstGeom>
          <a:noFill/>
        </p:spPr>
        <p:txBody>
          <a:bodyPr wrap="square" rtlCol="0">
            <a:spAutoFit/>
          </a:bodyPr>
          <a:lstStyle/>
          <a:p>
            <a:r>
              <a:rPr lang="en-US" sz="2000" dirty="0"/>
              <a:t>We need to create a new table!</a:t>
            </a:r>
          </a:p>
        </p:txBody>
      </p:sp>
    </p:spTree>
    <p:extLst>
      <p:ext uri="{BB962C8B-B14F-4D97-AF65-F5344CB8AC3E}">
        <p14:creationId xmlns:p14="http://schemas.microsoft.com/office/powerpoint/2010/main" val="319408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3533" y="313072"/>
            <a:ext cx="8079581" cy="813383"/>
          </a:xfrm>
        </p:spPr>
        <p:txBody>
          <a:bodyPr/>
          <a:lstStyle/>
          <a:p>
            <a:r>
              <a:rPr lang="en-US" dirty="0"/>
              <a:t>Many-to-many relationships</a:t>
            </a:r>
          </a:p>
        </p:txBody>
      </p:sp>
      <p:sp>
        <p:nvSpPr>
          <p:cNvPr id="3" name="Content Placeholder 2"/>
          <p:cNvSpPr>
            <a:spLocks noGrp="1"/>
          </p:cNvSpPr>
          <p:nvPr>
            <p:ph sz="half" idx="1"/>
          </p:nvPr>
        </p:nvSpPr>
        <p:spPr>
          <a:xfrm>
            <a:off x="1809137" y="2318990"/>
            <a:ext cx="8524567" cy="2221107"/>
          </a:xfrm>
        </p:spPr>
        <p:txBody>
          <a:bodyPr>
            <a:noAutofit/>
          </a:bodyPr>
          <a:lstStyle/>
          <a:p>
            <a:pPr algn="just">
              <a:spcBef>
                <a:spcPct val="25000"/>
              </a:spcBef>
              <a:spcAft>
                <a:spcPct val="10000"/>
              </a:spcAft>
              <a:buFont typeface="Arial" panose="020B0604020202020204" pitchFamily="34" charset="0"/>
              <a:buChar char="•"/>
            </a:pPr>
            <a:r>
              <a:rPr lang="en-US" altLang="en-US" sz="2000" i="1" dirty="0">
                <a:latin typeface="Calibri" panose="020F0502020204030204" pitchFamily="34" charset="0"/>
                <a:cs typeface="Calibri" panose="020F0502020204030204" pitchFamily="34" charset="0"/>
              </a:rPr>
              <a:t> Each record of table A to 0, 1, 2,</a:t>
            </a:r>
            <a:r>
              <a:rPr lang="is-IS" altLang="en-US" sz="2000" i="1" dirty="0">
                <a:latin typeface="Calibri" panose="020F0502020204030204" pitchFamily="34" charset="0"/>
                <a:cs typeface="Calibri" panose="020F0502020204030204" pitchFamily="34" charset="0"/>
              </a:rPr>
              <a:t>… (many) records of table B</a:t>
            </a:r>
          </a:p>
          <a:p>
            <a:pPr algn="just">
              <a:spcBef>
                <a:spcPct val="25000"/>
              </a:spcBef>
              <a:spcAft>
                <a:spcPct val="10000"/>
              </a:spcAft>
              <a:buFont typeface="Arial" panose="020B0604020202020204" pitchFamily="34" charset="0"/>
              <a:buChar char="•"/>
            </a:pPr>
            <a:r>
              <a:rPr lang="is-IS" altLang="en-US" sz="2000" i="1" dirty="0">
                <a:latin typeface="Calibri" panose="020F0502020204030204" pitchFamily="34" charset="0"/>
                <a:cs typeface="Calibri" panose="020F0502020204030204" pitchFamily="34" charset="0"/>
              </a:rPr>
              <a:t> Each record of table B to </a:t>
            </a:r>
            <a:r>
              <a:rPr lang="en-US" altLang="en-US" sz="2000" i="1" dirty="0">
                <a:latin typeface="Calibri" panose="020F0502020204030204" pitchFamily="34" charset="0"/>
                <a:cs typeface="Calibri" panose="020F0502020204030204" pitchFamily="34" charset="0"/>
              </a:rPr>
              <a:t>0, 1, 2,</a:t>
            </a:r>
            <a:r>
              <a:rPr lang="is-IS" altLang="en-US" sz="2000" i="1" dirty="0">
                <a:latin typeface="Calibri" panose="020F0502020204030204" pitchFamily="34" charset="0"/>
                <a:cs typeface="Calibri" panose="020F0502020204030204" pitchFamily="34" charset="0"/>
              </a:rPr>
              <a:t>… (many) records of table A</a:t>
            </a:r>
            <a:endParaRPr lang="en-US" altLang="en-US" sz="2000" i="1" dirty="0">
              <a:latin typeface="Calibri" panose="020F0502020204030204" pitchFamily="34" charset="0"/>
              <a:cs typeface="Calibri" panose="020F0502020204030204" pitchFamily="34" charset="0"/>
            </a:endParaRPr>
          </a:p>
          <a:p>
            <a:pPr algn="just">
              <a:spcBef>
                <a:spcPct val="25000"/>
              </a:spcBef>
              <a:spcAft>
                <a:spcPct val="10000"/>
              </a:spcAft>
            </a:pPr>
            <a:endParaRPr lang="en-US" altLang="en-US" sz="1200" dirty="0">
              <a:latin typeface="Calibri" panose="020F0502020204030204" pitchFamily="34" charset="0"/>
              <a:cs typeface="Calibri" panose="020F0502020204030204" pitchFamily="34" charset="0"/>
            </a:endParaRPr>
          </a:p>
          <a:p>
            <a:pPr algn="just">
              <a:spcBef>
                <a:spcPct val="25000"/>
              </a:spcBef>
              <a:spcAft>
                <a:spcPct val="10000"/>
              </a:spcAft>
            </a:pPr>
            <a:r>
              <a:rPr lang="en-US" altLang="en-US" sz="2000" b="1" dirty="0">
                <a:latin typeface="Calibri" panose="020F0502020204030204" pitchFamily="34" charset="0"/>
                <a:cs typeface="Calibri" panose="020F0502020204030204" pitchFamily="34" charset="0"/>
              </a:rPr>
              <a:t>This relationship is created by a table </a:t>
            </a:r>
            <a:r>
              <a:rPr lang="en-US" altLang="en-US" sz="2000" b="1" dirty="0">
                <a:solidFill>
                  <a:srgbClr val="FF0000"/>
                </a:solidFill>
                <a:latin typeface="Calibri" panose="020F0502020204030204" pitchFamily="34" charset="0"/>
                <a:cs typeface="Calibri" panose="020F0502020204030204" pitchFamily="34" charset="0"/>
              </a:rPr>
              <a:t>W</a:t>
            </a:r>
            <a:r>
              <a:rPr lang="en-US" altLang="en-US" sz="2000" b="1" dirty="0">
                <a:latin typeface="Calibri" panose="020F0502020204030204" pitchFamily="34" charset="0"/>
                <a:cs typeface="Calibri" panose="020F0502020204030204" pitchFamily="34" charset="0"/>
              </a:rPr>
              <a:t>, that has a foreign key to A and a foreign key to B. </a:t>
            </a:r>
          </a:p>
          <a:p>
            <a:pPr algn="just">
              <a:spcBef>
                <a:spcPct val="25000"/>
              </a:spcBef>
              <a:spcAft>
                <a:spcPct val="10000"/>
              </a:spcAft>
            </a:pPr>
            <a:endParaRPr lang="en-US" altLang="ja-JP" sz="800" dirty="0">
              <a:latin typeface="Calibri" panose="020F0502020204030204" pitchFamily="34" charset="0"/>
              <a:cs typeface="Calibri" panose="020F0502020204030204" pitchFamily="34" charset="0"/>
            </a:endParaRPr>
          </a:p>
          <a:p>
            <a:pPr algn="just">
              <a:spcBef>
                <a:spcPct val="25000"/>
              </a:spcBef>
              <a:spcAft>
                <a:spcPct val="10000"/>
              </a:spcAft>
            </a:pPr>
            <a:r>
              <a:rPr lang="en-US" altLang="ja-JP" sz="2000" dirty="0">
                <a:latin typeface="Calibri" panose="020F0502020204030204" pitchFamily="34" charset="0"/>
                <a:cs typeface="Calibri" panose="020F0502020204030204" pitchFamily="34" charset="0"/>
              </a:rPr>
              <a:t>Which means…. That this is equivalent to the following:</a:t>
            </a:r>
          </a:p>
          <a:p>
            <a:endParaRPr lang="en-US" sz="1800" dirty="0"/>
          </a:p>
        </p:txBody>
      </p:sp>
      <p:sp>
        <p:nvSpPr>
          <p:cNvPr id="5" name="Slide Number Placeholder 4"/>
          <p:cNvSpPr>
            <a:spLocks noGrp="1"/>
          </p:cNvSpPr>
          <p:nvPr>
            <p:ph type="sldNum" sz="quarter" idx="12"/>
          </p:nvPr>
        </p:nvSpPr>
        <p:spPr/>
        <p:txBody>
          <a:bodyPr/>
          <a:lstStyle/>
          <a:p>
            <a:fld id="{87F3E754-1C97-4481-A18C-9D97ADBDF344}" type="slidenum">
              <a:rPr lang="en-US" smtClean="0"/>
              <a:t>8</a:t>
            </a:fld>
            <a:endParaRPr lang="en-US"/>
          </a:p>
        </p:txBody>
      </p:sp>
      <p:grpSp>
        <p:nvGrpSpPr>
          <p:cNvPr id="13" name="Group 12"/>
          <p:cNvGrpSpPr/>
          <p:nvPr/>
        </p:nvGrpSpPr>
        <p:grpSpPr>
          <a:xfrm>
            <a:off x="3075331" y="1306069"/>
            <a:ext cx="5630085" cy="770796"/>
            <a:chOff x="1655618" y="1553641"/>
            <a:chExt cx="3373582" cy="503762"/>
          </a:xfrm>
        </p:grpSpPr>
        <p:sp>
          <p:nvSpPr>
            <p:cNvPr id="6" name="TextBox 5"/>
            <p:cNvSpPr txBox="1"/>
            <p:nvPr/>
          </p:nvSpPr>
          <p:spPr>
            <a:xfrm>
              <a:off x="1655618" y="1595437"/>
              <a:ext cx="685800" cy="34195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sz="2800" dirty="0">
                  <a:latin typeface="Calibri"/>
                  <a:cs typeface="Calibri"/>
                </a:rPr>
                <a:t>A</a:t>
              </a:r>
            </a:p>
          </p:txBody>
        </p:sp>
        <p:sp>
          <p:nvSpPr>
            <p:cNvPr id="7" name="TextBox 6"/>
            <p:cNvSpPr txBox="1"/>
            <p:nvPr/>
          </p:nvSpPr>
          <p:spPr>
            <a:xfrm>
              <a:off x="4343400" y="1600200"/>
              <a:ext cx="685800" cy="34195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ctr">
                <a:defRPr/>
              </a:pPr>
              <a:r>
                <a:rPr lang="en-US" sz="2800" dirty="0">
                  <a:latin typeface="Calibri"/>
                  <a:cs typeface="Calibri"/>
                </a:rPr>
                <a:t>B</a:t>
              </a:r>
            </a:p>
          </p:txBody>
        </p:sp>
        <p:cxnSp>
          <p:nvCxnSpPr>
            <p:cNvPr id="8" name="Straight Connector 3"/>
            <p:cNvCxnSpPr>
              <a:cxnSpLocks noChangeShapeType="1"/>
            </p:cNvCxnSpPr>
            <p:nvPr/>
          </p:nvCxnSpPr>
          <p:spPr bwMode="auto">
            <a:xfrm>
              <a:off x="2362200" y="1828800"/>
              <a:ext cx="1981200" cy="0"/>
            </a:xfrm>
            <a:prstGeom prst="line">
              <a:avLst/>
            </a:prstGeom>
            <a:noFill/>
            <a:ln w="12700">
              <a:solidFill>
                <a:schemeClr val="tx1"/>
              </a:solidFill>
              <a:round/>
              <a:headEnd type="none" w="sm" len="sm"/>
              <a:tailEnd type="none" w="sm" len="sm"/>
            </a:ln>
            <a:extLst>
              <a:ext uri="{909E8E84-426E-40dd-AFC4-6F175D3DCCD1}">
                <a14:hiddenFill xmlns="" xmlns:a14="http://schemas.microsoft.com/office/drawing/2010/main">
                  <a:noFill/>
                </a14:hiddenFill>
              </a:ext>
            </a:extLst>
          </p:spPr>
        </p:cxnSp>
        <p:sp>
          <p:nvSpPr>
            <p:cNvPr id="9" name="Diamond 8"/>
            <p:cNvSpPr/>
            <p:nvPr/>
          </p:nvSpPr>
          <p:spPr bwMode="auto">
            <a:xfrm>
              <a:off x="3124200" y="1600200"/>
              <a:ext cx="533400" cy="457200"/>
            </a:xfrm>
            <a:prstGeom prst="diamond">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a:lstStyle/>
            <a:p>
              <a:pPr>
                <a:defRPr/>
              </a:pPr>
              <a:endParaRPr lang="en-US" sz="2800">
                <a:solidFill>
                  <a:schemeClr val="tx1"/>
                </a:solidFill>
                <a:latin typeface="Times New Roman" pitchFamily="18" charset="0"/>
              </a:endParaRPr>
            </a:p>
          </p:txBody>
        </p:sp>
        <p:sp>
          <p:nvSpPr>
            <p:cNvPr id="10" name="TextBox 7"/>
            <p:cNvSpPr txBox="1">
              <a:spLocks noChangeArrowheads="1"/>
            </p:cNvSpPr>
            <p:nvPr/>
          </p:nvSpPr>
          <p:spPr bwMode="auto">
            <a:xfrm>
              <a:off x="2356309" y="1553641"/>
              <a:ext cx="2057400" cy="3017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en-US" dirty="0">
                  <a:latin typeface="+mj-lt"/>
                </a:rPr>
                <a:t>M                             M</a:t>
              </a:r>
            </a:p>
          </p:txBody>
        </p:sp>
        <p:sp>
          <p:nvSpPr>
            <p:cNvPr id="11" name="Rectangle 10"/>
            <p:cNvSpPr/>
            <p:nvPr/>
          </p:nvSpPr>
          <p:spPr bwMode="auto">
            <a:xfrm>
              <a:off x="3124200" y="1600203"/>
              <a:ext cx="533400" cy="457200"/>
            </a:xfrm>
            <a:prstGeom prst="rect">
              <a:avLst/>
            </a:prstGeom>
            <a:noFill/>
            <a:ln>
              <a:headEnd type="none" w="sm" len="sm"/>
              <a:tailEnd type="none" w="sm" len="sm"/>
            </a:ln>
          </p:spPr>
          <p:style>
            <a:lnRef idx="2">
              <a:schemeClr val="dk1"/>
            </a:lnRef>
            <a:fillRef idx="1">
              <a:schemeClr val="lt1"/>
            </a:fillRef>
            <a:effectRef idx="0">
              <a:schemeClr val="dk1"/>
            </a:effectRef>
            <a:fontRef idx="minor">
              <a:schemeClr val="dk1"/>
            </a:fontRef>
          </p:style>
          <p:txBody>
            <a:bodyPr/>
            <a:lstStyle/>
            <a:p>
              <a:pPr>
                <a:defRPr/>
              </a:pPr>
              <a:r>
                <a:rPr lang="en-US" sz="3200" dirty="0">
                  <a:solidFill>
                    <a:srgbClr val="FF0000"/>
                  </a:solidFill>
                  <a:latin typeface="Calibri"/>
                  <a:cs typeface="Calibri"/>
                </a:rPr>
                <a:t>  W</a:t>
              </a:r>
            </a:p>
          </p:txBody>
        </p:sp>
      </p:grpSp>
      <p:grpSp>
        <p:nvGrpSpPr>
          <p:cNvPr id="14" name="Group 13"/>
          <p:cNvGrpSpPr/>
          <p:nvPr/>
        </p:nvGrpSpPr>
        <p:grpSpPr>
          <a:xfrm>
            <a:off x="3903407" y="4427784"/>
            <a:ext cx="4491305" cy="643217"/>
            <a:chOff x="219600" y="2126022"/>
            <a:chExt cx="11832037" cy="1285436"/>
          </a:xfrm>
        </p:grpSpPr>
        <p:sp>
          <p:nvSpPr>
            <p:cNvPr id="15" name="Rectangle 14"/>
            <p:cNvSpPr/>
            <p:nvPr/>
          </p:nvSpPr>
          <p:spPr>
            <a:xfrm>
              <a:off x="219600" y="2334619"/>
              <a:ext cx="1884911" cy="9727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p:cNvSpPr/>
            <p:nvPr/>
          </p:nvSpPr>
          <p:spPr>
            <a:xfrm>
              <a:off x="5199792" y="2315183"/>
              <a:ext cx="1884911" cy="9727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TextBox 16"/>
            <p:cNvSpPr txBox="1"/>
            <p:nvPr/>
          </p:nvSpPr>
          <p:spPr>
            <a:xfrm>
              <a:off x="409134" y="2315183"/>
              <a:ext cx="1476349" cy="1045628"/>
            </a:xfrm>
            <a:prstGeom prst="rect">
              <a:avLst/>
            </a:prstGeom>
            <a:noFill/>
            <a:ln>
              <a:noFill/>
            </a:ln>
          </p:spPr>
          <p:txBody>
            <a:bodyPr wrap="square" rtlCol="0">
              <a:spAutoFit/>
            </a:bodyPr>
            <a:lstStyle/>
            <a:p>
              <a:pPr algn="ctr"/>
              <a:r>
                <a:rPr lang="en-US" sz="2800" b="1" dirty="0"/>
                <a:t>A</a:t>
              </a:r>
            </a:p>
          </p:txBody>
        </p:sp>
        <p:sp>
          <p:nvSpPr>
            <p:cNvPr id="18" name="TextBox 17"/>
            <p:cNvSpPr txBox="1"/>
            <p:nvPr/>
          </p:nvSpPr>
          <p:spPr>
            <a:xfrm>
              <a:off x="5414449" y="2365830"/>
              <a:ext cx="1476349" cy="1045628"/>
            </a:xfrm>
            <a:prstGeom prst="rect">
              <a:avLst/>
            </a:prstGeom>
            <a:noFill/>
            <a:ln>
              <a:noFill/>
            </a:ln>
          </p:spPr>
          <p:txBody>
            <a:bodyPr wrap="square" rtlCol="0">
              <a:spAutoFit/>
            </a:bodyPr>
            <a:lstStyle/>
            <a:p>
              <a:pPr algn="ctr"/>
              <a:r>
                <a:rPr lang="en-US" sz="2800" b="1" dirty="0">
                  <a:solidFill>
                    <a:srgbClr val="FF0000"/>
                  </a:solidFill>
                </a:rPr>
                <a:t>W</a:t>
              </a:r>
            </a:p>
          </p:txBody>
        </p:sp>
        <p:sp>
          <p:nvSpPr>
            <p:cNvPr id="19" name="Diamond 18"/>
            <p:cNvSpPr/>
            <p:nvPr/>
          </p:nvSpPr>
          <p:spPr>
            <a:xfrm>
              <a:off x="2962921" y="2242296"/>
              <a:ext cx="1381328" cy="1118540"/>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20" name="Straight Connector 19"/>
            <p:cNvCxnSpPr/>
            <p:nvPr/>
          </p:nvCxnSpPr>
          <p:spPr>
            <a:xfrm>
              <a:off x="4350947" y="2801566"/>
              <a:ext cx="8355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031762" y="2126022"/>
              <a:ext cx="680445" cy="799599"/>
            </a:xfrm>
            <a:prstGeom prst="rect">
              <a:avLst/>
            </a:prstGeom>
            <a:noFill/>
            <a:ln>
              <a:noFill/>
            </a:ln>
          </p:spPr>
          <p:txBody>
            <a:bodyPr wrap="square" rtlCol="0">
              <a:spAutoFit/>
            </a:bodyPr>
            <a:lstStyle/>
            <a:p>
              <a:pPr algn="ctr"/>
              <a:r>
                <a:rPr lang="en-US" sz="2000" dirty="0"/>
                <a:t>1</a:t>
              </a:r>
            </a:p>
          </p:txBody>
        </p:sp>
        <p:sp>
          <p:nvSpPr>
            <p:cNvPr id="22" name="TextBox 21"/>
            <p:cNvSpPr txBox="1"/>
            <p:nvPr/>
          </p:nvSpPr>
          <p:spPr>
            <a:xfrm>
              <a:off x="4509836" y="2126022"/>
              <a:ext cx="697258" cy="799599"/>
            </a:xfrm>
            <a:prstGeom prst="rect">
              <a:avLst/>
            </a:prstGeom>
            <a:noFill/>
            <a:ln>
              <a:noFill/>
            </a:ln>
          </p:spPr>
          <p:txBody>
            <a:bodyPr wrap="square" rtlCol="0">
              <a:spAutoFit/>
            </a:bodyPr>
            <a:lstStyle/>
            <a:p>
              <a:pPr algn="ctr"/>
              <a:r>
                <a:rPr lang="en-US" sz="2000" dirty="0"/>
                <a:t>M</a:t>
              </a:r>
            </a:p>
          </p:txBody>
        </p:sp>
        <p:cxnSp>
          <p:nvCxnSpPr>
            <p:cNvPr id="23" name="Straight Connector 22"/>
            <p:cNvCxnSpPr/>
            <p:nvPr/>
          </p:nvCxnSpPr>
          <p:spPr>
            <a:xfrm>
              <a:off x="2121125" y="2801547"/>
              <a:ext cx="8355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0166726" y="2334619"/>
              <a:ext cx="1884911" cy="9727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TextBox 24"/>
            <p:cNvSpPr txBox="1"/>
            <p:nvPr/>
          </p:nvSpPr>
          <p:spPr>
            <a:xfrm>
              <a:off x="10371004" y="2299723"/>
              <a:ext cx="1476349" cy="1045628"/>
            </a:xfrm>
            <a:prstGeom prst="rect">
              <a:avLst/>
            </a:prstGeom>
            <a:noFill/>
            <a:ln>
              <a:noFill/>
            </a:ln>
          </p:spPr>
          <p:txBody>
            <a:bodyPr wrap="square" rtlCol="0">
              <a:spAutoFit/>
            </a:bodyPr>
            <a:lstStyle/>
            <a:p>
              <a:pPr algn="ctr"/>
              <a:r>
                <a:rPr lang="en-US" sz="2800" b="1" dirty="0"/>
                <a:t>B</a:t>
              </a:r>
            </a:p>
          </p:txBody>
        </p:sp>
        <p:sp>
          <p:nvSpPr>
            <p:cNvPr id="26" name="Diamond 25"/>
            <p:cNvSpPr/>
            <p:nvPr/>
          </p:nvSpPr>
          <p:spPr>
            <a:xfrm>
              <a:off x="7940240" y="2258511"/>
              <a:ext cx="1381328" cy="1118540"/>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27" name="Straight Connector 26"/>
            <p:cNvCxnSpPr/>
            <p:nvPr/>
          </p:nvCxnSpPr>
          <p:spPr>
            <a:xfrm>
              <a:off x="9328267" y="2804529"/>
              <a:ext cx="8355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086787" y="2142239"/>
              <a:ext cx="680445" cy="799599"/>
            </a:xfrm>
            <a:prstGeom prst="rect">
              <a:avLst/>
            </a:prstGeom>
            <a:noFill/>
            <a:ln>
              <a:noFill/>
            </a:ln>
          </p:spPr>
          <p:txBody>
            <a:bodyPr wrap="square" rtlCol="0">
              <a:spAutoFit/>
            </a:bodyPr>
            <a:lstStyle/>
            <a:p>
              <a:pPr algn="ctr"/>
              <a:r>
                <a:rPr lang="en-US" sz="2000" dirty="0"/>
                <a:t>M</a:t>
              </a:r>
            </a:p>
          </p:txBody>
        </p:sp>
        <p:sp>
          <p:nvSpPr>
            <p:cNvPr id="29" name="TextBox 28"/>
            <p:cNvSpPr txBox="1"/>
            <p:nvPr/>
          </p:nvSpPr>
          <p:spPr>
            <a:xfrm>
              <a:off x="9616892" y="2142239"/>
              <a:ext cx="697258" cy="799599"/>
            </a:xfrm>
            <a:prstGeom prst="rect">
              <a:avLst/>
            </a:prstGeom>
            <a:noFill/>
            <a:ln>
              <a:noFill/>
            </a:ln>
          </p:spPr>
          <p:txBody>
            <a:bodyPr wrap="square" rtlCol="0">
              <a:spAutoFit/>
            </a:bodyPr>
            <a:lstStyle/>
            <a:p>
              <a:pPr algn="ctr"/>
              <a:r>
                <a:rPr lang="en-US" sz="2000" dirty="0"/>
                <a:t>1</a:t>
              </a:r>
            </a:p>
          </p:txBody>
        </p:sp>
        <p:cxnSp>
          <p:nvCxnSpPr>
            <p:cNvPr id="30" name="Straight Connector 29"/>
            <p:cNvCxnSpPr/>
            <p:nvPr/>
          </p:nvCxnSpPr>
          <p:spPr>
            <a:xfrm>
              <a:off x="7085192" y="2817762"/>
              <a:ext cx="8355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Content Placeholder 2"/>
          <p:cNvSpPr>
            <a:spLocks noGrp="1"/>
          </p:cNvSpPr>
          <p:nvPr>
            <p:ph sz="half" idx="1"/>
          </p:nvPr>
        </p:nvSpPr>
        <p:spPr>
          <a:xfrm>
            <a:off x="1882788" y="5350922"/>
            <a:ext cx="8549239" cy="992512"/>
          </a:xfrm>
        </p:spPr>
        <p:txBody>
          <a:bodyPr>
            <a:noAutofit/>
          </a:bodyPr>
          <a:lstStyle/>
          <a:p>
            <a:pPr marL="0" indent="0" algn="just">
              <a:lnSpc>
                <a:spcPct val="110000"/>
              </a:lnSpc>
              <a:spcBef>
                <a:spcPct val="25000"/>
              </a:spcBef>
              <a:spcAft>
                <a:spcPct val="10000"/>
              </a:spcAft>
              <a:buNone/>
            </a:pPr>
            <a:r>
              <a:rPr lang="en-US" altLang="en-US" sz="2000" dirty="0">
                <a:latin typeface="Calibri" panose="020F0502020204030204" pitchFamily="34" charset="0"/>
                <a:cs typeface="Calibri" panose="020F0502020204030204" pitchFamily="34" charset="0"/>
              </a:rPr>
              <a:t>And </a:t>
            </a:r>
            <a:r>
              <a:rPr lang="en-US" altLang="en-US" sz="2000" dirty="0" err="1">
                <a:latin typeface="Calibri" panose="020F0502020204030204" pitchFamily="34" charset="0"/>
                <a:cs typeface="Calibri" panose="020F0502020204030204" pitchFamily="34" charset="0"/>
              </a:rPr>
              <a:t>everytime</a:t>
            </a:r>
            <a:r>
              <a:rPr lang="en-US" altLang="en-US" sz="2000" dirty="0">
                <a:latin typeface="Calibri" panose="020F0502020204030204" pitchFamily="34" charset="0"/>
                <a:cs typeface="Calibri" panose="020F0502020204030204" pitchFamily="34" charset="0"/>
              </a:rPr>
              <a:t>, we have two tables, A and B, that both have a relationship with a third table W, in the way shown above (W is the many side of both relationships), then, as a consequence, there is a many-to-many relationship between A and B.</a:t>
            </a:r>
            <a:endParaRPr lang="en-US" altLang="ja-JP" sz="2000" dirty="0">
              <a:latin typeface="Calibri" panose="020F0502020204030204" pitchFamily="34" charset="0"/>
              <a:cs typeface="Calibri" panose="020F0502020204030204" pitchFamily="34" charset="0"/>
            </a:endParaRPr>
          </a:p>
          <a:p>
            <a:pPr>
              <a:lnSpc>
                <a:spcPct val="110000"/>
              </a:lnSpc>
            </a:pPr>
            <a:endParaRPr lang="en-US" sz="1800" dirty="0"/>
          </a:p>
        </p:txBody>
      </p:sp>
    </p:spTree>
    <p:extLst>
      <p:ext uri="{BB962C8B-B14F-4D97-AF65-F5344CB8AC3E}">
        <p14:creationId xmlns:p14="http://schemas.microsoft.com/office/powerpoint/2010/main" val="2375936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731</Words>
  <Application>Microsoft Office PowerPoint</Application>
  <PresentationFormat>Widescreen</PresentationFormat>
  <Paragraphs>155</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Many-to-many relationships I</vt:lpstr>
      <vt:lpstr>Outline</vt:lpstr>
      <vt:lpstr>The Focus Group</vt:lpstr>
      <vt:lpstr>Many-to-Many Relationships I The Focus Group</vt:lpstr>
      <vt:lpstr>PowerPoint Presentation</vt:lpstr>
      <vt:lpstr>PowerPoint Presentation</vt:lpstr>
      <vt:lpstr>PowerPoint Presentation</vt:lpstr>
      <vt:lpstr>Many-to-many relationships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Many-to-many relationships I</dc:title>
  <dc:creator>Disha Parkhi</dc:creator>
  <cp:lastModifiedBy>Disha Parkhi</cp:lastModifiedBy>
  <cp:revision>3</cp:revision>
  <dcterms:created xsi:type="dcterms:W3CDTF">2020-08-22T21:04:45Z</dcterms:created>
  <dcterms:modified xsi:type="dcterms:W3CDTF">2021-03-03T19:55:20Z</dcterms:modified>
</cp:coreProperties>
</file>