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7" r:id="rId3"/>
    <p:sldId id="268" r:id="rId4"/>
    <p:sldId id="269" r:id="rId5"/>
    <p:sldId id="258" r:id="rId6"/>
    <p:sldId id="272" r:id="rId7"/>
    <p:sldId id="259"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67"/>
            <p14:sldId id="268"/>
            <p14:sldId id="269"/>
            <p14:sldId id="258"/>
            <p14:sldId id="272"/>
            <p14:sldId id="259"/>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2C6008FD-B9A5-4A6A-B553-F9DA3388B7DD}"/>
    <pc:docChg chg="undo custSel addSld modSld modSection">
      <pc:chgData name="Disha Parkhi" userId="7ca7a02737f3c9a0" providerId="LiveId" clId="{2C6008FD-B9A5-4A6A-B553-F9DA3388B7DD}" dt="2020-08-22T21:14:59.838" v="6" actId="20577"/>
      <pc:docMkLst>
        <pc:docMk/>
      </pc:docMkLst>
      <pc:sldChg chg="modSp mod">
        <pc:chgData name="Disha Parkhi" userId="7ca7a02737f3c9a0" providerId="LiveId" clId="{2C6008FD-B9A5-4A6A-B553-F9DA3388B7DD}" dt="2020-08-22T21:14:43.327" v="0" actId="21"/>
        <pc:sldMkLst>
          <pc:docMk/>
          <pc:sldMk cId="2996863689" sldId="258"/>
        </pc:sldMkLst>
        <pc:spChg chg="mod">
          <ac:chgData name="Disha Parkhi" userId="7ca7a02737f3c9a0" providerId="LiveId" clId="{2C6008FD-B9A5-4A6A-B553-F9DA3388B7DD}" dt="2020-08-22T21:14:43.327" v="0" actId="21"/>
          <ac:spMkLst>
            <pc:docMk/>
            <pc:sldMk cId="2996863689" sldId="258"/>
            <ac:spMk id="5" creationId="{00000000-0000-0000-0000-000000000000}"/>
          </ac:spMkLst>
        </pc:spChg>
      </pc:sldChg>
      <pc:sldChg chg="modSp mod">
        <pc:chgData name="Disha Parkhi" userId="7ca7a02737f3c9a0" providerId="LiveId" clId="{2C6008FD-B9A5-4A6A-B553-F9DA3388B7DD}" dt="2020-08-22T21:14:59.838" v="6" actId="20577"/>
        <pc:sldMkLst>
          <pc:docMk/>
          <pc:sldMk cId="807477357" sldId="259"/>
        </pc:sldMkLst>
        <pc:spChg chg="mod">
          <ac:chgData name="Disha Parkhi" userId="7ca7a02737f3c9a0" providerId="LiveId" clId="{2C6008FD-B9A5-4A6A-B553-F9DA3388B7DD}" dt="2020-08-22T21:14:59.838" v="6" actId="20577"/>
          <ac:spMkLst>
            <pc:docMk/>
            <pc:sldMk cId="807477357" sldId="259"/>
            <ac:spMk id="5" creationId="{00000000-0000-0000-0000-000000000000}"/>
          </ac:spMkLst>
        </pc:spChg>
      </pc:sldChg>
      <pc:sldChg chg="addSp delSp modSp new mod">
        <pc:chgData name="Disha Parkhi" userId="7ca7a02737f3c9a0" providerId="LiveId" clId="{2C6008FD-B9A5-4A6A-B553-F9DA3388B7DD}" dt="2020-08-22T21:14:51.039" v="5" actId="5793"/>
        <pc:sldMkLst>
          <pc:docMk/>
          <pc:sldMk cId="1082464735" sldId="272"/>
        </pc:sldMkLst>
        <pc:spChg chg="mod">
          <ac:chgData name="Disha Parkhi" userId="7ca7a02737f3c9a0" providerId="LiveId" clId="{2C6008FD-B9A5-4A6A-B553-F9DA3388B7DD}" dt="2020-08-22T21:14:51.039" v="5" actId="5793"/>
          <ac:spMkLst>
            <pc:docMk/>
            <pc:sldMk cId="1082464735" sldId="272"/>
            <ac:spMk id="3" creationId="{85CAC06B-A750-48A7-8B41-F4BD75DA6183}"/>
          </ac:spMkLst>
        </pc:spChg>
        <pc:spChg chg="add del">
          <ac:chgData name="Disha Parkhi" userId="7ca7a02737f3c9a0" providerId="LiveId" clId="{2C6008FD-B9A5-4A6A-B553-F9DA3388B7DD}" dt="2020-08-22T21:14:47.885" v="3" actId="22"/>
          <ac:spMkLst>
            <pc:docMk/>
            <pc:sldMk cId="1082464735" sldId="272"/>
            <ac:spMk id="5" creationId="{181DD820-9E98-482C-AD7F-08D56A675C1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F76B0-6A1D-4E2E-A19C-DBA67A05F1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EE45F5-9D2B-4858-9EF4-EF79188A66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C1C5A3-311F-45A3-A358-09E97F8F74AE}"/>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24C5EFCD-29EF-4C48-8201-9B2B8E25A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E116E-1199-425A-8F10-B24AD731F8BA}"/>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23121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D17B4-BB86-409E-B631-3235EAF2B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4CEF0F-1C0F-4985-A77A-FC75BAAEBE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1E56CB-E716-481F-A590-81D0087F14A6}"/>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551929C5-6E40-4EBB-94B2-8D671C35F0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6DD0C-D37E-4411-A191-5F58F78C2EA0}"/>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871664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AA8B-9638-437E-A5A3-722E1FBE1A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014A0C-83E4-4BA2-B6EE-C36AF90589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736B0C-DE57-418C-9409-C91BC88936F8}"/>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8CFA2719-D000-4108-885F-E6608F5906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75CDB-AEA7-4CC3-AB2D-0ADCD2FEE48E}"/>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1742911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52B05-C6EA-4270-9B1B-27550CA8C8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898EEC-80B9-4C70-82A1-00CB99A51C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6DC95-8C4D-45D8-802E-944DFD6DBF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B9E10C-E6BD-4767-B592-92C828ED807F}"/>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6" name="Footer Placeholder 5">
            <a:extLst>
              <a:ext uri="{FF2B5EF4-FFF2-40B4-BE49-F238E27FC236}">
                <a16:creationId xmlns:a16="http://schemas.microsoft.com/office/drawing/2014/main" id="{280667E1-6571-4E3B-BF03-C9B334EA1A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E23CD2-91E7-4650-AE3B-271DB91CA82C}"/>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265157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81F2E-0010-408D-B075-F1DAA678E9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D87246-667D-49C5-9CB6-9A5F54C88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327E80-DF9A-4B24-94CA-DD4665B2B9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47A9AF-FE28-468F-955F-0FFE76158D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79678C-6F67-442E-9BC3-1F8EF158AB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27D152-7B46-423F-B91E-3D43A88142C8}"/>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8" name="Footer Placeholder 7">
            <a:extLst>
              <a:ext uri="{FF2B5EF4-FFF2-40B4-BE49-F238E27FC236}">
                <a16:creationId xmlns:a16="http://schemas.microsoft.com/office/drawing/2014/main" id="{9F7CEF8D-1768-4CAD-995B-01F59B0EBC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46FE73-AA0F-4A48-BBA2-73F97B31B611}"/>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104700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E91D-B91A-4650-855C-736AA26A3F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B210DC-48DF-4284-9534-8BC59A3CA707}"/>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4" name="Footer Placeholder 3">
            <a:extLst>
              <a:ext uri="{FF2B5EF4-FFF2-40B4-BE49-F238E27FC236}">
                <a16:creationId xmlns:a16="http://schemas.microsoft.com/office/drawing/2014/main" id="{978E0CB4-6F4C-44D0-805A-AD388DD32E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06E38C-3BC4-4D45-8060-D6F943162BAE}"/>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1694909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CCC8E5-522F-4C25-84E0-5502920F8B54}"/>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3" name="Footer Placeholder 2">
            <a:extLst>
              <a:ext uri="{FF2B5EF4-FFF2-40B4-BE49-F238E27FC236}">
                <a16:creationId xmlns:a16="http://schemas.microsoft.com/office/drawing/2014/main" id="{7B0198A8-6ED0-4C0A-99DA-ABD4F2A181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CAD48B-5567-40D4-84EA-64856B6C2DB3}"/>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2659851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F164-1DAD-4861-A031-B2F239AF0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0CBDF7-A707-42E7-8B60-273D7812C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BB4425-E329-4DC8-8C75-AA2FF35D7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74FE0-EC7E-4CF0-B427-FE79CC353189}"/>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6" name="Footer Placeholder 5">
            <a:extLst>
              <a:ext uri="{FF2B5EF4-FFF2-40B4-BE49-F238E27FC236}">
                <a16:creationId xmlns:a16="http://schemas.microsoft.com/office/drawing/2014/main" id="{4E5E9294-3EF5-4451-AB61-D78019741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2C145C-D0B3-4666-8555-D3B2FCD2A3F0}"/>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677838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5C1C-B53D-4EA4-8437-3F45C8C8A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5ED643-B02E-44A4-BC02-2413781D60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01687B-F792-49FE-9C28-02D0CA12B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0EE6CD-F18B-4DB3-BB5F-6E7659DFE5E8}"/>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6" name="Footer Placeholder 5">
            <a:extLst>
              <a:ext uri="{FF2B5EF4-FFF2-40B4-BE49-F238E27FC236}">
                <a16:creationId xmlns:a16="http://schemas.microsoft.com/office/drawing/2014/main" id="{A681D0FF-1F81-42DE-8BAB-7A387FE0D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B66E09-EDC5-4D04-8AC9-4BD7146E8A4B}"/>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153054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5A422-2EB1-49C2-8F9C-A90266ACE2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1C959F-B831-4902-BAF9-ACC873114D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4B198-19AD-4D56-8FC9-FB44D09BA953}"/>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7F29D35C-18B2-464A-9435-E9599F776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F73992-AF7F-46A9-AAFF-17C3469FFB95}"/>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3775105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532F93-3889-4172-B694-B2597B735B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60FF4C-0D8C-4AEB-9663-B200DB2C46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22201-BD3B-4729-85EF-DCFA3F60E10A}"/>
              </a:ext>
            </a:extLst>
          </p:cNvPr>
          <p:cNvSpPr>
            <a:spLocks noGrp="1"/>
          </p:cNvSpPr>
          <p:nvPr>
            <p:ph type="dt" sz="half" idx="10"/>
          </p:nvPr>
        </p:nvSpPr>
        <p:spPr/>
        <p:txBody>
          <a:body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140B8B41-AB72-4628-A0E9-5095AC4E20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0C39B0-88EB-4157-83C6-40625936B198}"/>
              </a:ext>
            </a:extLst>
          </p:cNvPr>
          <p:cNvSpPr>
            <a:spLocks noGrp="1"/>
          </p:cNvSpPr>
          <p:nvPr>
            <p:ph type="sldNum" sz="quarter" idx="12"/>
          </p:nvPr>
        </p:nvSpPr>
        <p:spPr/>
        <p:txBody>
          <a:bodyPr/>
          <a:lstStyle/>
          <a:p>
            <a:fld id="{DCFB8494-DC99-476C-95E8-06C9C0D6A775}" type="slidenum">
              <a:rPr lang="en-US" smtClean="0"/>
              <a:t>‹#›</a:t>
            </a:fld>
            <a:endParaRPr lang="en-US"/>
          </a:p>
        </p:txBody>
      </p:sp>
    </p:spTree>
    <p:extLst>
      <p:ext uri="{BB962C8B-B14F-4D97-AF65-F5344CB8AC3E}">
        <p14:creationId xmlns:p14="http://schemas.microsoft.com/office/powerpoint/2010/main" val="4048691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B5E3C-2063-48EB-9862-F530D9CF3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AB4D39-6DAE-48A0-8420-6BD07F6E8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DFCF0-870C-4480-8B81-3E61877076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64E275-34D8-4CE1-9A78-F479492C92BA}" type="datetimeFigureOut">
              <a:rPr lang="en-US" smtClean="0"/>
              <a:t>8/22/2020</a:t>
            </a:fld>
            <a:endParaRPr lang="en-US"/>
          </a:p>
        </p:txBody>
      </p:sp>
      <p:sp>
        <p:nvSpPr>
          <p:cNvPr id="5" name="Footer Placeholder 4">
            <a:extLst>
              <a:ext uri="{FF2B5EF4-FFF2-40B4-BE49-F238E27FC236}">
                <a16:creationId xmlns:a16="http://schemas.microsoft.com/office/drawing/2014/main" id="{115C282C-A3C2-43C3-9A93-7277E1F6EC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B401C9-688E-44DF-B592-569D00F67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FB8494-DC99-476C-95E8-06C9C0D6A775}" type="slidenum">
              <a:rPr lang="en-US" smtClean="0"/>
              <a:t>‹#›</a:t>
            </a:fld>
            <a:endParaRPr lang="en-US"/>
          </a:p>
        </p:txBody>
      </p:sp>
    </p:spTree>
    <p:extLst>
      <p:ext uri="{BB962C8B-B14F-4D97-AF65-F5344CB8AC3E}">
        <p14:creationId xmlns:p14="http://schemas.microsoft.com/office/powerpoint/2010/main" val="2039701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DB Design of a larger DB</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816288"/>
          </a:xfrm>
        </p:spPr>
        <p:txBody>
          <a:bodyPr/>
          <a:lstStyle/>
          <a:p>
            <a:r>
              <a:rPr lang="en-US" dirty="0"/>
              <a:t>One-to-many relationship</a:t>
            </a:r>
          </a:p>
        </p:txBody>
      </p:sp>
      <p:sp>
        <p:nvSpPr>
          <p:cNvPr id="3" name="Content Placeholder 2"/>
          <p:cNvSpPr>
            <a:spLocks noGrp="1"/>
          </p:cNvSpPr>
          <p:nvPr>
            <p:ph idx="1"/>
          </p:nvPr>
        </p:nvSpPr>
        <p:spPr>
          <a:xfrm>
            <a:off x="1867223" y="2210789"/>
            <a:ext cx="8408932" cy="4013614"/>
          </a:xfrm>
        </p:spPr>
        <p:txBody>
          <a:bodyPr>
            <a:normAutofit fontScale="77500" lnSpcReduction="20000"/>
          </a:bodyPr>
          <a:lstStyle/>
          <a:p>
            <a:pPr marL="0" indent="0" algn="just">
              <a:lnSpc>
                <a:spcPct val="110000"/>
              </a:lnSpc>
              <a:spcBef>
                <a:spcPct val="25000"/>
              </a:spcBef>
              <a:spcAft>
                <a:spcPct val="10000"/>
              </a:spcAft>
              <a:buNone/>
              <a:defRPr/>
            </a:pPr>
            <a:endParaRPr lang="en-US" dirty="0">
              <a:latin typeface="Calibri" charset="0"/>
              <a:cs typeface="Calibri" charset="0"/>
            </a:endParaRPr>
          </a:p>
          <a:p>
            <a:pPr marL="285750" indent="-285750" algn="just">
              <a:lnSpc>
                <a:spcPct val="110000"/>
              </a:lnSpc>
              <a:spcBef>
                <a:spcPct val="25000"/>
              </a:spcBef>
              <a:spcAft>
                <a:spcPct val="10000"/>
              </a:spcAft>
              <a:buFont typeface="Arial"/>
              <a:buChar char="•"/>
              <a:defRPr/>
            </a:pPr>
            <a:r>
              <a:rPr lang="en-US" dirty="0">
                <a:latin typeface="Calibri" charset="0"/>
                <a:cs typeface="Calibri" charset="0"/>
              </a:rPr>
              <a:t>Each record of table A corresponds to 0, 1, 2,</a:t>
            </a:r>
            <a:r>
              <a:rPr lang="is-IS" dirty="0">
                <a:latin typeface="Calibri" charset="0"/>
                <a:cs typeface="Calibri" charset="0"/>
              </a:rPr>
              <a:t>….(many) records of table B</a:t>
            </a:r>
          </a:p>
          <a:p>
            <a:pPr marL="285750" indent="-285750" algn="just">
              <a:lnSpc>
                <a:spcPct val="110000"/>
              </a:lnSpc>
              <a:spcBef>
                <a:spcPct val="25000"/>
              </a:spcBef>
              <a:spcAft>
                <a:spcPct val="10000"/>
              </a:spcAft>
              <a:buFont typeface="Arial"/>
              <a:buChar char="•"/>
              <a:defRPr/>
            </a:pPr>
            <a:r>
              <a:rPr lang="en-US" dirty="0">
                <a:latin typeface="Calibri" charset="0"/>
                <a:cs typeface="Calibri" charset="0"/>
              </a:rPr>
              <a:t>Each</a:t>
            </a:r>
            <a:r>
              <a:rPr lang="is-IS" dirty="0">
                <a:latin typeface="Calibri" charset="0"/>
                <a:cs typeface="Calibri" charset="0"/>
              </a:rPr>
              <a:t> record of table B corresponds to 0 or 1 record of table A</a:t>
            </a:r>
          </a:p>
          <a:p>
            <a:pPr marL="285750" indent="-285750" algn="just">
              <a:lnSpc>
                <a:spcPct val="110000"/>
              </a:lnSpc>
              <a:spcBef>
                <a:spcPct val="25000"/>
              </a:spcBef>
              <a:spcAft>
                <a:spcPct val="10000"/>
              </a:spcAft>
              <a:buFont typeface="Arial"/>
              <a:buChar char="•"/>
              <a:defRPr/>
            </a:pPr>
            <a:endParaRPr lang="is-IS" dirty="0">
              <a:latin typeface="Calibri" charset="0"/>
              <a:cs typeface="Calibri" charset="0"/>
            </a:endParaRPr>
          </a:p>
          <a:p>
            <a:pPr algn="just">
              <a:lnSpc>
                <a:spcPct val="110000"/>
              </a:lnSpc>
              <a:spcBef>
                <a:spcPct val="25000"/>
              </a:spcBef>
              <a:spcAft>
                <a:spcPct val="10000"/>
              </a:spcAft>
              <a:defRPr/>
            </a:pPr>
            <a:r>
              <a:rPr lang="en-US" dirty="0">
                <a:latin typeface="Calibri" charset="0"/>
                <a:cs typeface="Calibri" charset="0"/>
              </a:rPr>
              <a:t>To create this relationship we put the primary key of A as a foreign key in table B (the foreign key is always in </a:t>
            </a:r>
            <a:r>
              <a:rPr lang="ja-JP" altLang="en-US" dirty="0">
                <a:latin typeface="Calibri" charset="0"/>
                <a:cs typeface="Calibri" charset="0"/>
              </a:rPr>
              <a:t>“</a:t>
            </a:r>
            <a:r>
              <a:rPr lang="en-US" altLang="ja-JP" dirty="0">
                <a:latin typeface="Calibri" charset="0"/>
                <a:cs typeface="Calibri" charset="0"/>
              </a:rPr>
              <a:t>the many</a:t>
            </a:r>
            <a:r>
              <a:rPr lang="ja-JP" altLang="en-US" dirty="0">
                <a:latin typeface="Calibri" charset="0"/>
                <a:cs typeface="Calibri" charset="0"/>
              </a:rPr>
              <a:t>”</a:t>
            </a:r>
            <a:r>
              <a:rPr lang="en-US" altLang="ja-JP" dirty="0">
                <a:latin typeface="Calibri" charset="0"/>
                <a:cs typeface="Calibri" charset="0"/>
              </a:rPr>
              <a:t> table).</a:t>
            </a:r>
          </a:p>
          <a:p>
            <a:pPr algn="just">
              <a:lnSpc>
                <a:spcPct val="110000"/>
              </a:lnSpc>
              <a:spcBef>
                <a:spcPct val="25000"/>
              </a:spcBef>
              <a:spcAft>
                <a:spcPct val="10000"/>
              </a:spcAft>
              <a:defRPr/>
            </a:pPr>
            <a:r>
              <a:rPr lang="en-US" altLang="ja-JP" dirty="0">
                <a:latin typeface="Calibri" charset="0"/>
                <a:cs typeface="Calibri" charset="0"/>
              </a:rPr>
              <a:t>The foreign key may be left empty (null), in which case it means that the record of B corresponds to 0 records of A.</a:t>
            </a:r>
            <a:endParaRPr lang="en-US" dirty="0">
              <a:latin typeface="Calibri" charset="0"/>
              <a:cs typeface="Calibri" charset="0"/>
            </a:endParaRPr>
          </a:p>
          <a:p>
            <a:pPr>
              <a:lnSpc>
                <a:spcPct val="110000"/>
              </a:lnSpc>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grpSp>
        <p:nvGrpSpPr>
          <p:cNvPr id="5" name="Group 4"/>
          <p:cNvGrpSpPr/>
          <p:nvPr/>
        </p:nvGrpSpPr>
        <p:grpSpPr>
          <a:xfrm>
            <a:off x="4218624" y="1618862"/>
            <a:ext cx="3352800" cy="593725"/>
            <a:chOff x="1676400" y="1687513"/>
            <a:chExt cx="3352800" cy="593725"/>
          </a:xfrm>
        </p:grpSpPr>
        <p:sp>
          <p:nvSpPr>
            <p:cNvPr id="6" name="TextBox 5"/>
            <p:cNvSpPr txBox="1"/>
            <p:nvPr/>
          </p:nvSpPr>
          <p:spPr>
            <a:xfrm>
              <a:off x="1676400" y="1824038"/>
              <a:ext cx="685800"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A</a:t>
              </a:r>
            </a:p>
          </p:txBody>
        </p:sp>
        <p:sp>
          <p:nvSpPr>
            <p:cNvPr id="7" name="TextBox 6"/>
            <p:cNvSpPr txBox="1"/>
            <p:nvPr/>
          </p:nvSpPr>
          <p:spPr>
            <a:xfrm>
              <a:off x="4343400" y="1824038"/>
              <a:ext cx="685800"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B</a:t>
              </a:r>
            </a:p>
          </p:txBody>
        </p:sp>
        <p:cxnSp>
          <p:nvCxnSpPr>
            <p:cNvPr id="8" name="Straight Connector 3"/>
            <p:cNvCxnSpPr>
              <a:cxnSpLocks noChangeShapeType="1"/>
            </p:cNvCxnSpPr>
            <p:nvPr/>
          </p:nvCxnSpPr>
          <p:spPr bwMode="auto">
            <a:xfrm>
              <a:off x="2362200" y="2052638"/>
              <a:ext cx="1981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cxnSp>
        <p:sp>
          <p:nvSpPr>
            <p:cNvPr id="9" name="Diamond 8"/>
            <p:cNvSpPr/>
            <p:nvPr/>
          </p:nvSpPr>
          <p:spPr bwMode="auto">
            <a:xfrm>
              <a:off x="3124200" y="1824038"/>
              <a:ext cx="533400" cy="457200"/>
            </a:xfrm>
            <a:prstGeom prst="diamond">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pPr>
                <a:defRPr/>
              </a:pPr>
              <a:endParaRPr lang="en-US">
                <a:solidFill>
                  <a:schemeClr val="tx1"/>
                </a:solidFill>
                <a:latin typeface="Times New Roman" pitchFamily="18" charset="0"/>
              </a:endParaRPr>
            </a:p>
          </p:txBody>
        </p:sp>
        <p:sp>
          <p:nvSpPr>
            <p:cNvPr id="10" name="TextBox 7"/>
            <p:cNvSpPr txBox="1">
              <a:spLocks noChangeArrowheads="1"/>
            </p:cNvSpPr>
            <p:nvPr/>
          </p:nvSpPr>
          <p:spPr bwMode="auto">
            <a:xfrm>
              <a:off x="2362200" y="1687513"/>
              <a:ext cx="20574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charset="0"/>
                  <a:ea typeface="MS PGothic" charset="0"/>
                  <a:cs typeface="MS PGothic" charset="0"/>
                </a:defRPr>
              </a:lvl1pPr>
              <a:lvl2pPr marL="742950" indent="-285750">
                <a:defRPr sz="2400">
                  <a:solidFill>
                    <a:schemeClr val="tx1"/>
                  </a:solidFill>
                  <a:latin typeface="Times New Roman" charset="0"/>
                  <a:ea typeface="MS PGothic" charset="0"/>
                  <a:cs typeface="MS PGothic" charset="0"/>
                </a:defRPr>
              </a:lvl2pPr>
              <a:lvl3pPr marL="1143000" indent="-228600">
                <a:defRPr sz="2400">
                  <a:solidFill>
                    <a:schemeClr val="tx1"/>
                  </a:solidFill>
                  <a:latin typeface="Times New Roman" charset="0"/>
                  <a:ea typeface="MS PGothic" charset="0"/>
                  <a:cs typeface="MS PGothic" charset="0"/>
                </a:defRPr>
              </a:lvl3pPr>
              <a:lvl4pPr marL="1600200" indent="-228600">
                <a:defRPr sz="2400">
                  <a:solidFill>
                    <a:schemeClr val="tx1"/>
                  </a:solidFill>
                  <a:latin typeface="Times New Roman" charset="0"/>
                  <a:ea typeface="MS PGothic" charset="0"/>
                  <a:cs typeface="MS PGothic" charset="0"/>
                </a:defRPr>
              </a:lvl4pPr>
              <a:lvl5pPr marL="2057400" indent="-228600">
                <a:defRPr sz="2400">
                  <a:solidFill>
                    <a:schemeClr val="tx1"/>
                  </a:solidFill>
                  <a:latin typeface="Times New Roman" charset="0"/>
                  <a:ea typeface="MS PGothic" charset="0"/>
                  <a:cs typeface="MS PGothic" charset="0"/>
                </a:defRPr>
              </a:lvl5pPr>
              <a:lvl6pPr marL="25146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6pPr>
              <a:lvl7pPr marL="29718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7pPr>
              <a:lvl8pPr marL="34290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8pPr>
              <a:lvl9pPr marL="38862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9pPr>
            </a:lstStyle>
            <a:p>
              <a:r>
                <a:rPr lang="en-US" sz="1800" dirty="0">
                  <a:latin typeface="Calibri" charset="0"/>
                  <a:cs typeface="Calibri" charset="0"/>
                </a:rPr>
                <a:t>1                             M</a:t>
              </a:r>
            </a:p>
          </p:txBody>
        </p:sp>
      </p:grpSp>
    </p:spTree>
    <p:extLst>
      <p:ext uri="{BB962C8B-B14F-4D97-AF65-F5344CB8AC3E}">
        <p14:creationId xmlns:p14="http://schemas.microsoft.com/office/powerpoint/2010/main" val="1336015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4"/>
            <a:ext cx="8079581" cy="930707"/>
          </a:xfrm>
        </p:spPr>
        <p:txBody>
          <a:bodyPr/>
          <a:lstStyle/>
          <a:p>
            <a:r>
              <a:rPr lang="en-US" dirty="0"/>
              <a:t>Subtypes</a:t>
            </a:r>
          </a:p>
        </p:txBody>
      </p:sp>
      <p:sp>
        <p:nvSpPr>
          <p:cNvPr id="3" name="Content Placeholder 2"/>
          <p:cNvSpPr>
            <a:spLocks noGrp="1"/>
          </p:cNvSpPr>
          <p:nvPr>
            <p:ph idx="1"/>
          </p:nvPr>
        </p:nvSpPr>
        <p:spPr>
          <a:xfrm>
            <a:off x="2031206" y="2665968"/>
            <a:ext cx="8065294" cy="3093611"/>
          </a:xfrm>
        </p:spPr>
        <p:txBody>
          <a:bodyPr>
            <a:normAutofit fontScale="85000" lnSpcReduction="20000"/>
          </a:bodyPr>
          <a:lstStyle/>
          <a:p>
            <a:pPr marL="0" indent="0" algn="just">
              <a:lnSpc>
                <a:spcPct val="110000"/>
              </a:lnSpc>
              <a:spcBef>
                <a:spcPct val="25000"/>
              </a:spcBef>
              <a:spcAft>
                <a:spcPct val="10000"/>
              </a:spcAft>
              <a:buNone/>
              <a:defRPr/>
            </a:pPr>
            <a:endParaRPr lang="en-US" dirty="0">
              <a:latin typeface="Calibri" charset="0"/>
              <a:cs typeface="Calibri" charset="0"/>
            </a:endParaRPr>
          </a:p>
          <a:p>
            <a:pPr marL="285750" indent="-285750" algn="just">
              <a:lnSpc>
                <a:spcPct val="110000"/>
              </a:lnSpc>
              <a:spcBef>
                <a:spcPct val="25000"/>
              </a:spcBef>
              <a:spcAft>
                <a:spcPct val="10000"/>
              </a:spcAft>
              <a:buFont typeface="Arial"/>
              <a:buChar char="•"/>
              <a:defRPr/>
            </a:pPr>
            <a:r>
              <a:rPr lang="en-US" dirty="0">
                <a:latin typeface="Calibri" charset="0"/>
                <a:cs typeface="Calibri" charset="0"/>
              </a:rPr>
              <a:t>Each record of table A corresponds to 0 or 1 </a:t>
            </a:r>
            <a:r>
              <a:rPr lang="is-IS" dirty="0">
                <a:latin typeface="Calibri" charset="0"/>
                <a:cs typeface="Calibri" charset="0"/>
              </a:rPr>
              <a:t>record of table B</a:t>
            </a:r>
          </a:p>
          <a:p>
            <a:pPr marL="285750" indent="-285750" algn="just">
              <a:lnSpc>
                <a:spcPct val="110000"/>
              </a:lnSpc>
              <a:spcBef>
                <a:spcPct val="25000"/>
              </a:spcBef>
              <a:spcAft>
                <a:spcPct val="10000"/>
              </a:spcAft>
              <a:buFont typeface="Arial"/>
              <a:buChar char="•"/>
              <a:defRPr/>
            </a:pPr>
            <a:r>
              <a:rPr lang="en-US" dirty="0">
                <a:latin typeface="Calibri" charset="0"/>
                <a:cs typeface="Calibri" charset="0"/>
              </a:rPr>
              <a:t>Each</a:t>
            </a:r>
            <a:r>
              <a:rPr lang="is-IS" dirty="0">
                <a:latin typeface="Calibri" charset="0"/>
                <a:cs typeface="Calibri" charset="0"/>
              </a:rPr>
              <a:t> record of table B corresponds to 1 record of table A</a:t>
            </a:r>
            <a:endParaRPr lang="en-US" dirty="0">
              <a:latin typeface="Calibri" charset="0"/>
              <a:cs typeface="Calibri" charset="0"/>
            </a:endParaRPr>
          </a:p>
          <a:p>
            <a:pPr algn="just">
              <a:lnSpc>
                <a:spcPct val="110000"/>
              </a:lnSpc>
              <a:spcBef>
                <a:spcPct val="25000"/>
              </a:spcBef>
              <a:spcAft>
                <a:spcPct val="10000"/>
              </a:spcAft>
              <a:defRPr/>
            </a:pPr>
            <a:endParaRPr lang="en-US" dirty="0">
              <a:latin typeface="Calibri" charset="0"/>
              <a:cs typeface="Calibri" charset="0"/>
            </a:endParaRPr>
          </a:p>
          <a:p>
            <a:pPr algn="just">
              <a:lnSpc>
                <a:spcPct val="110000"/>
              </a:lnSpc>
              <a:spcBef>
                <a:spcPct val="25000"/>
              </a:spcBef>
              <a:spcAft>
                <a:spcPct val="10000"/>
              </a:spcAft>
              <a:defRPr/>
            </a:pPr>
            <a:r>
              <a:rPr lang="en-US" dirty="0">
                <a:latin typeface="Calibri" charset="0"/>
                <a:cs typeface="Calibri" charset="0"/>
              </a:rPr>
              <a:t>To create this relationship we put the primary key of A as a foreign key in table B and also as its primary key (this ensures that to each record of B corresponds a single record of A</a:t>
            </a:r>
            <a:r>
              <a:rPr lang="en-US" altLang="ja-JP" dirty="0">
                <a:latin typeface="Calibri" charset="0"/>
                <a:cs typeface="Calibri" charset="0"/>
              </a:rPr>
              <a:t>).</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grpSp>
        <p:nvGrpSpPr>
          <p:cNvPr id="5" name="Group 4"/>
          <p:cNvGrpSpPr/>
          <p:nvPr/>
        </p:nvGrpSpPr>
        <p:grpSpPr>
          <a:xfrm>
            <a:off x="4275829" y="1710965"/>
            <a:ext cx="3352800" cy="505857"/>
            <a:chOff x="1676400" y="1447800"/>
            <a:chExt cx="3352800" cy="505857"/>
          </a:xfrm>
        </p:grpSpPr>
        <p:sp>
          <p:nvSpPr>
            <p:cNvPr id="6" name="TextBox 5"/>
            <p:cNvSpPr txBox="1"/>
            <p:nvPr/>
          </p:nvSpPr>
          <p:spPr>
            <a:xfrm>
              <a:off x="1676400" y="1584325"/>
              <a:ext cx="685800"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A</a:t>
              </a:r>
            </a:p>
          </p:txBody>
        </p:sp>
        <p:sp>
          <p:nvSpPr>
            <p:cNvPr id="7" name="TextBox 6"/>
            <p:cNvSpPr txBox="1"/>
            <p:nvPr/>
          </p:nvSpPr>
          <p:spPr>
            <a:xfrm>
              <a:off x="4343400" y="1584325"/>
              <a:ext cx="685800" cy="369332"/>
            </a:xfrm>
            <a:prstGeom prst="rect">
              <a:avLst/>
            </a:prstGeom>
            <a:ln w="63500" cmpd="dbl">
              <a:solidFill>
                <a:schemeClr val="tx1"/>
              </a:solidFill>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B</a:t>
              </a:r>
            </a:p>
          </p:txBody>
        </p:sp>
        <p:cxnSp>
          <p:nvCxnSpPr>
            <p:cNvPr id="8" name="Straight Connector 3"/>
            <p:cNvCxnSpPr>
              <a:cxnSpLocks noChangeShapeType="1"/>
            </p:cNvCxnSpPr>
            <p:nvPr/>
          </p:nvCxnSpPr>
          <p:spPr bwMode="auto">
            <a:xfrm>
              <a:off x="2362200" y="1812925"/>
              <a:ext cx="1981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cxnSp>
        <p:sp>
          <p:nvSpPr>
            <p:cNvPr id="9" name="TextBox 7"/>
            <p:cNvSpPr txBox="1">
              <a:spLocks noChangeArrowheads="1"/>
            </p:cNvSpPr>
            <p:nvPr/>
          </p:nvSpPr>
          <p:spPr bwMode="auto">
            <a:xfrm>
              <a:off x="2362200" y="1447800"/>
              <a:ext cx="2057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charset="0"/>
                  <a:ea typeface="MS PGothic" charset="0"/>
                  <a:cs typeface="MS PGothic" charset="0"/>
                </a:defRPr>
              </a:lvl1pPr>
              <a:lvl2pPr marL="742950" indent="-285750">
                <a:defRPr sz="2400">
                  <a:solidFill>
                    <a:schemeClr val="tx1"/>
                  </a:solidFill>
                  <a:latin typeface="Times New Roman" charset="0"/>
                  <a:ea typeface="MS PGothic" charset="0"/>
                  <a:cs typeface="MS PGothic" charset="0"/>
                </a:defRPr>
              </a:lvl2pPr>
              <a:lvl3pPr marL="1143000" indent="-228600">
                <a:defRPr sz="2400">
                  <a:solidFill>
                    <a:schemeClr val="tx1"/>
                  </a:solidFill>
                  <a:latin typeface="Times New Roman" charset="0"/>
                  <a:ea typeface="MS PGothic" charset="0"/>
                  <a:cs typeface="MS PGothic" charset="0"/>
                </a:defRPr>
              </a:lvl3pPr>
              <a:lvl4pPr marL="1600200" indent="-228600">
                <a:defRPr sz="2400">
                  <a:solidFill>
                    <a:schemeClr val="tx1"/>
                  </a:solidFill>
                  <a:latin typeface="Times New Roman" charset="0"/>
                  <a:ea typeface="MS PGothic" charset="0"/>
                  <a:cs typeface="MS PGothic" charset="0"/>
                </a:defRPr>
              </a:lvl4pPr>
              <a:lvl5pPr marL="2057400" indent="-228600">
                <a:defRPr sz="2400">
                  <a:solidFill>
                    <a:schemeClr val="tx1"/>
                  </a:solidFill>
                  <a:latin typeface="Times New Roman" charset="0"/>
                  <a:ea typeface="MS PGothic" charset="0"/>
                  <a:cs typeface="MS PGothic" charset="0"/>
                </a:defRPr>
              </a:lvl5pPr>
              <a:lvl6pPr marL="25146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6pPr>
              <a:lvl7pPr marL="29718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7pPr>
              <a:lvl8pPr marL="34290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8pPr>
              <a:lvl9pPr marL="38862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9pPr>
            </a:lstStyle>
            <a:p>
              <a:r>
                <a:rPr lang="en-US" sz="1800">
                  <a:latin typeface="Calibri" charset="0"/>
                  <a:cs typeface="Calibri" charset="0"/>
                </a:rPr>
                <a:t>1                         0 /1</a:t>
              </a:r>
            </a:p>
          </p:txBody>
        </p:sp>
      </p:grpSp>
    </p:spTree>
    <p:extLst>
      <p:ext uri="{BB962C8B-B14F-4D97-AF65-F5344CB8AC3E}">
        <p14:creationId xmlns:p14="http://schemas.microsoft.com/office/powerpoint/2010/main" val="230914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42324"/>
            <a:ext cx="8079581" cy="976475"/>
          </a:xfrm>
        </p:spPr>
        <p:txBody>
          <a:bodyPr/>
          <a:lstStyle/>
          <a:p>
            <a:r>
              <a:rPr lang="en-US" dirty="0"/>
              <a:t>many-to-many relationship</a:t>
            </a:r>
          </a:p>
        </p:txBody>
      </p:sp>
      <p:sp>
        <p:nvSpPr>
          <p:cNvPr id="3" name="Content Placeholder 2"/>
          <p:cNvSpPr>
            <a:spLocks noGrp="1"/>
          </p:cNvSpPr>
          <p:nvPr>
            <p:ph idx="1"/>
          </p:nvPr>
        </p:nvSpPr>
        <p:spPr>
          <a:xfrm>
            <a:off x="1916798" y="2620200"/>
            <a:ext cx="8393679" cy="3459753"/>
          </a:xfrm>
        </p:spPr>
        <p:txBody>
          <a:bodyPr>
            <a:normAutofit/>
          </a:bodyPr>
          <a:lstStyle/>
          <a:p>
            <a:pPr marL="285750" indent="-285750" algn="just">
              <a:lnSpc>
                <a:spcPct val="110000"/>
              </a:lnSpc>
              <a:spcBef>
                <a:spcPct val="25000"/>
              </a:spcBef>
              <a:spcAft>
                <a:spcPct val="10000"/>
              </a:spcAft>
              <a:buFont typeface="Arial"/>
              <a:buChar char="•"/>
              <a:defRPr/>
            </a:pPr>
            <a:r>
              <a:rPr lang="en-US" sz="2000" dirty="0">
                <a:latin typeface="Calibri" charset="0"/>
                <a:cs typeface="Calibri" charset="0"/>
              </a:rPr>
              <a:t>Each</a:t>
            </a:r>
            <a:r>
              <a:rPr lang="en-US" sz="2200" dirty="0">
                <a:latin typeface="Calibri" charset="0"/>
                <a:cs typeface="Calibri" charset="0"/>
              </a:rPr>
              <a:t> record of table A corresponds to 0, 1, 2, </a:t>
            </a:r>
            <a:r>
              <a:rPr lang="is-IS" sz="2200" dirty="0">
                <a:latin typeface="Calibri" charset="0"/>
                <a:cs typeface="Calibri" charset="0"/>
              </a:rPr>
              <a:t>… records of table B</a:t>
            </a:r>
          </a:p>
          <a:p>
            <a:pPr marL="285750" indent="-285750" algn="just">
              <a:lnSpc>
                <a:spcPct val="110000"/>
              </a:lnSpc>
              <a:spcBef>
                <a:spcPct val="25000"/>
              </a:spcBef>
              <a:spcAft>
                <a:spcPct val="10000"/>
              </a:spcAft>
              <a:buFont typeface="Arial"/>
              <a:buChar char="•"/>
              <a:defRPr/>
            </a:pPr>
            <a:r>
              <a:rPr lang="en-US" sz="2000" dirty="0">
                <a:latin typeface="Calibri" charset="0"/>
                <a:cs typeface="Calibri" charset="0"/>
              </a:rPr>
              <a:t>Each</a:t>
            </a:r>
            <a:r>
              <a:rPr lang="is-IS" sz="2200" dirty="0">
                <a:latin typeface="Calibri" charset="0"/>
                <a:cs typeface="Calibri" charset="0"/>
              </a:rPr>
              <a:t> record of table B corresponds to </a:t>
            </a:r>
            <a:r>
              <a:rPr lang="en-US" sz="2200" dirty="0">
                <a:latin typeface="Calibri" charset="0"/>
                <a:cs typeface="Calibri" charset="0"/>
              </a:rPr>
              <a:t>0, 1, 2, </a:t>
            </a:r>
            <a:r>
              <a:rPr lang="is-IS" sz="2200" dirty="0">
                <a:latin typeface="Calibri" charset="0"/>
                <a:cs typeface="Calibri" charset="0"/>
              </a:rPr>
              <a:t>… records of table A</a:t>
            </a:r>
            <a:endParaRPr lang="en-US" sz="2200" dirty="0">
              <a:latin typeface="Calibri" charset="0"/>
              <a:cs typeface="Calibri" charset="0"/>
            </a:endParaRPr>
          </a:p>
          <a:p>
            <a:pPr algn="just">
              <a:lnSpc>
                <a:spcPct val="110000"/>
              </a:lnSpc>
              <a:spcBef>
                <a:spcPct val="25000"/>
              </a:spcBef>
              <a:spcAft>
                <a:spcPct val="10000"/>
              </a:spcAft>
              <a:defRPr/>
            </a:pPr>
            <a:endParaRPr lang="en-US" sz="2200" dirty="0">
              <a:latin typeface="Calibri" charset="0"/>
              <a:cs typeface="Calibri" charset="0"/>
            </a:endParaRPr>
          </a:p>
          <a:p>
            <a:pPr algn="just">
              <a:lnSpc>
                <a:spcPct val="110000"/>
              </a:lnSpc>
              <a:spcBef>
                <a:spcPct val="25000"/>
              </a:spcBef>
              <a:spcAft>
                <a:spcPct val="10000"/>
              </a:spcAft>
              <a:defRPr/>
            </a:pPr>
            <a:r>
              <a:rPr lang="en-US" sz="2200" dirty="0">
                <a:latin typeface="Calibri" charset="0"/>
                <a:cs typeface="Calibri" charset="0"/>
              </a:rPr>
              <a:t>To create this relationship we create a new table </a:t>
            </a:r>
            <a:r>
              <a:rPr lang="en-US" sz="2200" dirty="0">
                <a:solidFill>
                  <a:srgbClr val="FF0000"/>
                </a:solidFill>
                <a:latin typeface="Calibri" charset="0"/>
                <a:cs typeface="Calibri" charset="0"/>
              </a:rPr>
              <a:t>W</a:t>
            </a:r>
            <a:r>
              <a:rPr lang="en-US" sz="2200" dirty="0">
                <a:latin typeface="Calibri" charset="0"/>
                <a:cs typeface="Calibri" charset="0"/>
              </a:rPr>
              <a:t>. The primary key of table A and of table B are foreign keys in table W.</a:t>
            </a:r>
            <a:endParaRPr lang="en-US" altLang="ja-JP" sz="2200" dirty="0">
              <a:latin typeface="Calibri" charset="0"/>
              <a:cs typeface="Calibri" charset="0"/>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a:p>
        </p:txBody>
      </p:sp>
      <p:grpSp>
        <p:nvGrpSpPr>
          <p:cNvPr id="12" name="Group 11"/>
          <p:cNvGrpSpPr/>
          <p:nvPr/>
        </p:nvGrpSpPr>
        <p:grpSpPr>
          <a:xfrm>
            <a:off x="4252947" y="1618861"/>
            <a:ext cx="3352800" cy="610168"/>
            <a:chOff x="2728947" y="1618861"/>
            <a:chExt cx="3352800" cy="610168"/>
          </a:xfrm>
        </p:grpSpPr>
        <p:grpSp>
          <p:nvGrpSpPr>
            <p:cNvPr id="5" name="Group 4"/>
            <p:cNvGrpSpPr/>
            <p:nvPr/>
          </p:nvGrpSpPr>
          <p:grpSpPr>
            <a:xfrm>
              <a:off x="2728947" y="1771829"/>
              <a:ext cx="3352800" cy="457200"/>
              <a:chOff x="1676400" y="1600200"/>
              <a:chExt cx="3352800" cy="457200"/>
            </a:xfrm>
          </p:grpSpPr>
          <p:sp>
            <p:nvSpPr>
              <p:cNvPr id="6" name="TextBox 5"/>
              <p:cNvSpPr txBox="1"/>
              <p:nvPr/>
            </p:nvSpPr>
            <p:spPr>
              <a:xfrm>
                <a:off x="1676400" y="1600200"/>
                <a:ext cx="685800"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A</a:t>
                </a:r>
              </a:p>
            </p:txBody>
          </p:sp>
          <p:sp>
            <p:nvSpPr>
              <p:cNvPr id="7" name="TextBox 6"/>
              <p:cNvSpPr txBox="1"/>
              <p:nvPr/>
            </p:nvSpPr>
            <p:spPr>
              <a:xfrm>
                <a:off x="4343400" y="1600200"/>
                <a:ext cx="685800" cy="36933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dirty="0">
                    <a:latin typeface="Calibri"/>
                    <a:cs typeface="Calibri"/>
                  </a:rPr>
                  <a:t>B</a:t>
                </a:r>
              </a:p>
            </p:txBody>
          </p:sp>
          <p:cxnSp>
            <p:nvCxnSpPr>
              <p:cNvPr id="8" name="Straight Connector 3"/>
              <p:cNvCxnSpPr>
                <a:cxnSpLocks noChangeShapeType="1"/>
              </p:cNvCxnSpPr>
              <p:nvPr/>
            </p:nvCxnSpPr>
            <p:spPr bwMode="auto">
              <a:xfrm>
                <a:off x="2362200" y="1828800"/>
                <a:ext cx="1981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xmlns="">
                    <a:noFill/>
                  </a14:hiddenFill>
                </a:ext>
              </a:extLst>
            </p:spPr>
          </p:cxnSp>
          <p:sp>
            <p:nvSpPr>
              <p:cNvPr id="9" name="Diamond 8"/>
              <p:cNvSpPr/>
              <p:nvPr/>
            </p:nvSpPr>
            <p:spPr bwMode="auto">
              <a:xfrm>
                <a:off x="3124200" y="1600200"/>
                <a:ext cx="533400" cy="457200"/>
              </a:xfrm>
              <a:prstGeom prst="diamond">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pPr>
                  <a:defRPr/>
                </a:pPr>
                <a:endParaRPr lang="en-US">
                  <a:solidFill>
                    <a:schemeClr val="tx1"/>
                  </a:solidFill>
                  <a:latin typeface="Times New Roman" pitchFamily="18" charset="0"/>
                </a:endParaRPr>
              </a:p>
            </p:txBody>
          </p:sp>
          <p:sp>
            <p:nvSpPr>
              <p:cNvPr id="10" name="Rectangle 9"/>
              <p:cNvSpPr/>
              <p:nvPr/>
            </p:nvSpPr>
            <p:spPr bwMode="auto">
              <a:xfrm>
                <a:off x="3124200" y="1600200"/>
                <a:ext cx="533400" cy="457200"/>
              </a:xfrm>
              <a:prstGeom prst="rect">
                <a:avLst/>
              </a:prstGeom>
              <a:noFill/>
              <a:ln>
                <a:headEnd type="none" w="sm" len="sm"/>
                <a:tailEnd type="none" w="sm" len="sm"/>
              </a:ln>
            </p:spPr>
            <p:style>
              <a:lnRef idx="2">
                <a:schemeClr val="dk1"/>
              </a:lnRef>
              <a:fillRef idx="1">
                <a:schemeClr val="lt1"/>
              </a:fillRef>
              <a:effectRef idx="0">
                <a:schemeClr val="dk1"/>
              </a:effectRef>
              <a:fontRef idx="minor">
                <a:schemeClr val="dk1"/>
              </a:fontRef>
            </p:style>
            <p:txBody>
              <a:bodyPr/>
              <a:lstStyle/>
              <a:p>
                <a:pPr>
                  <a:defRPr/>
                </a:pPr>
                <a:r>
                  <a:rPr lang="en-US" sz="2000" dirty="0">
                    <a:solidFill>
                      <a:srgbClr val="FF0000"/>
                    </a:solidFill>
                    <a:latin typeface="Calibri"/>
                    <a:cs typeface="Calibri"/>
                  </a:rPr>
                  <a:t> W</a:t>
                </a:r>
              </a:p>
            </p:txBody>
          </p:sp>
        </p:grpSp>
        <p:sp>
          <p:nvSpPr>
            <p:cNvPr id="11" name="TextBox 7"/>
            <p:cNvSpPr txBox="1">
              <a:spLocks noChangeArrowheads="1"/>
            </p:cNvSpPr>
            <p:nvPr/>
          </p:nvSpPr>
          <p:spPr bwMode="auto">
            <a:xfrm>
              <a:off x="3380424" y="1618861"/>
              <a:ext cx="20574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charset="0"/>
                  <a:ea typeface="MS PGothic" charset="0"/>
                  <a:cs typeface="MS PGothic" charset="0"/>
                </a:defRPr>
              </a:lvl1pPr>
              <a:lvl2pPr marL="742950" indent="-285750">
                <a:defRPr sz="2400">
                  <a:solidFill>
                    <a:schemeClr val="tx1"/>
                  </a:solidFill>
                  <a:latin typeface="Times New Roman" charset="0"/>
                  <a:ea typeface="MS PGothic" charset="0"/>
                  <a:cs typeface="MS PGothic" charset="0"/>
                </a:defRPr>
              </a:lvl2pPr>
              <a:lvl3pPr marL="1143000" indent="-228600">
                <a:defRPr sz="2400">
                  <a:solidFill>
                    <a:schemeClr val="tx1"/>
                  </a:solidFill>
                  <a:latin typeface="Times New Roman" charset="0"/>
                  <a:ea typeface="MS PGothic" charset="0"/>
                  <a:cs typeface="MS PGothic" charset="0"/>
                </a:defRPr>
              </a:lvl3pPr>
              <a:lvl4pPr marL="1600200" indent="-228600">
                <a:defRPr sz="2400">
                  <a:solidFill>
                    <a:schemeClr val="tx1"/>
                  </a:solidFill>
                  <a:latin typeface="Times New Roman" charset="0"/>
                  <a:ea typeface="MS PGothic" charset="0"/>
                  <a:cs typeface="MS PGothic" charset="0"/>
                </a:defRPr>
              </a:lvl4pPr>
              <a:lvl5pPr marL="2057400" indent="-228600">
                <a:defRPr sz="2400">
                  <a:solidFill>
                    <a:schemeClr val="tx1"/>
                  </a:solidFill>
                  <a:latin typeface="Times New Roman" charset="0"/>
                  <a:ea typeface="MS PGothic" charset="0"/>
                  <a:cs typeface="MS PGothic" charset="0"/>
                </a:defRPr>
              </a:lvl5pPr>
              <a:lvl6pPr marL="25146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6pPr>
              <a:lvl7pPr marL="29718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7pPr>
              <a:lvl8pPr marL="34290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8pPr>
              <a:lvl9pPr marL="3886200" indent="-228600" eaLnBrk="0" fontAlgn="base" hangingPunct="0">
                <a:spcBef>
                  <a:spcPct val="0"/>
                </a:spcBef>
                <a:spcAft>
                  <a:spcPct val="0"/>
                </a:spcAft>
                <a:defRPr sz="2400">
                  <a:solidFill>
                    <a:schemeClr val="tx1"/>
                  </a:solidFill>
                  <a:latin typeface="Times New Roman" charset="0"/>
                  <a:ea typeface="MS PGothic" charset="0"/>
                  <a:cs typeface="MS PGothic" charset="0"/>
                </a:defRPr>
              </a:lvl9pPr>
            </a:lstStyle>
            <a:p>
              <a:r>
                <a:rPr lang="en-US" sz="1800" dirty="0">
                  <a:latin typeface="Calibri" charset="0"/>
                  <a:cs typeface="Calibri" charset="0"/>
                </a:rPr>
                <a:t>M                            </a:t>
              </a:r>
              <a:r>
                <a:rPr lang="en-US" sz="1800" dirty="0" err="1">
                  <a:latin typeface="Calibri" charset="0"/>
                  <a:cs typeface="Calibri" charset="0"/>
                </a:rPr>
                <a:t>M</a:t>
              </a:r>
              <a:endParaRPr lang="en-US" sz="1800" dirty="0">
                <a:latin typeface="Calibri" charset="0"/>
                <a:cs typeface="Calibri" charset="0"/>
              </a:endParaRPr>
            </a:p>
          </p:txBody>
        </p:sp>
      </p:grpSp>
    </p:spTree>
    <p:extLst>
      <p:ext uri="{BB962C8B-B14F-4D97-AF65-F5344CB8AC3E}">
        <p14:creationId xmlns:p14="http://schemas.microsoft.com/office/powerpoint/2010/main" val="3739453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0" y="148754"/>
            <a:ext cx="9144000" cy="6458525"/>
          </a:xfrm>
        </p:spPr>
        <p:txBody>
          <a:bodyPr>
            <a:noAutofit/>
          </a:bodyPr>
          <a:lstStyle/>
          <a:p>
            <a:pPr algn="just">
              <a:lnSpc>
                <a:spcPct val="95000"/>
              </a:lnSpc>
            </a:pPr>
            <a:r>
              <a:rPr lang="en-US" dirty="0"/>
              <a:t>You have volunteered to design a database for your local library. </a:t>
            </a:r>
          </a:p>
          <a:p>
            <a:pPr algn="just">
              <a:lnSpc>
                <a:spcPct val="95000"/>
              </a:lnSpc>
            </a:pPr>
            <a:r>
              <a:rPr lang="en-US" dirty="0">
                <a:solidFill>
                  <a:srgbClr val="008000"/>
                </a:solidFill>
              </a:rPr>
              <a:t>Each title carried by the library is identified by a unique "ISBN" code. You will also assign a unique code to each author represented in the library's collection. Some "authors" are companies and some do not have traditional Western names, so you will not divide author names into a "first" and "last" part.  </a:t>
            </a:r>
          </a:p>
          <a:p>
            <a:pPr algn="just">
              <a:lnSpc>
                <a:spcPct val="95000"/>
              </a:lnSpc>
            </a:pPr>
            <a:r>
              <a:rPr lang="en-US" dirty="0">
                <a:solidFill>
                  <a:srgbClr val="FF0000"/>
                </a:solidFill>
              </a:rPr>
              <a:t>Some books have more than one author. Sometimes the order in which authors are listed is important, so that information needs to be stored in some way. For each author, you will store the following, when applicable:  date of birth, date of death, and country they were born.</a:t>
            </a:r>
          </a:p>
        </p:txBody>
      </p:sp>
      <p:sp>
        <p:nvSpPr>
          <p:cNvPr id="3" name="Slide Number Placeholder 2"/>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2996863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7C8C-29C6-4B44-8334-585C05415C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CAC06B-A750-48A7-8B41-F4BD75DA6183}"/>
              </a:ext>
            </a:extLst>
          </p:cNvPr>
          <p:cNvSpPr>
            <a:spLocks noGrp="1"/>
          </p:cNvSpPr>
          <p:nvPr>
            <p:ph idx="1"/>
          </p:nvPr>
        </p:nvSpPr>
        <p:spPr/>
        <p:txBody>
          <a:bodyPr/>
          <a:lstStyle/>
          <a:p>
            <a:pPr algn="just">
              <a:lnSpc>
                <a:spcPct val="95000"/>
              </a:lnSpc>
            </a:pPr>
            <a:r>
              <a:rPr lang="en-US" dirty="0">
                <a:solidFill>
                  <a:srgbClr val="FF0000"/>
                </a:solidFill>
              </a:rPr>
              <a:t>A few of the authors are local and occasionally come to the library for readings, book signings, and so forth.  For these authors, you keep contact information including address, e-mail, and phone number.</a:t>
            </a:r>
          </a:p>
          <a:p>
            <a:pPr algn="just">
              <a:lnSpc>
                <a:spcPct val="95000"/>
              </a:lnSpc>
            </a:pPr>
            <a:r>
              <a:rPr lang="en-US" dirty="0">
                <a:solidFill>
                  <a:srgbClr val="3366FF"/>
                </a:solidFill>
              </a:rPr>
              <a:t>Each book has a single publisher.  You assign a unique code to each publisher, and want to store the publisher's name and contact information.  For each book, you want to store its publication date.</a:t>
            </a:r>
          </a:p>
          <a:p>
            <a:pPr marL="0" indent="0">
              <a:buNone/>
            </a:pPr>
            <a:endParaRPr lang="en-US" dirty="0"/>
          </a:p>
        </p:txBody>
      </p:sp>
    </p:spTree>
    <p:extLst>
      <p:ext uri="{BB962C8B-B14F-4D97-AF65-F5344CB8AC3E}">
        <p14:creationId xmlns:p14="http://schemas.microsoft.com/office/powerpoint/2010/main" val="1082464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0" y="145456"/>
            <a:ext cx="9144000" cy="5865091"/>
          </a:xfrm>
        </p:spPr>
        <p:txBody>
          <a:bodyPr>
            <a:noAutofit/>
          </a:bodyPr>
          <a:lstStyle/>
          <a:p>
            <a:pPr algn="just">
              <a:lnSpc>
                <a:spcPct val="100000"/>
              </a:lnSpc>
            </a:pPr>
            <a:r>
              <a:rPr lang="en-US" dirty="0">
                <a:solidFill>
                  <a:srgbClr val="660066"/>
                </a:solidFill>
              </a:rPr>
              <a:t>You have more than one copy of some books.  Each copy is identified by a unique bar code number.  For each copy, you want to store the date it was acquired, and whether it was acquired used or new.</a:t>
            </a:r>
            <a:endParaRPr lang="en-US" dirty="0">
              <a:solidFill>
                <a:srgbClr val="000090"/>
              </a:solidFill>
            </a:endParaRPr>
          </a:p>
          <a:p>
            <a:pPr algn="just">
              <a:lnSpc>
                <a:spcPct val="100000"/>
              </a:lnSpc>
            </a:pPr>
            <a:r>
              <a:rPr lang="en-US" dirty="0">
                <a:solidFill>
                  <a:srgbClr val="000090"/>
                </a:solidFill>
              </a:rPr>
              <a:t>You have a large number of borrowers, each identified by a unique library card number.  For each borrower, you keep contact information, including address, phone number, and e-mail address.  You want to keep track of all past and present borrowing, including borrow date and return date (return date does not apply to books currently on loan), and the number of times the loan has been renewed. </a:t>
            </a:r>
          </a:p>
          <a:p>
            <a:pPr algn="just">
              <a:lnSpc>
                <a:spcPct val="100000"/>
              </a:lnSpc>
            </a:pPr>
            <a:r>
              <a:rPr lang="en-US" dirty="0"/>
              <a:t>Assume you </a:t>
            </a:r>
            <a:r>
              <a:rPr lang="en-US" i="1" dirty="0"/>
              <a:t>do</a:t>
            </a:r>
            <a:r>
              <a:rPr lang="en-US" dirty="0"/>
              <a:t> have access to a zip code </a:t>
            </a:r>
            <a:r>
              <a:rPr lang="en-US"/>
              <a:t>table.</a:t>
            </a:r>
            <a:endParaRPr lang="en-US" dirty="0"/>
          </a:p>
          <a:p>
            <a:pPr>
              <a:lnSpc>
                <a:spcPct val="100000"/>
              </a:lnSpc>
            </a:pPr>
            <a:r>
              <a:rPr lang="en-US" b="1" dirty="0"/>
              <a:t>Draw an entity-relationship diagram and write a design outline of the database. </a:t>
            </a:r>
          </a:p>
        </p:txBody>
      </p:sp>
      <p:sp>
        <p:nvSpPr>
          <p:cNvPr id="3" name="Slide Number Placeholder 2"/>
          <p:cNvSpPr>
            <a:spLocks noGrp="1"/>
          </p:cNvSpPr>
          <p:nvPr>
            <p:ph type="sldNum" sz="quarter" idx="12"/>
          </p:nvPr>
        </p:nvSpPr>
        <p:spPr/>
        <p:txBody>
          <a:bodyPr/>
          <a:lstStyle/>
          <a:p>
            <a:fld id="{87F3E754-1C97-4481-A18C-9D97ADBDF344}" type="slidenum">
              <a:rPr lang="en-US" smtClean="0"/>
              <a:t>7</a:t>
            </a:fld>
            <a:endParaRPr lang="en-US"/>
          </a:p>
        </p:txBody>
      </p:sp>
    </p:spTree>
    <p:extLst>
      <p:ext uri="{BB962C8B-B14F-4D97-AF65-F5344CB8AC3E}">
        <p14:creationId xmlns:p14="http://schemas.microsoft.com/office/powerpoint/2010/main" val="807477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0575" y="327379"/>
            <a:ext cx="8997425" cy="656101"/>
          </a:xfrm>
        </p:spPr>
        <p:txBody>
          <a:bodyPr>
            <a:noAutofit/>
          </a:bodyPr>
          <a:lstStyle/>
          <a:p>
            <a:r>
              <a:rPr lang="en-US" sz="4200" dirty="0"/>
              <a:t>Solution (very incomplete, just the basics….)</a:t>
            </a:r>
          </a:p>
        </p:txBody>
      </p:sp>
      <p:sp>
        <p:nvSpPr>
          <p:cNvPr id="3" name="Content Placeholder 2"/>
          <p:cNvSpPr>
            <a:spLocks noGrp="1"/>
          </p:cNvSpPr>
          <p:nvPr>
            <p:ph idx="1"/>
          </p:nvPr>
        </p:nvSpPr>
        <p:spPr>
          <a:xfrm>
            <a:off x="1820733" y="1353313"/>
            <a:ext cx="8697106" cy="4801881"/>
          </a:xfrm>
        </p:spPr>
        <p:txBody>
          <a:bodyPr>
            <a:noAutofit/>
          </a:bodyPr>
          <a:lstStyle/>
          <a:p>
            <a:r>
              <a:rPr lang="en-US" sz="2000" dirty="0"/>
              <a:t>ZIPCODE (</a:t>
            </a:r>
            <a:r>
              <a:rPr lang="en-US" sz="2000" u="sng" dirty="0"/>
              <a:t>Zip</a:t>
            </a:r>
            <a:r>
              <a:rPr lang="en-US" sz="2000" dirty="0"/>
              <a:t>, City, State)</a:t>
            </a:r>
          </a:p>
          <a:p>
            <a:r>
              <a:rPr lang="en-US" sz="1000" dirty="0"/>
              <a:t> </a:t>
            </a:r>
          </a:p>
          <a:p>
            <a:r>
              <a:rPr lang="en-US" sz="2000" dirty="0"/>
              <a:t>AUTHOR (</a:t>
            </a:r>
            <a:r>
              <a:rPr lang="en-US" sz="2000" u="sng" dirty="0" err="1"/>
              <a:t>AuthorID</a:t>
            </a:r>
            <a:r>
              <a:rPr lang="en-US" sz="2000" dirty="0"/>
              <a:t>, Name, </a:t>
            </a:r>
            <a:r>
              <a:rPr lang="en-US" sz="2000" dirty="0" err="1"/>
              <a:t>BirthDate</a:t>
            </a:r>
            <a:r>
              <a:rPr lang="en-US" sz="2000" dirty="0"/>
              <a:t>, </a:t>
            </a:r>
            <a:r>
              <a:rPr lang="en-US" sz="2000" dirty="0" err="1"/>
              <a:t>DeathDate</a:t>
            </a:r>
            <a:r>
              <a:rPr lang="en-US" sz="2000" dirty="0"/>
              <a:t>, </a:t>
            </a:r>
            <a:r>
              <a:rPr lang="en-US" sz="2000" dirty="0" err="1"/>
              <a:t>BirthNationality</a:t>
            </a:r>
            <a:r>
              <a:rPr lang="en-US" sz="2000" dirty="0"/>
              <a:t>)</a:t>
            </a:r>
          </a:p>
          <a:p>
            <a:r>
              <a:rPr lang="en-US" sz="1000" dirty="0"/>
              <a:t>  </a:t>
            </a:r>
          </a:p>
          <a:p>
            <a:r>
              <a:rPr lang="en-US" sz="2000" dirty="0"/>
              <a:t>BORROWER (</a:t>
            </a:r>
            <a:r>
              <a:rPr lang="en-US" sz="2000" u="sng" dirty="0" err="1"/>
              <a:t>CardNumber</a:t>
            </a:r>
            <a:r>
              <a:rPr lang="en-US" sz="2000" dirty="0"/>
              <a:t>, </a:t>
            </a:r>
            <a:r>
              <a:rPr lang="en-US" sz="2000" dirty="0" err="1"/>
              <a:t>FName</a:t>
            </a:r>
            <a:r>
              <a:rPr lang="en-US" sz="2000" dirty="0"/>
              <a:t>, </a:t>
            </a:r>
            <a:r>
              <a:rPr lang="en-US" sz="2000" dirty="0" err="1"/>
              <a:t>MName</a:t>
            </a:r>
            <a:r>
              <a:rPr lang="en-US" sz="2000" dirty="0"/>
              <a:t>, </a:t>
            </a:r>
            <a:r>
              <a:rPr lang="en-US" sz="2000" dirty="0" err="1"/>
              <a:t>LName</a:t>
            </a:r>
            <a:r>
              <a:rPr lang="en-US" sz="2000" dirty="0"/>
              <a:t>, Address, Zip, Phone, </a:t>
            </a:r>
            <a:r>
              <a:rPr lang="en-US" sz="2000" dirty="0" err="1"/>
              <a:t>EMail</a:t>
            </a:r>
            <a:r>
              <a:rPr lang="en-US" sz="2000" dirty="0"/>
              <a:t>)</a:t>
            </a:r>
          </a:p>
          <a:p>
            <a:r>
              <a:rPr lang="en-US" sz="2000" dirty="0"/>
              <a:t>     Zip foreign key to ZIPCODE</a:t>
            </a:r>
          </a:p>
          <a:p>
            <a:endParaRPr lang="en-US" sz="1000" dirty="0"/>
          </a:p>
          <a:p>
            <a:r>
              <a:rPr lang="en-US" sz="2000" dirty="0"/>
              <a:t>PUBLISHER (</a:t>
            </a:r>
            <a:r>
              <a:rPr lang="en-US" sz="2000" u="sng" dirty="0" err="1"/>
              <a:t>PublisherID</a:t>
            </a:r>
            <a:r>
              <a:rPr lang="en-US" sz="2000" dirty="0"/>
              <a:t>, Name, Address, Zip, Phone, Email, …..</a:t>
            </a:r>
          </a:p>
          <a:p>
            <a:r>
              <a:rPr lang="en-US" sz="2000" dirty="0"/>
              <a:t>     Zip foreign key to ZIPCODE</a:t>
            </a:r>
          </a:p>
          <a:p>
            <a:r>
              <a:rPr lang="en-US" sz="1000" dirty="0"/>
              <a:t> </a:t>
            </a:r>
          </a:p>
          <a:p>
            <a:r>
              <a:rPr lang="en-US" sz="2000" dirty="0"/>
              <a:t>BOOK (</a:t>
            </a:r>
            <a:r>
              <a:rPr lang="en-US" sz="2000" u="sng" dirty="0"/>
              <a:t>ISBN</a:t>
            </a:r>
            <a:r>
              <a:rPr lang="en-US" sz="2000" dirty="0"/>
              <a:t>, Title, </a:t>
            </a:r>
            <a:r>
              <a:rPr lang="en-US" sz="2000" dirty="0" err="1"/>
              <a:t>DatePublished</a:t>
            </a:r>
            <a:r>
              <a:rPr lang="en-US" sz="2000" dirty="0"/>
              <a:t>, …..</a:t>
            </a:r>
          </a:p>
          <a:p>
            <a:endParaRPr lang="en-US" sz="1000" dirty="0"/>
          </a:p>
          <a:p>
            <a:r>
              <a:rPr lang="en-US" sz="2000" dirty="0"/>
              <a:t>COPY (</a:t>
            </a:r>
            <a:r>
              <a:rPr lang="en-US" sz="2000" u="sng" dirty="0" err="1"/>
              <a:t>BarCode</a:t>
            </a:r>
            <a:r>
              <a:rPr lang="en-US" sz="2000" dirty="0"/>
              <a:t>, ISBN, </a:t>
            </a:r>
            <a:r>
              <a:rPr lang="en-US" sz="2000" dirty="0" err="1"/>
              <a:t>AcquireDate</a:t>
            </a:r>
            <a:r>
              <a:rPr lang="en-US" sz="2000" dirty="0"/>
              <a:t>, </a:t>
            </a:r>
            <a:r>
              <a:rPr lang="en-US" sz="2000" dirty="0" err="1"/>
              <a:t>UsedOrNew</a:t>
            </a:r>
            <a:r>
              <a:rPr lang="en-US" sz="2000" dirty="0"/>
              <a:t>,  …..</a:t>
            </a:r>
          </a:p>
          <a:p>
            <a:r>
              <a:rPr lang="en-US" dirty="0"/>
              <a:t>...</a:t>
            </a:r>
            <a:endParaRPr lang="en-US" sz="1100" dirty="0"/>
          </a:p>
          <a:p>
            <a:endParaRPr lang="en-US" sz="2000" dirty="0"/>
          </a:p>
          <a:p>
            <a:r>
              <a:rPr lang="en-US" sz="2000" dirty="0"/>
              <a:t> </a:t>
            </a:r>
          </a:p>
        </p:txBody>
      </p:sp>
      <p:sp>
        <p:nvSpPr>
          <p:cNvPr id="4" name="Slide Number Placeholder 3"/>
          <p:cNvSpPr>
            <a:spLocks noGrp="1"/>
          </p:cNvSpPr>
          <p:nvPr>
            <p:ph type="sldNum" sz="quarter" idx="12"/>
          </p:nvPr>
        </p:nvSpPr>
        <p:spPr/>
        <p:txBody>
          <a:bodyPr/>
          <a:lstStyle/>
          <a:p>
            <a:fld id="{87F3E754-1C97-4481-A18C-9D97ADBDF344}" type="slidenum">
              <a:rPr lang="en-US" smtClean="0"/>
              <a:t>8</a:t>
            </a:fld>
            <a:endParaRPr lang="en-US"/>
          </a:p>
        </p:txBody>
      </p:sp>
    </p:spTree>
    <p:extLst>
      <p:ext uri="{BB962C8B-B14F-4D97-AF65-F5344CB8AC3E}">
        <p14:creationId xmlns:p14="http://schemas.microsoft.com/office/powerpoint/2010/main" val="3343838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719</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DB Design of a larger DB</vt:lpstr>
      <vt:lpstr>One-to-many relationship</vt:lpstr>
      <vt:lpstr>Subtypes</vt:lpstr>
      <vt:lpstr>many-to-many relationship</vt:lpstr>
      <vt:lpstr>PowerPoint Presentation</vt:lpstr>
      <vt:lpstr>PowerPoint Presentation</vt:lpstr>
      <vt:lpstr>PowerPoint Presentation</vt:lpstr>
      <vt:lpstr>Solution (very incomplete, just the basics….)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 Design of a larger DB</dc:title>
  <dc:creator>Disha Parkhi</dc:creator>
  <cp:lastModifiedBy>Disha Parkhi</cp:lastModifiedBy>
  <cp:revision>1</cp:revision>
  <dcterms:created xsi:type="dcterms:W3CDTF">2020-08-22T21:13:30Z</dcterms:created>
  <dcterms:modified xsi:type="dcterms:W3CDTF">2020-08-22T21:15:02Z</dcterms:modified>
</cp:coreProperties>
</file>