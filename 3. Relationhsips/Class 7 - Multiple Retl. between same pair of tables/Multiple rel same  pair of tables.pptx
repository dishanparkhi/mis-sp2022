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318" r:id="rId4"/>
    <p:sldId id="319" r:id="rId5"/>
    <p:sldId id="321" r:id="rId6"/>
    <p:sldId id="320" r:id="rId7"/>
    <p:sldId id="322" r:id="rId8"/>
    <p:sldId id="323" r:id="rId9"/>
    <p:sldId id="32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2008D-43F3-4264-941F-487151B80BC1}">
          <p14:sldIdLst>
            <p14:sldId id="257"/>
            <p14:sldId id="258"/>
            <p14:sldId id="318"/>
            <p14:sldId id="319"/>
            <p14:sldId id="321"/>
            <p14:sldId id="320"/>
            <p14:sldId id="322"/>
            <p14:sldId id="323"/>
            <p14:sldId id="32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55DC3-86A9-4F10-A026-131E57B204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049C05-2D73-4EA1-8544-B4E98C032C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E64FFD-E5C0-4EE0-9BB5-785117A9C6DD}"/>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5" name="Footer Placeholder 4">
            <a:extLst>
              <a:ext uri="{FF2B5EF4-FFF2-40B4-BE49-F238E27FC236}">
                <a16:creationId xmlns:a16="http://schemas.microsoft.com/office/drawing/2014/main" id="{20571DF5-776A-4394-8783-A38DA4646C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3A1B9C-C0A1-4476-B92E-26542B9D028B}"/>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405342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251F6-BB0A-4689-9731-526AE7FCD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CFCB48-13A7-4780-B186-643B61FF5F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4AC2AB-F6A7-459A-879E-06D4C800030D}"/>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5" name="Footer Placeholder 4">
            <a:extLst>
              <a:ext uri="{FF2B5EF4-FFF2-40B4-BE49-F238E27FC236}">
                <a16:creationId xmlns:a16="http://schemas.microsoft.com/office/drawing/2014/main" id="{42781DD2-A1F7-48B5-B9B8-A6FD4BFA73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EF544-7BE9-420F-A006-4CEBBD40DAEC}"/>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253215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1FE89-1D45-43E3-A12F-B556F7F7CF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94B1A3-F79A-4DE6-B67B-386EFF0DA8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C004F7-E9B0-4978-BE19-739210BF772C}"/>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5" name="Footer Placeholder 4">
            <a:extLst>
              <a:ext uri="{FF2B5EF4-FFF2-40B4-BE49-F238E27FC236}">
                <a16:creationId xmlns:a16="http://schemas.microsoft.com/office/drawing/2014/main" id="{A81722D5-B1EE-4AE9-B43B-725E4AC925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FAB8E-6730-4F5B-B2DD-4AE2BD9A410B}"/>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9453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8B98-23CA-4A13-98CB-94EF5A9A53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104E67-68E5-4F81-BBE5-D8B203D339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0B60-3D43-4655-BB1C-DEF63939AD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DEB1C7-78C4-40A7-AB86-E6793BD37005}"/>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6" name="Footer Placeholder 5">
            <a:extLst>
              <a:ext uri="{FF2B5EF4-FFF2-40B4-BE49-F238E27FC236}">
                <a16:creationId xmlns:a16="http://schemas.microsoft.com/office/drawing/2014/main" id="{496BDC1D-3804-407C-A459-ACECF8EC44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6275E6-E3AB-49DF-9631-705048ED2C8C}"/>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1550234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187C6-72D9-489A-B2B4-62268DCBC4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4383AD-859A-42DD-A964-F147AC74D2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CC6F1F-62ED-42DF-9090-FC8309273D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98A385-FF82-4793-829C-F1E157C155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2EEE55-BF9A-4AAC-9D2E-8AF1121D02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86B332-23A8-494A-9A33-D5DE60D9707E}"/>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8" name="Footer Placeholder 7">
            <a:extLst>
              <a:ext uri="{FF2B5EF4-FFF2-40B4-BE49-F238E27FC236}">
                <a16:creationId xmlns:a16="http://schemas.microsoft.com/office/drawing/2014/main" id="{C8EAA84C-4420-49C6-A55D-995F31C647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7FD219-9765-47A5-A47D-6B7BC34AD088}"/>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4560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D2B33-F734-4300-9A2B-88061F0223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61C243-59A2-41F6-89A8-87C96E85E207}"/>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4" name="Footer Placeholder 3">
            <a:extLst>
              <a:ext uri="{FF2B5EF4-FFF2-40B4-BE49-F238E27FC236}">
                <a16:creationId xmlns:a16="http://schemas.microsoft.com/office/drawing/2014/main" id="{0AB64785-2B78-478A-B078-768813D0A3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2CDED2-C100-45A7-A38A-81BA061B60BC}"/>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3846697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6C13D4-FD93-4C9C-A907-C1E7CD899E70}"/>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3" name="Footer Placeholder 2">
            <a:extLst>
              <a:ext uri="{FF2B5EF4-FFF2-40B4-BE49-F238E27FC236}">
                <a16:creationId xmlns:a16="http://schemas.microsoft.com/office/drawing/2014/main" id="{E1D59DD3-63A9-4B61-8C8A-E1BE1E59A1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1431BE-D3CC-416A-AFFB-539892F0C0BA}"/>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3202616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8CF0A-6096-48CD-BBEF-99E17C9719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586E35-A858-44D4-8B0D-24FD53B00D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5F452D-97AF-445C-8A66-95E087F8CC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2BC5E-F231-466A-88AC-E06BB8026C79}"/>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6" name="Footer Placeholder 5">
            <a:extLst>
              <a:ext uri="{FF2B5EF4-FFF2-40B4-BE49-F238E27FC236}">
                <a16:creationId xmlns:a16="http://schemas.microsoft.com/office/drawing/2014/main" id="{E784A1D6-0513-406B-93B2-1A8A587F98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F1790C-CED7-4A50-BAB3-2A9AB94A1BE6}"/>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47875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E514-2553-4FAF-991D-9F30D3955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FAAF0B-B1A1-4ECF-B083-EAFD71BBC0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24A338-193B-4D2B-B84C-FE52CC834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AF51BB-4AB8-4E6C-A3DD-04A7B179AD73}"/>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6" name="Footer Placeholder 5">
            <a:extLst>
              <a:ext uri="{FF2B5EF4-FFF2-40B4-BE49-F238E27FC236}">
                <a16:creationId xmlns:a16="http://schemas.microsoft.com/office/drawing/2014/main" id="{8D4D2F9F-FD8D-4242-A6E8-828F0817E2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7E8B89-585E-4658-A842-5CAAC1ED1876}"/>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1824023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86071-A6EF-4127-8562-A151C3C1E5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F067D-2CCD-4F6D-82DD-56063A5FD7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727D5F-CBD3-4E94-9FB3-1361FF1090B9}"/>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5" name="Footer Placeholder 4">
            <a:extLst>
              <a:ext uri="{FF2B5EF4-FFF2-40B4-BE49-F238E27FC236}">
                <a16:creationId xmlns:a16="http://schemas.microsoft.com/office/drawing/2014/main" id="{74B7504B-7974-4CCE-89EA-C6E6F95B00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FC4864-07A5-41BE-8AD6-7A7DADC866FA}"/>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1860422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B84EB3-0309-4187-A4AF-8977F20576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41D78D-714B-4AB7-A5C9-F5A6B1E556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0AE16-ACB6-4DE7-8A71-547B96A91B90}"/>
              </a:ext>
            </a:extLst>
          </p:cNvPr>
          <p:cNvSpPr>
            <a:spLocks noGrp="1"/>
          </p:cNvSpPr>
          <p:nvPr>
            <p:ph type="dt" sz="half" idx="10"/>
          </p:nvPr>
        </p:nvSpPr>
        <p:spPr/>
        <p:txBody>
          <a:bodyPr/>
          <a:lstStyle/>
          <a:p>
            <a:fld id="{550603C0-CF3D-48C1-ACFA-57155B9534B5}" type="datetimeFigureOut">
              <a:rPr lang="en-US" smtClean="0"/>
              <a:t>8/22/2020</a:t>
            </a:fld>
            <a:endParaRPr lang="en-US"/>
          </a:p>
        </p:txBody>
      </p:sp>
      <p:sp>
        <p:nvSpPr>
          <p:cNvPr id="5" name="Footer Placeholder 4">
            <a:extLst>
              <a:ext uri="{FF2B5EF4-FFF2-40B4-BE49-F238E27FC236}">
                <a16:creationId xmlns:a16="http://schemas.microsoft.com/office/drawing/2014/main" id="{7D6D15BB-CC16-4297-823B-965935600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9BAC4F-77A5-41F1-AADE-61467AEA5F8C}"/>
              </a:ext>
            </a:extLst>
          </p:cNvPr>
          <p:cNvSpPr>
            <a:spLocks noGrp="1"/>
          </p:cNvSpPr>
          <p:nvPr>
            <p:ph type="sldNum" sz="quarter" idx="12"/>
          </p:nvPr>
        </p:nvSpPr>
        <p:spPr/>
        <p:txBody>
          <a:bodyPr/>
          <a:lstStyle/>
          <a:p>
            <a:fld id="{FEB74E22-4A3A-44C8-8C50-42DF685D0222}" type="slidenum">
              <a:rPr lang="en-US" smtClean="0"/>
              <a:t>‹#›</a:t>
            </a:fld>
            <a:endParaRPr lang="en-US"/>
          </a:p>
        </p:txBody>
      </p:sp>
    </p:spTree>
    <p:extLst>
      <p:ext uri="{BB962C8B-B14F-4D97-AF65-F5344CB8AC3E}">
        <p14:creationId xmlns:p14="http://schemas.microsoft.com/office/powerpoint/2010/main" val="1886766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C20919-AF82-4768-938D-31F148EBB7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F13B66-86CE-4FD3-90DA-9B5CDB9010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D90AAE-AA4F-4FB0-B3F5-90572B9ABE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0603C0-CF3D-48C1-ACFA-57155B9534B5}" type="datetimeFigureOut">
              <a:rPr lang="en-US" smtClean="0"/>
              <a:t>8/22/2020</a:t>
            </a:fld>
            <a:endParaRPr lang="en-US"/>
          </a:p>
        </p:txBody>
      </p:sp>
      <p:sp>
        <p:nvSpPr>
          <p:cNvPr id="5" name="Footer Placeholder 4">
            <a:extLst>
              <a:ext uri="{FF2B5EF4-FFF2-40B4-BE49-F238E27FC236}">
                <a16:creationId xmlns:a16="http://schemas.microsoft.com/office/drawing/2014/main" id="{88B49C84-A59E-491B-B5AA-5DC7706BBA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AB6DA5-20C2-4080-8DC1-513CF46BED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74E22-4A3A-44C8-8C50-42DF685D0222}" type="slidenum">
              <a:rPr lang="en-US" smtClean="0"/>
              <a:t>‹#›</a:t>
            </a:fld>
            <a:endParaRPr lang="en-US"/>
          </a:p>
        </p:txBody>
      </p:sp>
    </p:spTree>
    <p:extLst>
      <p:ext uri="{BB962C8B-B14F-4D97-AF65-F5344CB8AC3E}">
        <p14:creationId xmlns:p14="http://schemas.microsoft.com/office/powerpoint/2010/main" val="1501820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6628" y="770467"/>
            <a:ext cx="8691372" cy="4077106"/>
          </a:xfrm>
        </p:spPr>
        <p:txBody>
          <a:bodyPr/>
          <a:lstStyle/>
          <a:p>
            <a:r>
              <a:rPr lang="en-US" dirty="0"/>
              <a:t>Multiple relationships between the same  two tables</a:t>
            </a:r>
          </a:p>
        </p:txBody>
      </p:sp>
      <p:sp>
        <p:nvSpPr>
          <p:cNvPr id="3" name="Subtitle 2"/>
          <p:cNvSpPr>
            <a:spLocks noGrp="1"/>
          </p:cNvSpPr>
          <p:nvPr>
            <p:ph type="subTitle" idx="1"/>
          </p:nvPr>
        </p:nvSpPr>
        <p:spPr>
          <a:xfrm>
            <a:off x="1976629" y="4533372"/>
            <a:ext cx="8038719" cy="1645920"/>
          </a:xfrm>
        </p:spPr>
        <p:txBody>
          <a:bodyPr>
            <a:normAutofit/>
          </a:bodyPr>
          <a:lstStyle/>
          <a:p>
            <a:endParaRPr lang="en-US" b="1" dirty="0"/>
          </a:p>
          <a:p>
            <a:r>
              <a:rPr lang="en-US" b="1" dirty="0"/>
              <a:t>Management Information Systems</a:t>
            </a:r>
          </a:p>
          <a:p>
            <a:r>
              <a:rPr lang="en-US" sz="2000"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96" y="229078"/>
            <a:ext cx="8079581" cy="1213357"/>
          </a:xfrm>
        </p:spPr>
        <p:txBody>
          <a:bodyPr/>
          <a:lstStyle/>
          <a:p>
            <a:r>
              <a:rPr lang="en-US" dirty="0"/>
              <a:t>Outline</a:t>
            </a:r>
          </a:p>
        </p:txBody>
      </p:sp>
      <p:sp>
        <p:nvSpPr>
          <p:cNvPr id="3" name="Slide Number Placeholder 2"/>
          <p:cNvSpPr>
            <a:spLocks noGrp="1"/>
          </p:cNvSpPr>
          <p:nvPr>
            <p:ph type="sldNum" sz="quarter" idx="12"/>
          </p:nvPr>
        </p:nvSpPr>
        <p:spPr/>
        <p:txBody>
          <a:bodyPr/>
          <a:lstStyle/>
          <a:p>
            <a:fld id="{87F3E754-1C97-4481-A18C-9D97ADBDF344}" type="slidenum">
              <a:rPr lang="en-US" smtClean="0"/>
              <a:t>2</a:t>
            </a:fld>
            <a:endParaRPr lang="en-US"/>
          </a:p>
        </p:txBody>
      </p:sp>
      <p:sp>
        <p:nvSpPr>
          <p:cNvPr id="4" name="Rectangle 5"/>
          <p:cNvSpPr>
            <a:spLocks noChangeArrowheads="1"/>
          </p:cNvSpPr>
          <p:nvPr/>
        </p:nvSpPr>
        <p:spPr bwMode="auto">
          <a:xfrm>
            <a:off x="1849496" y="1987689"/>
            <a:ext cx="4719869" cy="2401299"/>
          </a:xfrm>
          <a:prstGeom prst="rect">
            <a:avLst/>
          </a:prstGeom>
          <a:noFill/>
          <a:ln w="9525">
            <a:noFill/>
            <a:miter lim="800000"/>
            <a:headEnd/>
            <a:tailEnd/>
          </a:ln>
          <a:effectLst/>
        </p:spPr>
        <p:txBody>
          <a:bodyPr wrap="square" lIns="92075" tIns="46038" rIns="92075" bIns="46038">
            <a:spAutoFit/>
          </a:bodyPr>
          <a:lstStyle/>
          <a:p>
            <a:pPr algn="just"/>
            <a:endParaRPr lang="en-US" sz="2500" dirty="0"/>
          </a:p>
          <a:p>
            <a:pPr marL="342900" indent="-342900" algn="just">
              <a:buFont typeface="Wingdings" panose="05000000000000000000" pitchFamily="2" charset="2"/>
              <a:buChar char="§"/>
            </a:pPr>
            <a:r>
              <a:rPr lang="en-US" sz="2500" b="1" dirty="0"/>
              <a:t>Multiple relationships between the same pair of tables</a:t>
            </a:r>
            <a:r>
              <a:rPr lang="en-US" sz="2500" dirty="0"/>
              <a:t>:</a:t>
            </a:r>
          </a:p>
          <a:p>
            <a:pPr marL="800100" lvl="1" indent="-342900" algn="just">
              <a:buFont typeface="Wingdings" panose="05000000000000000000" pitchFamily="2" charset="2"/>
              <a:buChar char="§"/>
            </a:pPr>
            <a:r>
              <a:rPr lang="en-US" sz="2500" dirty="0"/>
              <a:t>The College</a:t>
            </a:r>
          </a:p>
          <a:p>
            <a:pPr lvl="1" algn="just"/>
            <a:endParaRPr lang="en-US" sz="2500" dirty="0"/>
          </a:p>
          <a:p>
            <a:pPr marL="800100" lvl="1" indent="-342900" algn="just">
              <a:buFont typeface="Wingdings" panose="05000000000000000000" pitchFamily="2" charset="2"/>
              <a:buChar char="§"/>
            </a:pPr>
            <a:endParaRPr lang="en-US" sz="2500" dirty="0"/>
          </a:p>
        </p:txBody>
      </p:sp>
      <p:sp>
        <p:nvSpPr>
          <p:cNvPr id="5" name="Content Placeholder 8"/>
          <p:cNvSpPr txBox="1">
            <a:spLocks/>
          </p:cNvSpPr>
          <p:nvPr/>
        </p:nvSpPr>
        <p:spPr>
          <a:xfrm>
            <a:off x="6961909" y="1993393"/>
            <a:ext cx="3163455" cy="3192383"/>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i="1" dirty="0"/>
              <a:t> Chapter 8: 171-184</a:t>
            </a:r>
          </a:p>
          <a:p>
            <a:pPr marL="0" indent="0">
              <a:lnSpc>
                <a:spcPct val="100000"/>
              </a:lnSpc>
              <a:buNone/>
            </a:pPr>
            <a:r>
              <a:rPr lang="en-US" i="1" dirty="0"/>
              <a:t>We are doing only one example in class, the other examples in the chapter are good practice exercises.</a:t>
            </a:r>
          </a:p>
          <a:p>
            <a:pPr marL="0" indent="0">
              <a:lnSpc>
                <a:spcPct val="100000"/>
              </a:lnSpc>
              <a:buNone/>
            </a:pPr>
            <a:endParaRPr lang="en-US" dirty="0"/>
          </a:p>
        </p:txBody>
      </p:sp>
    </p:spTree>
    <p:extLst>
      <p:ext uri="{BB962C8B-B14F-4D97-AF65-F5344CB8AC3E}">
        <p14:creationId xmlns:p14="http://schemas.microsoft.com/office/powerpoint/2010/main" val="107293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6628" y="767419"/>
            <a:ext cx="8283125" cy="2539452"/>
          </a:xfrm>
        </p:spPr>
        <p:txBody>
          <a:bodyPr/>
          <a:lstStyle/>
          <a:p>
            <a:r>
              <a:rPr lang="en-US" dirty="0"/>
              <a:t>The College</a:t>
            </a:r>
          </a:p>
        </p:txBody>
      </p:sp>
      <p:sp>
        <p:nvSpPr>
          <p:cNvPr id="3" name="Text Placeholder 2"/>
          <p:cNvSpPr>
            <a:spLocks noGrp="1"/>
          </p:cNvSpPr>
          <p:nvPr>
            <p:ph type="body" idx="1"/>
          </p:nvPr>
        </p:nvSpPr>
        <p:spPr>
          <a:xfrm>
            <a:off x="2099790" y="3779062"/>
            <a:ext cx="8405371" cy="2050687"/>
          </a:xfrm>
        </p:spPr>
        <p:txBody>
          <a:bodyPr>
            <a:normAutofit/>
          </a:bodyPr>
          <a:lstStyle/>
          <a:p>
            <a:r>
              <a:rPr lang="en-US" dirty="0"/>
              <a:t>DB Design Exercise</a:t>
            </a:r>
          </a:p>
          <a:p>
            <a:endParaRPr lang="en-US" dirty="0"/>
          </a:p>
          <a:p>
            <a:r>
              <a:rPr lang="en-US" b="1" i="1" dirty="0"/>
              <a:t>Note: for the sake of saving time, in class, we are going to work on a simplified version of the corresponding problem from the book.</a:t>
            </a:r>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Tree>
    <p:extLst>
      <p:ext uri="{BB962C8B-B14F-4D97-AF65-F5344CB8AC3E}">
        <p14:creationId xmlns:p14="http://schemas.microsoft.com/office/powerpoint/2010/main" val="383730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33315" y="232632"/>
            <a:ext cx="8426439" cy="6625368"/>
          </a:xfrm>
        </p:spPr>
        <p:txBody>
          <a:bodyPr>
            <a:noAutofit/>
          </a:bodyPr>
          <a:lstStyle/>
          <a:p>
            <a:pPr algn="just">
              <a:lnSpc>
                <a:spcPct val="100000"/>
              </a:lnSpc>
            </a:pPr>
            <a:r>
              <a:rPr lang="en-US" dirty="0"/>
              <a:t>We want to keep basic information about courses, instructors, and departments.  We need to keep information about students' schedules for the current semester, and their grades from prior courses (we may also store their schedules from prior semesters if we wish).  We also want to store instructors' schedules for both the current semester and past ones.</a:t>
            </a:r>
          </a:p>
          <a:p>
            <a:pPr marL="0" indent="0" algn="just">
              <a:lnSpc>
                <a:spcPct val="100000"/>
              </a:lnSpc>
              <a:buNone/>
            </a:pPr>
            <a:endParaRPr lang="en-US" sz="1050" dirty="0"/>
          </a:p>
          <a:p>
            <a:pPr algn="just">
              <a:lnSpc>
                <a:spcPct val="100000"/>
              </a:lnSpc>
            </a:pPr>
            <a:r>
              <a:rPr lang="en-US" dirty="0">
                <a:solidFill>
                  <a:srgbClr val="0070C0"/>
                </a:solidFill>
              </a:rPr>
              <a:t>The college consists of </a:t>
            </a:r>
            <a:r>
              <a:rPr lang="en-US" i="1" dirty="0">
                <a:solidFill>
                  <a:srgbClr val="0070C0"/>
                </a:solidFill>
              </a:rPr>
              <a:t>departments</a:t>
            </a:r>
            <a:r>
              <a:rPr lang="en-US" dirty="0">
                <a:solidFill>
                  <a:srgbClr val="0070C0"/>
                </a:solidFill>
              </a:rPr>
              <a:t>, identified both by their full names and by unique three-letter codes such as ENG, MTH, CIS, MAN, and so forth. </a:t>
            </a:r>
          </a:p>
          <a:p>
            <a:pPr algn="just">
              <a:lnSpc>
                <a:spcPct val="100000"/>
              </a:lnSpc>
            </a:pPr>
            <a:endParaRPr lang="en-US" sz="1200" dirty="0"/>
          </a:p>
          <a:p>
            <a:pPr algn="just">
              <a:lnSpc>
                <a:spcPct val="100000"/>
              </a:lnSpc>
            </a:pPr>
            <a:r>
              <a:rPr lang="en-US" dirty="0">
                <a:solidFill>
                  <a:srgbClr val="00B050"/>
                </a:solidFill>
              </a:rPr>
              <a:t>Each instructor has a </a:t>
            </a:r>
            <a:r>
              <a:rPr lang="en-US" i="1" dirty="0">
                <a:solidFill>
                  <a:srgbClr val="00B050"/>
                </a:solidFill>
              </a:rPr>
              <a:t>home department</a:t>
            </a:r>
            <a:r>
              <a:rPr lang="en-US" dirty="0">
                <a:solidFill>
                  <a:srgbClr val="00B050"/>
                </a:solidFill>
              </a:rPr>
              <a:t>.  We wish to store the home department, and to keep basic contact information on each instructor, including name, office address, email, and office phone.  </a:t>
            </a:r>
          </a:p>
        </p:txBody>
      </p:sp>
      <p:sp>
        <p:nvSpPr>
          <p:cNvPr id="4" name="Slide Number Placeholder 3"/>
          <p:cNvSpPr>
            <a:spLocks noGrp="1"/>
          </p:cNvSpPr>
          <p:nvPr>
            <p:ph type="sldNum" sz="quarter" idx="12"/>
          </p:nvPr>
        </p:nvSpPr>
        <p:spPr/>
        <p:txBody>
          <a:bodyPr/>
          <a:lstStyle/>
          <a:p>
            <a:fld id="{87F3E754-1C97-4481-A18C-9D97ADBDF344}" type="slidenum">
              <a:rPr lang="en-US" smtClean="0"/>
              <a:t>4</a:t>
            </a:fld>
            <a:endParaRPr lang="en-US" dirty="0"/>
          </a:p>
        </p:txBody>
      </p:sp>
    </p:spTree>
    <p:extLst>
      <p:ext uri="{BB962C8B-B14F-4D97-AF65-F5344CB8AC3E}">
        <p14:creationId xmlns:p14="http://schemas.microsoft.com/office/powerpoint/2010/main" val="2613194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33315" y="232632"/>
            <a:ext cx="8576885" cy="6882152"/>
          </a:xfrm>
        </p:spPr>
        <p:txBody>
          <a:bodyPr>
            <a:noAutofit/>
          </a:bodyPr>
          <a:lstStyle/>
          <a:p>
            <a:pPr marL="0" indent="0" algn="just">
              <a:lnSpc>
                <a:spcPct val="100000"/>
              </a:lnSpc>
              <a:buNone/>
            </a:pPr>
            <a:r>
              <a:rPr lang="en-US" i="1" dirty="0">
                <a:solidFill>
                  <a:srgbClr val="7030A0"/>
                </a:solidFill>
              </a:rPr>
              <a:t>Courses</a:t>
            </a:r>
            <a:r>
              <a:rPr lang="en-US" dirty="0">
                <a:solidFill>
                  <a:srgbClr val="7030A0"/>
                </a:solidFill>
              </a:rPr>
              <a:t> are identified by a three-letter department code and a three-digit course number, such as ENG101.  Each course has a name and a description.  </a:t>
            </a:r>
          </a:p>
          <a:p>
            <a:pPr marL="0" indent="0" algn="just">
              <a:lnSpc>
                <a:spcPct val="100000"/>
              </a:lnSpc>
              <a:buNone/>
            </a:pPr>
            <a:endParaRPr lang="en-US" sz="1000" dirty="0">
              <a:solidFill>
                <a:srgbClr val="7030A0"/>
              </a:solidFill>
            </a:endParaRPr>
          </a:p>
          <a:p>
            <a:pPr marL="0" indent="0" algn="just">
              <a:lnSpc>
                <a:spcPct val="100000"/>
              </a:lnSpc>
              <a:buNone/>
            </a:pPr>
            <a:r>
              <a:rPr lang="en-US" dirty="0">
                <a:solidFill>
                  <a:srgbClr val="C00000"/>
                </a:solidFill>
              </a:rPr>
              <a:t>Courses may have multiple </a:t>
            </a:r>
            <a:r>
              <a:rPr lang="en-US" i="1" dirty="0">
                <a:solidFill>
                  <a:srgbClr val="C00000"/>
                </a:solidFill>
              </a:rPr>
              <a:t>sections</a:t>
            </a:r>
            <a:r>
              <a:rPr lang="en-US" dirty="0">
                <a:solidFill>
                  <a:srgbClr val="C00000"/>
                </a:solidFill>
              </a:rPr>
              <a:t>, which are identified by one additional letter appended to the course name, as in CIS223A.  Sometimes there is only one section of a course (in which case it is usually "A"), but sometimes there are multiple sections, as in ENG101A, ENG101B, and ENG101C. </a:t>
            </a:r>
          </a:p>
          <a:p>
            <a:pPr marL="0" indent="0" algn="just">
              <a:lnSpc>
                <a:spcPct val="100000"/>
              </a:lnSpc>
              <a:buNone/>
            </a:pPr>
            <a:endParaRPr lang="en-US" sz="1000" dirty="0"/>
          </a:p>
          <a:p>
            <a:pPr marL="0" indent="0" algn="just">
              <a:lnSpc>
                <a:spcPct val="100000"/>
              </a:lnSpc>
              <a:buNone/>
            </a:pPr>
            <a:r>
              <a:rPr lang="en-US" dirty="0">
                <a:solidFill>
                  <a:srgbClr val="00B050"/>
                </a:solidFill>
              </a:rPr>
              <a:t>Each semester, a single instructor is responsible for each section.  This instructor is usually in the same department as the course, but does not have to be. </a:t>
            </a:r>
          </a:p>
        </p:txBody>
      </p:sp>
      <p:sp>
        <p:nvSpPr>
          <p:cNvPr id="4" name="Slide Number Placeholder 3"/>
          <p:cNvSpPr>
            <a:spLocks noGrp="1"/>
          </p:cNvSpPr>
          <p:nvPr>
            <p:ph type="sldNum" sz="quarter" idx="12"/>
          </p:nvPr>
        </p:nvSpPr>
        <p:spPr/>
        <p:txBody>
          <a:bodyPr/>
          <a:lstStyle/>
          <a:p>
            <a:fld id="{87F3E754-1C97-4481-A18C-9D97ADBDF344}" type="slidenum">
              <a:rPr lang="en-US" smtClean="0"/>
              <a:t>5</a:t>
            </a:fld>
            <a:endParaRPr lang="en-US"/>
          </a:p>
        </p:txBody>
      </p:sp>
    </p:spTree>
    <p:extLst>
      <p:ext uri="{BB962C8B-B14F-4D97-AF65-F5344CB8AC3E}">
        <p14:creationId xmlns:p14="http://schemas.microsoft.com/office/powerpoint/2010/main" val="3725964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2869" y="295262"/>
            <a:ext cx="8576885" cy="6931525"/>
          </a:xfrm>
        </p:spPr>
        <p:txBody>
          <a:bodyPr>
            <a:noAutofit/>
          </a:bodyPr>
          <a:lstStyle/>
          <a:p>
            <a:pPr marL="0" indent="0" algn="just">
              <a:lnSpc>
                <a:spcPct val="100000"/>
              </a:lnSpc>
              <a:buNone/>
            </a:pPr>
            <a:r>
              <a:rPr lang="en-US" dirty="0">
                <a:solidFill>
                  <a:srgbClr val="00B0F0"/>
                </a:solidFill>
              </a:rPr>
              <a:t>Each semester, a student can take multiple courses.  You want to use the database to store student schedules, that is, the sections being taken by each student each semester.  Once the semester is over, you want to store the student's grade in each class.</a:t>
            </a:r>
          </a:p>
          <a:p>
            <a:pPr algn="just">
              <a:lnSpc>
                <a:spcPct val="100000"/>
              </a:lnSpc>
            </a:pPr>
            <a:endParaRPr lang="en-US" sz="1200" dirty="0">
              <a:solidFill>
                <a:srgbClr val="7030A0"/>
              </a:solidFill>
            </a:endParaRPr>
          </a:p>
          <a:p>
            <a:pPr marL="0" indent="0" algn="just">
              <a:lnSpc>
                <a:spcPct val="100000"/>
              </a:lnSpc>
              <a:buNone/>
            </a:pPr>
            <a:r>
              <a:rPr lang="en-US" dirty="0">
                <a:solidFill>
                  <a:srgbClr val="7030A0"/>
                </a:solidFill>
              </a:rPr>
              <a:t>Finally, you want to store contact information for each student (name, campus address, phone number, and e-mail). </a:t>
            </a:r>
          </a:p>
          <a:p>
            <a:pPr marL="0" indent="0" algn="just">
              <a:lnSpc>
                <a:spcPct val="100000"/>
              </a:lnSpc>
              <a:buNone/>
            </a:pPr>
            <a:r>
              <a:rPr lang="en-US" dirty="0"/>
              <a:t> </a:t>
            </a:r>
          </a:p>
          <a:p>
            <a:pPr marL="0" indent="0" algn="just">
              <a:lnSpc>
                <a:spcPct val="100000"/>
              </a:lnSpc>
              <a:buNone/>
            </a:pPr>
            <a:r>
              <a:rPr lang="en-US" dirty="0">
                <a:solidFill>
                  <a:srgbClr val="FF0000"/>
                </a:solidFill>
              </a:rPr>
              <a:t>After their first few semesters, the students declare themselves as having a single </a:t>
            </a:r>
            <a:r>
              <a:rPr lang="en-US" i="1" dirty="0">
                <a:solidFill>
                  <a:srgbClr val="FF0000"/>
                </a:solidFill>
              </a:rPr>
              <a:t>major</a:t>
            </a:r>
            <a:r>
              <a:rPr lang="en-US" dirty="0">
                <a:solidFill>
                  <a:srgbClr val="FF0000"/>
                </a:solidFill>
              </a:rPr>
              <a:t> in a department.  They may also declare a single </a:t>
            </a:r>
            <a:r>
              <a:rPr lang="en-US" i="1" dirty="0">
                <a:solidFill>
                  <a:srgbClr val="FF0000"/>
                </a:solidFill>
              </a:rPr>
              <a:t>minor</a:t>
            </a:r>
            <a:r>
              <a:rPr lang="en-US" dirty="0">
                <a:solidFill>
                  <a:srgbClr val="FF0000"/>
                </a:solidFill>
              </a:rPr>
              <a:t> in a different department.  You want the system to store major and minor information for all students.  Neither multiple majors nor multiple minors are allowed.  </a:t>
            </a:r>
          </a:p>
          <a:p>
            <a:pPr algn="just">
              <a:lnSpc>
                <a:spcPct val="100000"/>
              </a:lnSpc>
            </a:pPr>
            <a:endParaRPr lang="en-US" sz="1400" dirty="0"/>
          </a:p>
          <a:p>
            <a:pPr algn="just">
              <a:lnSpc>
                <a:spcPct val="100000"/>
              </a:lnSpc>
            </a:pPr>
            <a:r>
              <a:rPr lang="en-US" b="1" dirty="0"/>
              <a:t>Draw a database outline and an entity-relationship diagram.</a:t>
            </a:r>
          </a:p>
          <a:p>
            <a:pPr algn="just">
              <a:lnSpc>
                <a:spcPct val="100000"/>
              </a:lnSpc>
            </a:pPr>
            <a:endParaRPr lang="en-US" sz="2000" dirty="0"/>
          </a:p>
        </p:txBody>
      </p:sp>
      <p:sp>
        <p:nvSpPr>
          <p:cNvPr id="4" name="Slide Number Placeholder 3"/>
          <p:cNvSpPr>
            <a:spLocks noGrp="1"/>
          </p:cNvSpPr>
          <p:nvPr>
            <p:ph type="sldNum" sz="quarter" idx="12"/>
          </p:nvPr>
        </p:nvSpPr>
        <p:spPr/>
        <p:txBody>
          <a:bodyPr/>
          <a:lstStyle/>
          <a:p>
            <a:fld id="{87F3E754-1C97-4481-A18C-9D97ADBDF344}" type="slidenum">
              <a:rPr lang="en-US" smtClean="0"/>
              <a:t>6</a:t>
            </a:fld>
            <a:endParaRPr lang="en-US"/>
          </a:p>
        </p:txBody>
      </p:sp>
    </p:spTree>
    <p:extLst>
      <p:ext uri="{BB962C8B-B14F-4D97-AF65-F5344CB8AC3E}">
        <p14:creationId xmlns:p14="http://schemas.microsoft.com/office/powerpoint/2010/main" val="33749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2869" y="513568"/>
            <a:ext cx="8576885" cy="5724395"/>
          </a:xfrm>
        </p:spPr>
        <p:txBody>
          <a:bodyPr>
            <a:noAutofit/>
          </a:bodyPr>
          <a:lstStyle/>
          <a:p>
            <a:pPr algn="just">
              <a:lnSpc>
                <a:spcPct val="100000"/>
              </a:lnSpc>
            </a:pPr>
            <a:r>
              <a:rPr lang="en-US" b="1" i="1" dirty="0"/>
              <a:t>The problem on the book is different than the one we solved in class. It additionally requires that:</a:t>
            </a:r>
          </a:p>
          <a:p>
            <a:pPr algn="just">
              <a:lnSpc>
                <a:spcPct val="100000"/>
              </a:lnSpc>
            </a:pPr>
            <a:endParaRPr lang="en-US" b="1" i="1" dirty="0"/>
          </a:p>
          <a:p>
            <a:pPr algn="just">
              <a:lnSpc>
                <a:spcPct val="100000"/>
              </a:lnSpc>
              <a:buFont typeface="Wingdings" panose="05000000000000000000" pitchFamily="2" charset="2"/>
              <a:buChar char="§"/>
            </a:pPr>
            <a:r>
              <a:rPr lang="en-US" dirty="0"/>
              <a:t> One particular instructor is designated as the </a:t>
            </a:r>
            <a:r>
              <a:rPr lang="en-US" i="1" dirty="0"/>
              <a:t>chairperson</a:t>
            </a:r>
            <a:r>
              <a:rPr lang="en-US" dirty="0"/>
              <a:t> of a department.  We want our system to be able to store the current chairperson for each department (we don't need information about past chairpersons).</a:t>
            </a:r>
          </a:p>
          <a:p>
            <a:pPr algn="just">
              <a:lnSpc>
                <a:spcPct val="100000"/>
              </a:lnSpc>
              <a:buFont typeface="Wingdings" panose="05000000000000000000" pitchFamily="2" charset="2"/>
              <a:buChar char="§"/>
            </a:pPr>
            <a:endParaRPr lang="en-US" dirty="0"/>
          </a:p>
          <a:p>
            <a:pPr algn="just">
              <a:lnSpc>
                <a:spcPct val="100000"/>
              </a:lnSpc>
              <a:buFont typeface="Wingdings" panose="05000000000000000000" pitchFamily="2" charset="2"/>
              <a:buChar char="§"/>
            </a:pPr>
            <a:r>
              <a:rPr lang="en-US" dirty="0"/>
              <a:t> Each section also has a room number and a </a:t>
            </a:r>
            <a:r>
              <a:rPr lang="en-US" i="1" dirty="0"/>
              <a:t>time slot,</a:t>
            </a:r>
            <a:r>
              <a:rPr lang="en-US" dirty="0"/>
              <a:t> such as MWF10AM, for Monday/Wednesday/Friday at 10 AM.  You want to store a table of time slot codes and their meaning. Sometimes a course can have more than one section in the same time slot.</a:t>
            </a:r>
          </a:p>
          <a:p>
            <a:pPr algn="just">
              <a:lnSpc>
                <a:spcPct val="100000"/>
              </a:lnSpc>
            </a:pPr>
            <a:endParaRPr lang="en-US" sz="1400" dirty="0"/>
          </a:p>
        </p:txBody>
      </p:sp>
      <p:sp>
        <p:nvSpPr>
          <p:cNvPr id="4" name="Slide Number Placeholder 3"/>
          <p:cNvSpPr>
            <a:spLocks noGrp="1"/>
          </p:cNvSpPr>
          <p:nvPr>
            <p:ph type="sldNum" sz="quarter" idx="12"/>
          </p:nvPr>
        </p:nvSpPr>
        <p:spPr/>
        <p:txBody>
          <a:bodyPr/>
          <a:lstStyle/>
          <a:p>
            <a:fld id="{87F3E754-1C97-4481-A18C-9D97ADBDF344}" type="slidenum">
              <a:rPr lang="en-US" smtClean="0"/>
              <a:t>7</a:t>
            </a:fld>
            <a:endParaRPr lang="en-US"/>
          </a:p>
        </p:txBody>
      </p:sp>
    </p:spTree>
    <p:extLst>
      <p:ext uri="{BB962C8B-B14F-4D97-AF65-F5344CB8AC3E}">
        <p14:creationId xmlns:p14="http://schemas.microsoft.com/office/powerpoint/2010/main" val="2209261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1549" y="126911"/>
            <a:ext cx="8079581" cy="1181181"/>
          </a:xfrm>
        </p:spPr>
        <p:txBody>
          <a:bodyPr>
            <a:normAutofit fontScale="90000"/>
          </a:bodyPr>
          <a:lstStyle/>
          <a:p>
            <a:r>
              <a:rPr lang="en-US" dirty="0"/>
              <a:t>A relationship with composite keys in Access</a:t>
            </a:r>
          </a:p>
        </p:txBody>
      </p:sp>
      <p:sp>
        <p:nvSpPr>
          <p:cNvPr id="5" name="Slide Number Placeholder 4"/>
          <p:cNvSpPr>
            <a:spLocks noGrp="1"/>
          </p:cNvSpPr>
          <p:nvPr>
            <p:ph type="sldNum" sz="quarter" idx="12"/>
          </p:nvPr>
        </p:nvSpPr>
        <p:spPr/>
        <p:txBody>
          <a:bodyPr/>
          <a:lstStyle/>
          <a:p>
            <a:fld id="{87F3E754-1C97-4481-A18C-9D97ADBDF344}" type="slidenum">
              <a:rPr lang="en-US" smtClean="0"/>
              <a:t>8</a:t>
            </a:fld>
            <a:endParaRPr lang="en-US"/>
          </a:p>
        </p:txBody>
      </p:sp>
      <p:grpSp>
        <p:nvGrpSpPr>
          <p:cNvPr id="52" name="Group 51"/>
          <p:cNvGrpSpPr/>
          <p:nvPr/>
        </p:nvGrpSpPr>
        <p:grpSpPr>
          <a:xfrm>
            <a:off x="1871547" y="1132409"/>
            <a:ext cx="8587770" cy="5675409"/>
            <a:chOff x="347547" y="1132408"/>
            <a:chExt cx="8587770" cy="5675409"/>
          </a:xfrm>
        </p:grpSpPr>
        <p:grpSp>
          <p:nvGrpSpPr>
            <p:cNvPr id="47" name="Group 46"/>
            <p:cNvGrpSpPr/>
            <p:nvPr/>
          </p:nvGrpSpPr>
          <p:grpSpPr>
            <a:xfrm>
              <a:off x="347547" y="1132408"/>
              <a:ext cx="8587770" cy="5675409"/>
              <a:chOff x="347547" y="1132408"/>
              <a:chExt cx="8587770" cy="5675409"/>
            </a:xfrm>
          </p:grpSpPr>
          <p:grpSp>
            <p:nvGrpSpPr>
              <p:cNvPr id="26" name="Group 25"/>
              <p:cNvGrpSpPr/>
              <p:nvPr/>
            </p:nvGrpSpPr>
            <p:grpSpPr>
              <a:xfrm>
                <a:off x="416026" y="1358101"/>
                <a:ext cx="2568370" cy="2606012"/>
                <a:chOff x="429239" y="1502071"/>
                <a:chExt cx="2568370" cy="2606012"/>
              </a:xfrm>
            </p:grpSpPr>
            <p:pic>
              <p:nvPicPr>
                <p:cNvPr id="11" name="Picture 10"/>
                <p:cNvPicPr>
                  <a:picLocks noChangeAspect="1"/>
                </p:cNvPicPr>
                <p:nvPr/>
              </p:nvPicPr>
              <p:blipFill>
                <a:blip r:embed="rId2"/>
                <a:stretch>
                  <a:fillRect/>
                </a:stretch>
              </p:blipFill>
              <p:spPr>
                <a:xfrm>
                  <a:off x="429239" y="2275516"/>
                  <a:ext cx="2568370" cy="1832567"/>
                </a:xfrm>
                <a:prstGeom prst="rect">
                  <a:avLst/>
                </a:prstGeom>
              </p:spPr>
            </p:pic>
            <p:sp>
              <p:nvSpPr>
                <p:cNvPr id="13" name="TextBox 12"/>
                <p:cNvSpPr txBox="1"/>
                <p:nvPr/>
              </p:nvSpPr>
              <p:spPr>
                <a:xfrm>
                  <a:off x="429239" y="1502071"/>
                  <a:ext cx="2568370" cy="738664"/>
                </a:xfrm>
                <a:prstGeom prst="rect">
                  <a:avLst/>
                </a:prstGeom>
                <a:noFill/>
              </p:spPr>
              <p:txBody>
                <a:bodyPr wrap="square" rtlCol="0">
                  <a:spAutoFit/>
                </a:bodyPr>
                <a:lstStyle/>
                <a:p>
                  <a:r>
                    <a:rPr lang="en-US" sz="1400" dirty="0"/>
                    <a:t>A relationship where the PK/FK is composite has both fields of the PK and FK here</a:t>
                  </a:r>
                </a:p>
              </p:txBody>
            </p:sp>
            <p:cxnSp>
              <p:nvCxnSpPr>
                <p:cNvPr id="16" name="Straight Arrow Connector 15"/>
                <p:cNvCxnSpPr/>
                <p:nvPr/>
              </p:nvCxnSpPr>
              <p:spPr>
                <a:xfrm>
                  <a:off x="599768" y="2143432"/>
                  <a:ext cx="226142" cy="7374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1160206" y="2159397"/>
                  <a:ext cx="553218" cy="69006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347547" y="4114275"/>
                <a:ext cx="2926595" cy="2693542"/>
                <a:chOff x="347547" y="4114275"/>
                <a:chExt cx="2926595" cy="2693542"/>
              </a:xfrm>
            </p:grpSpPr>
            <p:pic>
              <p:nvPicPr>
                <p:cNvPr id="12" name="Picture 11"/>
                <p:cNvPicPr>
                  <a:picLocks noChangeAspect="1"/>
                </p:cNvPicPr>
                <p:nvPr/>
              </p:nvPicPr>
              <p:blipFill>
                <a:blip r:embed="rId3"/>
                <a:stretch>
                  <a:fillRect/>
                </a:stretch>
              </p:blipFill>
              <p:spPr>
                <a:xfrm>
                  <a:off x="429239" y="4851679"/>
                  <a:ext cx="2634583" cy="1956138"/>
                </a:xfrm>
                <a:prstGeom prst="rect">
                  <a:avLst/>
                </a:prstGeom>
              </p:spPr>
            </p:pic>
            <p:sp>
              <p:nvSpPr>
                <p:cNvPr id="14" name="TextBox 13"/>
                <p:cNvSpPr txBox="1"/>
                <p:nvPr/>
              </p:nvSpPr>
              <p:spPr>
                <a:xfrm>
                  <a:off x="347547" y="4114275"/>
                  <a:ext cx="2926595" cy="738664"/>
                </a:xfrm>
                <a:prstGeom prst="rect">
                  <a:avLst/>
                </a:prstGeom>
                <a:noFill/>
              </p:spPr>
              <p:txBody>
                <a:bodyPr wrap="square" rtlCol="0">
                  <a:spAutoFit/>
                </a:bodyPr>
                <a:lstStyle/>
                <a:p>
                  <a:r>
                    <a:rPr lang="en-US" sz="1400" dirty="0"/>
                    <a:t>A relationship where the PK/FK is not composite has a single field corresponding to the PK and FK here</a:t>
                  </a:r>
                </a:p>
              </p:txBody>
            </p:sp>
            <p:cxnSp>
              <p:nvCxnSpPr>
                <p:cNvPr id="20" name="Straight Arrow Connector 19"/>
                <p:cNvCxnSpPr/>
                <p:nvPr/>
              </p:nvCxnSpPr>
              <p:spPr>
                <a:xfrm flipH="1">
                  <a:off x="907603" y="4783017"/>
                  <a:ext cx="1164758" cy="70232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1746530" y="4801669"/>
                  <a:ext cx="809089" cy="65628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3542186" y="1132408"/>
                <a:ext cx="5393131" cy="3872512"/>
                <a:chOff x="3542186" y="1132408"/>
                <a:chExt cx="5393131" cy="3872512"/>
              </a:xfrm>
            </p:grpSpPr>
            <p:grpSp>
              <p:nvGrpSpPr>
                <p:cNvPr id="10" name="Group 9"/>
                <p:cNvGrpSpPr/>
                <p:nvPr/>
              </p:nvGrpSpPr>
              <p:grpSpPr>
                <a:xfrm>
                  <a:off x="3542186" y="2552703"/>
                  <a:ext cx="5393131" cy="2452217"/>
                  <a:chOff x="1804082" y="2497394"/>
                  <a:chExt cx="5393131" cy="2452217"/>
                </a:xfrm>
              </p:grpSpPr>
              <p:pic>
                <p:nvPicPr>
                  <p:cNvPr id="6" name="Picture 5"/>
                  <p:cNvPicPr>
                    <a:picLocks noChangeAspect="1"/>
                  </p:cNvPicPr>
                  <p:nvPr/>
                </p:nvPicPr>
                <p:blipFill rotWithShape="1">
                  <a:blip r:embed="rId4"/>
                  <a:srcRect l="4074" t="7875" r="4663" b="6812"/>
                  <a:stretch/>
                </p:blipFill>
                <p:spPr>
                  <a:xfrm>
                    <a:off x="1804082" y="2497394"/>
                    <a:ext cx="5393131" cy="2452217"/>
                  </a:xfrm>
                  <a:prstGeom prst="rect">
                    <a:avLst/>
                  </a:prstGeom>
                </p:spPr>
              </p:pic>
              <p:sp>
                <p:nvSpPr>
                  <p:cNvPr id="8" name="Rounded Rectangle 7"/>
                  <p:cNvSpPr/>
                  <p:nvPr/>
                </p:nvSpPr>
                <p:spPr>
                  <a:xfrm>
                    <a:off x="2989006" y="2644877"/>
                    <a:ext cx="963562" cy="501445"/>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053781" y="2615381"/>
                    <a:ext cx="983225" cy="934064"/>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p:cNvSpPr txBox="1"/>
                <p:nvPr/>
              </p:nvSpPr>
              <p:spPr>
                <a:xfrm>
                  <a:off x="5397910" y="1132408"/>
                  <a:ext cx="2498277" cy="646331"/>
                </a:xfrm>
                <a:prstGeom prst="rect">
                  <a:avLst/>
                </a:prstGeom>
                <a:noFill/>
              </p:spPr>
              <p:txBody>
                <a:bodyPr wrap="square" rtlCol="0">
                  <a:spAutoFit/>
                </a:bodyPr>
                <a:lstStyle/>
                <a:p>
                  <a:r>
                    <a:rPr lang="en-US" dirty="0"/>
                    <a:t>These both correspond to a single relationship!</a:t>
                  </a:r>
                </a:p>
              </p:txBody>
            </p:sp>
            <p:cxnSp>
              <p:nvCxnSpPr>
                <p:cNvPr id="42" name="Straight Arrow Connector 41"/>
                <p:cNvCxnSpPr>
                  <a:stCxn id="40" idx="2"/>
                </p:cNvCxnSpPr>
                <p:nvPr/>
              </p:nvCxnSpPr>
              <p:spPr>
                <a:xfrm flipH="1">
                  <a:off x="5397910" y="1778739"/>
                  <a:ext cx="1249139" cy="89195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0" idx="2"/>
                </p:cNvCxnSpPr>
                <p:nvPr/>
              </p:nvCxnSpPr>
              <p:spPr>
                <a:xfrm>
                  <a:off x="6647049" y="1778739"/>
                  <a:ext cx="491170" cy="89195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Elbow Connector 27"/>
              <p:cNvCxnSpPr/>
              <p:nvPr/>
            </p:nvCxnSpPr>
            <p:spPr>
              <a:xfrm rot="10800000">
                <a:off x="3063821" y="2434786"/>
                <a:ext cx="2078452" cy="270709"/>
              </a:xfrm>
              <a:prstGeom prst="bentConnector3">
                <a:avLst>
                  <a:gd name="adj1" fmla="val 329"/>
                </a:avLst>
              </a:prstGeom>
              <a:ln w="2857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p:cNvCxnSpPr/>
              <p:nvPr/>
            </p:nvCxnSpPr>
            <p:spPr>
              <a:xfrm rot="10800000" flipV="1">
                <a:off x="3063823" y="3696928"/>
                <a:ext cx="2078450" cy="1788415"/>
              </a:xfrm>
              <a:prstGeom prst="bentConnector3">
                <a:avLst>
                  <a:gd name="adj1" fmla="val 329"/>
                </a:avLst>
              </a:prstGeom>
              <a:ln w="28575">
                <a:solidFill>
                  <a:srgbClr val="002060"/>
                </a:solidFill>
                <a:prstDash val="sysDash"/>
                <a:tailEnd type="triangle"/>
              </a:ln>
            </p:spPr>
            <p:style>
              <a:lnRef idx="1">
                <a:schemeClr val="accent1"/>
              </a:lnRef>
              <a:fillRef idx="0">
                <a:schemeClr val="accent1"/>
              </a:fillRef>
              <a:effectRef idx="0">
                <a:schemeClr val="accent1"/>
              </a:effectRef>
              <a:fontRef idx="minor">
                <a:schemeClr val="tx1"/>
              </a:fontRef>
            </p:style>
          </p:cxnSp>
        </p:grpSp>
        <p:sp>
          <p:nvSpPr>
            <p:cNvPr id="50" name="Rounded Rectangle 49"/>
            <p:cNvSpPr/>
            <p:nvPr/>
          </p:nvSpPr>
          <p:spPr>
            <a:xfrm>
              <a:off x="499234" y="2700186"/>
              <a:ext cx="711303" cy="3576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p:cNvSpPr/>
            <p:nvPr/>
          </p:nvSpPr>
          <p:spPr>
            <a:xfrm>
              <a:off x="1323204" y="2701034"/>
              <a:ext cx="711303" cy="3576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87298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6983" y="265710"/>
            <a:ext cx="8079581" cy="1149521"/>
          </a:xfrm>
        </p:spPr>
        <p:txBody>
          <a:bodyPr>
            <a:normAutofit fontScale="90000"/>
          </a:bodyPr>
          <a:lstStyle/>
          <a:p>
            <a:r>
              <a:rPr lang="en-US" dirty="0"/>
              <a:t>Multiple relationships between the same two tables in Access</a:t>
            </a:r>
          </a:p>
        </p:txBody>
      </p:sp>
      <p:sp>
        <p:nvSpPr>
          <p:cNvPr id="5" name="Slide Number Placeholder 4"/>
          <p:cNvSpPr>
            <a:spLocks noGrp="1"/>
          </p:cNvSpPr>
          <p:nvPr>
            <p:ph type="sldNum" sz="quarter" idx="12"/>
          </p:nvPr>
        </p:nvSpPr>
        <p:spPr/>
        <p:txBody>
          <a:bodyPr/>
          <a:lstStyle/>
          <a:p>
            <a:fld id="{87F3E754-1C97-4481-A18C-9D97ADBDF344}" type="slidenum">
              <a:rPr lang="en-US" smtClean="0"/>
              <a:t>9</a:t>
            </a:fld>
            <a:endParaRPr lang="en-US"/>
          </a:p>
        </p:txBody>
      </p:sp>
      <p:sp>
        <p:nvSpPr>
          <p:cNvPr id="6" name="Content Placeholder 2"/>
          <p:cNvSpPr>
            <a:spLocks noGrp="1"/>
          </p:cNvSpPr>
          <p:nvPr>
            <p:ph sz="half" idx="1"/>
          </p:nvPr>
        </p:nvSpPr>
        <p:spPr>
          <a:xfrm>
            <a:off x="1726982" y="3657601"/>
            <a:ext cx="8803366" cy="2841523"/>
          </a:xfrm>
        </p:spPr>
        <p:txBody>
          <a:bodyPr>
            <a:noAutofit/>
          </a:bodyPr>
          <a:lstStyle/>
          <a:p>
            <a:pPr algn="just">
              <a:lnSpc>
                <a:spcPct val="100000"/>
              </a:lnSpc>
            </a:pPr>
            <a:r>
              <a:rPr lang="en-US" sz="1600" dirty="0"/>
              <a:t>After creating the first relationship between STUDENT and DEPARTMENT, establishing the second relationship cannot be done the same way. If we drag the primary key of DEPARTMENT to the second foreign key in STUDENT, we get a warning that a relationship already exists. The dialog box asks if we want to edit the existing relationship, or create a new one. If we click “no” to create a new relationship, and then click “enforce referential integrity” and “OK”, we get the desired result.</a:t>
            </a:r>
          </a:p>
          <a:p>
            <a:pPr algn="just">
              <a:lnSpc>
                <a:spcPct val="100000"/>
              </a:lnSpc>
            </a:pPr>
            <a:r>
              <a:rPr lang="en-US" sz="1600" dirty="0"/>
              <a:t>The second “table” DEPARTMENT_1 in this depiction is not really a second table nor a copy of the DEPARTMENT table; this is just how MS Access shows a second relationship between the same two tables.</a:t>
            </a:r>
          </a:p>
          <a:p>
            <a:pPr algn="just">
              <a:lnSpc>
                <a:spcPct val="100000"/>
              </a:lnSpc>
            </a:pPr>
            <a:r>
              <a:rPr lang="en-US" sz="1600" dirty="0"/>
              <a:t>The way the relationships window shows multiple relationships between the same two tables is not exactly the same as we would draw in the ER diagram.</a:t>
            </a:r>
          </a:p>
        </p:txBody>
      </p:sp>
      <p:grpSp>
        <p:nvGrpSpPr>
          <p:cNvPr id="8" name="Group 7"/>
          <p:cNvGrpSpPr/>
          <p:nvPr/>
        </p:nvGrpSpPr>
        <p:grpSpPr>
          <a:xfrm>
            <a:off x="4144939" y="1625631"/>
            <a:ext cx="3967453" cy="1821568"/>
            <a:chOff x="4979832" y="2733368"/>
            <a:chExt cx="3755921" cy="1660226"/>
          </a:xfrm>
        </p:grpSpPr>
        <p:pic>
          <p:nvPicPr>
            <p:cNvPr id="3" name="Picture 2"/>
            <p:cNvPicPr>
              <a:picLocks noChangeAspect="1"/>
            </p:cNvPicPr>
            <p:nvPr/>
          </p:nvPicPr>
          <p:blipFill rotWithShape="1">
            <a:blip r:embed="rId2"/>
            <a:srcRect l="3120" t="9967" r="3571" b="9305"/>
            <a:stretch/>
          </p:blipFill>
          <p:spPr>
            <a:xfrm>
              <a:off x="4979832" y="2733368"/>
              <a:ext cx="3755921" cy="1660226"/>
            </a:xfrm>
            <a:prstGeom prst="rect">
              <a:avLst/>
            </a:prstGeom>
          </p:spPr>
        </p:pic>
        <p:sp>
          <p:nvSpPr>
            <p:cNvPr id="7" name="Freeform 6"/>
            <p:cNvSpPr/>
            <p:nvPr/>
          </p:nvSpPr>
          <p:spPr>
            <a:xfrm>
              <a:off x="6066503" y="2900516"/>
              <a:ext cx="1524000" cy="1317522"/>
            </a:xfrm>
            <a:custGeom>
              <a:avLst/>
              <a:gdLst>
                <a:gd name="connsiteX0" fmla="*/ 147484 w 1681316"/>
                <a:gd name="connsiteY0" fmla="*/ 196645 h 1425677"/>
                <a:gd name="connsiteX1" fmla="*/ 127819 w 1681316"/>
                <a:gd name="connsiteY1" fmla="*/ 344129 h 1425677"/>
                <a:gd name="connsiteX2" fmla="*/ 108155 w 1681316"/>
                <a:gd name="connsiteY2" fmla="*/ 412955 h 1425677"/>
                <a:gd name="connsiteX3" fmla="*/ 88490 w 1681316"/>
                <a:gd name="connsiteY3" fmla="*/ 452284 h 1425677"/>
                <a:gd name="connsiteX4" fmla="*/ 68825 w 1681316"/>
                <a:gd name="connsiteY4" fmla="*/ 521110 h 1425677"/>
                <a:gd name="connsiteX5" fmla="*/ 58993 w 1681316"/>
                <a:gd name="connsiteY5" fmla="*/ 589935 h 1425677"/>
                <a:gd name="connsiteX6" fmla="*/ 49161 w 1681316"/>
                <a:gd name="connsiteY6" fmla="*/ 629264 h 1425677"/>
                <a:gd name="connsiteX7" fmla="*/ 29496 w 1681316"/>
                <a:gd name="connsiteY7" fmla="*/ 688258 h 1425677"/>
                <a:gd name="connsiteX8" fmla="*/ 19664 w 1681316"/>
                <a:gd name="connsiteY8" fmla="*/ 737419 h 1425677"/>
                <a:gd name="connsiteX9" fmla="*/ 0 w 1681316"/>
                <a:gd name="connsiteY9" fmla="*/ 796413 h 1425677"/>
                <a:gd name="connsiteX10" fmla="*/ 9832 w 1681316"/>
                <a:gd name="connsiteY10" fmla="*/ 924232 h 1425677"/>
                <a:gd name="connsiteX11" fmla="*/ 29496 w 1681316"/>
                <a:gd name="connsiteY11" fmla="*/ 953729 h 1425677"/>
                <a:gd name="connsiteX12" fmla="*/ 39329 w 1681316"/>
                <a:gd name="connsiteY12" fmla="*/ 983226 h 1425677"/>
                <a:gd name="connsiteX13" fmla="*/ 117987 w 1681316"/>
                <a:gd name="connsiteY13" fmla="*/ 1071716 h 1425677"/>
                <a:gd name="connsiteX14" fmla="*/ 157316 w 1681316"/>
                <a:gd name="connsiteY14" fmla="*/ 1101213 h 1425677"/>
                <a:gd name="connsiteX15" fmla="*/ 235974 w 1681316"/>
                <a:gd name="connsiteY15" fmla="*/ 1120877 h 1425677"/>
                <a:gd name="connsiteX16" fmla="*/ 265471 w 1681316"/>
                <a:gd name="connsiteY16" fmla="*/ 1130710 h 1425677"/>
                <a:gd name="connsiteX17" fmla="*/ 363793 w 1681316"/>
                <a:gd name="connsiteY17" fmla="*/ 1150374 h 1425677"/>
                <a:gd name="connsiteX18" fmla="*/ 403122 w 1681316"/>
                <a:gd name="connsiteY18" fmla="*/ 1160206 h 1425677"/>
                <a:gd name="connsiteX19" fmla="*/ 432619 w 1681316"/>
                <a:gd name="connsiteY19" fmla="*/ 1179871 h 1425677"/>
                <a:gd name="connsiteX20" fmla="*/ 481780 w 1681316"/>
                <a:gd name="connsiteY20" fmla="*/ 1189703 h 1425677"/>
                <a:gd name="connsiteX21" fmla="*/ 511277 w 1681316"/>
                <a:gd name="connsiteY21" fmla="*/ 1199535 h 1425677"/>
                <a:gd name="connsiteX22" fmla="*/ 540774 w 1681316"/>
                <a:gd name="connsiteY22" fmla="*/ 1219200 h 1425677"/>
                <a:gd name="connsiteX23" fmla="*/ 599767 w 1681316"/>
                <a:gd name="connsiteY23" fmla="*/ 1238864 h 1425677"/>
                <a:gd name="connsiteX24" fmla="*/ 629264 w 1681316"/>
                <a:gd name="connsiteY24" fmla="*/ 1248697 h 1425677"/>
                <a:gd name="connsiteX25" fmla="*/ 658761 w 1681316"/>
                <a:gd name="connsiteY25" fmla="*/ 1258529 h 1425677"/>
                <a:gd name="connsiteX26" fmla="*/ 688258 w 1681316"/>
                <a:gd name="connsiteY26" fmla="*/ 1268361 h 1425677"/>
                <a:gd name="connsiteX27" fmla="*/ 796413 w 1681316"/>
                <a:gd name="connsiteY27" fmla="*/ 1307690 h 1425677"/>
                <a:gd name="connsiteX28" fmla="*/ 904567 w 1681316"/>
                <a:gd name="connsiteY28" fmla="*/ 1337187 h 1425677"/>
                <a:gd name="connsiteX29" fmla="*/ 1032387 w 1681316"/>
                <a:gd name="connsiteY29" fmla="*/ 1366684 h 1425677"/>
                <a:gd name="connsiteX30" fmla="*/ 1091380 w 1681316"/>
                <a:gd name="connsiteY30" fmla="*/ 1376516 h 1425677"/>
                <a:gd name="connsiteX31" fmla="*/ 1160206 w 1681316"/>
                <a:gd name="connsiteY31" fmla="*/ 1386348 h 1425677"/>
                <a:gd name="connsiteX32" fmla="*/ 1199535 w 1681316"/>
                <a:gd name="connsiteY32" fmla="*/ 1396180 h 1425677"/>
                <a:gd name="connsiteX33" fmla="*/ 1307690 w 1681316"/>
                <a:gd name="connsiteY33" fmla="*/ 1406013 h 1425677"/>
                <a:gd name="connsiteX34" fmla="*/ 1425677 w 1681316"/>
                <a:gd name="connsiteY34" fmla="*/ 1425677 h 1425677"/>
                <a:gd name="connsiteX35" fmla="*/ 1514167 w 1681316"/>
                <a:gd name="connsiteY35" fmla="*/ 1415845 h 1425677"/>
                <a:gd name="connsiteX36" fmla="*/ 1573161 w 1681316"/>
                <a:gd name="connsiteY36" fmla="*/ 1366684 h 1425677"/>
                <a:gd name="connsiteX37" fmla="*/ 1582993 w 1681316"/>
                <a:gd name="connsiteY37" fmla="*/ 1337187 h 1425677"/>
                <a:gd name="connsiteX38" fmla="*/ 1632155 w 1681316"/>
                <a:gd name="connsiteY38" fmla="*/ 1268361 h 1425677"/>
                <a:gd name="connsiteX39" fmla="*/ 1661651 w 1681316"/>
                <a:gd name="connsiteY39" fmla="*/ 1199535 h 1425677"/>
                <a:gd name="connsiteX40" fmla="*/ 1681316 w 1681316"/>
                <a:gd name="connsiteY40" fmla="*/ 1130710 h 1425677"/>
                <a:gd name="connsiteX41" fmla="*/ 1651819 w 1681316"/>
                <a:gd name="connsiteY41" fmla="*/ 825910 h 1425677"/>
                <a:gd name="connsiteX42" fmla="*/ 1641987 w 1681316"/>
                <a:gd name="connsiteY42" fmla="*/ 796413 h 1425677"/>
                <a:gd name="connsiteX43" fmla="*/ 1632155 w 1681316"/>
                <a:gd name="connsiteY43" fmla="*/ 766916 h 1425677"/>
                <a:gd name="connsiteX44" fmla="*/ 1592825 w 1681316"/>
                <a:gd name="connsiteY44" fmla="*/ 707922 h 1425677"/>
                <a:gd name="connsiteX45" fmla="*/ 1573161 w 1681316"/>
                <a:gd name="connsiteY45" fmla="*/ 678426 h 1425677"/>
                <a:gd name="connsiteX46" fmla="*/ 1524000 w 1681316"/>
                <a:gd name="connsiteY46" fmla="*/ 589935 h 1425677"/>
                <a:gd name="connsiteX47" fmla="*/ 1504335 w 1681316"/>
                <a:gd name="connsiteY47" fmla="*/ 560439 h 1425677"/>
                <a:gd name="connsiteX48" fmla="*/ 1484671 w 1681316"/>
                <a:gd name="connsiteY48" fmla="*/ 530942 h 1425677"/>
                <a:gd name="connsiteX49" fmla="*/ 1455174 w 1681316"/>
                <a:gd name="connsiteY49" fmla="*/ 511277 h 1425677"/>
                <a:gd name="connsiteX50" fmla="*/ 1406013 w 1681316"/>
                <a:gd name="connsiteY50" fmla="*/ 452284 h 1425677"/>
                <a:gd name="connsiteX51" fmla="*/ 1376516 w 1681316"/>
                <a:gd name="connsiteY51" fmla="*/ 432619 h 1425677"/>
                <a:gd name="connsiteX52" fmla="*/ 1288025 w 1681316"/>
                <a:gd name="connsiteY52" fmla="*/ 363793 h 1425677"/>
                <a:gd name="connsiteX53" fmla="*/ 1258529 w 1681316"/>
                <a:gd name="connsiteY53" fmla="*/ 344129 h 1425677"/>
                <a:gd name="connsiteX54" fmla="*/ 1229032 w 1681316"/>
                <a:gd name="connsiteY54" fmla="*/ 324464 h 1425677"/>
                <a:gd name="connsiteX55" fmla="*/ 1179871 w 1681316"/>
                <a:gd name="connsiteY55" fmla="*/ 275303 h 1425677"/>
                <a:gd name="connsiteX56" fmla="*/ 1130709 w 1681316"/>
                <a:gd name="connsiteY56" fmla="*/ 235974 h 1425677"/>
                <a:gd name="connsiteX57" fmla="*/ 1111045 w 1681316"/>
                <a:gd name="connsiteY57" fmla="*/ 206477 h 1425677"/>
                <a:gd name="connsiteX58" fmla="*/ 1052051 w 1681316"/>
                <a:gd name="connsiteY58" fmla="*/ 147484 h 1425677"/>
                <a:gd name="connsiteX59" fmla="*/ 953729 w 1681316"/>
                <a:gd name="connsiteY59" fmla="*/ 49161 h 1425677"/>
                <a:gd name="connsiteX60" fmla="*/ 855406 w 1681316"/>
                <a:gd name="connsiteY60" fmla="*/ 19664 h 1425677"/>
                <a:gd name="connsiteX61" fmla="*/ 825909 w 1681316"/>
                <a:gd name="connsiteY61" fmla="*/ 9832 h 1425677"/>
                <a:gd name="connsiteX62" fmla="*/ 776748 w 1681316"/>
                <a:gd name="connsiteY62" fmla="*/ 0 h 1425677"/>
                <a:gd name="connsiteX63" fmla="*/ 373625 w 1681316"/>
                <a:gd name="connsiteY63" fmla="*/ 9832 h 1425677"/>
                <a:gd name="connsiteX64" fmla="*/ 314632 w 1681316"/>
                <a:gd name="connsiteY64" fmla="*/ 29497 h 1425677"/>
                <a:gd name="connsiteX65" fmla="*/ 245806 w 1681316"/>
                <a:gd name="connsiteY65" fmla="*/ 58993 h 1425677"/>
                <a:gd name="connsiteX66" fmla="*/ 216309 w 1681316"/>
                <a:gd name="connsiteY66" fmla="*/ 68826 h 1425677"/>
                <a:gd name="connsiteX67" fmla="*/ 157316 w 1681316"/>
                <a:gd name="connsiteY67" fmla="*/ 98322 h 1425677"/>
                <a:gd name="connsiteX68" fmla="*/ 127819 w 1681316"/>
                <a:gd name="connsiteY68" fmla="*/ 157316 h 1425677"/>
                <a:gd name="connsiteX69" fmla="*/ 137651 w 1681316"/>
                <a:gd name="connsiteY69" fmla="*/ 196645 h 1425677"/>
                <a:gd name="connsiteX70" fmla="*/ 147484 w 1681316"/>
                <a:gd name="connsiteY70" fmla="*/ 196645 h 142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681316" h="1425677">
                  <a:moveTo>
                    <a:pt x="147484" y="196645"/>
                  </a:moveTo>
                  <a:cubicBezTo>
                    <a:pt x="145845" y="221226"/>
                    <a:pt x="156551" y="142997"/>
                    <a:pt x="127819" y="344129"/>
                  </a:cubicBezTo>
                  <a:cubicBezTo>
                    <a:pt x="126037" y="356601"/>
                    <a:pt x="114158" y="398948"/>
                    <a:pt x="108155" y="412955"/>
                  </a:cubicBezTo>
                  <a:cubicBezTo>
                    <a:pt x="102381" y="426427"/>
                    <a:pt x="94264" y="438812"/>
                    <a:pt x="88490" y="452284"/>
                  </a:cubicBezTo>
                  <a:cubicBezTo>
                    <a:pt x="81840" y="467800"/>
                    <a:pt x="71450" y="506670"/>
                    <a:pt x="68825" y="521110"/>
                  </a:cubicBezTo>
                  <a:cubicBezTo>
                    <a:pt x="64679" y="543911"/>
                    <a:pt x="63139" y="567134"/>
                    <a:pt x="58993" y="589935"/>
                  </a:cubicBezTo>
                  <a:cubicBezTo>
                    <a:pt x="56576" y="603230"/>
                    <a:pt x="53044" y="616321"/>
                    <a:pt x="49161" y="629264"/>
                  </a:cubicBezTo>
                  <a:cubicBezTo>
                    <a:pt x="43205" y="649118"/>
                    <a:pt x="33561" y="667932"/>
                    <a:pt x="29496" y="688258"/>
                  </a:cubicBezTo>
                  <a:cubicBezTo>
                    <a:pt x="26219" y="704645"/>
                    <a:pt x="24061" y="721296"/>
                    <a:pt x="19664" y="737419"/>
                  </a:cubicBezTo>
                  <a:cubicBezTo>
                    <a:pt x="14210" y="757417"/>
                    <a:pt x="0" y="796413"/>
                    <a:pt x="0" y="796413"/>
                  </a:cubicBezTo>
                  <a:cubicBezTo>
                    <a:pt x="3277" y="839019"/>
                    <a:pt x="1957" y="882232"/>
                    <a:pt x="9832" y="924232"/>
                  </a:cubicBezTo>
                  <a:cubicBezTo>
                    <a:pt x="12010" y="935846"/>
                    <a:pt x="24211" y="943160"/>
                    <a:pt x="29496" y="953729"/>
                  </a:cubicBezTo>
                  <a:cubicBezTo>
                    <a:pt x="34131" y="962999"/>
                    <a:pt x="34694" y="973956"/>
                    <a:pt x="39329" y="983226"/>
                  </a:cubicBezTo>
                  <a:cubicBezTo>
                    <a:pt x="54660" y="1013888"/>
                    <a:pt x="97140" y="1056080"/>
                    <a:pt x="117987" y="1071716"/>
                  </a:cubicBezTo>
                  <a:cubicBezTo>
                    <a:pt x="131097" y="1081548"/>
                    <a:pt x="143088" y="1093083"/>
                    <a:pt x="157316" y="1101213"/>
                  </a:cubicBezTo>
                  <a:cubicBezTo>
                    <a:pt x="174796" y="1111202"/>
                    <a:pt x="221590" y="1117281"/>
                    <a:pt x="235974" y="1120877"/>
                  </a:cubicBezTo>
                  <a:cubicBezTo>
                    <a:pt x="246029" y="1123391"/>
                    <a:pt x="255372" y="1128379"/>
                    <a:pt x="265471" y="1130710"/>
                  </a:cubicBezTo>
                  <a:cubicBezTo>
                    <a:pt x="298038" y="1138226"/>
                    <a:pt x="331368" y="1142268"/>
                    <a:pt x="363793" y="1150374"/>
                  </a:cubicBezTo>
                  <a:lnTo>
                    <a:pt x="403122" y="1160206"/>
                  </a:lnTo>
                  <a:cubicBezTo>
                    <a:pt x="412954" y="1166761"/>
                    <a:pt x="421554" y="1175722"/>
                    <a:pt x="432619" y="1179871"/>
                  </a:cubicBezTo>
                  <a:cubicBezTo>
                    <a:pt x="448266" y="1185739"/>
                    <a:pt x="465567" y="1185650"/>
                    <a:pt x="481780" y="1189703"/>
                  </a:cubicBezTo>
                  <a:cubicBezTo>
                    <a:pt x="491835" y="1192217"/>
                    <a:pt x="501445" y="1196258"/>
                    <a:pt x="511277" y="1199535"/>
                  </a:cubicBezTo>
                  <a:cubicBezTo>
                    <a:pt x="521109" y="1206090"/>
                    <a:pt x="529975" y="1214401"/>
                    <a:pt x="540774" y="1219200"/>
                  </a:cubicBezTo>
                  <a:cubicBezTo>
                    <a:pt x="559715" y="1227618"/>
                    <a:pt x="580103" y="1232309"/>
                    <a:pt x="599767" y="1238864"/>
                  </a:cubicBezTo>
                  <a:lnTo>
                    <a:pt x="629264" y="1248697"/>
                  </a:lnTo>
                  <a:lnTo>
                    <a:pt x="658761" y="1258529"/>
                  </a:lnTo>
                  <a:lnTo>
                    <a:pt x="688258" y="1268361"/>
                  </a:lnTo>
                  <a:cubicBezTo>
                    <a:pt x="750096" y="1309587"/>
                    <a:pt x="683755" y="1270136"/>
                    <a:pt x="796413" y="1307690"/>
                  </a:cubicBezTo>
                  <a:cubicBezTo>
                    <a:pt x="871260" y="1332640"/>
                    <a:pt x="835080" y="1323290"/>
                    <a:pt x="904567" y="1337187"/>
                  </a:cubicBezTo>
                  <a:cubicBezTo>
                    <a:pt x="973526" y="1371665"/>
                    <a:pt x="923084" y="1352110"/>
                    <a:pt x="1032387" y="1366684"/>
                  </a:cubicBezTo>
                  <a:cubicBezTo>
                    <a:pt x="1052148" y="1369319"/>
                    <a:pt x="1071676" y="1373485"/>
                    <a:pt x="1091380" y="1376516"/>
                  </a:cubicBezTo>
                  <a:cubicBezTo>
                    <a:pt x="1114285" y="1380040"/>
                    <a:pt x="1137405" y="1382202"/>
                    <a:pt x="1160206" y="1386348"/>
                  </a:cubicBezTo>
                  <a:cubicBezTo>
                    <a:pt x="1173501" y="1388765"/>
                    <a:pt x="1186140" y="1394394"/>
                    <a:pt x="1199535" y="1396180"/>
                  </a:cubicBezTo>
                  <a:cubicBezTo>
                    <a:pt x="1235418" y="1400964"/>
                    <a:pt x="1271794" y="1401331"/>
                    <a:pt x="1307690" y="1406013"/>
                  </a:cubicBezTo>
                  <a:cubicBezTo>
                    <a:pt x="1347227" y="1411170"/>
                    <a:pt x="1425677" y="1425677"/>
                    <a:pt x="1425677" y="1425677"/>
                  </a:cubicBezTo>
                  <a:cubicBezTo>
                    <a:pt x="1455174" y="1422400"/>
                    <a:pt x="1485375" y="1423043"/>
                    <a:pt x="1514167" y="1415845"/>
                  </a:cubicBezTo>
                  <a:cubicBezTo>
                    <a:pt x="1532417" y="1411282"/>
                    <a:pt x="1562155" y="1377689"/>
                    <a:pt x="1573161" y="1366684"/>
                  </a:cubicBezTo>
                  <a:cubicBezTo>
                    <a:pt x="1576438" y="1356852"/>
                    <a:pt x="1578358" y="1346457"/>
                    <a:pt x="1582993" y="1337187"/>
                  </a:cubicBezTo>
                  <a:cubicBezTo>
                    <a:pt x="1590181" y="1322811"/>
                    <a:pt x="1625475" y="1277267"/>
                    <a:pt x="1632155" y="1268361"/>
                  </a:cubicBezTo>
                  <a:cubicBezTo>
                    <a:pt x="1655208" y="1199198"/>
                    <a:pt x="1625209" y="1284565"/>
                    <a:pt x="1661651" y="1199535"/>
                  </a:cubicBezTo>
                  <a:cubicBezTo>
                    <a:pt x="1670118" y="1179780"/>
                    <a:pt x="1676324" y="1150678"/>
                    <a:pt x="1681316" y="1130710"/>
                  </a:cubicBezTo>
                  <a:cubicBezTo>
                    <a:pt x="1670655" y="864178"/>
                    <a:pt x="1697416" y="962699"/>
                    <a:pt x="1651819" y="825910"/>
                  </a:cubicBezTo>
                  <a:lnTo>
                    <a:pt x="1641987" y="796413"/>
                  </a:lnTo>
                  <a:cubicBezTo>
                    <a:pt x="1638710" y="786581"/>
                    <a:pt x="1637904" y="775539"/>
                    <a:pt x="1632155" y="766916"/>
                  </a:cubicBezTo>
                  <a:lnTo>
                    <a:pt x="1592825" y="707922"/>
                  </a:lnTo>
                  <a:lnTo>
                    <a:pt x="1573161" y="678426"/>
                  </a:lnTo>
                  <a:cubicBezTo>
                    <a:pt x="1555856" y="626509"/>
                    <a:pt x="1569077" y="657550"/>
                    <a:pt x="1524000" y="589935"/>
                  </a:cubicBezTo>
                  <a:lnTo>
                    <a:pt x="1504335" y="560439"/>
                  </a:lnTo>
                  <a:cubicBezTo>
                    <a:pt x="1497780" y="550607"/>
                    <a:pt x="1494503" y="537497"/>
                    <a:pt x="1484671" y="530942"/>
                  </a:cubicBezTo>
                  <a:lnTo>
                    <a:pt x="1455174" y="511277"/>
                  </a:lnTo>
                  <a:cubicBezTo>
                    <a:pt x="1435839" y="482274"/>
                    <a:pt x="1434402" y="475941"/>
                    <a:pt x="1406013" y="452284"/>
                  </a:cubicBezTo>
                  <a:cubicBezTo>
                    <a:pt x="1396935" y="444719"/>
                    <a:pt x="1385594" y="440184"/>
                    <a:pt x="1376516" y="432619"/>
                  </a:cubicBezTo>
                  <a:cubicBezTo>
                    <a:pt x="1284102" y="355607"/>
                    <a:pt x="1437122" y="463190"/>
                    <a:pt x="1288025" y="363793"/>
                  </a:cubicBezTo>
                  <a:lnTo>
                    <a:pt x="1258529" y="344129"/>
                  </a:lnTo>
                  <a:lnTo>
                    <a:pt x="1229032" y="324464"/>
                  </a:lnTo>
                  <a:cubicBezTo>
                    <a:pt x="1176589" y="245804"/>
                    <a:pt x="1245422" y="340855"/>
                    <a:pt x="1179871" y="275303"/>
                  </a:cubicBezTo>
                  <a:cubicBezTo>
                    <a:pt x="1135399" y="230830"/>
                    <a:pt x="1188131" y="255114"/>
                    <a:pt x="1130709" y="235974"/>
                  </a:cubicBezTo>
                  <a:cubicBezTo>
                    <a:pt x="1124154" y="226142"/>
                    <a:pt x="1118896" y="215309"/>
                    <a:pt x="1111045" y="206477"/>
                  </a:cubicBezTo>
                  <a:cubicBezTo>
                    <a:pt x="1092569" y="185692"/>
                    <a:pt x="1067477" y="170623"/>
                    <a:pt x="1052051" y="147484"/>
                  </a:cubicBezTo>
                  <a:cubicBezTo>
                    <a:pt x="1025832" y="108156"/>
                    <a:pt x="1006167" y="62270"/>
                    <a:pt x="953729" y="49161"/>
                  </a:cubicBezTo>
                  <a:cubicBezTo>
                    <a:pt x="894287" y="34301"/>
                    <a:pt x="927225" y="43604"/>
                    <a:pt x="855406" y="19664"/>
                  </a:cubicBezTo>
                  <a:cubicBezTo>
                    <a:pt x="845574" y="16387"/>
                    <a:pt x="836072" y="11865"/>
                    <a:pt x="825909" y="9832"/>
                  </a:cubicBezTo>
                  <a:lnTo>
                    <a:pt x="776748" y="0"/>
                  </a:lnTo>
                  <a:cubicBezTo>
                    <a:pt x="642374" y="3277"/>
                    <a:pt x="507766" y="1270"/>
                    <a:pt x="373625" y="9832"/>
                  </a:cubicBezTo>
                  <a:cubicBezTo>
                    <a:pt x="352939" y="11152"/>
                    <a:pt x="334296" y="22942"/>
                    <a:pt x="314632" y="29497"/>
                  </a:cubicBezTo>
                  <a:cubicBezTo>
                    <a:pt x="245454" y="52556"/>
                    <a:pt x="330857" y="22542"/>
                    <a:pt x="245806" y="58993"/>
                  </a:cubicBezTo>
                  <a:cubicBezTo>
                    <a:pt x="236280" y="63076"/>
                    <a:pt x="225579" y="64191"/>
                    <a:pt x="216309" y="68826"/>
                  </a:cubicBezTo>
                  <a:cubicBezTo>
                    <a:pt x="140076" y="106943"/>
                    <a:pt x="231452" y="73611"/>
                    <a:pt x="157316" y="98322"/>
                  </a:cubicBezTo>
                  <a:cubicBezTo>
                    <a:pt x="147373" y="113236"/>
                    <a:pt x="127819" y="136961"/>
                    <a:pt x="127819" y="157316"/>
                  </a:cubicBezTo>
                  <a:cubicBezTo>
                    <a:pt x="127819" y="170829"/>
                    <a:pt x="135430" y="183316"/>
                    <a:pt x="137651" y="196645"/>
                  </a:cubicBezTo>
                  <a:cubicBezTo>
                    <a:pt x="138729" y="203111"/>
                    <a:pt x="149123" y="172064"/>
                    <a:pt x="147484" y="196645"/>
                  </a:cubicBezTo>
                  <a:close/>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9427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821</Words>
  <Application>Microsoft Office PowerPoint</Application>
  <PresentationFormat>Widescreen</PresentationFormat>
  <Paragraphs>54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Multiple relationships between the same  two tables</vt:lpstr>
      <vt:lpstr>Outline</vt:lpstr>
      <vt:lpstr>The College</vt:lpstr>
      <vt:lpstr>PowerPoint Presentation</vt:lpstr>
      <vt:lpstr>PowerPoint Presentation</vt:lpstr>
      <vt:lpstr>PowerPoint Presentation</vt:lpstr>
      <vt:lpstr>PowerPoint Presentation</vt:lpstr>
      <vt:lpstr>A relationship with composite keys in Access</vt:lpstr>
      <vt:lpstr>Multiple relationships between the same two tables in Access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relationships between the same  two tables</dc:title>
  <dc:creator>Disha Parkhi</dc:creator>
  <cp:lastModifiedBy>Disha Parkhi</cp:lastModifiedBy>
  <cp:revision>1</cp:revision>
  <dcterms:created xsi:type="dcterms:W3CDTF">2020-08-22T21:20:03Z</dcterms:created>
  <dcterms:modified xsi:type="dcterms:W3CDTF">2020-08-22T21:21:16Z</dcterms:modified>
</cp:coreProperties>
</file>