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318" r:id="rId4"/>
    <p:sldId id="319" r:id="rId5"/>
    <p:sldId id="320" r:id="rId6"/>
    <p:sldId id="321" r:id="rId7"/>
    <p:sldId id="322" r:id="rId8"/>
    <p:sldId id="324" r:id="rId9"/>
    <p:sldId id="323" r:id="rId10"/>
    <p:sldId id="326" r:id="rId11"/>
    <p:sldId id="32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92008D-43F3-4264-941F-487151B80BC1}">
          <p14:sldIdLst>
            <p14:sldId id="257"/>
            <p14:sldId id="258"/>
            <p14:sldId id="318"/>
            <p14:sldId id="319"/>
            <p14:sldId id="320"/>
            <p14:sldId id="321"/>
            <p14:sldId id="322"/>
            <p14:sldId id="324"/>
            <p14:sldId id="323"/>
            <p14:sldId id="326"/>
            <p14:sldId id="32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443C6-4BC0-4EBF-B16E-67AEE265E9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8931CB-5C44-488E-A886-8999DBABEE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5A4EDC-C91C-4722-BF8D-DD03D9B15249}"/>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5" name="Footer Placeholder 4">
            <a:extLst>
              <a:ext uri="{FF2B5EF4-FFF2-40B4-BE49-F238E27FC236}">
                <a16:creationId xmlns:a16="http://schemas.microsoft.com/office/drawing/2014/main" id="{5CB6A363-62D1-42DE-8FCA-7FC3ECF009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CE808-488C-46EA-A937-593EB71E08BA}"/>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1456358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49F77-D708-4938-8DD7-12ABAE7207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399156-100B-4244-9B2D-283A9D29F9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E6B1A7-7248-4E9A-BDBB-F23B3777E255}"/>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5" name="Footer Placeholder 4">
            <a:extLst>
              <a:ext uri="{FF2B5EF4-FFF2-40B4-BE49-F238E27FC236}">
                <a16:creationId xmlns:a16="http://schemas.microsoft.com/office/drawing/2014/main" id="{2746C467-E319-4F23-8C2F-5947753E2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C9E1B9-A11F-445E-BCD5-A39C0B179A03}"/>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3777544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78737-53CB-46EE-9692-A915E720A0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58862D-5396-45CC-899E-6918701A8B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2925C6-217C-47D7-B0E1-62BD84BA302D}"/>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5" name="Footer Placeholder 4">
            <a:extLst>
              <a:ext uri="{FF2B5EF4-FFF2-40B4-BE49-F238E27FC236}">
                <a16:creationId xmlns:a16="http://schemas.microsoft.com/office/drawing/2014/main" id="{20AD1A8A-5C9B-4B10-B830-782AB2314F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1F0D3-2E14-4AED-B767-B775EF3A4582}"/>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1472733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D3F11-8146-419D-BF74-8F67BB8270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098FBF-1B12-4D62-98B1-E4A4BAAC06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9B5B42-3267-4D3E-B9D4-6DC0886358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0818DA-027C-465C-801F-E4A707D764FC}"/>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6" name="Footer Placeholder 5">
            <a:extLst>
              <a:ext uri="{FF2B5EF4-FFF2-40B4-BE49-F238E27FC236}">
                <a16:creationId xmlns:a16="http://schemas.microsoft.com/office/drawing/2014/main" id="{38B8A513-F703-43EC-9834-A99A2694C9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2B8179-0A5B-47BF-A29F-F5650F17F3D3}"/>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3373570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B73FB-AB11-4F30-9CF9-3FFF4554C7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48025C-6564-423E-8809-0D3BA1365C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58750F-9456-4F7C-9CFC-6C9C9C31A2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61D0FC-13EC-472D-A767-343399C32B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9FA1CE-CD3E-4E84-A286-F12C6C19D9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8DD086-56F3-4C89-8849-82CB2A4213A6}"/>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8" name="Footer Placeholder 7">
            <a:extLst>
              <a:ext uri="{FF2B5EF4-FFF2-40B4-BE49-F238E27FC236}">
                <a16:creationId xmlns:a16="http://schemas.microsoft.com/office/drawing/2014/main" id="{328494AC-71C4-456B-B618-A54F1ED647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13E52E-EE57-4AC3-9052-F3AA3A7E013E}"/>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3299426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195C4-AADE-4708-9257-AD9B768E0F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5FB69B-D0DB-48CD-8BD1-22197281041E}"/>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4" name="Footer Placeholder 3">
            <a:extLst>
              <a:ext uri="{FF2B5EF4-FFF2-40B4-BE49-F238E27FC236}">
                <a16:creationId xmlns:a16="http://schemas.microsoft.com/office/drawing/2014/main" id="{66CA20E5-FAA2-4CDF-91C8-36A5610D26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097C5D6-ACFE-4F03-9F41-81DCCDC22DF5}"/>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315837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6A1D29-BC69-4832-87F4-BEB486D6ED45}"/>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3" name="Footer Placeholder 2">
            <a:extLst>
              <a:ext uri="{FF2B5EF4-FFF2-40B4-BE49-F238E27FC236}">
                <a16:creationId xmlns:a16="http://schemas.microsoft.com/office/drawing/2014/main" id="{3B4693A8-458D-48B2-968D-CE33FE3C6E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491629-31D1-410D-ADE3-47A9B33E68D9}"/>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97755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472B3-4E0F-4AED-9A43-B29E02A7BF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F8C11D-2955-403C-87B5-AB0C55F237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ACDFFB-28BF-4F82-B352-48F1AA804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B99B59-1F9B-47E9-A0FD-0CE755A856E1}"/>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6" name="Footer Placeholder 5">
            <a:extLst>
              <a:ext uri="{FF2B5EF4-FFF2-40B4-BE49-F238E27FC236}">
                <a16:creationId xmlns:a16="http://schemas.microsoft.com/office/drawing/2014/main" id="{6EEB1592-B5FB-4F43-A499-2216D6657B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A2977F-A140-457B-B402-B6906D3EAC9C}"/>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600809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6F3DD-527A-4830-BB19-E498A08D2B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643057-9AAF-4F86-A9A7-992CEF9FA2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9CE500-8F54-450B-936E-C8B4A835CD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D9F18A-B152-42C8-8086-C4C840BCBE4B}"/>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6" name="Footer Placeholder 5">
            <a:extLst>
              <a:ext uri="{FF2B5EF4-FFF2-40B4-BE49-F238E27FC236}">
                <a16:creationId xmlns:a16="http://schemas.microsoft.com/office/drawing/2014/main" id="{BD665BE4-B35E-468D-A328-5153CCA3FB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02DC3A-FE2D-42D9-A1EC-EE0391924F1A}"/>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1525969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40E22-2E1A-4D5C-85F6-BAD0E02BFC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11F342-C504-4ED1-A4BF-731B3FA90D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7E75E4-A036-4246-92E1-C49FAA2C09B3}"/>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5" name="Footer Placeholder 4">
            <a:extLst>
              <a:ext uri="{FF2B5EF4-FFF2-40B4-BE49-F238E27FC236}">
                <a16:creationId xmlns:a16="http://schemas.microsoft.com/office/drawing/2014/main" id="{E95AB6A5-D606-4015-872A-154D6131B6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DECA52-63E3-4E54-BF47-70101D9A1530}"/>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2839544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848AA3-6891-47C4-BD56-83DAD4F0C6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4E6584-9912-43FF-B5DD-40F404EDF1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1857B-A279-4E32-819B-BBB001C0682F}"/>
              </a:ext>
            </a:extLst>
          </p:cNvPr>
          <p:cNvSpPr>
            <a:spLocks noGrp="1"/>
          </p:cNvSpPr>
          <p:nvPr>
            <p:ph type="dt" sz="half" idx="10"/>
          </p:nvPr>
        </p:nvSpPr>
        <p:spPr/>
        <p:txBody>
          <a:bodyPr/>
          <a:lstStyle/>
          <a:p>
            <a:fld id="{9AC39E49-F3FC-403B-80CE-FD902CBBD85D}" type="datetimeFigureOut">
              <a:rPr lang="en-US" smtClean="0"/>
              <a:t>8/22/2020</a:t>
            </a:fld>
            <a:endParaRPr lang="en-US"/>
          </a:p>
        </p:txBody>
      </p:sp>
      <p:sp>
        <p:nvSpPr>
          <p:cNvPr id="5" name="Footer Placeholder 4">
            <a:extLst>
              <a:ext uri="{FF2B5EF4-FFF2-40B4-BE49-F238E27FC236}">
                <a16:creationId xmlns:a16="http://schemas.microsoft.com/office/drawing/2014/main" id="{BE93E290-6D86-4052-B125-53AD5C3618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42AEAE-4782-4174-AB88-8607824F99F1}"/>
              </a:ext>
            </a:extLst>
          </p:cNvPr>
          <p:cNvSpPr>
            <a:spLocks noGrp="1"/>
          </p:cNvSpPr>
          <p:nvPr>
            <p:ph type="sldNum" sz="quarter" idx="12"/>
          </p:nvPr>
        </p:nvSpPr>
        <p:spPr/>
        <p:txBody>
          <a:bodyPr/>
          <a:lstStyle/>
          <a:p>
            <a:fld id="{052071BF-A9C2-4093-BCF4-CAB4B0205943}" type="slidenum">
              <a:rPr lang="en-US" smtClean="0"/>
              <a:t>‹#›</a:t>
            </a:fld>
            <a:endParaRPr lang="en-US"/>
          </a:p>
        </p:txBody>
      </p:sp>
    </p:spTree>
    <p:extLst>
      <p:ext uri="{BB962C8B-B14F-4D97-AF65-F5344CB8AC3E}">
        <p14:creationId xmlns:p14="http://schemas.microsoft.com/office/powerpoint/2010/main" val="2782752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DCFC7D-5A3B-4793-9BEB-E927DDD1EE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1A8A5F-F831-48C1-BB8D-EFA1400260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C0C605-ED67-4DD1-89B1-9CADA90509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C39E49-F3FC-403B-80CE-FD902CBBD85D}" type="datetimeFigureOut">
              <a:rPr lang="en-US" smtClean="0"/>
              <a:t>8/22/2020</a:t>
            </a:fld>
            <a:endParaRPr lang="en-US"/>
          </a:p>
        </p:txBody>
      </p:sp>
      <p:sp>
        <p:nvSpPr>
          <p:cNvPr id="5" name="Footer Placeholder 4">
            <a:extLst>
              <a:ext uri="{FF2B5EF4-FFF2-40B4-BE49-F238E27FC236}">
                <a16:creationId xmlns:a16="http://schemas.microsoft.com/office/drawing/2014/main" id="{441B4393-B2CA-4CCF-9123-9D7A64539E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F53174-7A09-4F24-B7AE-C8B5895891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2071BF-A9C2-4093-BCF4-CAB4B0205943}" type="slidenum">
              <a:rPr lang="en-US" smtClean="0"/>
              <a:t>‹#›</a:t>
            </a:fld>
            <a:endParaRPr lang="en-US"/>
          </a:p>
        </p:txBody>
      </p:sp>
    </p:spTree>
    <p:extLst>
      <p:ext uri="{BB962C8B-B14F-4D97-AF65-F5344CB8AC3E}">
        <p14:creationId xmlns:p14="http://schemas.microsoft.com/office/powerpoint/2010/main" val="1674620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6628" y="770467"/>
            <a:ext cx="8691372" cy="3352800"/>
          </a:xfrm>
        </p:spPr>
        <p:txBody>
          <a:bodyPr/>
          <a:lstStyle/>
          <a:p>
            <a:r>
              <a:rPr lang="en-US" dirty="0"/>
              <a:t>Multiple relationships between two tables</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p>
          <a:p>
            <a:r>
              <a:rPr lang="en-US" b="1" dirty="0"/>
              <a:t>Management Information Systems</a:t>
            </a:r>
          </a:p>
          <a:p>
            <a:r>
              <a:rPr lang="en-US" sz="2000" dirty="0"/>
              <a:t>Disha Parkhi</a:t>
            </a:r>
          </a:p>
          <a:p>
            <a:endParaRPr lang="en-US" sz="2000" dirty="0"/>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6850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9496" y="229078"/>
            <a:ext cx="8079581" cy="1213357"/>
          </a:xfrm>
        </p:spPr>
        <p:txBody>
          <a:bodyPr/>
          <a:lstStyle/>
          <a:p>
            <a:r>
              <a:rPr lang="en-US" dirty="0"/>
              <a:t>Outline</a:t>
            </a:r>
          </a:p>
        </p:txBody>
      </p:sp>
      <p:sp>
        <p:nvSpPr>
          <p:cNvPr id="3" name="Slide Number Placeholder 2"/>
          <p:cNvSpPr>
            <a:spLocks noGrp="1"/>
          </p:cNvSpPr>
          <p:nvPr>
            <p:ph type="sldNum" sz="quarter" idx="12"/>
          </p:nvPr>
        </p:nvSpPr>
        <p:spPr/>
        <p:txBody>
          <a:bodyPr/>
          <a:lstStyle/>
          <a:p>
            <a:fld id="{87F3E754-1C97-4481-A18C-9D97ADBDF344}" type="slidenum">
              <a:rPr lang="en-US" smtClean="0"/>
              <a:t>2</a:t>
            </a:fld>
            <a:endParaRPr lang="en-US"/>
          </a:p>
        </p:txBody>
      </p:sp>
      <p:sp>
        <p:nvSpPr>
          <p:cNvPr id="4" name="Rectangle 5"/>
          <p:cNvSpPr>
            <a:spLocks noChangeArrowheads="1"/>
          </p:cNvSpPr>
          <p:nvPr/>
        </p:nvSpPr>
        <p:spPr bwMode="auto">
          <a:xfrm>
            <a:off x="1849496" y="1987688"/>
            <a:ext cx="4719869" cy="2786020"/>
          </a:xfrm>
          <a:prstGeom prst="rect">
            <a:avLst/>
          </a:prstGeom>
          <a:noFill/>
          <a:ln w="9525">
            <a:noFill/>
            <a:miter lim="800000"/>
            <a:headEnd/>
            <a:tailEnd/>
          </a:ln>
          <a:effectLst/>
        </p:spPr>
        <p:txBody>
          <a:bodyPr wrap="square" lIns="92075" tIns="46038" rIns="92075" bIns="46038">
            <a:spAutoFit/>
          </a:bodyPr>
          <a:lstStyle/>
          <a:p>
            <a:pPr algn="just"/>
            <a:endParaRPr lang="en-US" sz="2500" dirty="0"/>
          </a:p>
          <a:p>
            <a:pPr marL="342900" indent="-342900" algn="just">
              <a:buFont typeface="Wingdings" panose="05000000000000000000" pitchFamily="2" charset="2"/>
              <a:buChar char="§"/>
            </a:pPr>
            <a:r>
              <a:rPr lang="en-US" sz="2500" b="1" dirty="0"/>
              <a:t>Multiple relationships between the same pair of tables</a:t>
            </a:r>
            <a:r>
              <a:rPr lang="en-US" sz="2500" dirty="0"/>
              <a:t>:</a:t>
            </a:r>
          </a:p>
          <a:p>
            <a:pPr marL="800100" lvl="1" indent="-342900" algn="just">
              <a:buFont typeface="Wingdings" panose="05000000000000000000" pitchFamily="2" charset="2"/>
              <a:buChar char="§"/>
            </a:pPr>
            <a:r>
              <a:rPr lang="en-US" sz="2500" dirty="0"/>
              <a:t>The Commuter Airline</a:t>
            </a:r>
          </a:p>
          <a:p>
            <a:pPr marL="800100" lvl="1" indent="-342900" algn="just">
              <a:buFont typeface="Wingdings" panose="05000000000000000000" pitchFamily="2" charset="2"/>
              <a:buChar char="§"/>
            </a:pPr>
            <a:endParaRPr lang="en-US" sz="2500" dirty="0"/>
          </a:p>
          <a:p>
            <a:pPr lvl="1" algn="just"/>
            <a:endParaRPr lang="en-US" sz="2500" dirty="0"/>
          </a:p>
          <a:p>
            <a:pPr marL="800100" lvl="1" indent="-342900" algn="just">
              <a:buFont typeface="Wingdings" panose="05000000000000000000" pitchFamily="2" charset="2"/>
              <a:buChar char="§"/>
            </a:pPr>
            <a:endParaRPr lang="en-US" sz="2500" dirty="0"/>
          </a:p>
        </p:txBody>
      </p:sp>
      <p:sp>
        <p:nvSpPr>
          <p:cNvPr id="6" name="Content Placeholder 8"/>
          <p:cNvSpPr txBox="1">
            <a:spLocks/>
          </p:cNvSpPr>
          <p:nvPr/>
        </p:nvSpPr>
        <p:spPr>
          <a:xfrm>
            <a:off x="7114309" y="1920324"/>
            <a:ext cx="3163455" cy="3767328"/>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i="1" dirty="0"/>
              <a:t> Chapter 8: 171-184</a:t>
            </a:r>
          </a:p>
          <a:p>
            <a:pPr marL="0" indent="0">
              <a:lnSpc>
                <a:spcPct val="100000"/>
              </a:lnSpc>
              <a:buNone/>
            </a:pPr>
            <a:r>
              <a:rPr lang="en-US" i="1" dirty="0"/>
              <a:t>We are doing only one example in class, the other examples in the chapter are good practice exercises.</a:t>
            </a:r>
          </a:p>
          <a:p>
            <a:pPr marL="0" indent="0">
              <a:lnSpc>
                <a:spcPct val="100000"/>
              </a:lnSpc>
              <a:buNone/>
            </a:pPr>
            <a:endParaRPr lang="en-US" dirty="0"/>
          </a:p>
        </p:txBody>
      </p:sp>
    </p:spTree>
    <p:extLst>
      <p:ext uri="{BB962C8B-B14F-4D97-AF65-F5344CB8AC3E}">
        <p14:creationId xmlns:p14="http://schemas.microsoft.com/office/powerpoint/2010/main" val="1072933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6628" y="767419"/>
            <a:ext cx="8283125" cy="3355848"/>
          </a:xfrm>
        </p:spPr>
        <p:txBody>
          <a:bodyPr/>
          <a:lstStyle/>
          <a:p>
            <a:r>
              <a:rPr lang="en-US" dirty="0"/>
              <a:t>The Commuter Airline</a:t>
            </a:r>
          </a:p>
        </p:txBody>
      </p:sp>
      <p:sp>
        <p:nvSpPr>
          <p:cNvPr id="3" name="Text Placeholder 2"/>
          <p:cNvSpPr>
            <a:spLocks noGrp="1"/>
          </p:cNvSpPr>
          <p:nvPr>
            <p:ph type="body" idx="1"/>
          </p:nvPr>
        </p:nvSpPr>
        <p:spPr/>
        <p:txBody>
          <a:bodyPr/>
          <a:lstStyle/>
          <a:p>
            <a:r>
              <a:rPr lang="en-US" dirty="0"/>
              <a:t>DB Design Exercise</a:t>
            </a:r>
          </a:p>
        </p:txBody>
      </p:sp>
      <p:sp>
        <p:nvSpPr>
          <p:cNvPr id="4" name="Slide Number Placeholder 3"/>
          <p:cNvSpPr>
            <a:spLocks noGrp="1"/>
          </p:cNvSpPr>
          <p:nvPr>
            <p:ph type="sldNum" sz="quarter" idx="12"/>
          </p:nvPr>
        </p:nvSpPr>
        <p:spPr/>
        <p:txBody>
          <a:bodyPr/>
          <a:lstStyle/>
          <a:p>
            <a:fld id="{87F3E754-1C97-4481-A18C-9D97ADBDF344}" type="slidenum">
              <a:rPr lang="en-US" smtClean="0"/>
              <a:t>3</a:t>
            </a:fld>
            <a:endParaRPr lang="en-US"/>
          </a:p>
        </p:txBody>
      </p:sp>
    </p:spTree>
    <p:extLst>
      <p:ext uri="{BB962C8B-B14F-4D97-AF65-F5344CB8AC3E}">
        <p14:creationId xmlns:p14="http://schemas.microsoft.com/office/powerpoint/2010/main" val="383730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1567" y="1365878"/>
            <a:ext cx="8576885" cy="5202790"/>
          </a:xfrm>
        </p:spPr>
        <p:txBody>
          <a:bodyPr>
            <a:noAutofit/>
          </a:bodyPr>
          <a:lstStyle/>
          <a:p>
            <a:pPr algn="just">
              <a:lnSpc>
                <a:spcPct val="110000"/>
              </a:lnSpc>
            </a:pPr>
            <a:r>
              <a:rPr lang="en-US" sz="1900" dirty="0"/>
              <a:t>Your firm operates a commuter airline covering portions of western Canada and the northwest United States.  Presently, you store your schedule in a database with the following tables:</a:t>
            </a:r>
          </a:p>
          <a:p>
            <a:pPr algn="just">
              <a:lnSpc>
                <a:spcPct val="110000"/>
              </a:lnSpc>
            </a:pPr>
            <a:r>
              <a:rPr lang="en-US" sz="1900" dirty="0"/>
              <a:t>FLIGHT (</a:t>
            </a:r>
            <a:r>
              <a:rPr lang="en-US" sz="1900" u="sng" dirty="0" err="1"/>
              <a:t>FlightNumber</a:t>
            </a:r>
            <a:r>
              <a:rPr lang="en-US" sz="1900" dirty="0"/>
              <a:t>, </a:t>
            </a:r>
            <a:r>
              <a:rPr lang="en-US" sz="1900" dirty="0" err="1"/>
              <a:t>OriginAirport</a:t>
            </a:r>
            <a:r>
              <a:rPr lang="en-US" sz="1900" dirty="0"/>
              <a:t>, </a:t>
            </a:r>
            <a:r>
              <a:rPr lang="en-US" sz="1900" dirty="0" err="1"/>
              <a:t>DepartureTime</a:t>
            </a:r>
            <a:r>
              <a:rPr lang="en-US" sz="1900" dirty="0"/>
              <a:t>, </a:t>
            </a:r>
            <a:r>
              <a:rPr lang="en-US" sz="1900" dirty="0" err="1"/>
              <a:t>DestinationAirport</a:t>
            </a:r>
            <a:r>
              <a:rPr lang="en-US" sz="1900" dirty="0"/>
              <a:t>, </a:t>
            </a:r>
            <a:r>
              <a:rPr lang="en-US" sz="1900" dirty="0" err="1"/>
              <a:t>ArrivalTime</a:t>
            </a:r>
            <a:r>
              <a:rPr lang="en-US" sz="1900" dirty="0"/>
              <a:t>, </a:t>
            </a:r>
            <a:r>
              <a:rPr lang="en-US" sz="1900" dirty="0" err="1"/>
              <a:t>PlaneCode</a:t>
            </a:r>
            <a:r>
              <a:rPr lang="en-US" sz="1900" dirty="0"/>
              <a:t>)</a:t>
            </a:r>
          </a:p>
          <a:p>
            <a:pPr algn="just">
              <a:lnSpc>
                <a:spcPct val="110000"/>
              </a:lnSpc>
            </a:pPr>
            <a:r>
              <a:rPr lang="en-US" sz="1900" dirty="0"/>
              <a:t>                     </a:t>
            </a:r>
            <a:r>
              <a:rPr lang="en-US" sz="1900" dirty="0" err="1"/>
              <a:t>PlaneCode</a:t>
            </a:r>
            <a:r>
              <a:rPr lang="en-US" sz="1900" dirty="0"/>
              <a:t> foreign key to KINDOFPLANE</a:t>
            </a:r>
          </a:p>
          <a:p>
            <a:pPr algn="just">
              <a:lnSpc>
                <a:spcPct val="110000"/>
              </a:lnSpc>
            </a:pPr>
            <a:r>
              <a:rPr lang="en-US" sz="1900" dirty="0"/>
              <a:t>FLIESONDAY (</a:t>
            </a:r>
            <a:r>
              <a:rPr lang="en-US" sz="1900" u="sng" dirty="0" err="1"/>
              <a:t>FlightNumber</a:t>
            </a:r>
            <a:r>
              <a:rPr lang="en-US" sz="1900" dirty="0"/>
              <a:t>, </a:t>
            </a:r>
            <a:r>
              <a:rPr lang="en-US" sz="1900" u="sng" dirty="0"/>
              <a:t>Day</a:t>
            </a:r>
            <a:r>
              <a:rPr lang="en-US" sz="1900" dirty="0"/>
              <a:t>)</a:t>
            </a:r>
          </a:p>
          <a:p>
            <a:pPr algn="just">
              <a:lnSpc>
                <a:spcPct val="110000"/>
              </a:lnSpc>
            </a:pPr>
            <a:r>
              <a:rPr lang="en-US" sz="1900" dirty="0"/>
              <a:t>                     </a:t>
            </a:r>
            <a:r>
              <a:rPr lang="en-US" sz="1900" dirty="0" err="1"/>
              <a:t>FlightNumber</a:t>
            </a:r>
            <a:r>
              <a:rPr lang="en-US" sz="1900" dirty="0"/>
              <a:t> foreign key to FLIGHT</a:t>
            </a:r>
          </a:p>
          <a:p>
            <a:pPr algn="just">
              <a:lnSpc>
                <a:spcPct val="110000"/>
              </a:lnSpc>
            </a:pPr>
            <a:r>
              <a:rPr lang="en-US" sz="1900" dirty="0"/>
              <a:t>KINDOFPLANE (</a:t>
            </a:r>
            <a:r>
              <a:rPr lang="en-US" sz="1900" u="sng" dirty="0" err="1"/>
              <a:t>PlaneCode</a:t>
            </a:r>
            <a:r>
              <a:rPr lang="en-US" sz="1900" dirty="0"/>
              <a:t>, </a:t>
            </a:r>
            <a:r>
              <a:rPr lang="en-US" sz="1900" dirty="0" err="1"/>
              <a:t>FullPlaneName</a:t>
            </a:r>
            <a:r>
              <a:rPr lang="en-US" sz="1900" dirty="0"/>
              <a:t>, </a:t>
            </a:r>
            <a:r>
              <a:rPr lang="en-US" sz="1900" dirty="0" err="1"/>
              <a:t>SeatingCapacity</a:t>
            </a:r>
            <a:r>
              <a:rPr lang="en-US" sz="1900" dirty="0"/>
              <a:t>)</a:t>
            </a:r>
          </a:p>
          <a:p>
            <a:pPr algn="just">
              <a:lnSpc>
                <a:spcPct val="110000"/>
              </a:lnSpc>
            </a:pPr>
            <a:r>
              <a:rPr lang="en-US" sz="1900" dirty="0" err="1"/>
              <a:t>OriginAirport</a:t>
            </a:r>
            <a:r>
              <a:rPr lang="en-US" sz="1900" dirty="0"/>
              <a:t> and </a:t>
            </a:r>
            <a:r>
              <a:rPr lang="en-US" sz="1900" dirty="0" err="1"/>
              <a:t>DestinationAirport</a:t>
            </a:r>
            <a:r>
              <a:rPr lang="en-US" sz="1900" dirty="0"/>
              <a:t> are standard three-letter airport codes (like “EWR” for Newark). The permitted values of Day in the FLIESONDAY table are “Weekdays”, “Saturday”, or “Sunday”.  </a:t>
            </a:r>
          </a:p>
        </p:txBody>
      </p:sp>
      <p:sp>
        <p:nvSpPr>
          <p:cNvPr id="4" name="Slide Number Placeholder 3"/>
          <p:cNvSpPr>
            <a:spLocks noGrp="1"/>
          </p:cNvSpPr>
          <p:nvPr>
            <p:ph type="sldNum" sz="quarter" idx="12"/>
          </p:nvPr>
        </p:nvSpPr>
        <p:spPr/>
        <p:txBody>
          <a:bodyPr/>
          <a:lstStyle/>
          <a:p>
            <a:fld id="{87F3E754-1C97-4481-A18C-9D97ADBDF344}" type="slidenum">
              <a:rPr lang="en-US" smtClean="0"/>
              <a:t>4</a:t>
            </a:fld>
            <a:endParaRPr lang="en-US"/>
          </a:p>
        </p:txBody>
      </p:sp>
      <p:sp>
        <p:nvSpPr>
          <p:cNvPr id="5" name="Title 1"/>
          <p:cNvSpPr txBox="1">
            <a:spLocks/>
          </p:cNvSpPr>
          <p:nvPr/>
        </p:nvSpPr>
        <p:spPr>
          <a:xfrm>
            <a:off x="1852248" y="276395"/>
            <a:ext cx="8585093" cy="10096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a:lstStyle>
          <a:p>
            <a:r>
              <a:rPr lang="en-US" dirty="0"/>
              <a:t>Multiple rel. between two tables</a:t>
            </a:r>
            <a:br>
              <a:rPr lang="en-US" dirty="0"/>
            </a:br>
            <a:r>
              <a:rPr lang="en-US" sz="2700" b="1" dirty="0">
                <a:solidFill>
                  <a:schemeClr val="tx1"/>
                </a:solidFill>
              </a:rPr>
              <a:t>The Commuter Airline</a:t>
            </a:r>
          </a:p>
        </p:txBody>
      </p:sp>
    </p:spTree>
    <p:extLst>
      <p:ext uri="{BB962C8B-B14F-4D97-AF65-F5344CB8AC3E}">
        <p14:creationId xmlns:p14="http://schemas.microsoft.com/office/powerpoint/2010/main" val="2613194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nvGraphicFramePr>
        <p:xfrm>
          <a:off x="2413002" y="4525847"/>
          <a:ext cx="2586182" cy="738910"/>
        </p:xfrm>
        <a:graphic>
          <a:graphicData uri="http://schemas.openxmlformats.org/drawingml/2006/table">
            <a:tbl>
              <a:tblPr firstRow="1" bandRow="1">
                <a:tableStyleId>{5C22544A-7EE6-4342-B048-85BDC9FD1C3A}</a:tableStyleId>
              </a:tblPr>
              <a:tblGrid>
                <a:gridCol w="480291">
                  <a:extLst>
                    <a:ext uri="{9D8B030D-6E8A-4147-A177-3AD203B41FA5}">
                      <a16:colId xmlns:a16="http://schemas.microsoft.com/office/drawing/2014/main" val="20000"/>
                    </a:ext>
                  </a:extLst>
                </a:gridCol>
                <a:gridCol w="2105891">
                  <a:extLst>
                    <a:ext uri="{9D8B030D-6E8A-4147-A177-3AD203B41FA5}">
                      <a16:colId xmlns:a16="http://schemas.microsoft.com/office/drawing/2014/main" val="20001"/>
                    </a:ext>
                  </a:extLst>
                </a:gridCol>
              </a:tblGrid>
              <a:tr h="369455">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endParaRPr lang="en-US"/>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9455">
                <a:tc>
                  <a:txBody>
                    <a:bodyPr/>
                    <a:lstStyle/>
                    <a:p>
                      <a:endParaRPr lang="en-US"/>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87F3E754-1C97-4481-A18C-9D97ADBDF344}" type="slidenum">
              <a:rPr lang="en-US" smtClean="0"/>
              <a:t>5</a:t>
            </a:fld>
            <a:endParaRPr lang="en-US"/>
          </a:p>
        </p:txBody>
      </p:sp>
      <p:graphicFrame>
        <p:nvGraphicFramePr>
          <p:cNvPr id="5" name="Table 4"/>
          <p:cNvGraphicFramePr>
            <a:graphicFrameLocks noGrp="1"/>
          </p:cNvGraphicFramePr>
          <p:nvPr/>
        </p:nvGraphicFramePr>
        <p:xfrm>
          <a:off x="4237162" y="3221182"/>
          <a:ext cx="5114634" cy="370840"/>
        </p:xfrm>
        <a:graphic>
          <a:graphicData uri="http://schemas.openxmlformats.org/drawingml/2006/table">
            <a:tbl>
              <a:tblPr firstRow="1" bandRow="1">
                <a:tableStyleId>{5C22544A-7EE6-4342-B048-85BDC9FD1C3A}</a:tableStyleId>
              </a:tblPr>
              <a:tblGrid>
                <a:gridCol w="852439">
                  <a:extLst>
                    <a:ext uri="{9D8B030D-6E8A-4147-A177-3AD203B41FA5}">
                      <a16:colId xmlns:a16="http://schemas.microsoft.com/office/drawing/2014/main" val="20000"/>
                    </a:ext>
                  </a:extLst>
                </a:gridCol>
                <a:gridCol w="852439">
                  <a:extLst>
                    <a:ext uri="{9D8B030D-6E8A-4147-A177-3AD203B41FA5}">
                      <a16:colId xmlns:a16="http://schemas.microsoft.com/office/drawing/2014/main" val="20001"/>
                    </a:ext>
                  </a:extLst>
                </a:gridCol>
                <a:gridCol w="852439">
                  <a:extLst>
                    <a:ext uri="{9D8B030D-6E8A-4147-A177-3AD203B41FA5}">
                      <a16:colId xmlns:a16="http://schemas.microsoft.com/office/drawing/2014/main" val="20002"/>
                    </a:ext>
                  </a:extLst>
                </a:gridCol>
                <a:gridCol w="852439">
                  <a:extLst>
                    <a:ext uri="{9D8B030D-6E8A-4147-A177-3AD203B41FA5}">
                      <a16:colId xmlns:a16="http://schemas.microsoft.com/office/drawing/2014/main" val="20003"/>
                    </a:ext>
                  </a:extLst>
                </a:gridCol>
                <a:gridCol w="852439">
                  <a:extLst>
                    <a:ext uri="{9D8B030D-6E8A-4147-A177-3AD203B41FA5}">
                      <a16:colId xmlns:a16="http://schemas.microsoft.com/office/drawing/2014/main" val="20004"/>
                    </a:ext>
                  </a:extLst>
                </a:gridCol>
                <a:gridCol w="852439">
                  <a:extLst>
                    <a:ext uri="{9D8B030D-6E8A-4147-A177-3AD203B41FA5}">
                      <a16:colId xmlns:a16="http://schemas.microsoft.com/office/drawing/2014/main" val="20005"/>
                    </a:ext>
                  </a:extLst>
                </a:gridCol>
              </a:tblGrid>
              <a:tr h="370840">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endParaRPr lang="en-US"/>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endParaRPr lang="en-US"/>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endParaRPr lang="en-US"/>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endParaRPr lang="en-US"/>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4262560" y="3673764"/>
          <a:ext cx="5377891" cy="370840"/>
        </p:xfrm>
        <a:graphic>
          <a:graphicData uri="http://schemas.openxmlformats.org/drawingml/2006/table">
            <a:tbl>
              <a:tblPr firstRow="1" bandRow="1">
                <a:tableStyleId>{5C22544A-7EE6-4342-B048-85BDC9FD1C3A}</a:tableStyleId>
              </a:tblPr>
              <a:tblGrid>
                <a:gridCol w="896315">
                  <a:extLst>
                    <a:ext uri="{9D8B030D-6E8A-4147-A177-3AD203B41FA5}">
                      <a16:colId xmlns:a16="http://schemas.microsoft.com/office/drawing/2014/main" val="20000"/>
                    </a:ext>
                  </a:extLst>
                </a:gridCol>
                <a:gridCol w="3585261">
                  <a:extLst>
                    <a:ext uri="{9D8B030D-6E8A-4147-A177-3AD203B41FA5}">
                      <a16:colId xmlns:a16="http://schemas.microsoft.com/office/drawing/2014/main" val="20001"/>
                    </a:ext>
                  </a:extLst>
                </a:gridCol>
                <a:gridCol w="896315">
                  <a:extLst>
                    <a:ext uri="{9D8B030D-6E8A-4147-A177-3AD203B41FA5}">
                      <a16:colId xmlns:a16="http://schemas.microsoft.com/office/drawing/2014/main" val="20002"/>
                    </a:ext>
                  </a:extLst>
                </a:gridCol>
              </a:tblGrid>
              <a:tr h="370840">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
        <p:nvSpPr>
          <p:cNvPr id="3" name="Content Placeholder 2"/>
          <p:cNvSpPr>
            <a:spLocks noGrp="1"/>
          </p:cNvSpPr>
          <p:nvPr>
            <p:ph idx="1"/>
          </p:nvPr>
        </p:nvSpPr>
        <p:spPr>
          <a:xfrm>
            <a:off x="2008890" y="555835"/>
            <a:ext cx="8185746" cy="6150625"/>
          </a:xfrm>
        </p:spPr>
        <p:txBody>
          <a:bodyPr>
            <a:noAutofit/>
          </a:bodyPr>
          <a:lstStyle/>
          <a:p>
            <a:pPr algn="just">
              <a:lnSpc>
                <a:spcPct val="100000"/>
              </a:lnSpc>
            </a:pPr>
            <a:r>
              <a:rPr lang="en-US" sz="2000" dirty="0"/>
              <a:t>For instance, the records shown below indicate that flight 123 operates between Calgary, Alberta (airport code YYC) and Helena, Montana (airport code HLN), departing 10:00 AM and arriving 12:30 PM on weekdays and Saturdays, but not operating on Sundays; the flight uses a De Havilland Dash 7 turboprop aircraft (</a:t>
            </a:r>
            <a:r>
              <a:rPr lang="en-US" sz="2000" dirty="0" err="1"/>
              <a:t>PlaneCode</a:t>
            </a:r>
            <a:r>
              <a:rPr lang="en-US" sz="2000" dirty="0"/>
              <a:t> DH7), which seats 50 people.  The records pertaining to other flights and kinds of aircraft are not shown.</a:t>
            </a:r>
          </a:p>
          <a:p>
            <a:pPr algn="just">
              <a:lnSpc>
                <a:spcPct val="100000"/>
              </a:lnSpc>
            </a:pPr>
            <a:endParaRPr lang="en-US" sz="1400" dirty="0"/>
          </a:p>
          <a:p>
            <a:pPr algn="just">
              <a:lnSpc>
                <a:spcPct val="100000"/>
              </a:lnSpc>
            </a:pPr>
            <a:r>
              <a:rPr lang="en-US" sz="1900" dirty="0"/>
              <a:t>FLIGHT:                     123      YYC    10:00   HLN       12:30   DH7</a:t>
            </a:r>
          </a:p>
          <a:p>
            <a:pPr algn="just">
              <a:lnSpc>
                <a:spcPct val="100000"/>
              </a:lnSpc>
            </a:pPr>
            <a:r>
              <a:rPr lang="en-US" sz="1900" dirty="0"/>
              <a:t>KINDOFPLANE:       DH7    “De Havilland Dash 7 Turboprop”     50</a:t>
            </a:r>
          </a:p>
          <a:p>
            <a:pPr algn="just">
              <a:lnSpc>
                <a:spcPct val="100000"/>
              </a:lnSpc>
            </a:pPr>
            <a:r>
              <a:rPr lang="en-US" sz="1900" dirty="0"/>
              <a:t>FLIESONDAY:            </a:t>
            </a:r>
          </a:p>
          <a:p>
            <a:pPr lvl="1" algn="just">
              <a:lnSpc>
                <a:spcPct val="100000"/>
              </a:lnSpc>
            </a:pPr>
            <a:r>
              <a:rPr lang="en-US" sz="1900" dirty="0"/>
              <a:t>123  Weekdays</a:t>
            </a:r>
          </a:p>
          <a:p>
            <a:pPr lvl="1" algn="just">
              <a:lnSpc>
                <a:spcPct val="100000"/>
              </a:lnSpc>
            </a:pPr>
            <a:r>
              <a:rPr lang="en-US" sz="1900" dirty="0"/>
              <a:t>123  Saturday</a:t>
            </a:r>
          </a:p>
          <a:p>
            <a:pPr algn="just">
              <a:lnSpc>
                <a:spcPct val="100000"/>
              </a:lnSpc>
            </a:pPr>
            <a:endParaRPr lang="en-US" sz="1900" dirty="0"/>
          </a:p>
          <a:p>
            <a:pPr algn="just">
              <a:lnSpc>
                <a:spcPct val="100000"/>
              </a:lnSpc>
            </a:pPr>
            <a:r>
              <a:rPr lang="en-US" sz="1900" b="1" dirty="0"/>
              <a:t> (a) Draw an entity-relationship diagram for this database.</a:t>
            </a:r>
            <a:endParaRPr lang="en-US" sz="1900" dirty="0"/>
          </a:p>
          <a:p>
            <a:pPr algn="just">
              <a:lnSpc>
                <a:spcPct val="100000"/>
              </a:lnSpc>
            </a:pPr>
            <a:endParaRPr lang="en-US" sz="1900" dirty="0"/>
          </a:p>
        </p:txBody>
      </p:sp>
    </p:spTree>
    <p:extLst>
      <p:ext uri="{BB962C8B-B14F-4D97-AF65-F5344CB8AC3E}">
        <p14:creationId xmlns:p14="http://schemas.microsoft.com/office/powerpoint/2010/main" val="1002084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4395" y="478519"/>
            <a:ext cx="8065294" cy="5521368"/>
          </a:xfrm>
        </p:spPr>
        <p:txBody>
          <a:bodyPr>
            <a:normAutofit/>
          </a:bodyPr>
          <a:lstStyle/>
          <a:p>
            <a:pPr algn="just">
              <a:lnSpc>
                <a:spcPct val="110000"/>
              </a:lnSpc>
            </a:pPr>
            <a:r>
              <a:rPr lang="en-US" sz="2000" dirty="0"/>
              <a:t>Suppose the operations department decides that Saturday demand for flight 123 is too small to justify a DH7 aircraft, and they want to substitute a smaller Saab 340 aircraft on Saturdays. They will continue to use the DH7 aircraft on weekdays.</a:t>
            </a:r>
          </a:p>
          <a:p>
            <a:pPr algn="just">
              <a:lnSpc>
                <a:spcPct val="110000"/>
              </a:lnSpc>
            </a:pPr>
            <a:r>
              <a:rPr lang="en-US" sz="2000" b="1" dirty="0"/>
              <a:t>(b) With this change of aircraft, briefly explain why the database forces you to assign a different flight number to the Saturday flight, even though its scheduled arrival and departure information are identical to the weekday flight.</a:t>
            </a:r>
          </a:p>
          <a:p>
            <a:pPr algn="just">
              <a:lnSpc>
                <a:spcPct val="110000"/>
              </a:lnSpc>
            </a:pPr>
            <a:endParaRPr lang="en-US" sz="2000" b="1" dirty="0"/>
          </a:p>
          <a:p>
            <a:pPr algn="just">
              <a:lnSpc>
                <a:spcPct val="110000"/>
              </a:lnSpc>
            </a:pPr>
            <a:r>
              <a:rPr lang="en-US" sz="2000" b="1" dirty="0"/>
              <a:t>(c)  Redesign the database so the same flight number can be used on every day a flight operates, even if different aircraft are used.  </a:t>
            </a:r>
          </a:p>
          <a:p>
            <a:pPr algn="just">
              <a:lnSpc>
                <a:spcPct val="110000"/>
              </a:lnSpc>
            </a:pPr>
            <a:r>
              <a:rPr lang="en-US" sz="2000" b="1" dirty="0"/>
              <a:t>Write a new entity-relationship diagram and database design outline.</a:t>
            </a:r>
            <a:endParaRPr lang="en-US" sz="2000" dirty="0"/>
          </a:p>
          <a:p>
            <a:pPr algn="just">
              <a:lnSpc>
                <a:spcPct val="110000"/>
              </a:lnSpc>
            </a:pPr>
            <a:endParaRPr lang="en-US" sz="2000" dirty="0"/>
          </a:p>
          <a:p>
            <a:pPr algn="just">
              <a:lnSpc>
                <a:spcPct val="110000"/>
              </a:lnSpc>
            </a:pPr>
            <a:endParaRPr lang="en-US" sz="2000" dirty="0"/>
          </a:p>
        </p:txBody>
      </p:sp>
      <p:sp>
        <p:nvSpPr>
          <p:cNvPr id="4" name="Slide Number Placeholder 3"/>
          <p:cNvSpPr>
            <a:spLocks noGrp="1"/>
          </p:cNvSpPr>
          <p:nvPr>
            <p:ph type="sldNum" sz="quarter" idx="12"/>
          </p:nvPr>
        </p:nvSpPr>
        <p:spPr/>
        <p:txBody>
          <a:bodyPr/>
          <a:lstStyle/>
          <a:p>
            <a:fld id="{87F3E754-1C97-4481-A18C-9D97ADBDF344}" type="slidenum">
              <a:rPr lang="en-US" smtClean="0"/>
              <a:t>6</a:t>
            </a:fld>
            <a:endParaRPr lang="en-US"/>
          </a:p>
        </p:txBody>
      </p:sp>
    </p:spTree>
    <p:extLst>
      <p:ext uri="{BB962C8B-B14F-4D97-AF65-F5344CB8AC3E}">
        <p14:creationId xmlns:p14="http://schemas.microsoft.com/office/powerpoint/2010/main" val="1239883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206" y="769491"/>
            <a:ext cx="8065294" cy="5009543"/>
          </a:xfrm>
        </p:spPr>
        <p:txBody>
          <a:bodyPr>
            <a:normAutofit/>
          </a:bodyPr>
          <a:lstStyle/>
          <a:p>
            <a:pPr algn="just">
              <a:lnSpc>
                <a:spcPct val="110000"/>
              </a:lnSpc>
            </a:pPr>
            <a:r>
              <a:rPr lang="en-US" sz="2000" b="1" dirty="0"/>
              <a:t>(d)  Suppose you want to be able to print reports in which you list not only the three-letter codes for airports, but their full names. For example, a line of the report might read</a:t>
            </a:r>
            <a:endParaRPr lang="en-US" sz="2000" dirty="0"/>
          </a:p>
          <a:p>
            <a:pPr algn="just">
              <a:lnSpc>
                <a:spcPct val="110000"/>
              </a:lnSpc>
            </a:pPr>
            <a:r>
              <a:rPr lang="en-US" sz="2000" dirty="0"/>
              <a:t>Flight  123  Departs Calgary, Alberta  10:00am   Arrives Helena, Montana  12:30pm</a:t>
            </a:r>
          </a:p>
          <a:p>
            <a:pPr algn="just">
              <a:lnSpc>
                <a:spcPct val="110000"/>
              </a:lnSpc>
            </a:pPr>
            <a:endParaRPr lang="en-US" sz="2000" b="1" dirty="0"/>
          </a:p>
          <a:p>
            <a:pPr marL="0" indent="0" algn="just">
              <a:lnSpc>
                <a:spcPct val="110000"/>
              </a:lnSpc>
              <a:buNone/>
            </a:pPr>
            <a:r>
              <a:rPr lang="en-US" sz="2000" b="1" dirty="0"/>
              <a:t>You plan to add the following table to the database:</a:t>
            </a:r>
          </a:p>
          <a:p>
            <a:pPr marL="0" indent="0" algn="just">
              <a:lnSpc>
                <a:spcPct val="110000"/>
              </a:lnSpc>
              <a:buNone/>
            </a:pPr>
            <a:r>
              <a:rPr lang="en-US" sz="2000" dirty="0"/>
              <a:t>AIRPORT (</a:t>
            </a:r>
            <a:r>
              <a:rPr lang="en-US" sz="2000" u="sng" dirty="0"/>
              <a:t>Code</a:t>
            </a:r>
            <a:r>
              <a:rPr lang="en-US" sz="2000" dirty="0"/>
              <a:t>, name, state/province, altitude, latitude, longitude)  </a:t>
            </a:r>
          </a:p>
          <a:p>
            <a:pPr marL="0" indent="0" algn="just">
              <a:lnSpc>
                <a:spcPct val="110000"/>
              </a:lnSpc>
              <a:buNone/>
            </a:pPr>
            <a:endParaRPr lang="en-US" sz="2000" b="1" dirty="0"/>
          </a:p>
          <a:p>
            <a:pPr marL="0" indent="0" algn="just">
              <a:lnSpc>
                <a:spcPct val="110000"/>
              </a:lnSpc>
              <a:buNone/>
            </a:pPr>
            <a:r>
              <a:rPr lang="en-US" sz="2000" b="1" dirty="0"/>
              <a:t>Draw a new entity-relationship diagram and design outline for database.</a:t>
            </a:r>
            <a:endParaRPr lang="en-US" sz="2000" dirty="0"/>
          </a:p>
          <a:p>
            <a:pPr algn="just">
              <a:lnSpc>
                <a:spcPct val="110000"/>
              </a:lnSpc>
            </a:pPr>
            <a:endParaRPr lang="en-US" sz="2000" dirty="0"/>
          </a:p>
        </p:txBody>
      </p:sp>
      <p:sp>
        <p:nvSpPr>
          <p:cNvPr id="4" name="Slide Number Placeholder 3"/>
          <p:cNvSpPr>
            <a:spLocks noGrp="1"/>
          </p:cNvSpPr>
          <p:nvPr>
            <p:ph type="sldNum" sz="quarter" idx="12"/>
          </p:nvPr>
        </p:nvSpPr>
        <p:spPr/>
        <p:txBody>
          <a:bodyPr/>
          <a:lstStyle/>
          <a:p>
            <a:fld id="{87F3E754-1C97-4481-A18C-9D97ADBDF344}" type="slidenum">
              <a:rPr lang="en-US" smtClean="0"/>
              <a:t>7</a:t>
            </a:fld>
            <a:endParaRPr lang="en-US"/>
          </a:p>
        </p:txBody>
      </p:sp>
    </p:spTree>
    <p:extLst>
      <p:ext uri="{BB962C8B-B14F-4D97-AF65-F5344CB8AC3E}">
        <p14:creationId xmlns:p14="http://schemas.microsoft.com/office/powerpoint/2010/main" val="1488489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6628" y="767419"/>
            <a:ext cx="8283125" cy="3355848"/>
          </a:xfrm>
        </p:spPr>
        <p:txBody>
          <a:bodyPr/>
          <a:lstStyle/>
          <a:p>
            <a:r>
              <a:rPr lang="en-US" dirty="0"/>
              <a:t>Creating such relationships in Access </a:t>
            </a:r>
          </a:p>
        </p:txBody>
      </p:sp>
      <p:sp>
        <p:nvSpPr>
          <p:cNvPr id="3" name="Text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8</a:t>
            </a:fld>
            <a:endParaRPr lang="en-US"/>
          </a:p>
        </p:txBody>
      </p:sp>
    </p:spTree>
    <p:extLst>
      <p:ext uri="{BB962C8B-B14F-4D97-AF65-F5344CB8AC3E}">
        <p14:creationId xmlns:p14="http://schemas.microsoft.com/office/powerpoint/2010/main" val="633222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493" y="109008"/>
            <a:ext cx="8079581" cy="1658198"/>
          </a:xfrm>
        </p:spPr>
        <p:txBody>
          <a:bodyPr>
            <a:normAutofit/>
          </a:bodyPr>
          <a:lstStyle/>
          <a:p>
            <a:r>
              <a:rPr lang="en-US" dirty="0"/>
              <a:t>Multiple relationships between the same two tables in Access</a:t>
            </a:r>
          </a:p>
        </p:txBody>
      </p:sp>
      <p:sp>
        <p:nvSpPr>
          <p:cNvPr id="3" name="Content Placeholder 2"/>
          <p:cNvSpPr>
            <a:spLocks noGrp="1"/>
          </p:cNvSpPr>
          <p:nvPr>
            <p:ph sz="half" idx="1"/>
          </p:nvPr>
        </p:nvSpPr>
        <p:spPr>
          <a:xfrm>
            <a:off x="1881910" y="1670973"/>
            <a:ext cx="8229163" cy="4956118"/>
          </a:xfrm>
        </p:spPr>
        <p:txBody>
          <a:bodyPr>
            <a:normAutofit fontScale="77500" lnSpcReduction="20000"/>
          </a:bodyPr>
          <a:lstStyle/>
          <a:p>
            <a:pPr algn="just">
              <a:lnSpc>
                <a:spcPct val="120000"/>
              </a:lnSpc>
            </a:pPr>
            <a:r>
              <a:rPr lang="en-US" dirty="0"/>
              <a:t>After creating the </a:t>
            </a:r>
            <a:r>
              <a:rPr lang="en-US"/>
              <a:t>first relationship </a:t>
            </a:r>
            <a:r>
              <a:rPr lang="en-US" dirty="0"/>
              <a:t>between FLIGHT and AIRPORT, establishing the second relationship between FLIGHT and AIRPORT is a little tricky in Access. If we drag the </a:t>
            </a:r>
            <a:r>
              <a:rPr lang="en-US" i="1" dirty="0"/>
              <a:t>second foreign key</a:t>
            </a:r>
            <a:r>
              <a:rPr lang="en-US" dirty="0"/>
              <a:t> over </a:t>
            </a:r>
            <a:r>
              <a:rPr lang="en-US" i="1" dirty="0"/>
              <a:t>the primary key of AIRPORT</a:t>
            </a:r>
            <a:r>
              <a:rPr lang="en-US" dirty="0"/>
              <a:t>, we get a warning that a relationship already exists. The dialog box asks if we want to edit the existing relationship, or create a new one. If we click “no” to create a new relationship, and then click “enforce referential integrity” and “OK”, we get the desired result.</a:t>
            </a:r>
          </a:p>
          <a:p>
            <a:pPr algn="just">
              <a:lnSpc>
                <a:spcPct val="120000"/>
              </a:lnSpc>
            </a:pPr>
            <a:r>
              <a:rPr lang="en-US" dirty="0"/>
              <a:t>The second “table” </a:t>
            </a:r>
            <a:r>
              <a:rPr lang="en-US" i="1" dirty="0"/>
              <a:t>AIRPORT_1</a:t>
            </a:r>
            <a:r>
              <a:rPr lang="en-US" dirty="0"/>
              <a:t> in this depiction is not really a second table; this is just how MS Access represents a second relationship.</a:t>
            </a:r>
          </a:p>
          <a:p>
            <a:pPr algn="just">
              <a:lnSpc>
                <a:spcPct val="120000"/>
              </a:lnSpc>
            </a:pPr>
            <a:r>
              <a:rPr lang="en-US" i="1" dirty="0"/>
              <a:t>Thus, the way the relationships window shows multiple relationships between the same two tables is not exactly the same as we would draw in the ER diagram.</a:t>
            </a:r>
          </a:p>
        </p:txBody>
      </p:sp>
      <p:sp>
        <p:nvSpPr>
          <p:cNvPr id="5" name="Slide Number Placeholder 4"/>
          <p:cNvSpPr>
            <a:spLocks noGrp="1"/>
          </p:cNvSpPr>
          <p:nvPr>
            <p:ph type="sldNum" sz="quarter" idx="12"/>
          </p:nvPr>
        </p:nvSpPr>
        <p:spPr/>
        <p:txBody>
          <a:bodyPr/>
          <a:lstStyle/>
          <a:p>
            <a:fld id="{87F3E754-1C97-4481-A18C-9D97ADBDF344}" type="slidenum">
              <a:rPr lang="en-US" smtClean="0"/>
              <a:t>9</a:t>
            </a:fld>
            <a:endParaRPr lang="en-US"/>
          </a:p>
        </p:txBody>
      </p:sp>
    </p:spTree>
    <p:extLst>
      <p:ext uri="{BB962C8B-B14F-4D97-AF65-F5344CB8AC3E}">
        <p14:creationId xmlns:p14="http://schemas.microsoft.com/office/powerpoint/2010/main" val="1457627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6983" y="265710"/>
            <a:ext cx="8079581" cy="1149521"/>
          </a:xfrm>
        </p:spPr>
        <p:txBody>
          <a:bodyPr>
            <a:normAutofit/>
          </a:bodyPr>
          <a:lstStyle/>
          <a:p>
            <a:r>
              <a:rPr lang="en-US" dirty="0"/>
              <a:t>Another example</a:t>
            </a:r>
            <a:r>
              <a:rPr lang="mr-IN" dirty="0"/>
              <a:t>…</a:t>
            </a:r>
            <a:endParaRPr lang="en-US" dirty="0"/>
          </a:p>
        </p:txBody>
      </p:sp>
      <p:sp>
        <p:nvSpPr>
          <p:cNvPr id="5" name="Slide Number Placeholder 4"/>
          <p:cNvSpPr>
            <a:spLocks noGrp="1"/>
          </p:cNvSpPr>
          <p:nvPr>
            <p:ph type="sldNum" sz="quarter" idx="12"/>
          </p:nvPr>
        </p:nvSpPr>
        <p:spPr/>
        <p:txBody>
          <a:bodyPr/>
          <a:lstStyle/>
          <a:p>
            <a:fld id="{87F3E754-1C97-4481-A18C-9D97ADBDF344}" type="slidenum">
              <a:rPr lang="en-US" smtClean="0"/>
              <a:t>10</a:t>
            </a:fld>
            <a:endParaRPr lang="en-US"/>
          </a:p>
        </p:txBody>
      </p:sp>
      <p:sp>
        <p:nvSpPr>
          <p:cNvPr id="6" name="Content Placeholder 2"/>
          <p:cNvSpPr>
            <a:spLocks noGrp="1"/>
          </p:cNvSpPr>
          <p:nvPr>
            <p:ph sz="half" idx="1"/>
          </p:nvPr>
        </p:nvSpPr>
        <p:spPr>
          <a:xfrm>
            <a:off x="1726982" y="3657601"/>
            <a:ext cx="8803366" cy="2841523"/>
          </a:xfrm>
        </p:spPr>
        <p:txBody>
          <a:bodyPr>
            <a:noAutofit/>
          </a:bodyPr>
          <a:lstStyle/>
          <a:p>
            <a:pPr algn="just">
              <a:lnSpc>
                <a:spcPct val="100000"/>
              </a:lnSpc>
            </a:pPr>
            <a:r>
              <a:rPr lang="en-US" sz="1600" dirty="0"/>
              <a:t>After creating the first relationship between STUDENT and DEPARTMENT, establishing the second relationship cannot be done the same way. If we drag the primary key of DEPARTMENT to the second foreign key in STUDENT, we get a warning that a relationship already exists. The dialog box asks if we want to edit the existing relationship, or create a new one. If we click “no” to create a new relationship, and then click “enforce referential integrity” and “OK”, we get the desired result.</a:t>
            </a:r>
          </a:p>
          <a:p>
            <a:pPr algn="just">
              <a:lnSpc>
                <a:spcPct val="100000"/>
              </a:lnSpc>
            </a:pPr>
            <a:r>
              <a:rPr lang="en-US" sz="1600" dirty="0"/>
              <a:t>The second “table” DEPARTMENT_1 in this depiction is not really a second table nor a copy of the DEPARTMENT table; this is just how MS Access shows a second relationship between the same two tables.</a:t>
            </a:r>
          </a:p>
          <a:p>
            <a:pPr algn="just">
              <a:lnSpc>
                <a:spcPct val="100000"/>
              </a:lnSpc>
            </a:pPr>
            <a:r>
              <a:rPr lang="en-US" sz="1600" dirty="0"/>
              <a:t>The way the relationships window shows multiple relationships between the same two tables is not exactly the same as we would draw in the ER diagram.</a:t>
            </a:r>
          </a:p>
        </p:txBody>
      </p:sp>
      <p:grpSp>
        <p:nvGrpSpPr>
          <p:cNvPr id="8" name="Group 7"/>
          <p:cNvGrpSpPr/>
          <p:nvPr/>
        </p:nvGrpSpPr>
        <p:grpSpPr>
          <a:xfrm>
            <a:off x="4144939" y="1625631"/>
            <a:ext cx="3967453" cy="1821568"/>
            <a:chOff x="4979832" y="2733368"/>
            <a:chExt cx="3755921" cy="1660226"/>
          </a:xfrm>
        </p:grpSpPr>
        <p:pic>
          <p:nvPicPr>
            <p:cNvPr id="3" name="Picture 2"/>
            <p:cNvPicPr>
              <a:picLocks noChangeAspect="1"/>
            </p:cNvPicPr>
            <p:nvPr/>
          </p:nvPicPr>
          <p:blipFill rotWithShape="1">
            <a:blip r:embed="rId2"/>
            <a:srcRect l="3120" t="9967" r="3571" b="9305"/>
            <a:stretch/>
          </p:blipFill>
          <p:spPr>
            <a:xfrm>
              <a:off x="4979832" y="2733368"/>
              <a:ext cx="3755921" cy="1660226"/>
            </a:xfrm>
            <a:prstGeom prst="rect">
              <a:avLst/>
            </a:prstGeom>
          </p:spPr>
        </p:pic>
        <p:sp>
          <p:nvSpPr>
            <p:cNvPr id="7" name="Freeform 6"/>
            <p:cNvSpPr/>
            <p:nvPr/>
          </p:nvSpPr>
          <p:spPr>
            <a:xfrm>
              <a:off x="6066503" y="2900516"/>
              <a:ext cx="1524000" cy="1317522"/>
            </a:xfrm>
            <a:custGeom>
              <a:avLst/>
              <a:gdLst>
                <a:gd name="connsiteX0" fmla="*/ 147484 w 1681316"/>
                <a:gd name="connsiteY0" fmla="*/ 196645 h 1425677"/>
                <a:gd name="connsiteX1" fmla="*/ 127819 w 1681316"/>
                <a:gd name="connsiteY1" fmla="*/ 344129 h 1425677"/>
                <a:gd name="connsiteX2" fmla="*/ 108155 w 1681316"/>
                <a:gd name="connsiteY2" fmla="*/ 412955 h 1425677"/>
                <a:gd name="connsiteX3" fmla="*/ 88490 w 1681316"/>
                <a:gd name="connsiteY3" fmla="*/ 452284 h 1425677"/>
                <a:gd name="connsiteX4" fmla="*/ 68825 w 1681316"/>
                <a:gd name="connsiteY4" fmla="*/ 521110 h 1425677"/>
                <a:gd name="connsiteX5" fmla="*/ 58993 w 1681316"/>
                <a:gd name="connsiteY5" fmla="*/ 589935 h 1425677"/>
                <a:gd name="connsiteX6" fmla="*/ 49161 w 1681316"/>
                <a:gd name="connsiteY6" fmla="*/ 629264 h 1425677"/>
                <a:gd name="connsiteX7" fmla="*/ 29496 w 1681316"/>
                <a:gd name="connsiteY7" fmla="*/ 688258 h 1425677"/>
                <a:gd name="connsiteX8" fmla="*/ 19664 w 1681316"/>
                <a:gd name="connsiteY8" fmla="*/ 737419 h 1425677"/>
                <a:gd name="connsiteX9" fmla="*/ 0 w 1681316"/>
                <a:gd name="connsiteY9" fmla="*/ 796413 h 1425677"/>
                <a:gd name="connsiteX10" fmla="*/ 9832 w 1681316"/>
                <a:gd name="connsiteY10" fmla="*/ 924232 h 1425677"/>
                <a:gd name="connsiteX11" fmla="*/ 29496 w 1681316"/>
                <a:gd name="connsiteY11" fmla="*/ 953729 h 1425677"/>
                <a:gd name="connsiteX12" fmla="*/ 39329 w 1681316"/>
                <a:gd name="connsiteY12" fmla="*/ 983226 h 1425677"/>
                <a:gd name="connsiteX13" fmla="*/ 117987 w 1681316"/>
                <a:gd name="connsiteY13" fmla="*/ 1071716 h 1425677"/>
                <a:gd name="connsiteX14" fmla="*/ 157316 w 1681316"/>
                <a:gd name="connsiteY14" fmla="*/ 1101213 h 1425677"/>
                <a:gd name="connsiteX15" fmla="*/ 235974 w 1681316"/>
                <a:gd name="connsiteY15" fmla="*/ 1120877 h 1425677"/>
                <a:gd name="connsiteX16" fmla="*/ 265471 w 1681316"/>
                <a:gd name="connsiteY16" fmla="*/ 1130710 h 1425677"/>
                <a:gd name="connsiteX17" fmla="*/ 363793 w 1681316"/>
                <a:gd name="connsiteY17" fmla="*/ 1150374 h 1425677"/>
                <a:gd name="connsiteX18" fmla="*/ 403122 w 1681316"/>
                <a:gd name="connsiteY18" fmla="*/ 1160206 h 1425677"/>
                <a:gd name="connsiteX19" fmla="*/ 432619 w 1681316"/>
                <a:gd name="connsiteY19" fmla="*/ 1179871 h 1425677"/>
                <a:gd name="connsiteX20" fmla="*/ 481780 w 1681316"/>
                <a:gd name="connsiteY20" fmla="*/ 1189703 h 1425677"/>
                <a:gd name="connsiteX21" fmla="*/ 511277 w 1681316"/>
                <a:gd name="connsiteY21" fmla="*/ 1199535 h 1425677"/>
                <a:gd name="connsiteX22" fmla="*/ 540774 w 1681316"/>
                <a:gd name="connsiteY22" fmla="*/ 1219200 h 1425677"/>
                <a:gd name="connsiteX23" fmla="*/ 599767 w 1681316"/>
                <a:gd name="connsiteY23" fmla="*/ 1238864 h 1425677"/>
                <a:gd name="connsiteX24" fmla="*/ 629264 w 1681316"/>
                <a:gd name="connsiteY24" fmla="*/ 1248697 h 1425677"/>
                <a:gd name="connsiteX25" fmla="*/ 658761 w 1681316"/>
                <a:gd name="connsiteY25" fmla="*/ 1258529 h 1425677"/>
                <a:gd name="connsiteX26" fmla="*/ 688258 w 1681316"/>
                <a:gd name="connsiteY26" fmla="*/ 1268361 h 1425677"/>
                <a:gd name="connsiteX27" fmla="*/ 796413 w 1681316"/>
                <a:gd name="connsiteY27" fmla="*/ 1307690 h 1425677"/>
                <a:gd name="connsiteX28" fmla="*/ 904567 w 1681316"/>
                <a:gd name="connsiteY28" fmla="*/ 1337187 h 1425677"/>
                <a:gd name="connsiteX29" fmla="*/ 1032387 w 1681316"/>
                <a:gd name="connsiteY29" fmla="*/ 1366684 h 1425677"/>
                <a:gd name="connsiteX30" fmla="*/ 1091380 w 1681316"/>
                <a:gd name="connsiteY30" fmla="*/ 1376516 h 1425677"/>
                <a:gd name="connsiteX31" fmla="*/ 1160206 w 1681316"/>
                <a:gd name="connsiteY31" fmla="*/ 1386348 h 1425677"/>
                <a:gd name="connsiteX32" fmla="*/ 1199535 w 1681316"/>
                <a:gd name="connsiteY32" fmla="*/ 1396180 h 1425677"/>
                <a:gd name="connsiteX33" fmla="*/ 1307690 w 1681316"/>
                <a:gd name="connsiteY33" fmla="*/ 1406013 h 1425677"/>
                <a:gd name="connsiteX34" fmla="*/ 1425677 w 1681316"/>
                <a:gd name="connsiteY34" fmla="*/ 1425677 h 1425677"/>
                <a:gd name="connsiteX35" fmla="*/ 1514167 w 1681316"/>
                <a:gd name="connsiteY35" fmla="*/ 1415845 h 1425677"/>
                <a:gd name="connsiteX36" fmla="*/ 1573161 w 1681316"/>
                <a:gd name="connsiteY36" fmla="*/ 1366684 h 1425677"/>
                <a:gd name="connsiteX37" fmla="*/ 1582993 w 1681316"/>
                <a:gd name="connsiteY37" fmla="*/ 1337187 h 1425677"/>
                <a:gd name="connsiteX38" fmla="*/ 1632155 w 1681316"/>
                <a:gd name="connsiteY38" fmla="*/ 1268361 h 1425677"/>
                <a:gd name="connsiteX39" fmla="*/ 1661651 w 1681316"/>
                <a:gd name="connsiteY39" fmla="*/ 1199535 h 1425677"/>
                <a:gd name="connsiteX40" fmla="*/ 1681316 w 1681316"/>
                <a:gd name="connsiteY40" fmla="*/ 1130710 h 1425677"/>
                <a:gd name="connsiteX41" fmla="*/ 1651819 w 1681316"/>
                <a:gd name="connsiteY41" fmla="*/ 825910 h 1425677"/>
                <a:gd name="connsiteX42" fmla="*/ 1641987 w 1681316"/>
                <a:gd name="connsiteY42" fmla="*/ 796413 h 1425677"/>
                <a:gd name="connsiteX43" fmla="*/ 1632155 w 1681316"/>
                <a:gd name="connsiteY43" fmla="*/ 766916 h 1425677"/>
                <a:gd name="connsiteX44" fmla="*/ 1592825 w 1681316"/>
                <a:gd name="connsiteY44" fmla="*/ 707922 h 1425677"/>
                <a:gd name="connsiteX45" fmla="*/ 1573161 w 1681316"/>
                <a:gd name="connsiteY45" fmla="*/ 678426 h 1425677"/>
                <a:gd name="connsiteX46" fmla="*/ 1524000 w 1681316"/>
                <a:gd name="connsiteY46" fmla="*/ 589935 h 1425677"/>
                <a:gd name="connsiteX47" fmla="*/ 1504335 w 1681316"/>
                <a:gd name="connsiteY47" fmla="*/ 560439 h 1425677"/>
                <a:gd name="connsiteX48" fmla="*/ 1484671 w 1681316"/>
                <a:gd name="connsiteY48" fmla="*/ 530942 h 1425677"/>
                <a:gd name="connsiteX49" fmla="*/ 1455174 w 1681316"/>
                <a:gd name="connsiteY49" fmla="*/ 511277 h 1425677"/>
                <a:gd name="connsiteX50" fmla="*/ 1406013 w 1681316"/>
                <a:gd name="connsiteY50" fmla="*/ 452284 h 1425677"/>
                <a:gd name="connsiteX51" fmla="*/ 1376516 w 1681316"/>
                <a:gd name="connsiteY51" fmla="*/ 432619 h 1425677"/>
                <a:gd name="connsiteX52" fmla="*/ 1288025 w 1681316"/>
                <a:gd name="connsiteY52" fmla="*/ 363793 h 1425677"/>
                <a:gd name="connsiteX53" fmla="*/ 1258529 w 1681316"/>
                <a:gd name="connsiteY53" fmla="*/ 344129 h 1425677"/>
                <a:gd name="connsiteX54" fmla="*/ 1229032 w 1681316"/>
                <a:gd name="connsiteY54" fmla="*/ 324464 h 1425677"/>
                <a:gd name="connsiteX55" fmla="*/ 1179871 w 1681316"/>
                <a:gd name="connsiteY55" fmla="*/ 275303 h 1425677"/>
                <a:gd name="connsiteX56" fmla="*/ 1130709 w 1681316"/>
                <a:gd name="connsiteY56" fmla="*/ 235974 h 1425677"/>
                <a:gd name="connsiteX57" fmla="*/ 1111045 w 1681316"/>
                <a:gd name="connsiteY57" fmla="*/ 206477 h 1425677"/>
                <a:gd name="connsiteX58" fmla="*/ 1052051 w 1681316"/>
                <a:gd name="connsiteY58" fmla="*/ 147484 h 1425677"/>
                <a:gd name="connsiteX59" fmla="*/ 953729 w 1681316"/>
                <a:gd name="connsiteY59" fmla="*/ 49161 h 1425677"/>
                <a:gd name="connsiteX60" fmla="*/ 855406 w 1681316"/>
                <a:gd name="connsiteY60" fmla="*/ 19664 h 1425677"/>
                <a:gd name="connsiteX61" fmla="*/ 825909 w 1681316"/>
                <a:gd name="connsiteY61" fmla="*/ 9832 h 1425677"/>
                <a:gd name="connsiteX62" fmla="*/ 776748 w 1681316"/>
                <a:gd name="connsiteY62" fmla="*/ 0 h 1425677"/>
                <a:gd name="connsiteX63" fmla="*/ 373625 w 1681316"/>
                <a:gd name="connsiteY63" fmla="*/ 9832 h 1425677"/>
                <a:gd name="connsiteX64" fmla="*/ 314632 w 1681316"/>
                <a:gd name="connsiteY64" fmla="*/ 29497 h 1425677"/>
                <a:gd name="connsiteX65" fmla="*/ 245806 w 1681316"/>
                <a:gd name="connsiteY65" fmla="*/ 58993 h 1425677"/>
                <a:gd name="connsiteX66" fmla="*/ 216309 w 1681316"/>
                <a:gd name="connsiteY66" fmla="*/ 68826 h 1425677"/>
                <a:gd name="connsiteX67" fmla="*/ 157316 w 1681316"/>
                <a:gd name="connsiteY67" fmla="*/ 98322 h 1425677"/>
                <a:gd name="connsiteX68" fmla="*/ 127819 w 1681316"/>
                <a:gd name="connsiteY68" fmla="*/ 157316 h 1425677"/>
                <a:gd name="connsiteX69" fmla="*/ 137651 w 1681316"/>
                <a:gd name="connsiteY69" fmla="*/ 196645 h 1425677"/>
                <a:gd name="connsiteX70" fmla="*/ 147484 w 1681316"/>
                <a:gd name="connsiteY70" fmla="*/ 196645 h 142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681316" h="1425677">
                  <a:moveTo>
                    <a:pt x="147484" y="196645"/>
                  </a:moveTo>
                  <a:cubicBezTo>
                    <a:pt x="145845" y="221226"/>
                    <a:pt x="156551" y="142997"/>
                    <a:pt x="127819" y="344129"/>
                  </a:cubicBezTo>
                  <a:cubicBezTo>
                    <a:pt x="126037" y="356601"/>
                    <a:pt x="114158" y="398948"/>
                    <a:pt x="108155" y="412955"/>
                  </a:cubicBezTo>
                  <a:cubicBezTo>
                    <a:pt x="102381" y="426427"/>
                    <a:pt x="94264" y="438812"/>
                    <a:pt x="88490" y="452284"/>
                  </a:cubicBezTo>
                  <a:cubicBezTo>
                    <a:pt x="81840" y="467800"/>
                    <a:pt x="71450" y="506670"/>
                    <a:pt x="68825" y="521110"/>
                  </a:cubicBezTo>
                  <a:cubicBezTo>
                    <a:pt x="64679" y="543911"/>
                    <a:pt x="63139" y="567134"/>
                    <a:pt x="58993" y="589935"/>
                  </a:cubicBezTo>
                  <a:cubicBezTo>
                    <a:pt x="56576" y="603230"/>
                    <a:pt x="53044" y="616321"/>
                    <a:pt x="49161" y="629264"/>
                  </a:cubicBezTo>
                  <a:cubicBezTo>
                    <a:pt x="43205" y="649118"/>
                    <a:pt x="33561" y="667932"/>
                    <a:pt x="29496" y="688258"/>
                  </a:cubicBezTo>
                  <a:cubicBezTo>
                    <a:pt x="26219" y="704645"/>
                    <a:pt x="24061" y="721296"/>
                    <a:pt x="19664" y="737419"/>
                  </a:cubicBezTo>
                  <a:cubicBezTo>
                    <a:pt x="14210" y="757417"/>
                    <a:pt x="0" y="796413"/>
                    <a:pt x="0" y="796413"/>
                  </a:cubicBezTo>
                  <a:cubicBezTo>
                    <a:pt x="3277" y="839019"/>
                    <a:pt x="1957" y="882232"/>
                    <a:pt x="9832" y="924232"/>
                  </a:cubicBezTo>
                  <a:cubicBezTo>
                    <a:pt x="12010" y="935846"/>
                    <a:pt x="24211" y="943160"/>
                    <a:pt x="29496" y="953729"/>
                  </a:cubicBezTo>
                  <a:cubicBezTo>
                    <a:pt x="34131" y="962999"/>
                    <a:pt x="34694" y="973956"/>
                    <a:pt x="39329" y="983226"/>
                  </a:cubicBezTo>
                  <a:cubicBezTo>
                    <a:pt x="54660" y="1013888"/>
                    <a:pt x="97140" y="1056080"/>
                    <a:pt x="117987" y="1071716"/>
                  </a:cubicBezTo>
                  <a:cubicBezTo>
                    <a:pt x="131097" y="1081548"/>
                    <a:pt x="143088" y="1093083"/>
                    <a:pt x="157316" y="1101213"/>
                  </a:cubicBezTo>
                  <a:cubicBezTo>
                    <a:pt x="174796" y="1111202"/>
                    <a:pt x="221590" y="1117281"/>
                    <a:pt x="235974" y="1120877"/>
                  </a:cubicBezTo>
                  <a:cubicBezTo>
                    <a:pt x="246029" y="1123391"/>
                    <a:pt x="255372" y="1128379"/>
                    <a:pt x="265471" y="1130710"/>
                  </a:cubicBezTo>
                  <a:cubicBezTo>
                    <a:pt x="298038" y="1138226"/>
                    <a:pt x="331368" y="1142268"/>
                    <a:pt x="363793" y="1150374"/>
                  </a:cubicBezTo>
                  <a:lnTo>
                    <a:pt x="403122" y="1160206"/>
                  </a:lnTo>
                  <a:cubicBezTo>
                    <a:pt x="412954" y="1166761"/>
                    <a:pt x="421554" y="1175722"/>
                    <a:pt x="432619" y="1179871"/>
                  </a:cubicBezTo>
                  <a:cubicBezTo>
                    <a:pt x="448266" y="1185739"/>
                    <a:pt x="465567" y="1185650"/>
                    <a:pt x="481780" y="1189703"/>
                  </a:cubicBezTo>
                  <a:cubicBezTo>
                    <a:pt x="491835" y="1192217"/>
                    <a:pt x="501445" y="1196258"/>
                    <a:pt x="511277" y="1199535"/>
                  </a:cubicBezTo>
                  <a:cubicBezTo>
                    <a:pt x="521109" y="1206090"/>
                    <a:pt x="529975" y="1214401"/>
                    <a:pt x="540774" y="1219200"/>
                  </a:cubicBezTo>
                  <a:cubicBezTo>
                    <a:pt x="559715" y="1227618"/>
                    <a:pt x="580103" y="1232309"/>
                    <a:pt x="599767" y="1238864"/>
                  </a:cubicBezTo>
                  <a:lnTo>
                    <a:pt x="629264" y="1248697"/>
                  </a:lnTo>
                  <a:lnTo>
                    <a:pt x="658761" y="1258529"/>
                  </a:lnTo>
                  <a:lnTo>
                    <a:pt x="688258" y="1268361"/>
                  </a:lnTo>
                  <a:cubicBezTo>
                    <a:pt x="750096" y="1309587"/>
                    <a:pt x="683755" y="1270136"/>
                    <a:pt x="796413" y="1307690"/>
                  </a:cubicBezTo>
                  <a:cubicBezTo>
                    <a:pt x="871260" y="1332640"/>
                    <a:pt x="835080" y="1323290"/>
                    <a:pt x="904567" y="1337187"/>
                  </a:cubicBezTo>
                  <a:cubicBezTo>
                    <a:pt x="973526" y="1371665"/>
                    <a:pt x="923084" y="1352110"/>
                    <a:pt x="1032387" y="1366684"/>
                  </a:cubicBezTo>
                  <a:cubicBezTo>
                    <a:pt x="1052148" y="1369319"/>
                    <a:pt x="1071676" y="1373485"/>
                    <a:pt x="1091380" y="1376516"/>
                  </a:cubicBezTo>
                  <a:cubicBezTo>
                    <a:pt x="1114285" y="1380040"/>
                    <a:pt x="1137405" y="1382202"/>
                    <a:pt x="1160206" y="1386348"/>
                  </a:cubicBezTo>
                  <a:cubicBezTo>
                    <a:pt x="1173501" y="1388765"/>
                    <a:pt x="1186140" y="1394394"/>
                    <a:pt x="1199535" y="1396180"/>
                  </a:cubicBezTo>
                  <a:cubicBezTo>
                    <a:pt x="1235418" y="1400964"/>
                    <a:pt x="1271794" y="1401331"/>
                    <a:pt x="1307690" y="1406013"/>
                  </a:cubicBezTo>
                  <a:cubicBezTo>
                    <a:pt x="1347227" y="1411170"/>
                    <a:pt x="1425677" y="1425677"/>
                    <a:pt x="1425677" y="1425677"/>
                  </a:cubicBezTo>
                  <a:cubicBezTo>
                    <a:pt x="1455174" y="1422400"/>
                    <a:pt x="1485375" y="1423043"/>
                    <a:pt x="1514167" y="1415845"/>
                  </a:cubicBezTo>
                  <a:cubicBezTo>
                    <a:pt x="1532417" y="1411282"/>
                    <a:pt x="1562155" y="1377689"/>
                    <a:pt x="1573161" y="1366684"/>
                  </a:cubicBezTo>
                  <a:cubicBezTo>
                    <a:pt x="1576438" y="1356852"/>
                    <a:pt x="1578358" y="1346457"/>
                    <a:pt x="1582993" y="1337187"/>
                  </a:cubicBezTo>
                  <a:cubicBezTo>
                    <a:pt x="1590181" y="1322811"/>
                    <a:pt x="1625475" y="1277267"/>
                    <a:pt x="1632155" y="1268361"/>
                  </a:cubicBezTo>
                  <a:cubicBezTo>
                    <a:pt x="1655208" y="1199198"/>
                    <a:pt x="1625209" y="1284565"/>
                    <a:pt x="1661651" y="1199535"/>
                  </a:cubicBezTo>
                  <a:cubicBezTo>
                    <a:pt x="1670118" y="1179780"/>
                    <a:pt x="1676324" y="1150678"/>
                    <a:pt x="1681316" y="1130710"/>
                  </a:cubicBezTo>
                  <a:cubicBezTo>
                    <a:pt x="1670655" y="864178"/>
                    <a:pt x="1697416" y="962699"/>
                    <a:pt x="1651819" y="825910"/>
                  </a:cubicBezTo>
                  <a:lnTo>
                    <a:pt x="1641987" y="796413"/>
                  </a:lnTo>
                  <a:cubicBezTo>
                    <a:pt x="1638710" y="786581"/>
                    <a:pt x="1637904" y="775539"/>
                    <a:pt x="1632155" y="766916"/>
                  </a:cubicBezTo>
                  <a:lnTo>
                    <a:pt x="1592825" y="707922"/>
                  </a:lnTo>
                  <a:lnTo>
                    <a:pt x="1573161" y="678426"/>
                  </a:lnTo>
                  <a:cubicBezTo>
                    <a:pt x="1555856" y="626509"/>
                    <a:pt x="1569077" y="657550"/>
                    <a:pt x="1524000" y="589935"/>
                  </a:cubicBezTo>
                  <a:lnTo>
                    <a:pt x="1504335" y="560439"/>
                  </a:lnTo>
                  <a:cubicBezTo>
                    <a:pt x="1497780" y="550607"/>
                    <a:pt x="1494503" y="537497"/>
                    <a:pt x="1484671" y="530942"/>
                  </a:cubicBezTo>
                  <a:lnTo>
                    <a:pt x="1455174" y="511277"/>
                  </a:lnTo>
                  <a:cubicBezTo>
                    <a:pt x="1435839" y="482274"/>
                    <a:pt x="1434402" y="475941"/>
                    <a:pt x="1406013" y="452284"/>
                  </a:cubicBezTo>
                  <a:cubicBezTo>
                    <a:pt x="1396935" y="444719"/>
                    <a:pt x="1385594" y="440184"/>
                    <a:pt x="1376516" y="432619"/>
                  </a:cubicBezTo>
                  <a:cubicBezTo>
                    <a:pt x="1284102" y="355607"/>
                    <a:pt x="1437122" y="463190"/>
                    <a:pt x="1288025" y="363793"/>
                  </a:cubicBezTo>
                  <a:lnTo>
                    <a:pt x="1258529" y="344129"/>
                  </a:lnTo>
                  <a:lnTo>
                    <a:pt x="1229032" y="324464"/>
                  </a:lnTo>
                  <a:cubicBezTo>
                    <a:pt x="1176589" y="245804"/>
                    <a:pt x="1245422" y="340855"/>
                    <a:pt x="1179871" y="275303"/>
                  </a:cubicBezTo>
                  <a:cubicBezTo>
                    <a:pt x="1135399" y="230830"/>
                    <a:pt x="1188131" y="255114"/>
                    <a:pt x="1130709" y="235974"/>
                  </a:cubicBezTo>
                  <a:cubicBezTo>
                    <a:pt x="1124154" y="226142"/>
                    <a:pt x="1118896" y="215309"/>
                    <a:pt x="1111045" y="206477"/>
                  </a:cubicBezTo>
                  <a:cubicBezTo>
                    <a:pt x="1092569" y="185692"/>
                    <a:pt x="1067477" y="170623"/>
                    <a:pt x="1052051" y="147484"/>
                  </a:cubicBezTo>
                  <a:cubicBezTo>
                    <a:pt x="1025832" y="108156"/>
                    <a:pt x="1006167" y="62270"/>
                    <a:pt x="953729" y="49161"/>
                  </a:cubicBezTo>
                  <a:cubicBezTo>
                    <a:pt x="894287" y="34301"/>
                    <a:pt x="927225" y="43604"/>
                    <a:pt x="855406" y="19664"/>
                  </a:cubicBezTo>
                  <a:cubicBezTo>
                    <a:pt x="845574" y="16387"/>
                    <a:pt x="836072" y="11865"/>
                    <a:pt x="825909" y="9832"/>
                  </a:cubicBezTo>
                  <a:lnTo>
                    <a:pt x="776748" y="0"/>
                  </a:lnTo>
                  <a:cubicBezTo>
                    <a:pt x="642374" y="3277"/>
                    <a:pt x="507766" y="1270"/>
                    <a:pt x="373625" y="9832"/>
                  </a:cubicBezTo>
                  <a:cubicBezTo>
                    <a:pt x="352939" y="11152"/>
                    <a:pt x="334296" y="22942"/>
                    <a:pt x="314632" y="29497"/>
                  </a:cubicBezTo>
                  <a:cubicBezTo>
                    <a:pt x="245454" y="52556"/>
                    <a:pt x="330857" y="22542"/>
                    <a:pt x="245806" y="58993"/>
                  </a:cubicBezTo>
                  <a:cubicBezTo>
                    <a:pt x="236280" y="63076"/>
                    <a:pt x="225579" y="64191"/>
                    <a:pt x="216309" y="68826"/>
                  </a:cubicBezTo>
                  <a:cubicBezTo>
                    <a:pt x="140076" y="106943"/>
                    <a:pt x="231452" y="73611"/>
                    <a:pt x="157316" y="98322"/>
                  </a:cubicBezTo>
                  <a:cubicBezTo>
                    <a:pt x="147373" y="113236"/>
                    <a:pt x="127819" y="136961"/>
                    <a:pt x="127819" y="157316"/>
                  </a:cubicBezTo>
                  <a:cubicBezTo>
                    <a:pt x="127819" y="170829"/>
                    <a:pt x="135430" y="183316"/>
                    <a:pt x="137651" y="196645"/>
                  </a:cubicBezTo>
                  <a:cubicBezTo>
                    <a:pt x="138729" y="203111"/>
                    <a:pt x="149123" y="172064"/>
                    <a:pt x="147484" y="196645"/>
                  </a:cubicBezTo>
                  <a:close/>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9580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548" y="126911"/>
            <a:ext cx="8677382" cy="1181181"/>
          </a:xfrm>
        </p:spPr>
        <p:txBody>
          <a:bodyPr>
            <a:normAutofit fontScale="90000"/>
          </a:bodyPr>
          <a:lstStyle/>
          <a:p>
            <a:r>
              <a:rPr lang="en-US" dirty="0"/>
              <a:t>Note! A relationship with composite keys in Access</a:t>
            </a:r>
          </a:p>
        </p:txBody>
      </p:sp>
      <p:sp>
        <p:nvSpPr>
          <p:cNvPr id="5" name="Slide Number Placeholder 4"/>
          <p:cNvSpPr>
            <a:spLocks noGrp="1"/>
          </p:cNvSpPr>
          <p:nvPr>
            <p:ph type="sldNum" sz="quarter" idx="12"/>
          </p:nvPr>
        </p:nvSpPr>
        <p:spPr/>
        <p:txBody>
          <a:bodyPr/>
          <a:lstStyle/>
          <a:p>
            <a:fld id="{87F3E754-1C97-4481-A18C-9D97ADBDF344}" type="slidenum">
              <a:rPr lang="en-US" smtClean="0"/>
              <a:t>11</a:t>
            </a:fld>
            <a:endParaRPr lang="en-US"/>
          </a:p>
        </p:txBody>
      </p:sp>
      <p:grpSp>
        <p:nvGrpSpPr>
          <p:cNvPr id="52" name="Group 51"/>
          <p:cNvGrpSpPr/>
          <p:nvPr/>
        </p:nvGrpSpPr>
        <p:grpSpPr>
          <a:xfrm>
            <a:off x="1871547" y="1132409"/>
            <a:ext cx="8587770" cy="5675409"/>
            <a:chOff x="347547" y="1132408"/>
            <a:chExt cx="8587770" cy="5675409"/>
          </a:xfrm>
        </p:grpSpPr>
        <p:grpSp>
          <p:nvGrpSpPr>
            <p:cNvPr id="47" name="Group 46"/>
            <p:cNvGrpSpPr/>
            <p:nvPr/>
          </p:nvGrpSpPr>
          <p:grpSpPr>
            <a:xfrm>
              <a:off x="347547" y="1132408"/>
              <a:ext cx="8587770" cy="5675409"/>
              <a:chOff x="347547" y="1132408"/>
              <a:chExt cx="8587770" cy="5675409"/>
            </a:xfrm>
          </p:grpSpPr>
          <p:grpSp>
            <p:nvGrpSpPr>
              <p:cNvPr id="26" name="Group 25"/>
              <p:cNvGrpSpPr/>
              <p:nvPr/>
            </p:nvGrpSpPr>
            <p:grpSpPr>
              <a:xfrm>
                <a:off x="416026" y="1358101"/>
                <a:ext cx="2568370" cy="2606012"/>
                <a:chOff x="429239" y="1502071"/>
                <a:chExt cx="2568370" cy="2606012"/>
              </a:xfrm>
            </p:grpSpPr>
            <p:pic>
              <p:nvPicPr>
                <p:cNvPr id="11" name="Picture 10"/>
                <p:cNvPicPr>
                  <a:picLocks noChangeAspect="1"/>
                </p:cNvPicPr>
                <p:nvPr/>
              </p:nvPicPr>
              <p:blipFill>
                <a:blip r:embed="rId2"/>
                <a:stretch>
                  <a:fillRect/>
                </a:stretch>
              </p:blipFill>
              <p:spPr>
                <a:xfrm>
                  <a:off x="429239" y="2275516"/>
                  <a:ext cx="2568370" cy="1832567"/>
                </a:xfrm>
                <a:prstGeom prst="rect">
                  <a:avLst/>
                </a:prstGeom>
              </p:spPr>
            </p:pic>
            <p:sp>
              <p:nvSpPr>
                <p:cNvPr id="13" name="TextBox 12"/>
                <p:cNvSpPr txBox="1"/>
                <p:nvPr/>
              </p:nvSpPr>
              <p:spPr>
                <a:xfrm>
                  <a:off x="429239" y="1502071"/>
                  <a:ext cx="2568370" cy="738664"/>
                </a:xfrm>
                <a:prstGeom prst="rect">
                  <a:avLst/>
                </a:prstGeom>
                <a:noFill/>
              </p:spPr>
              <p:txBody>
                <a:bodyPr wrap="square" rtlCol="0">
                  <a:spAutoFit/>
                </a:bodyPr>
                <a:lstStyle/>
                <a:p>
                  <a:r>
                    <a:rPr lang="en-US" sz="1400" dirty="0"/>
                    <a:t>A relationship where the PK/FK is composite has both fields of the PK and FK here</a:t>
                  </a:r>
                </a:p>
              </p:txBody>
            </p:sp>
            <p:cxnSp>
              <p:nvCxnSpPr>
                <p:cNvPr id="16" name="Straight Arrow Connector 15"/>
                <p:cNvCxnSpPr/>
                <p:nvPr/>
              </p:nvCxnSpPr>
              <p:spPr>
                <a:xfrm>
                  <a:off x="599768" y="2143432"/>
                  <a:ext cx="226142" cy="7374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1160206" y="2159397"/>
                  <a:ext cx="553218" cy="69006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347547" y="4114275"/>
                <a:ext cx="2926595" cy="2693542"/>
                <a:chOff x="347547" y="4114275"/>
                <a:chExt cx="2926595" cy="2693542"/>
              </a:xfrm>
            </p:grpSpPr>
            <p:pic>
              <p:nvPicPr>
                <p:cNvPr id="12" name="Picture 11"/>
                <p:cNvPicPr>
                  <a:picLocks noChangeAspect="1"/>
                </p:cNvPicPr>
                <p:nvPr/>
              </p:nvPicPr>
              <p:blipFill>
                <a:blip r:embed="rId3"/>
                <a:stretch>
                  <a:fillRect/>
                </a:stretch>
              </p:blipFill>
              <p:spPr>
                <a:xfrm>
                  <a:off x="429239" y="4851679"/>
                  <a:ext cx="2634583" cy="1956138"/>
                </a:xfrm>
                <a:prstGeom prst="rect">
                  <a:avLst/>
                </a:prstGeom>
              </p:spPr>
            </p:pic>
            <p:sp>
              <p:nvSpPr>
                <p:cNvPr id="14" name="TextBox 13"/>
                <p:cNvSpPr txBox="1"/>
                <p:nvPr/>
              </p:nvSpPr>
              <p:spPr>
                <a:xfrm>
                  <a:off x="347547" y="4114275"/>
                  <a:ext cx="2926595" cy="738664"/>
                </a:xfrm>
                <a:prstGeom prst="rect">
                  <a:avLst/>
                </a:prstGeom>
                <a:noFill/>
              </p:spPr>
              <p:txBody>
                <a:bodyPr wrap="square" rtlCol="0">
                  <a:spAutoFit/>
                </a:bodyPr>
                <a:lstStyle/>
                <a:p>
                  <a:r>
                    <a:rPr lang="en-US" sz="1400" dirty="0"/>
                    <a:t>A relationship where the PK/FK is not composite has a single field corresponding to the PK and FK here</a:t>
                  </a:r>
                </a:p>
              </p:txBody>
            </p:sp>
            <p:cxnSp>
              <p:nvCxnSpPr>
                <p:cNvPr id="20" name="Straight Arrow Connector 19"/>
                <p:cNvCxnSpPr/>
                <p:nvPr/>
              </p:nvCxnSpPr>
              <p:spPr>
                <a:xfrm flipH="1">
                  <a:off x="907603" y="4783017"/>
                  <a:ext cx="1164758" cy="70232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1746530" y="4801669"/>
                  <a:ext cx="809089" cy="65628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3542186" y="1132408"/>
                <a:ext cx="5393131" cy="3872512"/>
                <a:chOff x="3542186" y="1132408"/>
                <a:chExt cx="5393131" cy="3872512"/>
              </a:xfrm>
            </p:grpSpPr>
            <p:grpSp>
              <p:nvGrpSpPr>
                <p:cNvPr id="10" name="Group 9"/>
                <p:cNvGrpSpPr/>
                <p:nvPr/>
              </p:nvGrpSpPr>
              <p:grpSpPr>
                <a:xfrm>
                  <a:off x="3542186" y="2552703"/>
                  <a:ext cx="5393131" cy="2452217"/>
                  <a:chOff x="1804082" y="2497394"/>
                  <a:chExt cx="5393131" cy="2452217"/>
                </a:xfrm>
              </p:grpSpPr>
              <p:pic>
                <p:nvPicPr>
                  <p:cNvPr id="6" name="Picture 5"/>
                  <p:cNvPicPr>
                    <a:picLocks noChangeAspect="1"/>
                  </p:cNvPicPr>
                  <p:nvPr/>
                </p:nvPicPr>
                <p:blipFill rotWithShape="1">
                  <a:blip r:embed="rId4"/>
                  <a:srcRect l="4074" t="7875" r="4663" b="6812"/>
                  <a:stretch/>
                </p:blipFill>
                <p:spPr>
                  <a:xfrm>
                    <a:off x="1804082" y="2497394"/>
                    <a:ext cx="5393131" cy="2452217"/>
                  </a:xfrm>
                  <a:prstGeom prst="rect">
                    <a:avLst/>
                  </a:prstGeom>
                </p:spPr>
              </p:pic>
              <p:sp>
                <p:nvSpPr>
                  <p:cNvPr id="8" name="Rounded Rectangle 7"/>
                  <p:cNvSpPr/>
                  <p:nvPr/>
                </p:nvSpPr>
                <p:spPr>
                  <a:xfrm>
                    <a:off x="2989006" y="2644877"/>
                    <a:ext cx="963562" cy="501445"/>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053781" y="2615381"/>
                    <a:ext cx="983225" cy="934064"/>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p:cNvSpPr txBox="1"/>
                <p:nvPr/>
              </p:nvSpPr>
              <p:spPr>
                <a:xfrm>
                  <a:off x="5397910" y="1132408"/>
                  <a:ext cx="2498277" cy="646331"/>
                </a:xfrm>
                <a:prstGeom prst="rect">
                  <a:avLst/>
                </a:prstGeom>
                <a:noFill/>
              </p:spPr>
              <p:txBody>
                <a:bodyPr wrap="square" rtlCol="0">
                  <a:spAutoFit/>
                </a:bodyPr>
                <a:lstStyle/>
                <a:p>
                  <a:r>
                    <a:rPr lang="en-US" dirty="0"/>
                    <a:t>These both correspond to a single relationship!</a:t>
                  </a:r>
                </a:p>
              </p:txBody>
            </p:sp>
            <p:cxnSp>
              <p:nvCxnSpPr>
                <p:cNvPr id="42" name="Straight Arrow Connector 41"/>
                <p:cNvCxnSpPr>
                  <a:stCxn id="40" idx="2"/>
                </p:cNvCxnSpPr>
                <p:nvPr/>
              </p:nvCxnSpPr>
              <p:spPr>
                <a:xfrm flipH="1">
                  <a:off x="5397910" y="1778739"/>
                  <a:ext cx="1249139" cy="89195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40" idx="2"/>
                </p:cNvCxnSpPr>
                <p:nvPr/>
              </p:nvCxnSpPr>
              <p:spPr>
                <a:xfrm>
                  <a:off x="6647049" y="1778739"/>
                  <a:ext cx="491170" cy="89195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Elbow Connector 27"/>
              <p:cNvCxnSpPr/>
              <p:nvPr/>
            </p:nvCxnSpPr>
            <p:spPr>
              <a:xfrm rot="10800000">
                <a:off x="3063821" y="2434786"/>
                <a:ext cx="2078452" cy="270709"/>
              </a:xfrm>
              <a:prstGeom prst="bentConnector3">
                <a:avLst>
                  <a:gd name="adj1" fmla="val 329"/>
                </a:avLst>
              </a:prstGeom>
              <a:ln w="2857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p:cNvCxnSpPr/>
              <p:nvPr/>
            </p:nvCxnSpPr>
            <p:spPr>
              <a:xfrm rot="10800000" flipV="1">
                <a:off x="3063823" y="3696928"/>
                <a:ext cx="2078450" cy="1788415"/>
              </a:xfrm>
              <a:prstGeom prst="bentConnector3">
                <a:avLst>
                  <a:gd name="adj1" fmla="val 329"/>
                </a:avLst>
              </a:prstGeom>
              <a:ln w="2857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grpSp>
        <p:sp>
          <p:nvSpPr>
            <p:cNvPr id="50" name="Rounded Rectangle 49"/>
            <p:cNvSpPr/>
            <p:nvPr/>
          </p:nvSpPr>
          <p:spPr>
            <a:xfrm>
              <a:off x="499234" y="2700186"/>
              <a:ext cx="711303" cy="3576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p:cNvSpPr/>
            <p:nvPr/>
          </p:nvSpPr>
          <p:spPr>
            <a:xfrm>
              <a:off x="1323204" y="2701034"/>
              <a:ext cx="711303" cy="3576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52002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948</Words>
  <Application>Microsoft Office PowerPoint</Application>
  <PresentationFormat>Widescreen</PresentationFormat>
  <Paragraphs>67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Office Theme</vt:lpstr>
      <vt:lpstr>Multiple relationships between two tables</vt:lpstr>
      <vt:lpstr>Outline</vt:lpstr>
      <vt:lpstr>The Commuter Airline</vt:lpstr>
      <vt:lpstr>PowerPoint Presentation</vt:lpstr>
      <vt:lpstr>PowerPoint Presentation</vt:lpstr>
      <vt:lpstr>PowerPoint Presentation</vt:lpstr>
      <vt:lpstr>PowerPoint Presentation</vt:lpstr>
      <vt:lpstr>Creating such relationships in Access </vt:lpstr>
      <vt:lpstr>Multiple relationships between the same two tables in Access</vt:lpstr>
      <vt:lpstr>Another example…</vt:lpstr>
      <vt:lpstr>Note! A relationship with composite keys in Access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relationships between two tables</dc:title>
  <dc:creator>Disha Parkhi</dc:creator>
  <cp:lastModifiedBy>Disha Parkhi</cp:lastModifiedBy>
  <cp:revision>1</cp:revision>
  <dcterms:created xsi:type="dcterms:W3CDTF">2020-08-22T21:35:46Z</dcterms:created>
  <dcterms:modified xsi:type="dcterms:W3CDTF">2020-08-22T21:37:07Z</dcterms:modified>
</cp:coreProperties>
</file>