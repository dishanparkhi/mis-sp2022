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72" r:id="rId4"/>
    <p:sldId id="273" r:id="rId5"/>
    <p:sldId id="267" r:id="rId6"/>
    <p:sldId id="268" r:id="rId7"/>
    <p:sldId id="269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sha Parkhi" userId="7ca7a02737f3c9a0" providerId="LiveId" clId="{22DC9F18-F3A5-4ED3-8A6D-EFC80996272D}"/>
    <pc:docChg chg="undo custSel addSld delSld modSld">
      <pc:chgData name="Disha Parkhi" userId="7ca7a02737f3c9a0" providerId="LiveId" clId="{22DC9F18-F3A5-4ED3-8A6D-EFC80996272D}" dt="2021-03-08T17:57:27.753" v="362" actId="2696"/>
      <pc:docMkLst>
        <pc:docMk/>
      </pc:docMkLst>
      <pc:sldChg chg="modSp del mod">
        <pc:chgData name="Disha Parkhi" userId="7ca7a02737f3c9a0" providerId="LiveId" clId="{22DC9F18-F3A5-4ED3-8A6D-EFC80996272D}" dt="2021-03-08T17:57:27.753" v="362" actId="2696"/>
        <pc:sldMkLst>
          <pc:docMk/>
          <pc:sldMk cId="3333370814" sldId="270"/>
        </pc:sldMkLst>
        <pc:spChg chg="mod">
          <ac:chgData name="Disha Parkhi" userId="7ca7a02737f3c9a0" providerId="LiveId" clId="{22DC9F18-F3A5-4ED3-8A6D-EFC80996272D}" dt="2021-03-03T15:21:39.755" v="28" actId="20577"/>
          <ac:spMkLst>
            <pc:docMk/>
            <pc:sldMk cId="3333370814" sldId="270"/>
            <ac:spMk id="2" creationId="{BE94C98A-7B24-446C-A946-900F03CF3B9D}"/>
          </ac:spMkLst>
        </pc:spChg>
        <pc:spChg chg="mod">
          <ac:chgData name="Disha Parkhi" userId="7ca7a02737f3c9a0" providerId="LiveId" clId="{22DC9F18-F3A5-4ED3-8A6D-EFC80996272D}" dt="2021-03-03T15:22:35.737" v="68" actId="6549"/>
          <ac:spMkLst>
            <pc:docMk/>
            <pc:sldMk cId="3333370814" sldId="270"/>
            <ac:spMk id="3" creationId="{857D168F-03A6-4181-85A0-723909BFCEAC}"/>
          </ac:spMkLst>
        </pc:spChg>
      </pc:sldChg>
      <pc:sldChg chg="modSp new mod">
        <pc:chgData name="Disha Parkhi" userId="7ca7a02737f3c9a0" providerId="LiveId" clId="{22DC9F18-F3A5-4ED3-8A6D-EFC80996272D}" dt="2021-03-08T17:55:06.581" v="297" actId="20577"/>
        <pc:sldMkLst>
          <pc:docMk/>
          <pc:sldMk cId="9199819" sldId="271"/>
        </pc:sldMkLst>
        <pc:spChg chg="mod">
          <ac:chgData name="Disha Parkhi" userId="7ca7a02737f3c9a0" providerId="LiveId" clId="{22DC9F18-F3A5-4ED3-8A6D-EFC80996272D}" dt="2021-03-08T17:51:46.078" v="79" actId="20577"/>
          <ac:spMkLst>
            <pc:docMk/>
            <pc:sldMk cId="9199819" sldId="271"/>
            <ac:spMk id="2" creationId="{E6DDC148-512D-4E89-8E16-73290F47CE06}"/>
          </ac:spMkLst>
        </pc:spChg>
        <pc:spChg chg="mod">
          <ac:chgData name="Disha Parkhi" userId="7ca7a02737f3c9a0" providerId="LiveId" clId="{22DC9F18-F3A5-4ED3-8A6D-EFC80996272D}" dt="2021-03-08T17:55:06.581" v="297" actId="20577"/>
          <ac:spMkLst>
            <pc:docMk/>
            <pc:sldMk cId="9199819" sldId="271"/>
            <ac:spMk id="3" creationId="{C27832C2-02F7-4DAC-9032-1B2C47EE17AD}"/>
          </ac:spMkLst>
        </pc:spChg>
      </pc:sldChg>
      <pc:sldChg chg="modSp new mod">
        <pc:chgData name="Disha Parkhi" userId="7ca7a02737f3c9a0" providerId="LiveId" clId="{22DC9F18-F3A5-4ED3-8A6D-EFC80996272D}" dt="2021-03-08T17:55:59.804" v="305" actId="27636"/>
        <pc:sldMkLst>
          <pc:docMk/>
          <pc:sldMk cId="646022869" sldId="272"/>
        </pc:sldMkLst>
        <pc:spChg chg="mod">
          <ac:chgData name="Disha Parkhi" userId="7ca7a02737f3c9a0" providerId="LiveId" clId="{22DC9F18-F3A5-4ED3-8A6D-EFC80996272D}" dt="2021-03-08T17:55:59.804" v="305" actId="27636"/>
          <ac:spMkLst>
            <pc:docMk/>
            <pc:sldMk cId="646022869" sldId="272"/>
            <ac:spMk id="3" creationId="{2CF7555F-6420-46BC-B24B-D99472248DF7}"/>
          </ac:spMkLst>
        </pc:spChg>
      </pc:sldChg>
      <pc:sldChg chg="modSp new mod">
        <pc:chgData name="Disha Parkhi" userId="7ca7a02737f3c9a0" providerId="LiveId" clId="{22DC9F18-F3A5-4ED3-8A6D-EFC80996272D}" dt="2021-03-08T17:57:12.180" v="361" actId="20577"/>
        <pc:sldMkLst>
          <pc:docMk/>
          <pc:sldMk cId="1745278816" sldId="273"/>
        </pc:sldMkLst>
        <pc:spChg chg="mod">
          <ac:chgData name="Disha Parkhi" userId="7ca7a02737f3c9a0" providerId="LiveId" clId="{22DC9F18-F3A5-4ED3-8A6D-EFC80996272D}" dt="2021-03-08T17:57:12.180" v="361" actId="20577"/>
          <ac:spMkLst>
            <pc:docMk/>
            <pc:sldMk cId="1745278816" sldId="273"/>
            <ac:spMk id="3" creationId="{CE2BCD61-F0F9-46F1-8879-654DC058F2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E84D-3D1E-4C6A-BE4E-A586E4240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DF585-EFB0-4E4A-9106-E2095AF3F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95CD-F5C1-471D-AFCE-896FC4971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5AFC8-F8F8-430D-8827-EEAAA07D8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C1AA4-AF94-4829-8522-51505EEF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7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61C3-6685-4A4E-B978-53C68EC0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15C44-F9BA-4386-8D24-F093D203F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B601A-166E-43B2-8CC6-6E75FB10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942AE-D16B-4425-A6D2-EBB47EA15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881A2-F483-441E-B2BA-E46C383BF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8F6C-5518-4123-AABB-7785D56B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05D2F-BCAB-49D9-9196-B2F79200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04E5E-FDA9-48FC-8A3B-2FCB4F95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63F85-015C-4D72-8D22-256168516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4B3FC-A32D-441C-899E-245D43551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9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12111-865B-4FAA-8B77-FA42E744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BE77A-96B0-4CC7-AFD7-FE496977A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E4D0A-1B5E-49A3-BA21-67C655AA7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FEBFA-B0DE-4EA2-A447-67A158FB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82B04-3CEA-4D85-AFC1-68A786C3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70244-195F-4A83-9DA0-F59479C1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2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B7CC-5DF5-465B-895C-80BA0944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04A32-E5D5-442E-A84C-2D7AD121D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ED0BF-B766-4224-BA15-3E0842EAA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4EBD6-32F8-43FC-8402-9649CF7C8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B649B-A9BE-4251-95CB-1BEF28EB8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04A10-857E-4EC3-80E3-DA70A450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971FCC-4083-4874-A9EC-BC65437D4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50B0D0-8619-409A-B928-D1A29959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1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EBF0-F3F8-42A2-8C04-4C9C2CD5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52D60-0B49-40B3-A1A9-D9741656A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02614-522B-45BC-80B8-D13FA2ED2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C2126-D652-457B-AF45-44CB0E51D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67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8CA68B-8FA5-42F2-A91C-9CD857935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3DEE6-F6A2-4043-9B4D-7D1A2BA4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101C9-3B91-4E7B-B402-83DB16C1C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35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BD54-D560-4673-BB6E-D145631C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AAF05-2E5A-4D34-BAEA-D3D840DC4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CE929-0B9C-4CED-9752-6266BF292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160B4-71DF-41D6-A555-275BA797E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C3E62-0991-49A1-8EA9-49FBE010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E8DA8-384F-4CAC-9CD2-E6EE2FEDE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27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A929-97EA-4E02-9CC0-31286B86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33AF1-20DA-41C0-8288-4AE6B7FD1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01E9B-E0A9-4A5A-9E04-CACACA1FF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0EC23-EAF4-4A95-AA68-BE567C31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06350-B433-4844-86AB-69B31A694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6DCB9-88B8-4D77-B13F-7CBBE608D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0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B078F-2586-408D-BE61-87794025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DD151-65F8-4F60-B06C-36A19EA2B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D4310-1BA6-4F4E-AE53-88970B50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2ACB9-782C-42E5-94FD-6E8CFBE7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78F98-8A0E-4343-8C80-207452A6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23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8C5A98-2504-4A28-A3AB-76F5F66EF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47EC8-BB73-4A96-A417-5865B91D2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E421-D439-41D0-934E-10A3DE6A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223E7-5EAE-4F34-9F3B-D1DCA3BB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725B-0804-4776-A64E-0D4D4522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19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76CDF5-67C4-494A-A181-38C33C490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125B-FEF9-440D-9A75-906A91DEB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F9EF3-03AF-4D79-AC1D-3B7B4CC338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89D17-4BAF-40C2-997A-51497FC314FA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E721A-5ECB-4B68-BAAD-1593CD781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F626C-50F1-44DC-851B-733B74911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BCF57-A85A-4085-98D0-354864C3D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3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 </a:t>
            </a:r>
            <a:r>
              <a:rPr lang="en-US"/>
              <a:t>for midterm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635" y="4198409"/>
            <a:ext cx="8038719" cy="164592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Management Information Systems</a:t>
            </a:r>
          </a:p>
          <a:p>
            <a:r>
              <a:rPr lang="en-US" sz="2000" dirty="0"/>
              <a:t>Disha Parkhi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C148-512D-4E89-8E16-73290F47C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832C2-02F7-4DAC-9032-1B2C47EE1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Databases</a:t>
            </a:r>
          </a:p>
          <a:p>
            <a:r>
              <a:rPr lang="en-US" dirty="0"/>
              <a:t>Database Management Systems</a:t>
            </a:r>
          </a:p>
          <a:p>
            <a:r>
              <a:rPr lang="en-US" dirty="0"/>
              <a:t>Advantage using databases</a:t>
            </a:r>
          </a:p>
          <a:p>
            <a:r>
              <a:rPr lang="en-US" dirty="0"/>
              <a:t>Relational Databases</a:t>
            </a:r>
          </a:p>
          <a:p>
            <a:r>
              <a:rPr lang="en-US" dirty="0"/>
              <a:t>Table Properties</a:t>
            </a:r>
          </a:p>
          <a:p>
            <a:r>
              <a:rPr lang="en-US" dirty="0"/>
              <a:t>Concept of Primary Keys</a:t>
            </a:r>
          </a:p>
          <a:p>
            <a:r>
              <a:rPr lang="en-US" dirty="0"/>
              <a:t>Concept of Entity integrity</a:t>
            </a:r>
          </a:p>
          <a:p>
            <a:r>
              <a:rPr lang="en-US" dirty="0"/>
              <a:t>Synthetic Keys</a:t>
            </a:r>
          </a:p>
          <a:p>
            <a:r>
              <a:rPr lang="en-US" dirty="0"/>
              <a:t>Composite Keys</a:t>
            </a:r>
          </a:p>
          <a:p>
            <a:r>
              <a:rPr lang="en-US" dirty="0"/>
              <a:t>How to design a table?</a:t>
            </a:r>
          </a:p>
        </p:txBody>
      </p:sp>
    </p:spTree>
    <p:extLst>
      <p:ext uri="{BB962C8B-B14F-4D97-AF65-F5344CB8AC3E}">
        <p14:creationId xmlns:p14="http://schemas.microsoft.com/office/powerpoint/2010/main" val="9199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DF42-BBB4-4F5D-A9E0-553E5A7A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7555F-6420-46BC-B24B-D99472248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Database Anomalies</a:t>
            </a:r>
          </a:p>
          <a:p>
            <a:r>
              <a:rPr lang="en-US" dirty="0"/>
              <a:t>One-to-Many Relationships</a:t>
            </a:r>
          </a:p>
          <a:p>
            <a:r>
              <a:rPr lang="en-US" dirty="0"/>
              <a:t>Outline notation and ER diagram</a:t>
            </a:r>
          </a:p>
          <a:p>
            <a:r>
              <a:rPr lang="en-US" dirty="0"/>
              <a:t>Referential Integrity</a:t>
            </a:r>
          </a:p>
          <a:p>
            <a:r>
              <a:rPr lang="en-US" dirty="0"/>
              <a:t>Foreign keys</a:t>
            </a:r>
          </a:p>
          <a:p>
            <a:r>
              <a:rPr lang="en-US" dirty="0"/>
              <a:t>Database Design Principles</a:t>
            </a:r>
          </a:p>
          <a:p>
            <a:r>
              <a:rPr lang="en-US" dirty="0"/>
              <a:t>Steps to design a database</a:t>
            </a:r>
          </a:p>
          <a:p>
            <a:r>
              <a:rPr lang="en-US" dirty="0"/>
              <a:t>How to pick a primary key</a:t>
            </a:r>
          </a:p>
          <a:p>
            <a:r>
              <a:rPr lang="en-US" dirty="0"/>
              <a:t>Database design exercise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02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7980-1E7C-49F9-8628-46067A99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BCD61-F0F9-46F1-8879-654DC058F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Redundancy in relationship</a:t>
            </a:r>
          </a:p>
          <a:p>
            <a:r>
              <a:rPr lang="en-US" dirty="0"/>
              <a:t>Database queries</a:t>
            </a:r>
          </a:p>
          <a:p>
            <a:r>
              <a:rPr lang="en-US" dirty="0"/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174527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99533"/>
            <a:ext cx="8079581" cy="816288"/>
          </a:xfrm>
        </p:spPr>
        <p:txBody>
          <a:bodyPr/>
          <a:lstStyle/>
          <a:p>
            <a:r>
              <a:rPr lang="en-US" dirty="0"/>
              <a:t>One-to-many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7223" y="2210789"/>
            <a:ext cx="8408932" cy="4013614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endParaRPr lang="en-US" dirty="0">
              <a:latin typeface="Calibri" charset="0"/>
              <a:cs typeface="Calibri" charset="0"/>
            </a:endParaRP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 record of table A corresponds to 0, 1, 2,</a:t>
            </a:r>
            <a:r>
              <a:rPr lang="is-IS" dirty="0">
                <a:latin typeface="Calibri" charset="0"/>
                <a:cs typeface="Calibri" charset="0"/>
              </a:rPr>
              <a:t>….(many) records of table B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</a:t>
            </a:r>
            <a:r>
              <a:rPr lang="is-IS" dirty="0">
                <a:latin typeface="Calibri" charset="0"/>
                <a:cs typeface="Calibri" charset="0"/>
              </a:rPr>
              <a:t> record of table B corresponds to 1 record of table A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endParaRPr lang="is-IS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dirty="0">
                <a:latin typeface="Calibri" charset="0"/>
                <a:cs typeface="Calibri" charset="0"/>
              </a:rPr>
              <a:t>To create this relationship we put the primary key of A as a foreign key in table B (the foreign key is always in </a:t>
            </a:r>
            <a:r>
              <a:rPr lang="ja-JP" altLang="en-US" dirty="0">
                <a:latin typeface="Calibri" charset="0"/>
                <a:cs typeface="Calibri" charset="0"/>
              </a:rPr>
              <a:t>“</a:t>
            </a:r>
            <a:r>
              <a:rPr lang="en-US" altLang="ja-JP" dirty="0">
                <a:latin typeface="Calibri" charset="0"/>
                <a:cs typeface="Calibri" charset="0"/>
              </a:rPr>
              <a:t>the many</a:t>
            </a:r>
            <a:r>
              <a:rPr lang="ja-JP" altLang="en-US" dirty="0">
                <a:latin typeface="Calibri" charset="0"/>
                <a:cs typeface="Calibri" charset="0"/>
              </a:rPr>
              <a:t>”</a:t>
            </a:r>
            <a:r>
              <a:rPr lang="en-US" altLang="ja-JP" dirty="0">
                <a:latin typeface="Calibri" charset="0"/>
                <a:cs typeface="Calibri" charset="0"/>
              </a:rPr>
              <a:t> table).</a:t>
            </a: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altLang="ja-JP" dirty="0">
                <a:latin typeface="Calibri" charset="0"/>
                <a:cs typeface="Calibri" charset="0"/>
              </a:rPr>
              <a:t>The foreign key may be left empty (null), in which case it means that the record of B corresponds to 0 records of A.</a:t>
            </a:r>
            <a:endParaRPr lang="en-US" dirty="0">
              <a:latin typeface="Calibri" charset="0"/>
              <a:cs typeface="Calibri" charset="0"/>
            </a:endParaRPr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5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18624" y="1618862"/>
            <a:ext cx="3352800" cy="593725"/>
            <a:chOff x="1676400" y="1687513"/>
            <a:chExt cx="3352800" cy="593725"/>
          </a:xfrm>
        </p:grpSpPr>
        <p:sp>
          <p:nvSpPr>
            <p:cNvPr id="6" name="TextBox 5"/>
            <p:cNvSpPr txBox="1"/>
            <p:nvPr/>
          </p:nvSpPr>
          <p:spPr>
            <a:xfrm>
              <a:off x="1676400" y="1824038"/>
              <a:ext cx="6858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43400" y="1824038"/>
              <a:ext cx="6858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B</a:t>
              </a:r>
            </a:p>
          </p:txBody>
        </p:sp>
        <p:cxnSp>
          <p:nvCxnSpPr>
            <p:cNvPr id="8" name="Straight Connector 3"/>
            <p:cNvCxnSpPr>
              <a:cxnSpLocks noChangeShapeType="1"/>
            </p:cNvCxnSpPr>
            <p:nvPr/>
          </p:nvCxnSpPr>
          <p:spPr bwMode="auto">
            <a:xfrm>
              <a:off x="2362200" y="2052638"/>
              <a:ext cx="198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" name="Diamond 8"/>
            <p:cNvSpPr/>
            <p:nvPr/>
          </p:nvSpPr>
          <p:spPr bwMode="auto">
            <a:xfrm>
              <a:off x="3124200" y="1824038"/>
              <a:ext cx="533400" cy="457200"/>
            </a:xfrm>
            <a:prstGeom prst="diamon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" name="TextBox 7"/>
            <p:cNvSpPr txBox="1">
              <a:spLocks noChangeArrowheads="1"/>
            </p:cNvSpPr>
            <p:nvPr/>
          </p:nvSpPr>
          <p:spPr bwMode="auto">
            <a:xfrm>
              <a:off x="2362200" y="1687513"/>
              <a:ext cx="20574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800" dirty="0">
                  <a:latin typeface="Calibri" charset="0"/>
                  <a:cs typeface="Calibri" charset="0"/>
                </a:rPr>
                <a:t>1                             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6015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99534"/>
            <a:ext cx="8079581" cy="930707"/>
          </a:xfrm>
        </p:spPr>
        <p:txBody>
          <a:bodyPr/>
          <a:lstStyle/>
          <a:p>
            <a:r>
              <a:rPr lang="en-US" dirty="0"/>
              <a:t>Subtypes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206" y="2665968"/>
            <a:ext cx="8065294" cy="309361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endParaRPr lang="en-US" dirty="0">
              <a:latin typeface="Calibri" charset="0"/>
              <a:cs typeface="Calibri" charset="0"/>
            </a:endParaRP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 record of table A corresponds to 0 or 1 </a:t>
            </a:r>
            <a:r>
              <a:rPr lang="is-IS" dirty="0">
                <a:latin typeface="Calibri" charset="0"/>
                <a:cs typeface="Calibri" charset="0"/>
              </a:rPr>
              <a:t>record of table B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</a:t>
            </a:r>
            <a:r>
              <a:rPr lang="is-IS" dirty="0">
                <a:latin typeface="Calibri" charset="0"/>
                <a:cs typeface="Calibri" charset="0"/>
              </a:rPr>
              <a:t> record of table B corresponds to 1 record of table A</a:t>
            </a:r>
            <a:endParaRPr lang="en-US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endParaRPr lang="en-US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dirty="0">
                <a:latin typeface="Calibri" charset="0"/>
                <a:cs typeface="Calibri" charset="0"/>
              </a:rPr>
              <a:t>To create this relationship we put the primary key of A as a foreign key in table B and also as its primary key (this ensures that to each record of B corresponds a single record of A</a:t>
            </a:r>
            <a:r>
              <a:rPr lang="en-US" altLang="ja-JP" dirty="0">
                <a:latin typeface="Calibri" charset="0"/>
                <a:cs typeface="Calibri" charset="0"/>
              </a:rPr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6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75829" y="1710965"/>
            <a:ext cx="3352800" cy="505857"/>
            <a:chOff x="1676400" y="1447800"/>
            <a:chExt cx="3352800" cy="505857"/>
          </a:xfrm>
        </p:grpSpPr>
        <p:sp>
          <p:nvSpPr>
            <p:cNvPr id="6" name="TextBox 5"/>
            <p:cNvSpPr txBox="1"/>
            <p:nvPr/>
          </p:nvSpPr>
          <p:spPr>
            <a:xfrm>
              <a:off x="1676400" y="1584325"/>
              <a:ext cx="6858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43400" y="1584325"/>
              <a:ext cx="685800" cy="369332"/>
            </a:xfrm>
            <a:prstGeom prst="rect">
              <a:avLst/>
            </a:prstGeom>
            <a:ln w="63500" cmpd="dbl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B</a:t>
              </a:r>
            </a:p>
          </p:txBody>
        </p:sp>
        <p:cxnSp>
          <p:nvCxnSpPr>
            <p:cNvPr id="8" name="Straight Connector 3"/>
            <p:cNvCxnSpPr>
              <a:cxnSpLocks noChangeShapeType="1"/>
            </p:cNvCxnSpPr>
            <p:nvPr/>
          </p:nvCxnSpPr>
          <p:spPr bwMode="auto">
            <a:xfrm>
              <a:off x="2362200" y="1812925"/>
              <a:ext cx="198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" name="TextBox 7"/>
            <p:cNvSpPr txBox="1">
              <a:spLocks noChangeArrowheads="1"/>
            </p:cNvSpPr>
            <p:nvPr/>
          </p:nvSpPr>
          <p:spPr bwMode="auto">
            <a:xfrm>
              <a:off x="2362200" y="1447800"/>
              <a:ext cx="20574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800">
                  <a:latin typeface="Calibri" charset="0"/>
                  <a:cs typeface="Calibri" charset="0"/>
                </a:rPr>
                <a:t>1                         0 /1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914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42324"/>
            <a:ext cx="8079581" cy="976475"/>
          </a:xfrm>
        </p:spPr>
        <p:txBody>
          <a:bodyPr/>
          <a:lstStyle/>
          <a:p>
            <a:r>
              <a:rPr lang="en-US" dirty="0"/>
              <a:t>many-to-many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6798" y="2620200"/>
            <a:ext cx="8393679" cy="3459753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sz="2000" dirty="0">
                <a:latin typeface="Calibri" charset="0"/>
                <a:cs typeface="Calibri" charset="0"/>
              </a:rPr>
              <a:t>Each</a:t>
            </a:r>
            <a:r>
              <a:rPr lang="en-US" sz="2200" dirty="0">
                <a:latin typeface="Calibri" charset="0"/>
                <a:cs typeface="Calibri" charset="0"/>
              </a:rPr>
              <a:t> record of table A corresponds to 0, 1, 2, </a:t>
            </a:r>
            <a:r>
              <a:rPr lang="is-IS" sz="2200" dirty="0">
                <a:latin typeface="Calibri" charset="0"/>
                <a:cs typeface="Calibri" charset="0"/>
              </a:rPr>
              <a:t>… records of table B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sz="2000" dirty="0">
                <a:latin typeface="Calibri" charset="0"/>
                <a:cs typeface="Calibri" charset="0"/>
              </a:rPr>
              <a:t>Each</a:t>
            </a:r>
            <a:r>
              <a:rPr lang="is-IS" sz="2200" dirty="0">
                <a:latin typeface="Calibri" charset="0"/>
                <a:cs typeface="Calibri" charset="0"/>
              </a:rPr>
              <a:t> record of table B corresponds to </a:t>
            </a:r>
            <a:r>
              <a:rPr lang="en-US" sz="2200" dirty="0">
                <a:latin typeface="Calibri" charset="0"/>
                <a:cs typeface="Calibri" charset="0"/>
              </a:rPr>
              <a:t>0, 1, 2, </a:t>
            </a:r>
            <a:r>
              <a:rPr lang="is-IS" sz="2200" dirty="0">
                <a:latin typeface="Calibri" charset="0"/>
                <a:cs typeface="Calibri" charset="0"/>
              </a:rPr>
              <a:t>… records of table A</a:t>
            </a:r>
            <a:endParaRPr lang="en-US" sz="2200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endParaRPr lang="en-US" sz="2200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200" dirty="0">
                <a:latin typeface="Calibri" charset="0"/>
                <a:cs typeface="Calibri" charset="0"/>
              </a:rPr>
              <a:t>To create this relationship we create a new table </a:t>
            </a:r>
            <a:r>
              <a:rPr lang="en-US" sz="2200" dirty="0">
                <a:solidFill>
                  <a:srgbClr val="FF0000"/>
                </a:solidFill>
                <a:latin typeface="Calibri" charset="0"/>
                <a:cs typeface="Calibri" charset="0"/>
              </a:rPr>
              <a:t>W</a:t>
            </a:r>
            <a:r>
              <a:rPr lang="en-US" sz="2200" dirty="0">
                <a:latin typeface="Calibri" charset="0"/>
                <a:cs typeface="Calibri" charset="0"/>
              </a:rPr>
              <a:t>. The primary key of table A and of table B are foreign keys in table W.</a:t>
            </a:r>
            <a:endParaRPr lang="en-US" altLang="ja-JP" sz="2200" dirty="0">
              <a:latin typeface="Calibri" charset="0"/>
              <a:cs typeface="Calibri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7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252947" y="1618861"/>
            <a:ext cx="3352800" cy="610168"/>
            <a:chOff x="2728947" y="1618861"/>
            <a:chExt cx="3352800" cy="610168"/>
          </a:xfrm>
        </p:grpSpPr>
        <p:grpSp>
          <p:nvGrpSpPr>
            <p:cNvPr id="5" name="Group 4"/>
            <p:cNvGrpSpPr/>
            <p:nvPr/>
          </p:nvGrpSpPr>
          <p:grpSpPr>
            <a:xfrm>
              <a:off x="2728947" y="1771829"/>
              <a:ext cx="3352800" cy="457200"/>
              <a:chOff x="1676400" y="1600200"/>
              <a:chExt cx="3352800" cy="457200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1676400" y="1600200"/>
                <a:ext cx="685800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dirty="0">
                    <a:latin typeface="Calibri"/>
                    <a:cs typeface="Calibri"/>
                  </a:rPr>
                  <a:t>A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343400" y="1600200"/>
                <a:ext cx="685800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dirty="0">
                    <a:latin typeface="Calibri"/>
                    <a:cs typeface="Calibri"/>
                  </a:rPr>
                  <a:t>B</a:t>
                </a:r>
              </a:p>
            </p:txBody>
          </p:sp>
          <p:cxnSp>
            <p:nvCxnSpPr>
              <p:cNvPr id="8" name="Straight Connector 3"/>
              <p:cNvCxnSpPr>
                <a:cxnSpLocks noChangeShapeType="1"/>
              </p:cNvCxnSpPr>
              <p:nvPr/>
            </p:nvCxnSpPr>
            <p:spPr bwMode="auto">
              <a:xfrm>
                <a:off x="2362200" y="1828800"/>
                <a:ext cx="198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9" name="Diamond 8"/>
              <p:cNvSpPr/>
              <p:nvPr/>
            </p:nvSpPr>
            <p:spPr bwMode="auto">
              <a:xfrm>
                <a:off x="3124200" y="1600200"/>
                <a:ext cx="533400" cy="457200"/>
              </a:xfrm>
              <a:prstGeom prst="diamond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endParaRPr lang="en-US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 bwMode="auto">
              <a:xfrm>
                <a:off x="3124200" y="1600200"/>
                <a:ext cx="533400" cy="457200"/>
              </a:xfrm>
              <a:prstGeom prst="rect">
                <a:avLst/>
              </a:prstGeom>
              <a:noFill/>
              <a:ln>
                <a:headEnd type="none" w="sm" len="sm"/>
                <a:tailEnd type="none" w="sm" len="sm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r>
                  <a:rPr lang="en-US" sz="2000" dirty="0">
                    <a:solidFill>
                      <a:srgbClr val="FF0000"/>
                    </a:solidFill>
                    <a:latin typeface="Calibri"/>
                    <a:cs typeface="Calibri"/>
                  </a:rPr>
                  <a:t> W</a:t>
                </a:r>
              </a:p>
            </p:txBody>
          </p:sp>
        </p:grpSp>
        <p:sp>
          <p:nvSpPr>
            <p:cNvPr id="11" name="TextBox 7"/>
            <p:cNvSpPr txBox="1">
              <a:spLocks noChangeArrowheads="1"/>
            </p:cNvSpPr>
            <p:nvPr/>
          </p:nvSpPr>
          <p:spPr bwMode="auto">
            <a:xfrm>
              <a:off x="3380424" y="1618861"/>
              <a:ext cx="2057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800" dirty="0">
                  <a:latin typeface="Calibri" charset="0"/>
                  <a:cs typeface="Calibri" charset="0"/>
                </a:rPr>
                <a:t>M                            </a:t>
              </a:r>
              <a:r>
                <a:rPr lang="en-US" sz="1800" dirty="0" err="1">
                  <a:latin typeface="Calibri" charset="0"/>
                  <a:cs typeface="Calibri" charset="0"/>
                </a:rPr>
                <a:t>M</a:t>
              </a:r>
              <a:endParaRPr lang="en-US" sz="1800" dirty="0">
                <a:latin typeface="Calibri" charset="0"/>
                <a:cs typeface="Calibr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9453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99533"/>
            <a:ext cx="8079581" cy="816288"/>
          </a:xfrm>
        </p:spPr>
        <p:txBody>
          <a:bodyPr/>
          <a:lstStyle/>
          <a:p>
            <a:r>
              <a:rPr lang="en-US" dirty="0"/>
              <a:t>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4002" y="1430240"/>
            <a:ext cx="8313593" cy="4782721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200" i="1" dirty="0"/>
              <a:t>Anomalies are problems caused by poor database design.</a:t>
            </a:r>
          </a:p>
          <a:p>
            <a:pPr algn="just">
              <a:lnSpc>
                <a:spcPct val="110000"/>
              </a:lnSpc>
            </a:pPr>
            <a:endParaRPr lang="en-US" sz="2200" dirty="0"/>
          </a:p>
          <a:p>
            <a:pPr algn="just">
              <a:lnSpc>
                <a:spcPct val="110000"/>
              </a:lnSpc>
            </a:pPr>
            <a:r>
              <a:rPr lang="en-US" sz="2200" dirty="0"/>
              <a:t>An </a:t>
            </a:r>
            <a:r>
              <a:rPr lang="en-US" sz="2200" b="1" i="1" dirty="0"/>
              <a:t>update anomaly </a:t>
            </a:r>
            <a:r>
              <a:rPr lang="en-US" sz="2200" dirty="0"/>
              <a:t>occurs when one must make many changes to reflect the modification of a single piece of information.</a:t>
            </a:r>
          </a:p>
          <a:p>
            <a:pPr algn="just">
              <a:lnSpc>
                <a:spcPct val="110000"/>
              </a:lnSpc>
            </a:pPr>
            <a:r>
              <a:rPr lang="en-US" sz="2200" dirty="0"/>
              <a:t>A </a:t>
            </a:r>
            <a:r>
              <a:rPr lang="en-US" sz="2200" b="1" i="1" dirty="0"/>
              <a:t>deletion anomaly </a:t>
            </a:r>
            <a:r>
              <a:rPr lang="en-US" sz="2200" dirty="0"/>
              <a:t>occurs when data is deleted from a relation, and other critical data is unintentionally lost</a:t>
            </a:r>
          </a:p>
          <a:p>
            <a:pPr algn="just">
              <a:lnSpc>
                <a:spcPct val="110000"/>
              </a:lnSpc>
            </a:pPr>
            <a:r>
              <a:rPr lang="en-US" sz="2200" dirty="0"/>
              <a:t>An </a:t>
            </a:r>
            <a:r>
              <a:rPr lang="en-US" sz="2200" b="1" i="1" dirty="0"/>
              <a:t>insertion anomaly </a:t>
            </a:r>
            <a:r>
              <a:rPr lang="en-US" sz="2200" dirty="0"/>
              <a:t>occurs when a row cannot be added to a table, because not all data is available (or one has to invent “dummy” data)</a:t>
            </a:r>
          </a:p>
          <a:p>
            <a:pPr algn="just">
              <a:lnSpc>
                <a:spcPct val="110000"/>
              </a:lnSpc>
            </a:pPr>
            <a:endParaRPr lang="en-US" sz="2200" dirty="0"/>
          </a:p>
          <a:p>
            <a:pPr algn="just">
              <a:lnSpc>
                <a:spcPct val="110000"/>
              </a:lnSpc>
            </a:pP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89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402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Review for midterm</vt:lpstr>
      <vt:lpstr>Databases:</vt:lpstr>
      <vt:lpstr>PowerPoint Presentation</vt:lpstr>
      <vt:lpstr>PowerPoint Presentation</vt:lpstr>
      <vt:lpstr>One-to-many relationship</vt:lpstr>
      <vt:lpstr>Subtypes</vt:lpstr>
      <vt:lpstr>many-to-many relationship</vt:lpstr>
      <vt:lpstr>Anomalies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for midterm</dc:title>
  <dc:creator>Disha Parkhi</dc:creator>
  <cp:lastModifiedBy>Disha Parkhi</cp:lastModifiedBy>
  <cp:revision>1</cp:revision>
  <dcterms:created xsi:type="dcterms:W3CDTF">2021-03-03T15:19:56Z</dcterms:created>
  <dcterms:modified xsi:type="dcterms:W3CDTF">2021-03-08T17:57:38Z</dcterms:modified>
</cp:coreProperties>
</file>