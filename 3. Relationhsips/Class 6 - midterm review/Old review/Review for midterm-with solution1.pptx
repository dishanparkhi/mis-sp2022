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7" r:id="rId3"/>
    <p:sldId id="268" r:id="rId4"/>
    <p:sldId id="269" r:id="rId5"/>
    <p:sldId id="265" r:id="rId6"/>
    <p:sldId id="266" r:id="rId7"/>
    <p:sldId id="262" r:id="rId8"/>
    <p:sldId id="260" r:id="rId9"/>
    <p:sldId id="274" r:id="rId10"/>
    <p:sldId id="273" r:id="rId11"/>
    <p:sldId id="275" r:id="rId12"/>
    <p:sldId id="278" r:id="rId13"/>
    <p:sldId id="27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92008D-43F3-4264-941F-487151B80BC1}">
          <p14:sldIdLst>
            <p14:sldId id="257"/>
            <p14:sldId id="267"/>
            <p14:sldId id="268"/>
            <p14:sldId id="269"/>
            <p14:sldId id="265"/>
            <p14:sldId id="266"/>
            <p14:sldId id="262"/>
            <p14:sldId id="260"/>
            <p14:sldId id="274"/>
            <p14:sldId id="273"/>
            <p14:sldId id="275"/>
            <p14:sldId id="278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sha Parkhi" userId="7ca7a02737f3c9a0" providerId="LiveId" clId="{93708953-0252-4F72-94AC-8B4FED48DF4F}"/>
    <pc:docChg chg="modSld">
      <pc:chgData name="Disha Parkhi" userId="7ca7a02737f3c9a0" providerId="LiveId" clId="{93708953-0252-4F72-94AC-8B4FED48DF4F}" dt="2020-10-30T16:43:25.990" v="4" actId="20577"/>
      <pc:docMkLst>
        <pc:docMk/>
      </pc:docMkLst>
      <pc:sldChg chg="modSp mod">
        <pc:chgData name="Disha Parkhi" userId="7ca7a02737f3c9a0" providerId="LiveId" clId="{93708953-0252-4F72-94AC-8B4FED48DF4F}" dt="2020-10-30T16:43:25.990" v="4" actId="20577"/>
        <pc:sldMkLst>
          <pc:docMk/>
          <pc:sldMk cId="1336015318" sldId="267"/>
        </pc:sldMkLst>
        <pc:spChg chg="mod">
          <ac:chgData name="Disha Parkhi" userId="7ca7a02737f3c9a0" providerId="LiveId" clId="{93708953-0252-4F72-94AC-8B4FED48DF4F}" dt="2020-10-30T16:43:25.990" v="4" actId="20577"/>
          <ac:spMkLst>
            <pc:docMk/>
            <pc:sldMk cId="1336015318" sldId="267"/>
            <ac:spMk id="3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DFA4B-E6D6-4903-90E0-A2431F469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8EEEC-72EF-4C08-8FE5-2751E9AEF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548F3-B800-4797-9B89-860D64C3B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F450-3106-4211-A0ED-BE8450C9145C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7B0C0-18F5-4DAA-9E3E-B4C1E907F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C7E4-E870-4B4B-92F2-8141994A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2EC8A-36BF-4462-94F8-5A40A8CAF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45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39818-34F1-477F-AC89-780A5069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F695C-EBE9-49DA-A958-643DC2F4F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A50C0-6A87-4F78-9639-82B373C0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F450-3106-4211-A0ED-BE8450C9145C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8A54B-5DD5-4CBD-B30B-6589A09EE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73832-CA30-41D1-B0D8-7C114C5CE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2EC8A-36BF-4462-94F8-5A40A8CAF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73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FBD45-BC4A-4AC1-AE64-C53F7AAE4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C5302-E524-4CA8-8562-69FCF27C8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B1598-50B9-4A43-86D5-6146C14E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F450-3106-4211-A0ED-BE8450C9145C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01018-D305-4A7A-BDEA-AFF5F6018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09685-3776-4F2A-BDD7-7BAA2C25F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2EC8A-36BF-4462-94F8-5A40A8CAF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385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9277-9AC2-499E-BB00-604F6EBC0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627AD-914C-4394-905F-5BE938B2D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0AE4A-96BC-4276-85A9-AA9D32462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6C25B-ECB0-4E99-92B0-8BA501A18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F450-3106-4211-A0ED-BE8450C9145C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B247F-67CF-4B19-B7C4-67C7E87EB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EBB2E-F1AC-4DCB-B87E-160F455E2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2EC8A-36BF-4462-94F8-5A40A8CAF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30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5F798-DC2D-4932-8AC7-54F2269FD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10542-4250-4A36-8B10-B04585813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07D112-CEA9-4B4F-8482-6F24B374E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391E89-C067-48FF-8FBA-3803DF0AE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52956-0BF5-48B6-ABE8-05676BCB81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08BD1F-DB42-454A-9645-F7AAB8802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F450-3106-4211-A0ED-BE8450C9145C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47B9BF-B9C0-4D6E-A932-82588910C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9CDDD9-D549-4C2A-AF29-78FD892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2EC8A-36BF-4462-94F8-5A40A8CAF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07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D1B7F-41B2-4D9F-846D-60D297688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E8B145-1356-4260-8764-CCB978F1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F450-3106-4211-A0ED-BE8450C9145C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CFD8BE-7EA5-4402-A21B-FD6E2D920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26607D-BBB9-4525-A9A2-38234125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2EC8A-36BF-4462-94F8-5A40A8CAF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35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D9B3D8-91CD-4A38-A1F1-8555E5A29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F450-3106-4211-A0ED-BE8450C9145C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E22584-3E69-4A27-8A59-40A45D3B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324E0-DEFE-4CF1-BB51-59B101E4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2EC8A-36BF-4462-94F8-5A40A8CAF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86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53C82-2B2D-463A-A425-BFD23EE3A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16945-608B-4F6F-9817-39346C84A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20041-14D9-4515-B3ED-EEEC97F45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5EFCE-84EE-4092-B74E-A0E37641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F450-3106-4211-A0ED-BE8450C9145C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38817-4675-404E-964F-818B252FB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CE6DD-1BA1-453A-9111-8B9211CC4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2EC8A-36BF-4462-94F8-5A40A8CAF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2191-CEC6-46B4-BEAF-2479E689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C78671-8C20-457A-A5D4-40D8671A5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B3A48-BF06-42E6-ABBF-E64481F45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07DAF0-4CFA-46C0-BFEB-C7DAB976F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F450-3106-4211-A0ED-BE8450C9145C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C22FB-EE57-43AF-87AA-6205ECAEE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2C56B-48AA-4914-9F1A-499AA217D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2EC8A-36BF-4462-94F8-5A40A8CAF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7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1C913-22DC-476B-BAFB-28F142591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AA032-DC1C-4778-AB0C-479EE942E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769C-2AC6-4E06-91E9-B9869578C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F450-3106-4211-A0ED-BE8450C9145C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4CE57-7A53-437A-87B8-EA93EABB3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AD10F-BCE9-47F9-92D1-5B32E839D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2EC8A-36BF-4462-94F8-5A40A8CAF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33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FC1CB4-9A9B-4C93-8A42-0CA19E6037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38F87-994B-40E2-BDD0-A9FB2E5B3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D1E4E-0E82-4223-B0DE-A6026F4D0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F450-3106-4211-A0ED-BE8450C9145C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5293B-6E3A-4314-971C-CBE2AB1C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41160-3586-453F-838A-91B56D27E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2EC8A-36BF-4462-94F8-5A40A8CAF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21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0B0E92-C282-4BFE-B0B3-31917118C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28162-7AD1-4058-AB46-B1EF894CE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F3284-B8B3-4D7D-981A-B9B547BA68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4F450-3106-4211-A0ED-BE8450C9145C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B88DB-88C1-4189-BF0C-6BA0DB280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3DA45-8C85-4EB4-A292-35C88CBAF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2EC8A-36BF-4462-94F8-5A40A8CAF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8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package" Target="../embeddings/Microsoft_Word_Document1.docx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Review </a:t>
            </a:r>
            <a:r>
              <a:rPr lang="en-US"/>
              <a:t>for midterm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4635" y="4198409"/>
            <a:ext cx="8038719" cy="1645920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Management Information Systems</a:t>
            </a:r>
          </a:p>
          <a:p>
            <a:r>
              <a:rPr lang="en-US" sz="2000" dirty="0"/>
              <a:t>Disha Parkhi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5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20" y="499533"/>
            <a:ext cx="8079581" cy="816288"/>
          </a:xfrm>
        </p:spPr>
        <p:txBody>
          <a:bodyPr/>
          <a:lstStyle/>
          <a:p>
            <a:r>
              <a:rPr lang="en-US" dirty="0"/>
              <a:t>One-to-many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7223" y="2210789"/>
            <a:ext cx="8408932" cy="4013614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endParaRPr lang="en-US" dirty="0">
              <a:latin typeface="Calibri" charset="0"/>
              <a:cs typeface="Calibri" charset="0"/>
            </a:endParaRP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dirty="0">
                <a:latin typeface="Calibri" charset="0"/>
                <a:cs typeface="Calibri" charset="0"/>
              </a:rPr>
              <a:t>Each record of table A corresponds to 0, 1, 2,</a:t>
            </a:r>
            <a:r>
              <a:rPr lang="is-IS" dirty="0">
                <a:latin typeface="Calibri" charset="0"/>
                <a:cs typeface="Calibri" charset="0"/>
              </a:rPr>
              <a:t>….(many) records of table B</a:t>
            </a: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dirty="0">
                <a:latin typeface="Calibri" charset="0"/>
                <a:cs typeface="Calibri" charset="0"/>
              </a:rPr>
              <a:t>Each</a:t>
            </a:r>
            <a:r>
              <a:rPr lang="is-IS" dirty="0">
                <a:latin typeface="Calibri" charset="0"/>
                <a:cs typeface="Calibri" charset="0"/>
              </a:rPr>
              <a:t> record of table B corresponds to 1 record of table A</a:t>
            </a: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endParaRPr lang="is-IS" dirty="0">
              <a:latin typeface="Calibri" charset="0"/>
              <a:cs typeface="Calibri" charset="0"/>
            </a:endParaRP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dirty="0">
                <a:latin typeface="Calibri" charset="0"/>
                <a:cs typeface="Calibri" charset="0"/>
              </a:rPr>
              <a:t>To create this relationship we put the primary key of A as a foreign key in table B (the foreign key is always in </a:t>
            </a:r>
            <a:r>
              <a:rPr lang="ja-JP" altLang="en-US" dirty="0">
                <a:latin typeface="Calibri" charset="0"/>
                <a:cs typeface="Calibri" charset="0"/>
              </a:rPr>
              <a:t>“</a:t>
            </a:r>
            <a:r>
              <a:rPr lang="en-US" altLang="ja-JP" dirty="0">
                <a:latin typeface="Calibri" charset="0"/>
                <a:cs typeface="Calibri" charset="0"/>
              </a:rPr>
              <a:t>the many</a:t>
            </a:r>
            <a:r>
              <a:rPr lang="ja-JP" altLang="en-US" dirty="0">
                <a:latin typeface="Calibri" charset="0"/>
                <a:cs typeface="Calibri" charset="0"/>
              </a:rPr>
              <a:t>”</a:t>
            </a:r>
            <a:r>
              <a:rPr lang="en-US" altLang="ja-JP" dirty="0">
                <a:latin typeface="Calibri" charset="0"/>
                <a:cs typeface="Calibri" charset="0"/>
              </a:rPr>
              <a:t> table).</a:t>
            </a: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altLang="ja-JP" dirty="0">
                <a:latin typeface="Calibri" charset="0"/>
                <a:cs typeface="Calibri" charset="0"/>
              </a:rPr>
              <a:t>The foreign key may be left empty (null), in which case it means that the record of B corresponds to 0 records of A.</a:t>
            </a:r>
            <a:endParaRPr lang="en-US" dirty="0">
              <a:latin typeface="Calibri" charset="0"/>
              <a:cs typeface="Calibri" charset="0"/>
            </a:endParaRPr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218624" y="1618862"/>
            <a:ext cx="3352800" cy="593725"/>
            <a:chOff x="1676400" y="1687513"/>
            <a:chExt cx="3352800" cy="593725"/>
          </a:xfrm>
        </p:grpSpPr>
        <p:sp>
          <p:nvSpPr>
            <p:cNvPr id="6" name="TextBox 5"/>
            <p:cNvSpPr txBox="1"/>
            <p:nvPr/>
          </p:nvSpPr>
          <p:spPr>
            <a:xfrm>
              <a:off x="1676400" y="1824038"/>
              <a:ext cx="68580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343400" y="1824038"/>
              <a:ext cx="68580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Calibri"/>
                  <a:cs typeface="Calibri"/>
                </a:rPr>
                <a:t>B</a:t>
              </a:r>
            </a:p>
          </p:txBody>
        </p:sp>
        <p:cxnSp>
          <p:nvCxnSpPr>
            <p:cNvPr id="8" name="Straight Connector 3"/>
            <p:cNvCxnSpPr>
              <a:cxnSpLocks noChangeShapeType="1"/>
            </p:cNvCxnSpPr>
            <p:nvPr/>
          </p:nvCxnSpPr>
          <p:spPr bwMode="auto">
            <a:xfrm>
              <a:off x="2362200" y="2052638"/>
              <a:ext cx="198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9" name="Diamond 8"/>
            <p:cNvSpPr/>
            <p:nvPr/>
          </p:nvSpPr>
          <p:spPr bwMode="auto">
            <a:xfrm>
              <a:off x="3124200" y="1824038"/>
              <a:ext cx="533400" cy="457200"/>
            </a:xfrm>
            <a:prstGeom prst="diamond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0" name="TextBox 7"/>
            <p:cNvSpPr txBox="1">
              <a:spLocks noChangeArrowheads="1"/>
            </p:cNvSpPr>
            <p:nvPr/>
          </p:nvSpPr>
          <p:spPr bwMode="auto">
            <a:xfrm>
              <a:off x="2362200" y="1687513"/>
              <a:ext cx="20574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sz="1800" dirty="0">
                  <a:latin typeface="Calibri" charset="0"/>
                  <a:cs typeface="Calibri" charset="0"/>
                </a:rPr>
                <a:t>1                             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601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20" y="499534"/>
            <a:ext cx="8079581" cy="930707"/>
          </a:xfrm>
        </p:spPr>
        <p:txBody>
          <a:bodyPr/>
          <a:lstStyle/>
          <a:p>
            <a:r>
              <a:rPr lang="en-US" dirty="0"/>
              <a:t>Subtypes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206" y="2665968"/>
            <a:ext cx="8065294" cy="3093611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endParaRPr lang="en-US" dirty="0">
              <a:latin typeface="Calibri" charset="0"/>
              <a:cs typeface="Calibri" charset="0"/>
            </a:endParaRP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dirty="0">
                <a:latin typeface="Calibri" charset="0"/>
                <a:cs typeface="Calibri" charset="0"/>
              </a:rPr>
              <a:t>Each record of table A corresponds to 0 or 1 </a:t>
            </a:r>
            <a:r>
              <a:rPr lang="is-IS" dirty="0">
                <a:latin typeface="Calibri" charset="0"/>
                <a:cs typeface="Calibri" charset="0"/>
              </a:rPr>
              <a:t>record of table B</a:t>
            </a: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dirty="0">
                <a:latin typeface="Calibri" charset="0"/>
                <a:cs typeface="Calibri" charset="0"/>
              </a:rPr>
              <a:t>Each</a:t>
            </a:r>
            <a:r>
              <a:rPr lang="is-IS" dirty="0">
                <a:latin typeface="Calibri" charset="0"/>
                <a:cs typeface="Calibri" charset="0"/>
              </a:rPr>
              <a:t> record of table B corresponds to 1 record of table A</a:t>
            </a:r>
            <a:endParaRPr lang="en-US" dirty="0">
              <a:latin typeface="Calibri" charset="0"/>
              <a:cs typeface="Calibri" charset="0"/>
            </a:endParaRP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endParaRPr lang="en-US" dirty="0">
              <a:latin typeface="Calibri" charset="0"/>
              <a:cs typeface="Calibri" charset="0"/>
            </a:endParaRP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dirty="0">
                <a:latin typeface="Calibri" charset="0"/>
                <a:cs typeface="Calibri" charset="0"/>
              </a:rPr>
              <a:t>To create this relationship we put the primary key of A as a foreign key in table B and also as its primary key (this ensures that to each record of B corresponds a single record of A</a:t>
            </a:r>
            <a:r>
              <a:rPr lang="en-US" altLang="ja-JP" dirty="0">
                <a:latin typeface="Calibri" charset="0"/>
                <a:cs typeface="Calibri" charset="0"/>
              </a:rPr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275829" y="1710965"/>
            <a:ext cx="3352800" cy="505857"/>
            <a:chOff x="1676400" y="1447800"/>
            <a:chExt cx="3352800" cy="505857"/>
          </a:xfrm>
        </p:grpSpPr>
        <p:sp>
          <p:nvSpPr>
            <p:cNvPr id="6" name="TextBox 5"/>
            <p:cNvSpPr txBox="1"/>
            <p:nvPr/>
          </p:nvSpPr>
          <p:spPr>
            <a:xfrm>
              <a:off x="1676400" y="1584325"/>
              <a:ext cx="68580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343400" y="1584325"/>
              <a:ext cx="685800" cy="369332"/>
            </a:xfrm>
            <a:prstGeom prst="rect">
              <a:avLst/>
            </a:prstGeom>
            <a:ln w="63500" cmpd="dbl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Calibri"/>
                  <a:cs typeface="Calibri"/>
                </a:rPr>
                <a:t>B</a:t>
              </a:r>
            </a:p>
          </p:txBody>
        </p:sp>
        <p:cxnSp>
          <p:nvCxnSpPr>
            <p:cNvPr id="8" name="Straight Connector 3"/>
            <p:cNvCxnSpPr>
              <a:cxnSpLocks noChangeShapeType="1"/>
            </p:cNvCxnSpPr>
            <p:nvPr/>
          </p:nvCxnSpPr>
          <p:spPr bwMode="auto">
            <a:xfrm>
              <a:off x="2362200" y="1812925"/>
              <a:ext cx="198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9" name="TextBox 7"/>
            <p:cNvSpPr txBox="1">
              <a:spLocks noChangeArrowheads="1"/>
            </p:cNvSpPr>
            <p:nvPr/>
          </p:nvSpPr>
          <p:spPr bwMode="auto">
            <a:xfrm>
              <a:off x="2362200" y="1447800"/>
              <a:ext cx="20574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sz="1800">
                  <a:latin typeface="Calibri" charset="0"/>
                  <a:cs typeface="Calibri" charset="0"/>
                </a:rPr>
                <a:t>1                         0 /1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91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20" y="442324"/>
            <a:ext cx="8079581" cy="976475"/>
          </a:xfrm>
        </p:spPr>
        <p:txBody>
          <a:bodyPr/>
          <a:lstStyle/>
          <a:p>
            <a:r>
              <a:rPr lang="en-US" dirty="0"/>
              <a:t>many-to-many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6798" y="2620200"/>
            <a:ext cx="8393679" cy="3459753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sz="2000" dirty="0">
                <a:latin typeface="Calibri" charset="0"/>
                <a:cs typeface="Calibri" charset="0"/>
              </a:rPr>
              <a:t>Each</a:t>
            </a:r>
            <a:r>
              <a:rPr lang="en-US" sz="2200" dirty="0">
                <a:latin typeface="Calibri" charset="0"/>
                <a:cs typeface="Calibri" charset="0"/>
              </a:rPr>
              <a:t> record of table A corresponds to 0, 1, 2, </a:t>
            </a:r>
            <a:r>
              <a:rPr lang="is-IS" sz="2200" dirty="0">
                <a:latin typeface="Calibri" charset="0"/>
                <a:cs typeface="Calibri" charset="0"/>
              </a:rPr>
              <a:t>… records of table B</a:t>
            </a: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sz="2000" dirty="0">
                <a:latin typeface="Calibri" charset="0"/>
                <a:cs typeface="Calibri" charset="0"/>
              </a:rPr>
              <a:t>Each</a:t>
            </a:r>
            <a:r>
              <a:rPr lang="is-IS" sz="2200" dirty="0">
                <a:latin typeface="Calibri" charset="0"/>
                <a:cs typeface="Calibri" charset="0"/>
              </a:rPr>
              <a:t> record of table B corresponds to </a:t>
            </a:r>
            <a:r>
              <a:rPr lang="en-US" sz="2200" dirty="0">
                <a:latin typeface="Calibri" charset="0"/>
                <a:cs typeface="Calibri" charset="0"/>
              </a:rPr>
              <a:t>0, 1, 2, </a:t>
            </a:r>
            <a:r>
              <a:rPr lang="is-IS" sz="2200" dirty="0">
                <a:latin typeface="Calibri" charset="0"/>
                <a:cs typeface="Calibri" charset="0"/>
              </a:rPr>
              <a:t>… records of table A</a:t>
            </a:r>
            <a:endParaRPr lang="en-US" sz="2200" dirty="0">
              <a:latin typeface="Calibri" charset="0"/>
              <a:cs typeface="Calibri" charset="0"/>
            </a:endParaRP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endParaRPr lang="en-US" sz="2200" dirty="0">
              <a:latin typeface="Calibri" charset="0"/>
              <a:cs typeface="Calibri" charset="0"/>
            </a:endParaRP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200" dirty="0">
                <a:latin typeface="Calibri" charset="0"/>
                <a:cs typeface="Calibri" charset="0"/>
              </a:rPr>
              <a:t>To create this relationship we create a new table </a:t>
            </a:r>
            <a:r>
              <a:rPr lang="en-US" sz="2200" dirty="0">
                <a:solidFill>
                  <a:srgbClr val="FF0000"/>
                </a:solidFill>
                <a:latin typeface="Calibri" charset="0"/>
                <a:cs typeface="Calibri" charset="0"/>
              </a:rPr>
              <a:t>W</a:t>
            </a:r>
            <a:r>
              <a:rPr lang="en-US" sz="2200" dirty="0">
                <a:latin typeface="Calibri" charset="0"/>
                <a:cs typeface="Calibri" charset="0"/>
              </a:rPr>
              <a:t>. The primary key of table A and of table B are foreign keys in table W.</a:t>
            </a:r>
            <a:endParaRPr lang="en-US" altLang="ja-JP" sz="2200" dirty="0">
              <a:latin typeface="Calibri" charset="0"/>
              <a:cs typeface="Calibri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4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252947" y="1618861"/>
            <a:ext cx="3352800" cy="610168"/>
            <a:chOff x="2728947" y="1618861"/>
            <a:chExt cx="3352800" cy="610168"/>
          </a:xfrm>
        </p:grpSpPr>
        <p:grpSp>
          <p:nvGrpSpPr>
            <p:cNvPr id="5" name="Group 4"/>
            <p:cNvGrpSpPr/>
            <p:nvPr/>
          </p:nvGrpSpPr>
          <p:grpSpPr>
            <a:xfrm>
              <a:off x="2728947" y="1771829"/>
              <a:ext cx="3352800" cy="457200"/>
              <a:chOff x="1676400" y="1600200"/>
              <a:chExt cx="3352800" cy="457200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1676400" y="1600200"/>
                <a:ext cx="685800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dirty="0">
                    <a:latin typeface="Calibri"/>
                    <a:cs typeface="Calibri"/>
                  </a:rPr>
                  <a:t>A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4343400" y="1600200"/>
                <a:ext cx="685800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dirty="0">
                    <a:latin typeface="Calibri"/>
                    <a:cs typeface="Calibri"/>
                  </a:rPr>
                  <a:t>B</a:t>
                </a:r>
              </a:p>
            </p:txBody>
          </p:sp>
          <p:cxnSp>
            <p:nvCxnSpPr>
              <p:cNvPr id="8" name="Straight Connector 3"/>
              <p:cNvCxnSpPr>
                <a:cxnSpLocks noChangeShapeType="1"/>
              </p:cNvCxnSpPr>
              <p:nvPr/>
            </p:nvCxnSpPr>
            <p:spPr bwMode="auto">
              <a:xfrm>
                <a:off x="2362200" y="1828800"/>
                <a:ext cx="198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9" name="Diamond 8"/>
              <p:cNvSpPr/>
              <p:nvPr/>
            </p:nvSpPr>
            <p:spPr bwMode="auto">
              <a:xfrm>
                <a:off x="3124200" y="1600200"/>
                <a:ext cx="533400" cy="457200"/>
              </a:xfrm>
              <a:prstGeom prst="diamond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>
                  <a:defRPr/>
                </a:pPr>
                <a:endParaRPr lang="en-US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 bwMode="auto">
              <a:xfrm>
                <a:off x="3124200" y="1600200"/>
                <a:ext cx="533400" cy="457200"/>
              </a:xfrm>
              <a:prstGeom prst="rect">
                <a:avLst/>
              </a:prstGeom>
              <a:noFill/>
              <a:ln>
                <a:headEnd type="none" w="sm" len="sm"/>
                <a:tailEnd type="none" w="sm" len="sm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>
                  <a:defRPr/>
                </a:pPr>
                <a:r>
                  <a:rPr lang="en-US" sz="2000" dirty="0">
                    <a:solidFill>
                      <a:srgbClr val="FF0000"/>
                    </a:solidFill>
                    <a:latin typeface="Calibri"/>
                    <a:cs typeface="Calibri"/>
                  </a:rPr>
                  <a:t> W</a:t>
                </a:r>
              </a:p>
            </p:txBody>
          </p:sp>
        </p:grpSp>
        <p:sp>
          <p:nvSpPr>
            <p:cNvPr id="11" name="TextBox 7"/>
            <p:cNvSpPr txBox="1">
              <a:spLocks noChangeArrowheads="1"/>
            </p:cNvSpPr>
            <p:nvPr/>
          </p:nvSpPr>
          <p:spPr bwMode="auto">
            <a:xfrm>
              <a:off x="3380424" y="1618861"/>
              <a:ext cx="2057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sz="1800" dirty="0">
                  <a:latin typeface="Calibri" charset="0"/>
                  <a:cs typeface="Calibri" charset="0"/>
                </a:rPr>
                <a:t>M                            </a:t>
              </a:r>
              <a:r>
                <a:rPr lang="en-US" sz="1800" dirty="0" err="1">
                  <a:latin typeface="Calibri" charset="0"/>
                  <a:cs typeface="Calibri" charset="0"/>
                </a:rPr>
                <a:t>M</a:t>
              </a:r>
              <a:endParaRPr lang="en-US" sz="1800" dirty="0">
                <a:latin typeface="Calibri" charset="0"/>
                <a:cs typeface="Calibr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9453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20" y="499533"/>
            <a:ext cx="8079581" cy="816288"/>
          </a:xfrm>
        </p:spPr>
        <p:txBody>
          <a:bodyPr/>
          <a:lstStyle/>
          <a:p>
            <a:r>
              <a:rPr lang="en-US" dirty="0"/>
              <a:t>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4002" y="1430240"/>
            <a:ext cx="8313593" cy="4782721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200" i="1" dirty="0"/>
              <a:t>Anomalies are problems caused by poor database design.</a:t>
            </a:r>
          </a:p>
          <a:p>
            <a:pPr algn="just">
              <a:lnSpc>
                <a:spcPct val="110000"/>
              </a:lnSpc>
            </a:pPr>
            <a:endParaRPr lang="en-US" sz="2200" dirty="0"/>
          </a:p>
          <a:p>
            <a:pPr algn="just">
              <a:lnSpc>
                <a:spcPct val="110000"/>
              </a:lnSpc>
            </a:pPr>
            <a:r>
              <a:rPr lang="en-US" sz="2200" dirty="0"/>
              <a:t>An </a:t>
            </a:r>
            <a:r>
              <a:rPr lang="en-US" sz="2200" b="1" i="1" dirty="0"/>
              <a:t>update anomaly </a:t>
            </a:r>
            <a:r>
              <a:rPr lang="en-US" sz="2200" dirty="0"/>
              <a:t>occurs when one must make many changes to reflect the modification of a single piece of information.</a:t>
            </a:r>
          </a:p>
          <a:p>
            <a:pPr algn="just">
              <a:lnSpc>
                <a:spcPct val="110000"/>
              </a:lnSpc>
            </a:pPr>
            <a:r>
              <a:rPr lang="en-US" sz="2200" dirty="0"/>
              <a:t>A </a:t>
            </a:r>
            <a:r>
              <a:rPr lang="en-US" sz="2200" b="1" i="1" dirty="0"/>
              <a:t>deletion anomaly </a:t>
            </a:r>
            <a:r>
              <a:rPr lang="en-US" sz="2200" dirty="0"/>
              <a:t>occurs when data is deleted from a relation, and other critical data is unintentionally lost</a:t>
            </a:r>
          </a:p>
          <a:p>
            <a:pPr algn="just">
              <a:lnSpc>
                <a:spcPct val="110000"/>
              </a:lnSpc>
            </a:pPr>
            <a:r>
              <a:rPr lang="en-US" sz="2200" dirty="0"/>
              <a:t>An </a:t>
            </a:r>
            <a:r>
              <a:rPr lang="en-US" sz="2200" b="1" i="1" dirty="0"/>
              <a:t>insertion anomaly </a:t>
            </a:r>
            <a:r>
              <a:rPr lang="en-US" sz="2200" dirty="0"/>
              <a:t>occurs when a row cannot be added to a table, because not all data is available (or one has to invent “dummy” data)</a:t>
            </a:r>
          </a:p>
          <a:p>
            <a:pPr algn="just">
              <a:lnSpc>
                <a:spcPct val="110000"/>
              </a:lnSpc>
            </a:pPr>
            <a:endParaRPr lang="en-US" sz="2200" dirty="0"/>
          </a:p>
          <a:p>
            <a:pPr algn="just">
              <a:lnSpc>
                <a:spcPct val="110000"/>
              </a:lnSpc>
            </a:pP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8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479" y="373672"/>
            <a:ext cx="8079581" cy="747636"/>
          </a:xfrm>
        </p:spPr>
        <p:txBody>
          <a:bodyPr>
            <a:normAutofit/>
          </a:bodyPr>
          <a:lstStyle/>
          <a:p>
            <a:r>
              <a:rPr lang="en-US" dirty="0"/>
              <a:t>Normal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8663" y="1185333"/>
            <a:ext cx="8477577" cy="515349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2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r>
              <a:rPr lang="en-US" i="1" dirty="0"/>
              <a:t>Normal forms are rules that help prevent anomalies.</a:t>
            </a:r>
          </a:p>
          <a:p>
            <a:pPr marL="0" indent="0" algn="just">
              <a:lnSpc>
                <a:spcPct val="12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endParaRPr lang="en-US" b="1" u="sng" dirty="0"/>
          </a:p>
          <a:p>
            <a:pPr marL="0" indent="0" algn="just">
              <a:lnSpc>
                <a:spcPct val="12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r>
              <a:rPr lang="en-US" b="1" u="sng" dirty="0"/>
              <a:t>1NF:</a:t>
            </a:r>
            <a:r>
              <a:rPr lang="en-US" b="1" dirty="0"/>
              <a:t> </a:t>
            </a:r>
            <a:r>
              <a:rPr lang="en-US" dirty="0"/>
              <a:t>all tables’ attributes are atomic: no nested tables or </a:t>
            </a:r>
            <a:r>
              <a:rPr lang="en-US" dirty="0" err="1"/>
              <a:t>subtables</a:t>
            </a:r>
            <a:r>
              <a:rPr lang="en-US" dirty="0"/>
              <a:t>; no attribute should be a list of values; no repeating groups of attributes</a:t>
            </a:r>
          </a:p>
          <a:p>
            <a:pPr marL="0" lvl="1" indent="0" algn="just">
              <a:lnSpc>
                <a:spcPct val="12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r>
              <a:rPr lang="en-US" b="1" u="sng" dirty="0"/>
              <a:t>2NF: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1NF + </a:t>
            </a:r>
            <a:r>
              <a:rPr lang="en-US" dirty="0"/>
              <a:t>any non-key field cannot depend on part of the primary key</a:t>
            </a:r>
          </a:p>
          <a:p>
            <a:pPr marL="0" indent="0" algn="just">
              <a:lnSpc>
                <a:spcPct val="12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r>
              <a:rPr lang="en-US" b="1" u="sng" dirty="0"/>
              <a:t>3NF:</a:t>
            </a:r>
            <a:r>
              <a:rPr lang="en-US" b="1" dirty="0"/>
              <a:t>  </a:t>
            </a:r>
            <a:r>
              <a:rPr lang="en-US" dirty="0">
                <a:solidFill>
                  <a:srgbClr val="FF0000"/>
                </a:solidFill>
              </a:rPr>
              <a:t>2NF +</a:t>
            </a:r>
            <a:r>
              <a:rPr lang="en-US" dirty="0"/>
              <a:t> No non-key attribute is dependent on any other non-key attribute or composition of any non-key attributes, EXCEPT if the latter attribute(s) could have been used as an alternative key of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2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on normal forms and DB anomalies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3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028950" y="2019300"/>
          <a:ext cx="6134100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3" imgW="6134100" imgH="2819400" progId="Word.Document.12">
                  <p:embed/>
                </p:oleObj>
              </mc:Choice>
              <mc:Fallback>
                <p:oleObj name="Document" r:id="rId3" imgW="6134100" imgH="2819400" progId="Word.Documen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28950" y="2019300"/>
                        <a:ext cx="6134100" cy="281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609331" y="1000970"/>
          <a:ext cx="8941402" cy="410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5" imgW="6134100" imgH="2819400" progId="Word.Document.12">
                  <p:embed/>
                </p:oleObj>
              </mc:Choice>
              <mc:Fallback>
                <p:oleObj name="Document" r:id="rId5" imgW="6134100" imgH="2819400" progId="Word.Document.12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9331" y="1000970"/>
                        <a:ext cx="8941402" cy="4109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1752816" y="301370"/>
            <a:ext cx="8672069" cy="6463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Consider a car wash company that keeps records using a table similar to the following simplified table whose PK is “Trans #”: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Each record corresponds to a single car wash (transaction), and contains the following information: date of the transaction, license plate, license state, make and model of the car, customer code and customer name. The fields </a:t>
            </a:r>
            <a:r>
              <a:rPr lang="en-US" i="1" dirty="0" err="1"/>
              <a:t>AddOnCode</a:t>
            </a:r>
            <a:r>
              <a:rPr lang="en-US" dirty="0"/>
              <a:t>, </a:t>
            </a:r>
            <a:r>
              <a:rPr lang="en-US" i="1" dirty="0" err="1"/>
              <a:t>AddOnDescrip</a:t>
            </a:r>
            <a:r>
              <a:rPr lang="en-US" dirty="0"/>
              <a:t>, and </a:t>
            </a:r>
            <a:r>
              <a:rPr lang="en-US" i="1" dirty="0" err="1"/>
              <a:t>AddOnCharge</a:t>
            </a:r>
            <a:r>
              <a:rPr lang="en-US" dirty="0"/>
              <a:t> are allowed many rows for each transaction, each indicating which optional services were added to the basic wash operation. </a:t>
            </a:r>
          </a:p>
          <a:p>
            <a:pPr algn="just"/>
            <a:r>
              <a:rPr lang="en-US" dirty="0"/>
              <a:t>You may assume that the car wash always charges the same amount for each optional service.</a:t>
            </a:r>
          </a:p>
        </p:txBody>
      </p:sp>
    </p:spTree>
    <p:extLst>
      <p:ext uri="{BB962C8B-B14F-4D97-AF65-F5344CB8AC3E}">
        <p14:creationId xmlns:p14="http://schemas.microsoft.com/office/powerpoint/2010/main" val="1415150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1036" y="1787439"/>
            <a:ext cx="8065294" cy="3766185"/>
          </a:xfrm>
        </p:spPr>
        <p:txBody>
          <a:bodyPr/>
          <a:lstStyle/>
          <a:p>
            <a:r>
              <a:rPr lang="en-US" dirty="0"/>
              <a:t>1. Give examples of insertion, deletion and update anomalies.</a:t>
            </a:r>
          </a:p>
          <a:p>
            <a:endParaRPr lang="en-US" dirty="0"/>
          </a:p>
          <a:p>
            <a:r>
              <a:rPr lang="en-US" dirty="0"/>
              <a:t>2. Is the table in 1NF? 2NF? 3NF? Why?</a:t>
            </a:r>
          </a:p>
          <a:p>
            <a:endParaRPr lang="en-US" dirty="0"/>
          </a:p>
          <a:p>
            <a:r>
              <a:rPr lang="en-US" dirty="0"/>
              <a:t>3. Fix the table so that it is in 3NF.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9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993070" y="476649"/>
            <a:ext cx="8183516" cy="656101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508287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6870" y="1175657"/>
            <a:ext cx="8183517" cy="5595257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b="1" dirty="0"/>
              <a:t>Insertion anomaly: </a:t>
            </a:r>
            <a:r>
              <a:rPr lang="en-US" dirty="0"/>
              <a:t>it is not possible to insert information about a new add-on, unless there is a transaction with it.</a:t>
            </a:r>
            <a:endParaRPr lang="en-US" b="1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en-US" b="1" dirty="0"/>
              <a:t>Deletion anomaly: </a:t>
            </a:r>
            <a:r>
              <a:rPr lang="en-US" dirty="0"/>
              <a:t>if I delete a transaction I can potentially loose information about the existence of an add-on: e.g. since the add-on named Undercoat shows up only on transaction # T4708, if I delete it, I loose information about the existence of that add-on and its price.</a:t>
            </a:r>
            <a:endParaRPr lang="en-US" b="1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en-US" b="1" dirty="0"/>
              <a:t>Update anomaly: </a:t>
            </a:r>
            <a:r>
              <a:rPr lang="en-US" dirty="0"/>
              <a:t>if a customer changes name, that update may need to be done many times in the DB (as many as the number of transactions from that customer); if I need to update either the description of the add-on or the charge that will imply many updates to the database (as many as the number of transactions with that specific add-on).</a:t>
            </a:r>
            <a:endParaRPr lang="en-US" b="1" dirty="0"/>
          </a:p>
          <a:p>
            <a:pPr marL="0" indent="0" algn="just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916870" y="150567"/>
            <a:ext cx="8183516" cy="656101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 to 1.</a:t>
            </a:r>
          </a:p>
        </p:txBody>
      </p:sp>
    </p:spTree>
    <p:extLst>
      <p:ext uri="{BB962C8B-B14F-4D97-AF65-F5344CB8AC3E}">
        <p14:creationId xmlns:p14="http://schemas.microsoft.com/office/powerpoint/2010/main" val="3214745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6871" y="914400"/>
            <a:ext cx="8183516" cy="559525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2200" b="1" dirty="0"/>
              <a:t>1NF?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200" dirty="0"/>
              <a:t>No, because there is a table inside of a table.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200" b="1" dirty="0"/>
              <a:t>2NF?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200" dirty="0"/>
              <a:t>No, because it is not in 1NF.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200" b="1" dirty="0"/>
              <a:t>3NF?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200" dirty="0"/>
              <a:t>No, because it is not in 1NF and also because we have non-key attributes depending on other non-key attributes: “Customer Name” depends on “Customer Code”; Make and Model depend on (</a:t>
            </a:r>
            <a:r>
              <a:rPr lang="en-US" sz="2200" dirty="0" err="1"/>
              <a:t>LicensePlate</a:t>
            </a:r>
            <a:r>
              <a:rPr lang="en-US" sz="2200" dirty="0"/>
              <a:t>, </a:t>
            </a:r>
            <a:r>
              <a:rPr lang="en-US" sz="2200" dirty="0" err="1"/>
              <a:t>LicenseState</a:t>
            </a:r>
            <a:r>
              <a:rPr lang="en-US" sz="2200" dirty="0"/>
              <a:t>); “</a:t>
            </a:r>
            <a:r>
              <a:rPr lang="en-US" sz="2200" dirty="0" err="1"/>
              <a:t>AddOn</a:t>
            </a:r>
            <a:r>
              <a:rPr lang="en-US" sz="2200" dirty="0"/>
              <a:t> </a:t>
            </a:r>
            <a:r>
              <a:rPr lang="en-US" sz="2200" dirty="0" err="1"/>
              <a:t>Descrip</a:t>
            </a:r>
            <a:r>
              <a:rPr lang="en-US" sz="2200" dirty="0"/>
              <a:t>” and “</a:t>
            </a:r>
            <a:r>
              <a:rPr lang="en-US" sz="2200" dirty="0" err="1"/>
              <a:t>AddOn</a:t>
            </a:r>
            <a:r>
              <a:rPr lang="en-US" sz="2200" dirty="0"/>
              <a:t> Charge” </a:t>
            </a:r>
            <a:r>
              <a:rPr lang="en-US" sz="2200" dirty="0" err="1"/>
              <a:t>depende</a:t>
            </a:r>
            <a:r>
              <a:rPr lang="en-US" sz="2200" dirty="0"/>
              <a:t> on “</a:t>
            </a:r>
            <a:r>
              <a:rPr lang="en-US" sz="2200" dirty="0" err="1"/>
              <a:t>AddOn</a:t>
            </a:r>
            <a:r>
              <a:rPr lang="en-US" sz="2200" dirty="0"/>
              <a:t> Code”.</a:t>
            </a:r>
          </a:p>
          <a:p>
            <a:pPr algn="just">
              <a:lnSpc>
                <a:spcPct val="120000"/>
              </a:lnSpc>
            </a:pP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916870" y="150567"/>
            <a:ext cx="8183516" cy="656101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 to 2.</a:t>
            </a:r>
          </a:p>
        </p:txBody>
      </p:sp>
    </p:spTree>
    <p:extLst>
      <p:ext uri="{BB962C8B-B14F-4D97-AF65-F5344CB8AC3E}">
        <p14:creationId xmlns:p14="http://schemas.microsoft.com/office/powerpoint/2010/main" val="179115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916870" y="150567"/>
            <a:ext cx="8183516" cy="656101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 to 3. 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2075418" y="1305163"/>
            <a:ext cx="8024969" cy="1444619"/>
            <a:chOff x="551417" y="2393733"/>
            <a:chExt cx="8024969" cy="1444619"/>
          </a:xfrm>
        </p:grpSpPr>
        <p:grpSp>
          <p:nvGrpSpPr>
            <p:cNvPr id="5" name="Group 4"/>
            <p:cNvGrpSpPr/>
            <p:nvPr/>
          </p:nvGrpSpPr>
          <p:grpSpPr>
            <a:xfrm>
              <a:off x="551417" y="2393733"/>
              <a:ext cx="8024969" cy="1444619"/>
              <a:chOff x="887729" y="5270649"/>
              <a:chExt cx="11183791" cy="2589431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887729" y="5296872"/>
                <a:ext cx="11183791" cy="2563208"/>
                <a:chOff x="867846" y="2252304"/>
                <a:chExt cx="11183791" cy="2563208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884748" y="2334619"/>
                  <a:ext cx="1884912" cy="9727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5058899" y="2315182"/>
                  <a:ext cx="2025804" cy="9727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867846" y="2616899"/>
                  <a:ext cx="1917938" cy="60684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/>
                    <a:t>CUSTOMER</a:t>
                  </a:r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5073602" y="2580345"/>
                  <a:ext cx="2045751" cy="1048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/>
                    <a:t>TRANSACTIONS</a:t>
                  </a:r>
                </a:p>
              </p:txBody>
            </p:sp>
            <p:sp>
              <p:nvSpPr>
                <p:cNvPr id="13" name="Diamond 12"/>
                <p:cNvSpPr/>
                <p:nvPr/>
              </p:nvSpPr>
              <p:spPr>
                <a:xfrm rot="19382428">
                  <a:off x="5577596" y="3537728"/>
                  <a:ext cx="751257" cy="702420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" name="Straight Connector 13"/>
                <p:cNvCxnSpPr/>
                <p:nvPr/>
              </p:nvCxnSpPr>
              <p:spPr>
                <a:xfrm flipV="1">
                  <a:off x="6224140" y="3287949"/>
                  <a:ext cx="422034" cy="29549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TextBox 14"/>
                <p:cNvSpPr txBox="1"/>
                <p:nvPr/>
              </p:nvSpPr>
              <p:spPr>
                <a:xfrm>
                  <a:off x="5146633" y="4153497"/>
                  <a:ext cx="680443" cy="6620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6417554" y="3212866"/>
                  <a:ext cx="697257" cy="6620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M</a:t>
                  </a:r>
                </a:p>
              </p:txBody>
            </p:sp>
            <p:cxnSp>
              <p:nvCxnSpPr>
                <p:cNvPr id="17" name="Straight Connector 16"/>
                <p:cNvCxnSpPr>
                  <a:stCxn id="25" idx="3"/>
                  <a:endCxn id="13" idx="1"/>
                </p:cNvCxnSpPr>
                <p:nvPr/>
              </p:nvCxnSpPr>
              <p:spPr>
                <a:xfrm flipV="1">
                  <a:off x="5293403" y="4179420"/>
                  <a:ext cx="359672" cy="14268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Rectangle 17"/>
                <p:cNvSpPr/>
                <p:nvPr/>
              </p:nvSpPr>
              <p:spPr>
                <a:xfrm>
                  <a:off x="10166726" y="2334619"/>
                  <a:ext cx="1884911" cy="9727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10424015" y="2602041"/>
                  <a:ext cx="1476348" cy="60684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/>
                    <a:t>ADDON</a:t>
                  </a:r>
                </a:p>
              </p:txBody>
            </p:sp>
            <p:sp>
              <p:nvSpPr>
                <p:cNvPr id="20" name="Diamond 19"/>
                <p:cNvSpPr/>
                <p:nvPr/>
              </p:nvSpPr>
              <p:spPr>
                <a:xfrm>
                  <a:off x="7940240" y="2258511"/>
                  <a:ext cx="1381328" cy="1118540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9328267" y="2804529"/>
                  <a:ext cx="83559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TextBox 21"/>
                <p:cNvSpPr txBox="1"/>
                <p:nvPr/>
              </p:nvSpPr>
              <p:spPr>
                <a:xfrm>
                  <a:off x="7036421" y="2294536"/>
                  <a:ext cx="680443" cy="6620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M</a:t>
                  </a:r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9612980" y="2252304"/>
                  <a:ext cx="697257" cy="6620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M</a:t>
                  </a:r>
                </a:p>
              </p:txBody>
            </p: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7085192" y="2817762"/>
                  <a:ext cx="83559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Rectangle 7"/>
              <p:cNvSpPr/>
              <p:nvPr/>
            </p:nvSpPr>
            <p:spPr>
              <a:xfrm>
                <a:off x="7915442" y="5270649"/>
                <a:ext cx="1445386" cy="11347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ADDON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APPLIED</a:t>
                </a:r>
              </a:p>
            </p:txBody>
          </p:sp>
        </p:grpSp>
        <p:sp>
          <p:nvSpPr>
            <p:cNvPr id="25" name="Rectangle 24"/>
            <p:cNvSpPr/>
            <p:nvPr/>
          </p:nvSpPr>
          <p:spPr>
            <a:xfrm>
              <a:off x="2374466" y="3298883"/>
              <a:ext cx="1352525" cy="528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252521" y="3404200"/>
              <a:ext cx="1376223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CAR</a:t>
              </a:r>
            </a:p>
          </p:txBody>
        </p:sp>
        <p:sp>
          <p:nvSpPr>
            <p:cNvPr id="27" name="Diamond 26"/>
            <p:cNvSpPr/>
            <p:nvPr/>
          </p:nvSpPr>
          <p:spPr>
            <a:xfrm rot="943085">
              <a:off x="1332537" y="3143750"/>
              <a:ext cx="539067" cy="391874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>
              <a:stCxn id="27" idx="3"/>
            </p:cNvCxnSpPr>
            <p:nvPr/>
          </p:nvCxnSpPr>
          <p:spPr>
            <a:xfrm>
              <a:off x="1861525" y="3412705"/>
              <a:ext cx="491301" cy="1061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731059" y="2949195"/>
              <a:ext cx="4882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972050" y="3240188"/>
              <a:ext cx="50031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</a:t>
              </a:r>
            </a:p>
          </p:txBody>
        </p:sp>
        <p:cxnSp>
          <p:nvCxnSpPr>
            <p:cNvPr id="31" name="Straight Connector 30"/>
            <p:cNvCxnSpPr>
              <a:endCxn id="27" idx="1"/>
            </p:cNvCxnSpPr>
            <p:nvPr/>
          </p:nvCxnSpPr>
          <p:spPr>
            <a:xfrm>
              <a:off x="1027250" y="3035318"/>
              <a:ext cx="315366" cy="2313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Content Placeholder 2"/>
          <p:cNvSpPr txBox="1">
            <a:spLocks/>
          </p:cNvSpPr>
          <p:nvPr/>
        </p:nvSpPr>
        <p:spPr>
          <a:xfrm>
            <a:off x="1916870" y="1008923"/>
            <a:ext cx="8609615" cy="572031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dirty="0"/>
              <a:t>Assuming a car is always taken by the same person (the owner).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2000" dirty="0"/>
              <a:t>CAR (</a:t>
            </a:r>
            <a:r>
              <a:rPr lang="en-US" sz="2000" u="sng" dirty="0" err="1"/>
              <a:t>LicensePlate</a:t>
            </a:r>
            <a:r>
              <a:rPr lang="en-US" sz="2000" dirty="0"/>
              <a:t>, </a:t>
            </a:r>
            <a:r>
              <a:rPr lang="en-US" sz="2000" u="sng" dirty="0" err="1"/>
              <a:t>LicenseState</a:t>
            </a:r>
            <a:r>
              <a:rPr lang="en-US" sz="2000" dirty="0"/>
              <a:t>, Make, Model, </a:t>
            </a:r>
            <a:r>
              <a:rPr lang="en-US" sz="2000" dirty="0" err="1"/>
              <a:t>CustCode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 err="1"/>
              <a:t>CustCode</a:t>
            </a:r>
            <a:r>
              <a:rPr lang="en-US" sz="2000" dirty="0"/>
              <a:t> foreign key to CUSTOMER</a:t>
            </a:r>
          </a:p>
          <a:p>
            <a:pPr marL="0" indent="0">
              <a:buNone/>
            </a:pPr>
            <a:r>
              <a:rPr lang="en-US" sz="2000" dirty="0"/>
              <a:t>CUSTOMER (</a:t>
            </a:r>
            <a:r>
              <a:rPr lang="en-US" sz="2000" u="sng" dirty="0"/>
              <a:t>Code</a:t>
            </a:r>
            <a:r>
              <a:rPr lang="en-US" sz="2000" dirty="0"/>
              <a:t>, Name)</a:t>
            </a:r>
          </a:p>
          <a:p>
            <a:pPr marL="0" indent="0">
              <a:buNone/>
            </a:pPr>
            <a:r>
              <a:rPr lang="en-US" sz="2000" dirty="0"/>
              <a:t>ADDON (</a:t>
            </a:r>
            <a:r>
              <a:rPr lang="en-US" sz="2000" u="sng" dirty="0"/>
              <a:t>Code</a:t>
            </a:r>
            <a:r>
              <a:rPr lang="en-US" sz="2000" dirty="0"/>
              <a:t>, </a:t>
            </a:r>
            <a:r>
              <a:rPr lang="en-US" sz="2000" dirty="0" err="1"/>
              <a:t>Descrip</a:t>
            </a:r>
            <a:r>
              <a:rPr lang="en-US" sz="2000" dirty="0"/>
              <a:t>, Charge)</a:t>
            </a:r>
          </a:p>
          <a:p>
            <a:pPr marL="0" indent="0">
              <a:buNone/>
            </a:pPr>
            <a:r>
              <a:rPr lang="en-US" sz="2000" dirty="0"/>
              <a:t>TRANSACTION (</a:t>
            </a:r>
            <a:r>
              <a:rPr lang="en-US" sz="2000" u="sng" dirty="0"/>
              <a:t>Trans#</a:t>
            </a:r>
            <a:r>
              <a:rPr lang="en-US" sz="2000" dirty="0"/>
              <a:t>, Date, </a:t>
            </a:r>
            <a:r>
              <a:rPr lang="en-US" sz="2000" dirty="0" err="1"/>
              <a:t>CarLicPlate</a:t>
            </a:r>
            <a:r>
              <a:rPr lang="en-US" sz="2000" dirty="0"/>
              <a:t>, </a:t>
            </a:r>
            <a:r>
              <a:rPr lang="en-US" sz="2000" dirty="0" err="1"/>
              <a:t>CarLicState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	(</a:t>
            </a:r>
            <a:r>
              <a:rPr lang="en-US" sz="2000" dirty="0" err="1"/>
              <a:t>CarLicPlate</a:t>
            </a:r>
            <a:r>
              <a:rPr lang="en-US" sz="2000" dirty="0"/>
              <a:t>, </a:t>
            </a:r>
            <a:r>
              <a:rPr lang="en-US" sz="2000" dirty="0" err="1"/>
              <a:t>CarLicState</a:t>
            </a:r>
            <a:r>
              <a:rPr lang="en-US" sz="2000" dirty="0"/>
              <a:t>) foreign key to CAR</a:t>
            </a:r>
          </a:p>
          <a:p>
            <a:pPr marL="0" indent="0">
              <a:buNone/>
            </a:pPr>
            <a:r>
              <a:rPr lang="en-US" sz="2000" dirty="0"/>
              <a:t>ADDONAPPLIED (</a:t>
            </a:r>
            <a:r>
              <a:rPr lang="en-US" sz="2000" u="sng" dirty="0"/>
              <a:t>Trans#</a:t>
            </a:r>
            <a:r>
              <a:rPr lang="en-US" sz="2000" dirty="0"/>
              <a:t>, </a:t>
            </a:r>
            <a:r>
              <a:rPr lang="en-US" sz="2000" u="sng" dirty="0" err="1"/>
              <a:t>AddOnCode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	Trans# foreign key to TRANSACTION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AddOnCode</a:t>
            </a:r>
            <a:r>
              <a:rPr lang="en-US" sz="2000" dirty="0"/>
              <a:t> foreign key to ADDON</a:t>
            </a:r>
          </a:p>
        </p:txBody>
      </p:sp>
    </p:spTree>
    <p:extLst>
      <p:ext uri="{BB962C8B-B14F-4D97-AF65-F5344CB8AC3E}">
        <p14:creationId xmlns:p14="http://schemas.microsoft.com/office/powerpoint/2010/main" val="1622896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6871" y="914400"/>
            <a:ext cx="8609615" cy="57203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/>
              <a:t>Assuming a car can be taken by multiple people.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2000" dirty="0"/>
              <a:t>CAR (</a:t>
            </a:r>
            <a:r>
              <a:rPr lang="en-US" sz="2000" u="sng" dirty="0" err="1"/>
              <a:t>LicensePlate</a:t>
            </a:r>
            <a:r>
              <a:rPr lang="en-US" sz="2000" dirty="0"/>
              <a:t>, </a:t>
            </a:r>
            <a:r>
              <a:rPr lang="en-US" sz="2000" u="sng" dirty="0" err="1"/>
              <a:t>LicenseState</a:t>
            </a:r>
            <a:r>
              <a:rPr lang="en-US" sz="2000" dirty="0"/>
              <a:t>, Make, Model)</a:t>
            </a:r>
          </a:p>
          <a:p>
            <a:pPr marL="0" indent="0">
              <a:buNone/>
            </a:pPr>
            <a:r>
              <a:rPr lang="en-US" sz="2000" dirty="0"/>
              <a:t>CUSTOMER (</a:t>
            </a:r>
            <a:r>
              <a:rPr lang="en-US" sz="2000" u="sng" dirty="0"/>
              <a:t>Code</a:t>
            </a:r>
            <a:r>
              <a:rPr lang="en-US" sz="2000" dirty="0"/>
              <a:t>, Name)</a:t>
            </a:r>
          </a:p>
          <a:p>
            <a:pPr marL="0" indent="0">
              <a:buNone/>
            </a:pPr>
            <a:r>
              <a:rPr lang="en-US" sz="2000" dirty="0"/>
              <a:t>ADDON (</a:t>
            </a:r>
            <a:r>
              <a:rPr lang="en-US" sz="2000" u="sng" dirty="0"/>
              <a:t>Code</a:t>
            </a:r>
            <a:r>
              <a:rPr lang="en-US" sz="2000" dirty="0"/>
              <a:t>, </a:t>
            </a:r>
            <a:r>
              <a:rPr lang="en-US" sz="2000" dirty="0" err="1"/>
              <a:t>Descrip</a:t>
            </a:r>
            <a:r>
              <a:rPr lang="en-US" sz="2000" dirty="0"/>
              <a:t>, Charge)</a:t>
            </a:r>
          </a:p>
          <a:p>
            <a:pPr marL="0" indent="0">
              <a:buNone/>
            </a:pPr>
            <a:r>
              <a:rPr lang="en-US" sz="2000" dirty="0"/>
              <a:t>TRANSACTION (</a:t>
            </a:r>
            <a:r>
              <a:rPr lang="en-US" sz="2000" u="sng" dirty="0"/>
              <a:t>Trans#</a:t>
            </a:r>
            <a:r>
              <a:rPr lang="en-US" sz="2000" dirty="0"/>
              <a:t>, Date, </a:t>
            </a:r>
            <a:r>
              <a:rPr lang="en-US" sz="2000" dirty="0" err="1"/>
              <a:t>CarLicPlate</a:t>
            </a:r>
            <a:r>
              <a:rPr lang="en-US" sz="2000" dirty="0"/>
              <a:t>, </a:t>
            </a:r>
            <a:r>
              <a:rPr lang="en-US" sz="2000" dirty="0" err="1"/>
              <a:t>CarLicState</a:t>
            </a:r>
            <a:r>
              <a:rPr lang="en-US" sz="2000" dirty="0"/>
              <a:t>, </a:t>
            </a:r>
            <a:r>
              <a:rPr lang="en-US" sz="2000" dirty="0" err="1"/>
              <a:t>CustCode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	(</a:t>
            </a:r>
            <a:r>
              <a:rPr lang="en-US" sz="2000" dirty="0" err="1"/>
              <a:t>CarLicPlate</a:t>
            </a:r>
            <a:r>
              <a:rPr lang="en-US" sz="2000" dirty="0"/>
              <a:t>, </a:t>
            </a:r>
            <a:r>
              <a:rPr lang="en-US" sz="2000" dirty="0" err="1"/>
              <a:t>CarLicState</a:t>
            </a:r>
            <a:r>
              <a:rPr lang="en-US" sz="2000" dirty="0"/>
              <a:t>) foreign key to CAR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CustCode</a:t>
            </a:r>
            <a:r>
              <a:rPr lang="en-US" sz="2000" dirty="0"/>
              <a:t> foreign key to CUSTOMER</a:t>
            </a:r>
          </a:p>
          <a:p>
            <a:pPr marL="0" indent="0">
              <a:buNone/>
            </a:pPr>
            <a:r>
              <a:rPr lang="en-US" sz="2000" dirty="0"/>
              <a:t>ADDONAPPLIED (</a:t>
            </a:r>
            <a:r>
              <a:rPr lang="en-US" sz="2000" u="sng" dirty="0"/>
              <a:t>Trans#</a:t>
            </a:r>
            <a:r>
              <a:rPr lang="en-US" sz="2000" dirty="0"/>
              <a:t>, </a:t>
            </a:r>
            <a:r>
              <a:rPr lang="en-US" sz="2000" u="sng" dirty="0" err="1"/>
              <a:t>AddOnCode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	Trans# foreign key to TRANSACTION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AddOnCode</a:t>
            </a:r>
            <a:r>
              <a:rPr lang="en-US" sz="2000" dirty="0"/>
              <a:t> foreign key to ADDON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916870" y="150567"/>
            <a:ext cx="8183516" cy="656101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 to 3. – another option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1996144" y="1438965"/>
            <a:ext cx="8024969" cy="1443431"/>
            <a:chOff x="710784" y="5281621"/>
            <a:chExt cx="8024969" cy="1443431"/>
          </a:xfrm>
        </p:grpSpPr>
        <p:grpSp>
          <p:nvGrpSpPr>
            <p:cNvPr id="5" name="Group 4"/>
            <p:cNvGrpSpPr/>
            <p:nvPr/>
          </p:nvGrpSpPr>
          <p:grpSpPr>
            <a:xfrm>
              <a:off x="710784" y="5281621"/>
              <a:ext cx="8024969" cy="782416"/>
              <a:chOff x="887729" y="5270649"/>
              <a:chExt cx="11183791" cy="1402455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887729" y="5296872"/>
                <a:ext cx="11183791" cy="1376232"/>
                <a:chOff x="867846" y="2252304"/>
                <a:chExt cx="11183791" cy="1376232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884748" y="2334619"/>
                  <a:ext cx="1884912" cy="9727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5058899" y="2315182"/>
                  <a:ext cx="2025804" cy="9727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867846" y="2616899"/>
                  <a:ext cx="1917938" cy="60684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/>
                    <a:t>CUSTOMER</a:t>
                  </a:r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5073602" y="2580345"/>
                  <a:ext cx="2045751" cy="10481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/>
                    <a:t>TRANSACTIONS</a:t>
                  </a:r>
                </a:p>
              </p:txBody>
            </p:sp>
            <p:sp>
              <p:nvSpPr>
                <p:cNvPr id="13" name="Diamond 12"/>
                <p:cNvSpPr/>
                <p:nvPr/>
              </p:nvSpPr>
              <p:spPr>
                <a:xfrm>
                  <a:off x="3639575" y="2453318"/>
                  <a:ext cx="751257" cy="702420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" name="Straight Connector 13"/>
                <p:cNvCxnSpPr>
                  <a:endCxn id="10" idx="1"/>
                </p:cNvCxnSpPr>
                <p:nvPr/>
              </p:nvCxnSpPr>
              <p:spPr>
                <a:xfrm>
                  <a:off x="4350947" y="2801566"/>
                  <a:ext cx="70795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TextBox 14"/>
                <p:cNvSpPr txBox="1"/>
                <p:nvPr/>
              </p:nvSpPr>
              <p:spPr>
                <a:xfrm>
                  <a:off x="2697891" y="2300100"/>
                  <a:ext cx="680443" cy="6620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4536415" y="2294536"/>
                  <a:ext cx="697257" cy="6620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M</a:t>
                  </a:r>
                </a:p>
              </p:txBody>
            </p:sp>
            <p:cxnSp>
              <p:nvCxnSpPr>
                <p:cNvPr id="17" name="Straight Connector 16"/>
                <p:cNvCxnSpPr/>
                <p:nvPr/>
              </p:nvCxnSpPr>
              <p:spPr>
                <a:xfrm>
                  <a:off x="2786273" y="2801547"/>
                  <a:ext cx="83559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Rectangle 17"/>
                <p:cNvSpPr/>
                <p:nvPr/>
              </p:nvSpPr>
              <p:spPr>
                <a:xfrm>
                  <a:off x="10166726" y="2334619"/>
                  <a:ext cx="1884911" cy="9727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10424015" y="2602041"/>
                  <a:ext cx="1476348" cy="60684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/>
                    <a:t>ADDON</a:t>
                  </a:r>
                </a:p>
              </p:txBody>
            </p:sp>
            <p:sp>
              <p:nvSpPr>
                <p:cNvPr id="20" name="Diamond 19"/>
                <p:cNvSpPr/>
                <p:nvPr/>
              </p:nvSpPr>
              <p:spPr>
                <a:xfrm>
                  <a:off x="7940240" y="2258511"/>
                  <a:ext cx="1381328" cy="1118540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9328267" y="2804529"/>
                  <a:ext cx="83559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TextBox 21"/>
                <p:cNvSpPr txBox="1"/>
                <p:nvPr/>
              </p:nvSpPr>
              <p:spPr>
                <a:xfrm>
                  <a:off x="7036421" y="2294536"/>
                  <a:ext cx="680443" cy="6620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M</a:t>
                  </a:r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9612980" y="2252304"/>
                  <a:ext cx="697257" cy="6620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M</a:t>
                  </a:r>
                </a:p>
              </p:txBody>
            </p: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7085192" y="2817762"/>
                  <a:ext cx="83559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Rectangle 7"/>
              <p:cNvSpPr/>
              <p:nvPr/>
            </p:nvSpPr>
            <p:spPr>
              <a:xfrm>
                <a:off x="7915442" y="5270649"/>
                <a:ext cx="1445386" cy="11347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ADDON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APPLIED</a:t>
                </a:r>
              </a:p>
            </p:txBody>
          </p:sp>
        </p:grpSp>
        <p:sp>
          <p:nvSpPr>
            <p:cNvPr id="25" name="Rectangle 24"/>
            <p:cNvSpPr/>
            <p:nvPr/>
          </p:nvSpPr>
          <p:spPr>
            <a:xfrm>
              <a:off x="1625723" y="6196652"/>
              <a:ext cx="1352525" cy="528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602025" y="6294749"/>
              <a:ext cx="1376223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CAR</a:t>
              </a:r>
            </a:p>
          </p:txBody>
        </p:sp>
        <p:sp>
          <p:nvSpPr>
            <p:cNvPr id="27" name="Diamond 26"/>
            <p:cNvSpPr/>
            <p:nvPr/>
          </p:nvSpPr>
          <p:spPr>
            <a:xfrm rot="20582695">
              <a:off x="3518580" y="6109401"/>
              <a:ext cx="539067" cy="391874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/>
            <p:nvPr/>
          </p:nvCxnSpPr>
          <p:spPr>
            <a:xfrm flipV="1">
              <a:off x="4056096" y="5891363"/>
              <a:ext cx="641581" cy="3356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 rot="20582695">
              <a:off x="2884397" y="6102507"/>
              <a:ext cx="4882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 rot="20582695">
              <a:off x="4001146" y="5727885"/>
              <a:ext cx="50031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</a:t>
              </a:r>
            </a:p>
          </p:txBody>
        </p:sp>
        <p:cxnSp>
          <p:nvCxnSpPr>
            <p:cNvPr id="31" name="Straight Connector 30"/>
            <p:cNvCxnSpPr/>
            <p:nvPr/>
          </p:nvCxnSpPr>
          <p:spPr>
            <a:xfrm rot="20582695">
              <a:off x="2961188" y="6466347"/>
              <a:ext cx="5995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2401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1032</Words>
  <Application>Microsoft Office PowerPoint</Application>
  <PresentationFormat>Widescreen</PresentationFormat>
  <Paragraphs>148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Document</vt:lpstr>
      <vt:lpstr>Review for midterm</vt:lpstr>
      <vt:lpstr>One-to-many relationship</vt:lpstr>
      <vt:lpstr>Subtypes</vt:lpstr>
      <vt:lpstr>many-to-many relationship</vt:lpstr>
      <vt:lpstr>Anomalies</vt:lpstr>
      <vt:lpstr>Normal forms</vt:lpstr>
      <vt:lpstr>Review on normal forms and DB anomalies</vt:lpstr>
      <vt:lpstr>PowerPoint Presentation</vt:lpstr>
      <vt:lpstr>Questions</vt:lpstr>
      <vt:lpstr>Solution to 1.</vt:lpstr>
      <vt:lpstr>Solution to 2.</vt:lpstr>
      <vt:lpstr>Solution to 3. </vt:lpstr>
      <vt:lpstr>Solution to 3. – another option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for midterm</dc:title>
  <dc:creator>Disha Parkhi</dc:creator>
  <cp:lastModifiedBy>Disha Parkhi</cp:lastModifiedBy>
  <cp:revision>1</cp:revision>
  <dcterms:created xsi:type="dcterms:W3CDTF">2020-08-22T21:18:29Z</dcterms:created>
  <dcterms:modified xsi:type="dcterms:W3CDTF">2020-10-30T16:43:30Z</dcterms:modified>
</cp:coreProperties>
</file>