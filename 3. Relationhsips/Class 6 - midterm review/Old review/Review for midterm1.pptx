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7" r:id="rId3"/>
    <p:sldId id="268" r:id="rId4"/>
    <p:sldId id="269" r:id="rId5"/>
    <p:sldId id="265" r:id="rId6"/>
    <p:sldId id="266" r:id="rId7"/>
    <p:sldId id="262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892008D-43F3-4264-941F-487151B80BC1}">
          <p14:sldIdLst>
            <p14:sldId id="257"/>
            <p14:sldId id="267"/>
            <p14:sldId id="268"/>
            <p14:sldId id="269"/>
            <p14:sldId id="265"/>
            <p14:sldId id="266"/>
            <p14:sldId id="262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81C32-F28B-4703-AAB1-6514D25A2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DF6612-3944-4139-9F43-1B780C892C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D519C-0A58-4873-BCD8-87CCF3231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075F7-ACB4-4E89-A2EF-1D02D9AD6890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A3C6D-11D8-47C2-A209-E2D61F434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FDD89-7FA1-4313-9867-B2D776030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ED0B-D7E1-404C-A513-682C3F293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432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E90F2-E9EC-4C4F-891D-5999899BF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7527C-DF2E-40F0-BE19-535754C4E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24228-5479-4D6C-9E73-AB228C4BC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075F7-ACB4-4E89-A2EF-1D02D9AD6890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D4C36-02CB-44F6-BA73-82D5374ED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6AA53-B187-4AD4-AC4C-78B418AF7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ED0B-D7E1-404C-A513-682C3F293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864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65DC6-4DA3-40AE-A1E0-CDF8665A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79F14F-5753-46C6-B754-26FE2612C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0F113-9B19-42E4-9975-20416ED5C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075F7-ACB4-4E89-A2EF-1D02D9AD6890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BE746-C259-4EE8-8857-7F10C43D2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05676-930F-42B3-B4B8-8C807527A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ED0B-D7E1-404C-A513-682C3F293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662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F876-3BE5-42A9-A904-07434A015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F3E42-118E-4A1C-ADA1-2DBC955F0E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3FDFA8-0808-4FA5-B347-7B228F921C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84CA1-7E2A-42CC-8D57-B5902DE1B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075F7-ACB4-4E89-A2EF-1D02D9AD6890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7FB195-5772-41CC-BBA7-C6144CA98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494C6-1CB5-4BC3-99BA-8CF3142D0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ED0B-D7E1-404C-A513-682C3F293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88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9C37C-28F2-48B8-B8FA-C3C1AAA44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8E69A-8EF2-4655-B720-C72DCE743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4AFAAF-648F-4DBE-8C00-AB69CDAC6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A660D2-1166-4A84-B25C-997D91E063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39D10E-8962-4D8A-9645-6B3AD23F5A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72FA1A-01C8-4337-B859-4FDD6BA68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075F7-ACB4-4E89-A2EF-1D02D9AD6890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E39C95-0A31-46BA-9F8B-5392359B2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0C3DA8-9D42-4645-B335-22D3854F5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ED0B-D7E1-404C-A513-682C3F293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959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2822C-19F2-4604-8F28-7800DC6A8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9AA1A6-6CC6-4444-9BFA-397488E6B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075F7-ACB4-4E89-A2EF-1D02D9AD6890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7E86DA-C866-4678-B245-0D5322663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86D528-568E-4031-A056-E03944BE7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ED0B-D7E1-404C-A513-682C3F293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125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38AF38-F6AB-49CD-89B0-08736D366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075F7-ACB4-4E89-A2EF-1D02D9AD6890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EE3EE5-E5FD-497A-A6AF-D529F5173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615FB-60E8-4EA7-8232-0F6FC9498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ED0B-D7E1-404C-A513-682C3F293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142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B14C4-2A88-4A73-B68D-571C4B943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FBC73-90EB-44EC-837F-F02C2FDEA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CC92EB-9119-4F3B-A7F4-DB7DB9B87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174AD-D7A9-456F-89AC-E5BD7895B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075F7-ACB4-4E89-A2EF-1D02D9AD6890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4F995-DE67-4F59-A1C0-B912CFFB3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F9B241-F228-42F0-B75B-32C4A8B49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ED0B-D7E1-404C-A513-682C3F293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442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84329-C5AA-4357-ADFA-D8E9F3AD5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2E0801-3D14-4E9E-9E96-2D6D27968A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360AEB-407D-426A-8A7E-06BC79BCA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44687-9C80-4828-AF29-5274A4947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075F7-ACB4-4E89-A2EF-1D02D9AD6890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C8EA5-2005-4D7E-A194-A40C494B7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59E98-355E-40C3-A2AE-261BD9835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ED0B-D7E1-404C-A513-682C3F293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924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3341A-9B3C-4E2A-872F-E09FF4645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34168A-027F-496A-BA6E-C47B7E3D9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0C719-2616-4737-A7E8-14BBA809C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075F7-ACB4-4E89-A2EF-1D02D9AD6890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7B51C-8194-41B2-A871-83E79EEA7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0F1FF-EBF8-4D2D-B1FB-D2B41E9C2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ED0B-D7E1-404C-A513-682C3F293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156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09905B-3D69-4BD3-964F-C823AF641D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A2AD4E-9814-4818-9D37-017597907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A0AF2-11BD-4044-82F7-3CCCA1490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075F7-ACB4-4E89-A2EF-1D02D9AD6890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9B66-A4EC-44FF-BB97-236C34DC5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6B384-A260-4BC8-97A0-60797AFE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6ED0B-D7E1-404C-A513-682C3F293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068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721D45-B6F3-43EC-81A6-A78832DEF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B0A2B-D659-4E7F-B0CF-6B4EECB22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A3354-CBD3-4A4E-AFE8-9A5AB5AD0F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2075F7-ACB4-4E89-A2EF-1D02D9AD6890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B31DA-D7E8-4037-98C5-830E17D1E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E7042-9100-4100-9937-4082F8615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46ED0B-D7E1-404C-A513-682C3F293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903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package" Target="../embeddings/Microsoft_Word_Document1.docx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Review for midterm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4635" y="4198409"/>
            <a:ext cx="8038719" cy="1645920"/>
          </a:xfrm>
        </p:spPr>
        <p:txBody>
          <a:bodyPr>
            <a:normAutofit/>
          </a:bodyPr>
          <a:lstStyle/>
          <a:p>
            <a:endParaRPr lang="en-US" b="1" dirty="0"/>
          </a:p>
          <a:p>
            <a:r>
              <a:rPr lang="en-US" b="1" dirty="0"/>
              <a:t>Management Information Systems</a:t>
            </a:r>
          </a:p>
          <a:p>
            <a:r>
              <a:rPr lang="en-US" sz="2000" dirty="0"/>
              <a:t>Disha Parkhi</a:t>
            </a:r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54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920" y="499533"/>
            <a:ext cx="8079581" cy="816288"/>
          </a:xfrm>
        </p:spPr>
        <p:txBody>
          <a:bodyPr/>
          <a:lstStyle/>
          <a:p>
            <a:r>
              <a:rPr lang="en-US" dirty="0"/>
              <a:t>One-to-many 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7223" y="2210789"/>
            <a:ext cx="8408932" cy="4013614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None/>
              <a:defRPr/>
            </a:pPr>
            <a:endParaRPr lang="en-US" dirty="0">
              <a:latin typeface="Calibri" charset="0"/>
              <a:cs typeface="Calibri" charset="0"/>
            </a:endParaRPr>
          </a:p>
          <a:p>
            <a:pPr marL="285750" indent="-28575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Arial"/>
              <a:buChar char="•"/>
              <a:defRPr/>
            </a:pPr>
            <a:r>
              <a:rPr lang="en-US" dirty="0">
                <a:latin typeface="Calibri" charset="0"/>
                <a:cs typeface="Calibri" charset="0"/>
              </a:rPr>
              <a:t>Each record of table A corresponds to 0, 1, 2,</a:t>
            </a:r>
            <a:r>
              <a:rPr lang="is-IS" dirty="0">
                <a:latin typeface="Calibri" charset="0"/>
                <a:cs typeface="Calibri" charset="0"/>
              </a:rPr>
              <a:t>….(many) records of table B</a:t>
            </a:r>
          </a:p>
          <a:p>
            <a:pPr marL="285750" indent="-28575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Arial"/>
              <a:buChar char="•"/>
              <a:defRPr/>
            </a:pPr>
            <a:r>
              <a:rPr lang="en-US" dirty="0">
                <a:latin typeface="Calibri" charset="0"/>
                <a:cs typeface="Calibri" charset="0"/>
              </a:rPr>
              <a:t>Each</a:t>
            </a:r>
            <a:r>
              <a:rPr lang="is-IS" dirty="0">
                <a:latin typeface="Calibri" charset="0"/>
                <a:cs typeface="Calibri" charset="0"/>
              </a:rPr>
              <a:t> record of table B corresponds to 0 or 1 record of table A</a:t>
            </a:r>
          </a:p>
          <a:p>
            <a:pPr marL="285750" indent="-28575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Arial"/>
              <a:buChar char="•"/>
              <a:defRPr/>
            </a:pPr>
            <a:endParaRPr lang="is-IS" dirty="0">
              <a:latin typeface="Calibri" charset="0"/>
              <a:cs typeface="Calibri" charset="0"/>
            </a:endParaRPr>
          </a:p>
          <a:p>
            <a:pPr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dirty="0">
                <a:latin typeface="Calibri" charset="0"/>
                <a:cs typeface="Calibri" charset="0"/>
              </a:rPr>
              <a:t>To create this relationship we put the primary key of A as a foreign key in table B (the foreign key is always in </a:t>
            </a:r>
            <a:r>
              <a:rPr lang="ja-JP" altLang="en-US" dirty="0">
                <a:latin typeface="Calibri" charset="0"/>
                <a:cs typeface="Calibri" charset="0"/>
              </a:rPr>
              <a:t>“</a:t>
            </a:r>
            <a:r>
              <a:rPr lang="en-US" altLang="ja-JP" dirty="0">
                <a:latin typeface="Calibri" charset="0"/>
                <a:cs typeface="Calibri" charset="0"/>
              </a:rPr>
              <a:t>the many</a:t>
            </a:r>
            <a:r>
              <a:rPr lang="ja-JP" altLang="en-US" dirty="0">
                <a:latin typeface="Calibri" charset="0"/>
                <a:cs typeface="Calibri" charset="0"/>
              </a:rPr>
              <a:t>”</a:t>
            </a:r>
            <a:r>
              <a:rPr lang="en-US" altLang="ja-JP" dirty="0">
                <a:latin typeface="Calibri" charset="0"/>
                <a:cs typeface="Calibri" charset="0"/>
              </a:rPr>
              <a:t> table).</a:t>
            </a:r>
          </a:p>
          <a:p>
            <a:pPr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altLang="ja-JP" dirty="0">
                <a:latin typeface="Calibri" charset="0"/>
                <a:cs typeface="Calibri" charset="0"/>
              </a:rPr>
              <a:t>The foreign key may be left empty (null), in which case it means that the record of B corresponds to 0 records of A.</a:t>
            </a:r>
            <a:endParaRPr lang="en-US" dirty="0">
              <a:latin typeface="Calibri" charset="0"/>
              <a:cs typeface="Calibri" charset="0"/>
            </a:endParaRPr>
          </a:p>
          <a:p>
            <a:pPr>
              <a:lnSpc>
                <a:spcPct val="11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2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4218624" y="1618862"/>
            <a:ext cx="3352800" cy="593725"/>
            <a:chOff x="1676400" y="1687513"/>
            <a:chExt cx="3352800" cy="593725"/>
          </a:xfrm>
        </p:grpSpPr>
        <p:sp>
          <p:nvSpPr>
            <p:cNvPr id="6" name="TextBox 5"/>
            <p:cNvSpPr txBox="1"/>
            <p:nvPr/>
          </p:nvSpPr>
          <p:spPr>
            <a:xfrm>
              <a:off x="1676400" y="1824038"/>
              <a:ext cx="685800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Calibri"/>
                  <a:cs typeface="Calibri"/>
                </a:rPr>
                <a:t>A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343400" y="1824038"/>
              <a:ext cx="685800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Calibri"/>
                  <a:cs typeface="Calibri"/>
                </a:rPr>
                <a:t>B</a:t>
              </a:r>
            </a:p>
          </p:txBody>
        </p:sp>
        <p:cxnSp>
          <p:nvCxnSpPr>
            <p:cNvPr id="8" name="Straight Connector 3"/>
            <p:cNvCxnSpPr>
              <a:cxnSpLocks noChangeShapeType="1"/>
            </p:cNvCxnSpPr>
            <p:nvPr/>
          </p:nvCxnSpPr>
          <p:spPr bwMode="auto">
            <a:xfrm>
              <a:off x="2362200" y="2052638"/>
              <a:ext cx="1981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9" name="Diamond 8"/>
            <p:cNvSpPr/>
            <p:nvPr/>
          </p:nvSpPr>
          <p:spPr bwMode="auto">
            <a:xfrm>
              <a:off x="3124200" y="1824038"/>
              <a:ext cx="533400" cy="457200"/>
            </a:xfrm>
            <a:prstGeom prst="diamond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US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10" name="TextBox 7"/>
            <p:cNvSpPr txBox="1">
              <a:spLocks noChangeArrowheads="1"/>
            </p:cNvSpPr>
            <p:nvPr/>
          </p:nvSpPr>
          <p:spPr bwMode="auto">
            <a:xfrm>
              <a:off x="2362200" y="1687513"/>
              <a:ext cx="20574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r>
                <a:rPr lang="en-US" sz="1800" dirty="0">
                  <a:latin typeface="Calibri" charset="0"/>
                  <a:cs typeface="Calibri" charset="0"/>
                </a:rPr>
                <a:t>1                             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6015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920" y="499534"/>
            <a:ext cx="8079581" cy="930707"/>
          </a:xfrm>
        </p:spPr>
        <p:txBody>
          <a:bodyPr/>
          <a:lstStyle/>
          <a:p>
            <a:r>
              <a:rPr lang="en-US" dirty="0"/>
              <a:t>Subtypes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206" y="2665968"/>
            <a:ext cx="8065294" cy="3093611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None/>
              <a:defRPr/>
            </a:pPr>
            <a:endParaRPr lang="en-US" dirty="0">
              <a:latin typeface="Calibri" charset="0"/>
              <a:cs typeface="Calibri" charset="0"/>
            </a:endParaRPr>
          </a:p>
          <a:p>
            <a:pPr marL="285750" indent="-28575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Arial"/>
              <a:buChar char="•"/>
              <a:defRPr/>
            </a:pPr>
            <a:r>
              <a:rPr lang="en-US" dirty="0">
                <a:latin typeface="Calibri" charset="0"/>
                <a:cs typeface="Calibri" charset="0"/>
              </a:rPr>
              <a:t>Each record of table A corresponds to 0 or 1 </a:t>
            </a:r>
            <a:r>
              <a:rPr lang="is-IS" dirty="0">
                <a:latin typeface="Calibri" charset="0"/>
                <a:cs typeface="Calibri" charset="0"/>
              </a:rPr>
              <a:t>record of table B</a:t>
            </a:r>
          </a:p>
          <a:p>
            <a:pPr marL="285750" indent="-28575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Arial"/>
              <a:buChar char="•"/>
              <a:defRPr/>
            </a:pPr>
            <a:r>
              <a:rPr lang="en-US" dirty="0">
                <a:latin typeface="Calibri" charset="0"/>
                <a:cs typeface="Calibri" charset="0"/>
              </a:rPr>
              <a:t>Each</a:t>
            </a:r>
            <a:r>
              <a:rPr lang="is-IS" dirty="0">
                <a:latin typeface="Calibri" charset="0"/>
                <a:cs typeface="Calibri" charset="0"/>
              </a:rPr>
              <a:t> record of table B corresponds to 1 record of table A</a:t>
            </a:r>
            <a:endParaRPr lang="en-US" dirty="0">
              <a:latin typeface="Calibri" charset="0"/>
              <a:cs typeface="Calibri" charset="0"/>
            </a:endParaRPr>
          </a:p>
          <a:p>
            <a:pPr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defRPr/>
            </a:pPr>
            <a:endParaRPr lang="en-US" dirty="0">
              <a:latin typeface="Calibri" charset="0"/>
              <a:cs typeface="Calibri" charset="0"/>
            </a:endParaRPr>
          </a:p>
          <a:p>
            <a:pPr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dirty="0">
                <a:latin typeface="Calibri" charset="0"/>
                <a:cs typeface="Calibri" charset="0"/>
              </a:rPr>
              <a:t>To create this relationship we put the primary key of A as a foreign key in table B and also as its primary key (this ensures that to each record of B corresponds a single record of A</a:t>
            </a:r>
            <a:r>
              <a:rPr lang="en-US" altLang="ja-JP" dirty="0">
                <a:latin typeface="Calibri" charset="0"/>
                <a:cs typeface="Calibri" charset="0"/>
              </a:rPr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3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4275829" y="1710965"/>
            <a:ext cx="3352800" cy="505857"/>
            <a:chOff x="1676400" y="1447800"/>
            <a:chExt cx="3352800" cy="505857"/>
          </a:xfrm>
        </p:grpSpPr>
        <p:sp>
          <p:nvSpPr>
            <p:cNvPr id="6" name="TextBox 5"/>
            <p:cNvSpPr txBox="1"/>
            <p:nvPr/>
          </p:nvSpPr>
          <p:spPr>
            <a:xfrm>
              <a:off x="1676400" y="1584325"/>
              <a:ext cx="685800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Calibri"/>
                  <a:cs typeface="Calibri"/>
                </a:rPr>
                <a:t>A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343400" y="1584325"/>
              <a:ext cx="685800" cy="369332"/>
            </a:xfrm>
            <a:prstGeom prst="rect">
              <a:avLst/>
            </a:prstGeom>
            <a:ln w="63500" cmpd="dbl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Calibri"/>
                  <a:cs typeface="Calibri"/>
                </a:rPr>
                <a:t>B</a:t>
              </a:r>
            </a:p>
          </p:txBody>
        </p:sp>
        <p:cxnSp>
          <p:nvCxnSpPr>
            <p:cNvPr id="8" name="Straight Connector 3"/>
            <p:cNvCxnSpPr>
              <a:cxnSpLocks noChangeShapeType="1"/>
            </p:cNvCxnSpPr>
            <p:nvPr/>
          </p:nvCxnSpPr>
          <p:spPr bwMode="auto">
            <a:xfrm>
              <a:off x="2362200" y="1812925"/>
              <a:ext cx="1981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9" name="TextBox 7"/>
            <p:cNvSpPr txBox="1">
              <a:spLocks noChangeArrowheads="1"/>
            </p:cNvSpPr>
            <p:nvPr/>
          </p:nvSpPr>
          <p:spPr bwMode="auto">
            <a:xfrm>
              <a:off x="2362200" y="1447800"/>
              <a:ext cx="20574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r>
                <a:rPr lang="en-US" sz="1800">
                  <a:latin typeface="Calibri" charset="0"/>
                  <a:cs typeface="Calibri" charset="0"/>
                </a:rPr>
                <a:t>1                         0 /1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914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920" y="442324"/>
            <a:ext cx="8079581" cy="976475"/>
          </a:xfrm>
        </p:spPr>
        <p:txBody>
          <a:bodyPr/>
          <a:lstStyle/>
          <a:p>
            <a:r>
              <a:rPr lang="en-US" dirty="0"/>
              <a:t>many-to-many 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6798" y="2620200"/>
            <a:ext cx="8393679" cy="3459753"/>
          </a:xfrm>
        </p:spPr>
        <p:txBody>
          <a:bodyPr>
            <a:normAutofit/>
          </a:bodyPr>
          <a:lstStyle/>
          <a:p>
            <a:pPr marL="285750" indent="-28575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Arial"/>
              <a:buChar char="•"/>
              <a:defRPr/>
            </a:pPr>
            <a:r>
              <a:rPr lang="en-US" sz="2000" dirty="0">
                <a:latin typeface="Calibri" charset="0"/>
                <a:cs typeface="Calibri" charset="0"/>
              </a:rPr>
              <a:t>Each</a:t>
            </a:r>
            <a:r>
              <a:rPr lang="en-US" sz="2200" dirty="0">
                <a:latin typeface="Calibri" charset="0"/>
                <a:cs typeface="Calibri" charset="0"/>
              </a:rPr>
              <a:t> record of table A corresponds to 0, 1, 2, </a:t>
            </a:r>
            <a:r>
              <a:rPr lang="is-IS" sz="2200" dirty="0">
                <a:latin typeface="Calibri" charset="0"/>
                <a:cs typeface="Calibri" charset="0"/>
              </a:rPr>
              <a:t>… records of table B</a:t>
            </a:r>
          </a:p>
          <a:p>
            <a:pPr marL="285750" indent="-28575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Arial"/>
              <a:buChar char="•"/>
              <a:defRPr/>
            </a:pPr>
            <a:r>
              <a:rPr lang="en-US" sz="2000" dirty="0">
                <a:latin typeface="Calibri" charset="0"/>
                <a:cs typeface="Calibri" charset="0"/>
              </a:rPr>
              <a:t>Each</a:t>
            </a:r>
            <a:r>
              <a:rPr lang="is-IS" sz="2200" dirty="0">
                <a:latin typeface="Calibri" charset="0"/>
                <a:cs typeface="Calibri" charset="0"/>
              </a:rPr>
              <a:t> record of table B corresponds to </a:t>
            </a:r>
            <a:r>
              <a:rPr lang="en-US" sz="2200" dirty="0">
                <a:latin typeface="Calibri" charset="0"/>
                <a:cs typeface="Calibri" charset="0"/>
              </a:rPr>
              <a:t>0, 1, 2, </a:t>
            </a:r>
            <a:r>
              <a:rPr lang="is-IS" sz="2200" dirty="0">
                <a:latin typeface="Calibri" charset="0"/>
                <a:cs typeface="Calibri" charset="0"/>
              </a:rPr>
              <a:t>… records of table A</a:t>
            </a:r>
            <a:endParaRPr lang="en-US" sz="2200" dirty="0">
              <a:latin typeface="Calibri" charset="0"/>
              <a:cs typeface="Calibri" charset="0"/>
            </a:endParaRPr>
          </a:p>
          <a:p>
            <a:pPr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defRPr/>
            </a:pPr>
            <a:endParaRPr lang="en-US" sz="2200" dirty="0">
              <a:latin typeface="Calibri" charset="0"/>
              <a:cs typeface="Calibri" charset="0"/>
            </a:endParaRPr>
          </a:p>
          <a:p>
            <a:pPr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sz="2200" dirty="0">
                <a:latin typeface="Calibri" charset="0"/>
                <a:cs typeface="Calibri" charset="0"/>
              </a:rPr>
              <a:t>To create this relationship we create a new table </a:t>
            </a:r>
            <a:r>
              <a:rPr lang="en-US" sz="2200" dirty="0">
                <a:solidFill>
                  <a:srgbClr val="FF0000"/>
                </a:solidFill>
                <a:latin typeface="Calibri" charset="0"/>
                <a:cs typeface="Calibri" charset="0"/>
              </a:rPr>
              <a:t>W</a:t>
            </a:r>
            <a:r>
              <a:rPr lang="en-US" sz="2200" dirty="0">
                <a:latin typeface="Calibri" charset="0"/>
                <a:cs typeface="Calibri" charset="0"/>
              </a:rPr>
              <a:t>. The primary key of table A and of table B are foreign keys in table W.</a:t>
            </a:r>
            <a:endParaRPr lang="en-US" altLang="ja-JP" sz="2200" dirty="0">
              <a:latin typeface="Calibri" charset="0"/>
              <a:cs typeface="Calibri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4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4252947" y="1618861"/>
            <a:ext cx="3352800" cy="610168"/>
            <a:chOff x="2728947" y="1618861"/>
            <a:chExt cx="3352800" cy="610168"/>
          </a:xfrm>
        </p:grpSpPr>
        <p:grpSp>
          <p:nvGrpSpPr>
            <p:cNvPr id="5" name="Group 4"/>
            <p:cNvGrpSpPr/>
            <p:nvPr/>
          </p:nvGrpSpPr>
          <p:grpSpPr>
            <a:xfrm>
              <a:off x="2728947" y="1771829"/>
              <a:ext cx="3352800" cy="457200"/>
              <a:chOff x="1676400" y="1600200"/>
              <a:chExt cx="3352800" cy="457200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1676400" y="1600200"/>
                <a:ext cx="685800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dirty="0">
                    <a:latin typeface="Calibri"/>
                    <a:cs typeface="Calibri"/>
                  </a:rPr>
                  <a:t>A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4343400" y="1600200"/>
                <a:ext cx="685800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dirty="0">
                    <a:latin typeface="Calibri"/>
                    <a:cs typeface="Calibri"/>
                  </a:rPr>
                  <a:t>B</a:t>
                </a:r>
              </a:p>
            </p:txBody>
          </p:sp>
          <p:cxnSp>
            <p:nvCxnSpPr>
              <p:cNvPr id="8" name="Straight Connector 3"/>
              <p:cNvCxnSpPr>
                <a:cxnSpLocks noChangeShapeType="1"/>
              </p:cNvCxnSpPr>
              <p:nvPr/>
            </p:nvCxnSpPr>
            <p:spPr bwMode="auto">
              <a:xfrm>
                <a:off x="2362200" y="1828800"/>
                <a:ext cx="19812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9" name="Diamond 8"/>
              <p:cNvSpPr/>
              <p:nvPr/>
            </p:nvSpPr>
            <p:spPr bwMode="auto">
              <a:xfrm>
                <a:off x="3124200" y="1600200"/>
                <a:ext cx="533400" cy="457200"/>
              </a:xfrm>
              <a:prstGeom prst="diamond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>
                  <a:defRPr/>
                </a:pPr>
                <a:endParaRPr lang="en-US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0" name="Rectangle 9"/>
              <p:cNvSpPr/>
              <p:nvPr/>
            </p:nvSpPr>
            <p:spPr bwMode="auto">
              <a:xfrm>
                <a:off x="3124200" y="1600200"/>
                <a:ext cx="533400" cy="457200"/>
              </a:xfrm>
              <a:prstGeom prst="rect">
                <a:avLst/>
              </a:prstGeom>
              <a:noFill/>
              <a:ln>
                <a:headEnd type="none" w="sm" len="sm"/>
                <a:tailEnd type="none" w="sm" len="sm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>
                  <a:defRPr/>
                </a:pPr>
                <a:r>
                  <a:rPr lang="en-US" sz="2000" dirty="0">
                    <a:solidFill>
                      <a:srgbClr val="FF0000"/>
                    </a:solidFill>
                    <a:latin typeface="Calibri"/>
                    <a:cs typeface="Calibri"/>
                  </a:rPr>
                  <a:t> W</a:t>
                </a:r>
              </a:p>
            </p:txBody>
          </p:sp>
        </p:grpSp>
        <p:sp>
          <p:nvSpPr>
            <p:cNvPr id="11" name="TextBox 7"/>
            <p:cNvSpPr txBox="1">
              <a:spLocks noChangeArrowheads="1"/>
            </p:cNvSpPr>
            <p:nvPr/>
          </p:nvSpPr>
          <p:spPr bwMode="auto">
            <a:xfrm>
              <a:off x="3380424" y="1618861"/>
              <a:ext cx="2057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r>
                <a:rPr lang="en-US" sz="1800" dirty="0">
                  <a:latin typeface="Calibri" charset="0"/>
                  <a:cs typeface="Calibri" charset="0"/>
                </a:rPr>
                <a:t>M                            </a:t>
              </a:r>
              <a:r>
                <a:rPr lang="en-US" sz="1800" dirty="0" err="1">
                  <a:latin typeface="Calibri" charset="0"/>
                  <a:cs typeface="Calibri" charset="0"/>
                </a:rPr>
                <a:t>M</a:t>
              </a:r>
              <a:endParaRPr lang="en-US" sz="1800" dirty="0">
                <a:latin typeface="Calibri" charset="0"/>
                <a:cs typeface="Calibr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9453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920" y="499533"/>
            <a:ext cx="8079581" cy="816288"/>
          </a:xfrm>
        </p:spPr>
        <p:txBody>
          <a:bodyPr/>
          <a:lstStyle/>
          <a:p>
            <a:r>
              <a:rPr lang="en-US" dirty="0"/>
              <a:t>Anomalies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4002" y="1430240"/>
            <a:ext cx="8313593" cy="4782721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2200" i="1" dirty="0"/>
              <a:t>Anomalies are problems caused by poor database design.</a:t>
            </a:r>
          </a:p>
          <a:p>
            <a:pPr algn="just">
              <a:lnSpc>
                <a:spcPct val="110000"/>
              </a:lnSpc>
            </a:pPr>
            <a:endParaRPr lang="en-US" sz="2200" dirty="0"/>
          </a:p>
          <a:p>
            <a:pPr algn="just">
              <a:lnSpc>
                <a:spcPct val="110000"/>
              </a:lnSpc>
            </a:pPr>
            <a:r>
              <a:rPr lang="en-US" sz="2200" dirty="0"/>
              <a:t>An </a:t>
            </a:r>
            <a:r>
              <a:rPr lang="en-US" sz="2200" b="1" i="1" dirty="0"/>
              <a:t>update anomaly </a:t>
            </a:r>
            <a:r>
              <a:rPr lang="en-US" sz="2200" dirty="0"/>
              <a:t>occurs when one must make many changes to reflect the modification of a single piece of information.</a:t>
            </a:r>
          </a:p>
          <a:p>
            <a:pPr algn="just">
              <a:lnSpc>
                <a:spcPct val="110000"/>
              </a:lnSpc>
            </a:pPr>
            <a:r>
              <a:rPr lang="en-US" sz="2200" dirty="0"/>
              <a:t>A </a:t>
            </a:r>
            <a:r>
              <a:rPr lang="en-US" sz="2200" b="1" i="1" dirty="0"/>
              <a:t>deletion anomaly </a:t>
            </a:r>
            <a:r>
              <a:rPr lang="en-US" sz="2200" dirty="0"/>
              <a:t>occurs when data is deleted from a relation, and other critical data is unintentionally lost</a:t>
            </a:r>
          </a:p>
          <a:p>
            <a:pPr algn="just">
              <a:lnSpc>
                <a:spcPct val="110000"/>
              </a:lnSpc>
            </a:pPr>
            <a:r>
              <a:rPr lang="en-US" sz="2200" dirty="0"/>
              <a:t>An </a:t>
            </a:r>
            <a:r>
              <a:rPr lang="en-US" sz="2200" b="1" i="1" dirty="0"/>
              <a:t>insertion anomaly </a:t>
            </a:r>
            <a:r>
              <a:rPr lang="en-US" sz="2200" dirty="0"/>
              <a:t>occurs when a row cannot be added to a table, because not all data is available (or one has to invent “dummy” data)</a:t>
            </a:r>
          </a:p>
          <a:p>
            <a:pPr algn="just">
              <a:lnSpc>
                <a:spcPct val="110000"/>
              </a:lnSpc>
            </a:pPr>
            <a:endParaRPr lang="en-US" sz="2200" dirty="0"/>
          </a:p>
          <a:p>
            <a:pPr algn="just">
              <a:lnSpc>
                <a:spcPct val="110000"/>
              </a:lnSpc>
            </a:pPr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089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5479" y="373672"/>
            <a:ext cx="8079581" cy="747636"/>
          </a:xfrm>
        </p:spPr>
        <p:txBody>
          <a:bodyPr>
            <a:normAutofit/>
          </a:bodyPr>
          <a:lstStyle/>
          <a:p>
            <a:r>
              <a:rPr lang="en-US" dirty="0"/>
              <a:t>Normal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8663" y="1185333"/>
            <a:ext cx="8477577" cy="515349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20000"/>
              </a:lnSpc>
              <a:spcBef>
                <a:spcPct val="25000"/>
              </a:spcBef>
              <a:spcAft>
                <a:spcPct val="10000"/>
              </a:spcAft>
              <a:buNone/>
              <a:defRPr/>
            </a:pPr>
            <a:r>
              <a:rPr lang="en-US" i="1" dirty="0"/>
              <a:t>Normal forms are rules that help prevent anomalies.</a:t>
            </a:r>
          </a:p>
          <a:p>
            <a:pPr marL="0" indent="0" algn="just">
              <a:lnSpc>
                <a:spcPct val="120000"/>
              </a:lnSpc>
              <a:spcBef>
                <a:spcPct val="25000"/>
              </a:spcBef>
              <a:spcAft>
                <a:spcPct val="10000"/>
              </a:spcAft>
              <a:buNone/>
              <a:defRPr/>
            </a:pPr>
            <a:endParaRPr lang="en-US" b="1" u="sng" dirty="0"/>
          </a:p>
          <a:p>
            <a:pPr marL="0" indent="0" algn="just">
              <a:lnSpc>
                <a:spcPct val="120000"/>
              </a:lnSpc>
              <a:spcBef>
                <a:spcPct val="25000"/>
              </a:spcBef>
              <a:spcAft>
                <a:spcPct val="10000"/>
              </a:spcAft>
              <a:buNone/>
              <a:defRPr/>
            </a:pPr>
            <a:r>
              <a:rPr lang="en-US" b="1" u="sng" dirty="0"/>
              <a:t>1NF:</a:t>
            </a:r>
            <a:r>
              <a:rPr lang="en-US" b="1" dirty="0"/>
              <a:t> </a:t>
            </a:r>
            <a:r>
              <a:rPr lang="en-US" dirty="0"/>
              <a:t>all tables’ attributes are atomic: no nested tables or </a:t>
            </a:r>
            <a:r>
              <a:rPr lang="en-US" dirty="0" err="1"/>
              <a:t>subtables</a:t>
            </a:r>
            <a:r>
              <a:rPr lang="en-US" dirty="0"/>
              <a:t>; no attribute should be a list of values; no repeating groups of attributes</a:t>
            </a:r>
          </a:p>
          <a:p>
            <a:pPr marL="0" lvl="1" indent="0" algn="just">
              <a:lnSpc>
                <a:spcPct val="120000"/>
              </a:lnSpc>
              <a:spcBef>
                <a:spcPct val="25000"/>
              </a:spcBef>
              <a:spcAft>
                <a:spcPct val="10000"/>
              </a:spcAft>
              <a:buNone/>
              <a:defRPr/>
            </a:pPr>
            <a:r>
              <a:rPr lang="en-US" b="1" u="sng" dirty="0"/>
              <a:t>2NF:</a:t>
            </a:r>
            <a:r>
              <a:rPr lang="en-US" b="1" dirty="0"/>
              <a:t> </a:t>
            </a:r>
            <a:r>
              <a:rPr lang="en-US" dirty="0">
                <a:solidFill>
                  <a:srgbClr val="FF0000"/>
                </a:solidFill>
              </a:rPr>
              <a:t>1NF + </a:t>
            </a:r>
            <a:r>
              <a:rPr lang="en-US" dirty="0"/>
              <a:t>any non-key field cannot depend on part of the primary key</a:t>
            </a:r>
          </a:p>
          <a:p>
            <a:pPr marL="0" indent="0" algn="just">
              <a:lnSpc>
                <a:spcPct val="120000"/>
              </a:lnSpc>
              <a:spcBef>
                <a:spcPct val="25000"/>
              </a:spcBef>
              <a:spcAft>
                <a:spcPct val="10000"/>
              </a:spcAft>
              <a:buNone/>
              <a:defRPr/>
            </a:pPr>
            <a:r>
              <a:rPr lang="en-US" b="1" u="sng" dirty="0"/>
              <a:t>3NF:</a:t>
            </a:r>
            <a:r>
              <a:rPr lang="en-US" b="1" dirty="0"/>
              <a:t>  </a:t>
            </a:r>
            <a:r>
              <a:rPr lang="en-US" dirty="0">
                <a:solidFill>
                  <a:srgbClr val="FF0000"/>
                </a:solidFill>
              </a:rPr>
              <a:t>2NF +</a:t>
            </a:r>
            <a:r>
              <a:rPr lang="en-US" dirty="0"/>
              <a:t> No non-key attribute is dependent on any other non-key attribute or composition of any non-key attributes, EXCEPT if the latter attribute(s) could have been used as an alternative key of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24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on normal forms and DB anomalies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33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028950" y="2019300"/>
          <a:ext cx="6134100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Document" r:id="rId3" imgW="6134100" imgH="2819400" progId="Word.Document.12">
                  <p:embed/>
                </p:oleObj>
              </mc:Choice>
              <mc:Fallback>
                <p:oleObj name="Document" r:id="rId3" imgW="6134100" imgH="2819400" progId="Word.Document.12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28950" y="2019300"/>
                        <a:ext cx="6134100" cy="281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609331" y="1000970"/>
          <a:ext cx="8941402" cy="410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Document" r:id="rId5" imgW="6134100" imgH="2819400" progId="Word.Document.12">
                  <p:embed/>
                </p:oleObj>
              </mc:Choice>
              <mc:Fallback>
                <p:oleObj name="Document" r:id="rId5" imgW="6134100" imgH="2819400" progId="Word.Document.12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09331" y="1000970"/>
                        <a:ext cx="8941402" cy="4109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1752816" y="301370"/>
            <a:ext cx="8672069" cy="6463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Consider a car wash company that keeps records using a table similar to the following simplified table whose PK is “Trans #”: 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Each record corresponds to a single car wash (transaction), and contains the following information: date of the transaction, license plate, license state, make and model of the car, customer code and customer name. The fields </a:t>
            </a:r>
            <a:r>
              <a:rPr lang="en-US" i="1" dirty="0" err="1"/>
              <a:t>AddOnCode</a:t>
            </a:r>
            <a:r>
              <a:rPr lang="en-US" dirty="0"/>
              <a:t>, </a:t>
            </a:r>
            <a:r>
              <a:rPr lang="en-US" i="1" dirty="0" err="1"/>
              <a:t>AddOnDescrip</a:t>
            </a:r>
            <a:r>
              <a:rPr lang="en-US" dirty="0"/>
              <a:t>, and </a:t>
            </a:r>
            <a:r>
              <a:rPr lang="en-US" i="1" dirty="0" err="1"/>
              <a:t>AddOnCharge</a:t>
            </a:r>
            <a:r>
              <a:rPr lang="en-US" dirty="0"/>
              <a:t> are allowed many rows for each transaction, each indicating which optional services were added to the basic wash operation. </a:t>
            </a:r>
          </a:p>
          <a:p>
            <a:pPr algn="just"/>
            <a:r>
              <a:rPr lang="en-US" dirty="0"/>
              <a:t>You may assume that the car wash always charges the same amount for each optional service.</a:t>
            </a:r>
          </a:p>
        </p:txBody>
      </p:sp>
    </p:spTree>
    <p:extLst>
      <p:ext uri="{BB962C8B-B14F-4D97-AF65-F5344CB8AC3E}">
        <p14:creationId xmlns:p14="http://schemas.microsoft.com/office/powerpoint/2010/main" val="1415150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1036" y="1787439"/>
            <a:ext cx="8065294" cy="3766185"/>
          </a:xfrm>
        </p:spPr>
        <p:txBody>
          <a:bodyPr/>
          <a:lstStyle/>
          <a:p>
            <a:r>
              <a:rPr lang="en-US" dirty="0"/>
              <a:t>1. Give examples of insertion, deletion and update anomalies.</a:t>
            </a:r>
          </a:p>
          <a:p>
            <a:endParaRPr lang="en-US" dirty="0"/>
          </a:p>
          <a:p>
            <a:r>
              <a:rPr lang="en-US" dirty="0"/>
              <a:t>2. Is the table in 1NF? 2NF? 3NF? </a:t>
            </a:r>
            <a:r>
              <a:rPr lang="en-US"/>
              <a:t>Why?</a:t>
            </a:r>
            <a:endParaRPr lang="en-US" dirty="0"/>
          </a:p>
          <a:p>
            <a:endParaRPr lang="en-US" dirty="0"/>
          </a:p>
          <a:p>
            <a:r>
              <a:rPr lang="en-US" dirty="0"/>
              <a:t>3. Fix the table so that it is in 3NF.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9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993070" y="476649"/>
            <a:ext cx="8183516" cy="656101"/>
          </a:xfrm>
        </p:spPr>
        <p:txBody>
          <a:bodyPr>
            <a:normAutofit fontScale="90000"/>
          </a:bodyPr>
          <a:lstStyle/>
          <a:p>
            <a:r>
              <a:rPr lang="en-US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855236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593</Words>
  <Application>Microsoft Office PowerPoint</Application>
  <PresentationFormat>Widescreen</PresentationFormat>
  <Paragraphs>77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Document</vt:lpstr>
      <vt:lpstr>Review for midterm</vt:lpstr>
      <vt:lpstr>One-to-many relationship</vt:lpstr>
      <vt:lpstr>Subtypes</vt:lpstr>
      <vt:lpstr>many-to-many relationship</vt:lpstr>
      <vt:lpstr>Anomalies</vt:lpstr>
      <vt:lpstr>Normal forms</vt:lpstr>
      <vt:lpstr>Review on normal forms and DB anomalies</vt:lpstr>
      <vt:lpstr>PowerPoint Presentation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for midterm</dc:title>
  <dc:creator>Disha Parkhi</dc:creator>
  <cp:lastModifiedBy>Disha Parkhi</cp:lastModifiedBy>
  <cp:revision>1</cp:revision>
  <dcterms:created xsi:type="dcterms:W3CDTF">2020-08-22T21:17:46Z</dcterms:created>
  <dcterms:modified xsi:type="dcterms:W3CDTF">2020-08-22T21:18:16Z</dcterms:modified>
</cp:coreProperties>
</file>