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88" r:id="rId4"/>
    <p:sldId id="301" r:id="rId5"/>
    <p:sldId id="302" r:id="rId6"/>
    <p:sldId id="303" r:id="rId7"/>
    <p:sldId id="305" r:id="rId8"/>
    <p:sldId id="30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57"/>
            <p14:sldId id="258"/>
            <p14:sldId id="288"/>
            <p14:sldId id="301"/>
          </p14:sldIdLst>
        </p14:section>
        <p14:section name="Comments" id="{E12F74D3-E064-6D43-B8E4-131225914AFB}">
          <p14:sldIdLst>
            <p14:sldId id="302"/>
            <p14:sldId id="303"/>
          </p14:sldIdLst>
        </p14:section>
        <p14:section name="Subtypes" id="{76471B1B-E5C7-4F68-B182-6759ED9D9E1C}">
          <p14:sldIdLst>
            <p14:sldId id="305"/>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B434-6496-4F6C-8409-CA8838B7D8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80BCA2-202F-4268-874D-FB03F2699F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93B8E0-1D26-4E4C-86C9-F336BD04D266}"/>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5" name="Footer Placeholder 4">
            <a:extLst>
              <a:ext uri="{FF2B5EF4-FFF2-40B4-BE49-F238E27FC236}">
                <a16:creationId xmlns:a16="http://schemas.microsoft.com/office/drawing/2014/main" id="{5DC1B773-6FE1-45FA-BEFC-38F6E922E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AE642D-3502-42CB-AEC3-41FDACBD28E8}"/>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1192881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8203-61D2-417D-8819-9DDDC7D0CE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E06C6E-4E10-4AEC-8FC8-1A94AEF0ED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8A3F9C-6D80-49BA-A360-2B5351E40532}"/>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5" name="Footer Placeholder 4">
            <a:extLst>
              <a:ext uri="{FF2B5EF4-FFF2-40B4-BE49-F238E27FC236}">
                <a16:creationId xmlns:a16="http://schemas.microsoft.com/office/drawing/2014/main" id="{9B945FCF-AFE9-432E-9DFD-EDFA7DF5C8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117FB-E615-4F28-9F4F-F2473B4FB150}"/>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2066098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3E9FE-3733-4AA4-AA25-1449737FB0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231F50-DD7D-42F7-8898-68F574D370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551C30-9861-48F3-BF40-4C781879E507}"/>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5" name="Footer Placeholder 4">
            <a:extLst>
              <a:ext uri="{FF2B5EF4-FFF2-40B4-BE49-F238E27FC236}">
                <a16:creationId xmlns:a16="http://schemas.microsoft.com/office/drawing/2014/main" id="{E2566D34-4742-406B-8F67-B01589893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059A8-BF99-48CA-B370-DD656FE40044}"/>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340961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A31BF-05EE-405D-AF1B-975147153F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8B905C-4922-49CB-AE38-9E85CD4BEA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F6B25-8D48-4B15-BD64-626B87CEE1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13DE5C-6025-488E-9DBD-1E51FE873682}"/>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6" name="Footer Placeholder 5">
            <a:extLst>
              <a:ext uri="{FF2B5EF4-FFF2-40B4-BE49-F238E27FC236}">
                <a16:creationId xmlns:a16="http://schemas.microsoft.com/office/drawing/2014/main" id="{F4EBA9EE-67A8-4699-B35D-19BDA108C5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56E1D2-17DE-4799-9F3A-49EB6AC11578}"/>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1459203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E0DCD-F0AE-4D2A-AA72-B5A3413A89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434BA-54F2-45C0-B73D-353E45C636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59F8BF-2070-4642-AF88-CC719FC2D9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81D913-0A6A-4CC0-BA9D-27B451B287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7144A1-AA0E-44A3-8B05-B22086ED9A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286728-FABC-47D3-B985-E756BDF9E4FE}"/>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8" name="Footer Placeholder 7">
            <a:extLst>
              <a:ext uri="{FF2B5EF4-FFF2-40B4-BE49-F238E27FC236}">
                <a16:creationId xmlns:a16="http://schemas.microsoft.com/office/drawing/2014/main" id="{A2977E18-0187-4D35-96E2-521BFBB802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3FD94B-541E-4AD4-A8EE-78E2B7980AA9}"/>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3067233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D19E-9972-475E-A9EA-1B5EF1062F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DFE151-B8BC-40A2-9D99-8803B519B583}"/>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4" name="Footer Placeholder 3">
            <a:extLst>
              <a:ext uri="{FF2B5EF4-FFF2-40B4-BE49-F238E27FC236}">
                <a16:creationId xmlns:a16="http://schemas.microsoft.com/office/drawing/2014/main" id="{5FEC6AF9-39AC-4F5C-BC2C-458004A13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29452A-B16A-4364-8BDB-FCEFC1CB41CE}"/>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3767589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4792A4-0785-4EB4-B855-CCEDB83C5E08}"/>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3" name="Footer Placeholder 2">
            <a:extLst>
              <a:ext uri="{FF2B5EF4-FFF2-40B4-BE49-F238E27FC236}">
                <a16:creationId xmlns:a16="http://schemas.microsoft.com/office/drawing/2014/main" id="{9B5A7F9C-E306-4E38-B5DF-E26B890964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F3FB9-38D1-41B5-BB4B-179294FB3FE4}"/>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2754822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B371C-8841-4B01-B56B-DCA3EA8D29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B70607-0152-4618-924C-C5F7DDD2A9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6D202F-E604-4357-8D0E-04BACD69C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026C3-B426-4E63-9CEA-EF74FAB44E8C}"/>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6" name="Footer Placeholder 5">
            <a:extLst>
              <a:ext uri="{FF2B5EF4-FFF2-40B4-BE49-F238E27FC236}">
                <a16:creationId xmlns:a16="http://schemas.microsoft.com/office/drawing/2014/main" id="{42DBD41A-8E58-42DC-9EE8-682BA59EE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6715F6-7713-4C91-AF6A-8539F2D8696E}"/>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12549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C9CDD-813D-4BC9-9AE7-2D94B480F2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991727-D2D4-4495-BD61-7C73809AD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7FE22C-794E-460D-BB30-695A96C729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78549B-BFE7-47E2-BAE5-593D6ECF3A2D}"/>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6" name="Footer Placeholder 5">
            <a:extLst>
              <a:ext uri="{FF2B5EF4-FFF2-40B4-BE49-F238E27FC236}">
                <a16:creationId xmlns:a16="http://schemas.microsoft.com/office/drawing/2014/main" id="{7A5633C1-541B-4759-B1F4-27B93310A6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112DCA-4060-4C04-B13B-2F3482B12187}"/>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239724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9E3FC-8A2F-410A-8725-D9DC485FDD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D8E123-786E-4659-A830-DA7C38D307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81EBA-D1A5-4B67-8653-8F6F0C8A3F99}"/>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5" name="Footer Placeholder 4">
            <a:extLst>
              <a:ext uri="{FF2B5EF4-FFF2-40B4-BE49-F238E27FC236}">
                <a16:creationId xmlns:a16="http://schemas.microsoft.com/office/drawing/2014/main" id="{09A32543-D31B-4F4D-BC7C-02EC1C3B8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62C5B9-83F0-4BDA-9758-7FFCE81B5220}"/>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3882607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2B6832-18DA-4C1E-86E5-908493B901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2445EA-0677-4A85-BC7F-3F4C1F8C95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C37BBD-22EE-4597-BFD6-0FF2BE72A2DF}"/>
              </a:ext>
            </a:extLst>
          </p:cNvPr>
          <p:cNvSpPr>
            <a:spLocks noGrp="1"/>
          </p:cNvSpPr>
          <p:nvPr>
            <p:ph type="dt" sz="half" idx="10"/>
          </p:nvPr>
        </p:nvSpPr>
        <p:spPr/>
        <p:txBody>
          <a:bodyPr/>
          <a:lstStyle/>
          <a:p>
            <a:fld id="{BDE66A60-7EC7-4C71-B1C8-FB2F5E6425C5}" type="datetimeFigureOut">
              <a:rPr lang="en-US" smtClean="0"/>
              <a:t>8/22/2020</a:t>
            </a:fld>
            <a:endParaRPr lang="en-US"/>
          </a:p>
        </p:txBody>
      </p:sp>
      <p:sp>
        <p:nvSpPr>
          <p:cNvPr id="5" name="Footer Placeholder 4">
            <a:extLst>
              <a:ext uri="{FF2B5EF4-FFF2-40B4-BE49-F238E27FC236}">
                <a16:creationId xmlns:a16="http://schemas.microsoft.com/office/drawing/2014/main" id="{6A207EFE-A5A9-4C67-ADDF-757DE163E1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6CD35-9CC4-435B-9359-240B4E84D7FF}"/>
              </a:ext>
            </a:extLst>
          </p:cNvPr>
          <p:cNvSpPr>
            <a:spLocks noGrp="1"/>
          </p:cNvSpPr>
          <p:nvPr>
            <p:ph type="sldNum" sz="quarter" idx="12"/>
          </p:nvPr>
        </p:nvSpPr>
        <p:spPr/>
        <p:txBody>
          <a:bodyPr/>
          <a:lstStyle/>
          <a:p>
            <a:fld id="{C6C7BE36-3770-436B-93BC-AE194F33EF99}" type="slidenum">
              <a:rPr lang="en-US" smtClean="0"/>
              <a:t>‹#›</a:t>
            </a:fld>
            <a:endParaRPr lang="en-US"/>
          </a:p>
        </p:txBody>
      </p:sp>
    </p:spTree>
    <p:extLst>
      <p:ext uri="{BB962C8B-B14F-4D97-AF65-F5344CB8AC3E}">
        <p14:creationId xmlns:p14="http://schemas.microsoft.com/office/powerpoint/2010/main" val="2896736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027E07-CC5E-4EB0-8AEC-5BE7CF4342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43F9F3-CB6D-471C-9841-701E3909B8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142F6-3EAE-46BC-A25A-89FFF58348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66A60-7EC7-4C71-B1C8-FB2F5E6425C5}" type="datetimeFigureOut">
              <a:rPr lang="en-US" smtClean="0"/>
              <a:t>8/22/2020</a:t>
            </a:fld>
            <a:endParaRPr lang="en-US"/>
          </a:p>
        </p:txBody>
      </p:sp>
      <p:sp>
        <p:nvSpPr>
          <p:cNvPr id="5" name="Footer Placeholder 4">
            <a:extLst>
              <a:ext uri="{FF2B5EF4-FFF2-40B4-BE49-F238E27FC236}">
                <a16:creationId xmlns:a16="http://schemas.microsoft.com/office/drawing/2014/main" id="{69943C0A-C4A0-40D7-854D-68BBACD1D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6D2FAA-8BA0-4BCD-8FB3-A9D033A7D9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C7BE36-3770-436B-93BC-AE194F33EF99}" type="slidenum">
              <a:rPr lang="en-US" smtClean="0"/>
              <a:t>‹#›</a:t>
            </a:fld>
            <a:endParaRPr lang="en-US"/>
          </a:p>
        </p:txBody>
      </p:sp>
    </p:spTree>
    <p:extLst>
      <p:ext uri="{BB962C8B-B14F-4D97-AF65-F5344CB8AC3E}">
        <p14:creationId xmlns:p14="http://schemas.microsoft.com/office/powerpoint/2010/main" val="3222591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Subtypes</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Slide Number Placeholder 2"/>
          <p:cNvSpPr>
            <a:spLocks noGrp="1"/>
          </p:cNvSpPr>
          <p:nvPr>
            <p:ph type="sldNum" sz="quarter" idx="12"/>
          </p:nvPr>
        </p:nvSpPr>
        <p:spPr/>
        <p:txBody>
          <a:bodyPr/>
          <a:lstStyle/>
          <a:p>
            <a:fld id="{87F3E754-1C97-4481-A18C-9D97ADBDF344}" type="slidenum">
              <a:rPr lang="en-US" smtClean="0"/>
              <a:t>2</a:t>
            </a:fld>
            <a:endParaRPr lang="en-US"/>
          </a:p>
        </p:txBody>
      </p:sp>
      <p:sp>
        <p:nvSpPr>
          <p:cNvPr id="4" name="Rectangle 5"/>
          <p:cNvSpPr>
            <a:spLocks noChangeArrowheads="1"/>
          </p:cNvSpPr>
          <p:nvPr/>
        </p:nvSpPr>
        <p:spPr bwMode="auto">
          <a:xfrm>
            <a:off x="1849496" y="1987688"/>
            <a:ext cx="4188778" cy="1465146"/>
          </a:xfrm>
          <a:prstGeom prst="rect">
            <a:avLst/>
          </a:prstGeom>
          <a:noFill/>
          <a:ln w="9525">
            <a:noFill/>
            <a:miter lim="800000"/>
            <a:headEnd/>
            <a:tailEnd/>
          </a:ln>
          <a:effectLst/>
        </p:spPr>
        <p:txBody>
          <a:bodyPr wrap="square" lIns="92075" tIns="46038" rIns="92075" bIns="46038">
            <a:spAutoFit/>
          </a:bodyPr>
          <a:lstStyle/>
          <a:p>
            <a:pPr marL="342900" indent="-342900">
              <a:lnSpc>
                <a:spcPct val="120000"/>
              </a:lnSpc>
              <a:buFont typeface="Wingdings" panose="05000000000000000000" pitchFamily="2" charset="2"/>
              <a:buChar char="§"/>
            </a:pPr>
            <a:r>
              <a:rPr lang="en-US" sz="2500" dirty="0"/>
              <a:t>A new kind of relationship: subtypes</a:t>
            </a:r>
          </a:p>
          <a:p>
            <a:pPr marL="342900" indent="-342900">
              <a:lnSpc>
                <a:spcPct val="120000"/>
              </a:lnSpc>
              <a:buFont typeface="Wingdings" panose="05000000000000000000" pitchFamily="2" charset="2"/>
              <a:buChar char="§"/>
            </a:pPr>
            <a:endParaRPr lang="en-US" sz="2500" dirty="0"/>
          </a:p>
        </p:txBody>
      </p:sp>
      <p:sp>
        <p:nvSpPr>
          <p:cNvPr id="5" name="Content Placeholder 8"/>
          <p:cNvSpPr txBox="1">
            <a:spLocks/>
          </p:cNvSpPr>
          <p:nvPr/>
        </p:nvSpPr>
        <p:spPr>
          <a:xfrm>
            <a:off x="6961909" y="1993392"/>
            <a:ext cx="3126018"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Chapter 4: 78-84</a:t>
            </a:r>
          </a:p>
          <a:p>
            <a:pPr marL="0" indent="0">
              <a:lnSpc>
                <a:spcPct val="100000"/>
              </a:lnSpc>
              <a:buNone/>
            </a:pPr>
            <a:endParaRPr lang="en-US" dirty="0"/>
          </a:p>
        </p:txBody>
      </p:sp>
    </p:spTree>
    <p:extLst>
      <p:ext uri="{BB962C8B-B14F-4D97-AF65-F5344CB8AC3E}">
        <p14:creationId xmlns:p14="http://schemas.microsoft.com/office/powerpoint/2010/main" val="10729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7769" y="95349"/>
            <a:ext cx="8551984" cy="804197"/>
          </a:xfrm>
        </p:spPr>
        <p:txBody>
          <a:bodyPr>
            <a:noAutofit/>
          </a:bodyPr>
          <a:lstStyle/>
          <a:p>
            <a:r>
              <a:rPr lang="en-US" sz="3600" dirty="0"/>
              <a:t>Honors Program of ESU’s Economics Department</a:t>
            </a:r>
            <a:endParaRPr lang="en-US" sz="6000" dirty="0"/>
          </a:p>
        </p:txBody>
      </p:sp>
      <p:sp>
        <p:nvSpPr>
          <p:cNvPr id="8" name="Rectangle 5"/>
          <p:cNvSpPr>
            <a:spLocks noChangeArrowheads="1"/>
          </p:cNvSpPr>
          <p:nvPr/>
        </p:nvSpPr>
        <p:spPr bwMode="auto">
          <a:xfrm>
            <a:off x="1707769" y="899546"/>
            <a:ext cx="8782802" cy="5694509"/>
          </a:xfrm>
          <a:prstGeom prst="rect">
            <a:avLst/>
          </a:prstGeom>
          <a:noFill/>
          <a:ln w="9525">
            <a:noFill/>
            <a:miter lim="800000"/>
            <a:headEnd/>
            <a:tailEnd/>
          </a:ln>
          <a:effectLst/>
        </p:spPr>
        <p:txBody>
          <a:bodyPr wrap="square" lIns="92075" tIns="46038" rIns="92075" bIns="46038">
            <a:spAutoFit/>
          </a:bodyPr>
          <a:lstStyle/>
          <a:p>
            <a:pPr algn="just"/>
            <a:r>
              <a:rPr lang="en-US" sz="2000" dirty="0"/>
              <a:t>The Economics Department of Enormous State University (ESU) has been keeping paper records of special information pertaining to the honors program of economics majors.  The department would like to develop its own computer information system to keep track of such data.</a:t>
            </a:r>
          </a:p>
          <a:p>
            <a:pPr algn="just"/>
            <a:endParaRPr lang="en-US" sz="800" dirty="0"/>
          </a:p>
          <a:p>
            <a:pPr algn="just"/>
            <a:r>
              <a:rPr lang="en-US" sz="2000" dirty="0">
                <a:solidFill>
                  <a:srgbClr val="00B050"/>
                </a:solidFill>
              </a:rPr>
              <a:t>For each student majoring in economics, the department would like to store a first name, middle name/initial, last name, e-mail address, expected graduation date, and actual graduation date (for those who have graduated).  </a:t>
            </a:r>
          </a:p>
          <a:p>
            <a:pPr marL="342900" indent="-342900" algn="just">
              <a:buFont typeface="Wingdings" panose="05000000000000000000" pitchFamily="2" charset="2"/>
              <a:buChar char="§"/>
            </a:pPr>
            <a:endParaRPr lang="en-US" sz="800" dirty="0"/>
          </a:p>
          <a:p>
            <a:pPr algn="just"/>
            <a:r>
              <a:rPr lang="en-US" sz="2000" dirty="0">
                <a:solidFill>
                  <a:srgbClr val="0070C0"/>
                </a:solidFill>
              </a:rPr>
              <a:t>Every economics major also has a single departmental academic advisor, who is a member of the economics faculty.  The system should be able to remember each student's advisor.  For each advisor, the system should store a first name, middle name/initial, last name, office room number, telephone extension, and e-mail address.</a:t>
            </a:r>
          </a:p>
          <a:p>
            <a:pPr marL="342900" indent="-342900" algn="just">
              <a:buFont typeface="Wingdings" panose="05000000000000000000" pitchFamily="2" charset="2"/>
              <a:buChar char="§"/>
            </a:pPr>
            <a:endParaRPr lang="en-US" sz="800" dirty="0"/>
          </a:p>
          <a:p>
            <a:pPr algn="just"/>
            <a:r>
              <a:rPr lang="en-US" sz="2000" dirty="0">
                <a:solidFill>
                  <a:srgbClr val="7030A0"/>
                </a:solidFill>
              </a:rPr>
              <a:t>About 4% of economics majors are enrolled in the honors program, which requires them to write a senior thesis.  The department wants to be able to keep track of which students are in the honors program. For honors students, the department also wants to store the title of the thesis and the date the thesis was accepted (blank for students who have not finished their theses yet).</a:t>
            </a:r>
          </a:p>
        </p:txBody>
      </p:sp>
      <p:sp>
        <p:nvSpPr>
          <p:cNvPr id="3" name="Slide Number Placeholder 2"/>
          <p:cNvSpPr>
            <a:spLocks noGrp="1"/>
          </p:cNvSpPr>
          <p:nvPr>
            <p:ph type="sldNum" sz="quarter" idx="12"/>
          </p:nvPr>
        </p:nvSpPr>
        <p:spPr/>
        <p:txBody>
          <a:bodyPr/>
          <a:lstStyle/>
          <a:p>
            <a:fld id="{87F3E754-1C97-4481-A18C-9D97ADBDF344}" type="slidenum">
              <a:rPr lang="en-US" smtClean="0"/>
              <a:t>3</a:t>
            </a:fld>
            <a:endParaRPr lang="en-US" dirty="0"/>
          </a:p>
        </p:txBody>
      </p:sp>
    </p:spTree>
    <p:extLst>
      <p:ext uri="{BB962C8B-B14F-4D97-AF65-F5344CB8AC3E}">
        <p14:creationId xmlns:p14="http://schemas.microsoft.com/office/powerpoint/2010/main" val="3781115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1794520" y="1484127"/>
            <a:ext cx="8585093" cy="3817072"/>
          </a:xfrm>
          <a:prstGeom prst="rect">
            <a:avLst/>
          </a:prstGeom>
          <a:noFill/>
          <a:ln w="9525">
            <a:noFill/>
            <a:miter lim="800000"/>
            <a:headEnd/>
            <a:tailEnd/>
          </a:ln>
          <a:effectLst/>
        </p:spPr>
        <p:txBody>
          <a:bodyPr wrap="square" lIns="92075" tIns="46038" rIns="92075" bIns="46038">
            <a:spAutoFit/>
          </a:bodyPr>
          <a:lstStyle/>
          <a:p>
            <a:pPr marL="457200" indent="-457200" algn="just">
              <a:buFont typeface="+mj-lt"/>
              <a:buAutoNum type="alphaLcPeriod"/>
            </a:pPr>
            <a:r>
              <a:rPr lang="en-US" sz="2200" dirty="0"/>
              <a:t>Design a database to hold this information, using only one-to-many relationships. </a:t>
            </a:r>
          </a:p>
          <a:p>
            <a:pPr marL="457200" indent="-457200" algn="just">
              <a:buFont typeface="+mj-lt"/>
              <a:buAutoNum type="alphaLcPeriod"/>
            </a:pPr>
            <a:endParaRPr lang="en-US" sz="2200" dirty="0"/>
          </a:p>
          <a:p>
            <a:pPr marL="457200" indent="-457200" algn="just">
              <a:buFont typeface="+mj-lt"/>
              <a:buAutoNum type="alphaLcPeriod"/>
            </a:pPr>
            <a:r>
              <a:rPr lang="en-US" sz="2200" dirty="0"/>
              <a:t>Create a design that does not waste memory for the thesis title and date of each non-honors student. This design introduces a new kind of relationship, called a subtype (sometimes called a one-to-one relationship, which is somewhat misleading). </a:t>
            </a:r>
          </a:p>
          <a:p>
            <a:pPr marL="457200" indent="-457200" algn="just">
              <a:buFont typeface="+mj-lt"/>
              <a:buAutoNum type="alphaLcPeriod"/>
            </a:pPr>
            <a:endParaRPr lang="en-US" sz="2200" dirty="0"/>
          </a:p>
          <a:p>
            <a:pPr marL="457200" indent="-457200" algn="just">
              <a:buFont typeface="+mj-lt"/>
              <a:buAutoNum type="alphaLcPeriod"/>
            </a:pPr>
            <a:r>
              <a:rPr lang="en-US" sz="2200" dirty="0"/>
              <a:t>Now assume that each honor student has a senior thesis supervisor, who may not be the same as the student's departmental academic advisor.  Incorporate this information into the database.</a:t>
            </a:r>
          </a:p>
        </p:txBody>
      </p:sp>
      <p:sp>
        <p:nvSpPr>
          <p:cNvPr id="3" name="Slide Number Placeholder 2"/>
          <p:cNvSpPr>
            <a:spLocks noGrp="1"/>
          </p:cNvSpPr>
          <p:nvPr>
            <p:ph type="sldNum" sz="quarter" idx="12"/>
          </p:nvPr>
        </p:nvSpPr>
        <p:spPr/>
        <p:txBody>
          <a:bodyPr/>
          <a:lstStyle/>
          <a:p>
            <a:fld id="{87F3E754-1C97-4481-A18C-9D97ADBDF344}" type="slidenum">
              <a:rPr lang="en-US" smtClean="0"/>
              <a:t>4</a:t>
            </a:fld>
            <a:endParaRPr lang="en-US"/>
          </a:p>
        </p:txBody>
      </p:sp>
      <p:sp>
        <p:nvSpPr>
          <p:cNvPr id="7" name="Title 1"/>
          <p:cNvSpPr>
            <a:spLocks noGrp="1"/>
          </p:cNvSpPr>
          <p:nvPr>
            <p:ph type="title"/>
          </p:nvPr>
        </p:nvSpPr>
        <p:spPr>
          <a:xfrm>
            <a:off x="1885356" y="297572"/>
            <a:ext cx="8551984" cy="804197"/>
          </a:xfrm>
        </p:spPr>
        <p:txBody>
          <a:bodyPr>
            <a:noAutofit/>
          </a:bodyPr>
          <a:lstStyle/>
          <a:p>
            <a:r>
              <a:rPr lang="en-US" sz="3600" dirty="0"/>
              <a:t>Honors Program of ESU’s Economics Department</a:t>
            </a:r>
            <a:endParaRPr lang="en-US" sz="6000" dirty="0"/>
          </a:p>
        </p:txBody>
      </p:sp>
    </p:spTree>
    <p:extLst>
      <p:ext uri="{BB962C8B-B14F-4D97-AF65-F5344CB8AC3E}">
        <p14:creationId xmlns:p14="http://schemas.microsoft.com/office/powerpoint/2010/main" val="2593975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27564" y="664730"/>
            <a:ext cx="8344290" cy="5840132"/>
          </a:xfrm>
        </p:spPr>
        <p:txBody>
          <a:bodyPr>
            <a:noAutofit/>
          </a:bodyPr>
          <a:lstStyle/>
          <a:p>
            <a:pPr algn="just">
              <a:lnSpc>
                <a:spcPct val="110000"/>
              </a:lnSpc>
            </a:pPr>
            <a:r>
              <a:rPr lang="en-US" sz="1800" b="1" dirty="0">
                <a:solidFill>
                  <a:schemeClr val="accent1">
                    <a:lumMod val="75000"/>
                  </a:schemeClr>
                </a:solidFill>
              </a:rPr>
              <a:t>For part a. why do we put the information about the honors in the STUDENT table? Instead, why don’t we create a separate HONORS table (with the thesis title and date info), and then, in STUDENT, have </a:t>
            </a:r>
            <a:r>
              <a:rPr lang="en-US" sz="1800" b="1" dirty="0" err="1">
                <a:solidFill>
                  <a:schemeClr val="accent1">
                    <a:lumMod val="75000"/>
                  </a:schemeClr>
                </a:solidFill>
              </a:rPr>
              <a:t>HonorsID</a:t>
            </a:r>
            <a:r>
              <a:rPr lang="en-US" sz="1800" b="1" dirty="0">
                <a:solidFill>
                  <a:schemeClr val="accent1">
                    <a:lumMod val="75000"/>
                  </a:schemeClr>
                </a:solidFill>
              </a:rPr>
              <a:t> as a foreign key to HONORS, in order to identify which students belong to the honors program and which students do not?</a:t>
            </a:r>
            <a:endParaRPr lang="en-US" sz="1800" dirty="0">
              <a:solidFill>
                <a:schemeClr val="accent1">
                  <a:lumMod val="75000"/>
                </a:schemeClr>
              </a:solidFill>
            </a:endParaRPr>
          </a:p>
          <a:p>
            <a:pPr algn="just">
              <a:lnSpc>
                <a:spcPct val="110000"/>
              </a:lnSpc>
            </a:pPr>
            <a:r>
              <a:rPr lang="en-US" sz="1800" dirty="0"/>
              <a:t>It is a good first idea, but it does not work because that creates a one to many relationship between STUDENT and HONORS, as I explain next. By having </a:t>
            </a:r>
            <a:r>
              <a:rPr lang="en-US" sz="1800" dirty="0" err="1"/>
              <a:t>HonorsID</a:t>
            </a:r>
            <a:r>
              <a:rPr lang="en-US" sz="1800" dirty="0"/>
              <a:t> as foreign key in STUDENT, you are saying that one student corresponds to 0 or 1 records in the HONORS table, which is OK. But, this also allows the same </a:t>
            </a:r>
            <a:r>
              <a:rPr lang="en-US" sz="1800" dirty="0" err="1"/>
              <a:t>HonorsID</a:t>
            </a:r>
            <a:r>
              <a:rPr lang="en-US" sz="1800" dirty="0"/>
              <a:t> to show up in different records of the STUDENT table (that is: many student to one honors). Moreover, it also allows a record on the HONORS table to do not correspond to any record of the STUDENT table at all. And we cannot have neither of these. We must have one honors corresponding to exactly one student. So, if we can only use one-to-many relationships, the only way is to put the honors related information inside the STUDENT table.</a:t>
            </a:r>
          </a:p>
          <a:p>
            <a:pPr marL="0" indent="0" algn="just">
              <a:lnSpc>
                <a:spcPct val="110000"/>
              </a:lnSpc>
              <a:buNone/>
            </a:pPr>
            <a:endParaRPr lang="en-US" sz="1800" dirty="0"/>
          </a:p>
          <a:p>
            <a:pPr marL="0" indent="0" algn="just">
              <a:lnSpc>
                <a:spcPct val="110000"/>
              </a:lnSpc>
              <a:buNone/>
            </a:pPr>
            <a:endParaRPr lang="en-US" sz="1800" dirty="0"/>
          </a:p>
        </p:txBody>
      </p:sp>
      <p:sp>
        <p:nvSpPr>
          <p:cNvPr id="5" name="Slide Number Placeholder 4"/>
          <p:cNvSpPr>
            <a:spLocks noGrp="1"/>
          </p:cNvSpPr>
          <p:nvPr>
            <p:ph type="sldNum" sz="quarter" idx="12"/>
          </p:nvPr>
        </p:nvSpPr>
        <p:spPr/>
        <p:txBody>
          <a:bodyPr/>
          <a:lstStyle/>
          <a:p>
            <a:fld id="{87F3E754-1C97-4481-A18C-9D97ADBDF344}" type="slidenum">
              <a:rPr lang="en-US" smtClean="0"/>
              <a:t>5</a:t>
            </a:fld>
            <a:endParaRPr lang="en-US"/>
          </a:p>
        </p:txBody>
      </p:sp>
    </p:spTree>
    <p:extLst>
      <p:ext uri="{BB962C8B-B14F-4D97-AF65-F5344CB8AC3E}">
        <p14:creationId xmlns:p14="http://schemas.microsoft.com/office/powerpoint/2010/main" val="2172869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27564" y="498548"/>
            <a:ext cx="8344290" cy="6030054"/>
          </a:xfrm>
        </p:spPr>
        <p:txBody>
          <a:bodyPr>
            <a:noAutofit/>
          </a:bodyPr>
          <a:lstStyle/>
          <a:p>
            <a:pPr marL="0" indent="0" algn="just">
              <a:lnSpc>
                <a:spcPct val="110000"/>
              </a:lnSpc>
              <a:buNone/>
            </a:pPr>
            <a:r>
              <a:rPr lang="en-US" sz="1800" b="1" dirty="0">
                <a:solidFill>
                  <a:srgbClr val="328EA0"/>
                </a:solidFill>
              </a:rPr>
              <a:t>The answer to last question says: </a:t>
            </a:r>
            <a:r>
              <a:rPr lang="en-US" sz="1800" b="1" i="1" dirty="0">
                <a:solidFill>
                  <a:srgbClr val="328EA0"/>
                </a:solidFill>
              </a:rPr>
              <a:t>“Moreover, it also allows a record on the HONORS table to do not correspond to any record of the STUDENT table at all”</a:t>
            </a:r>
            <a:r>
              <a:rPr lang="is-IS" sz="1800" b="1" i="1" dirty="0">
                <a:solidFill>
                  <a:srgbClr val="328EA0"/>
                </a:solidFill>
              </a:rPr>
              <a:t>…. </a:t>
            </a:r>
            <a:r>
              <a:rPr lang="en-US" sz="1800" b="1" dirty="0">
                <a:solidFill>
                  <a:srgbClr val="328EA0"/>
                </a:solidFill>
              </a:rPr>
              <a:t>But couldn't we assume that the user would only create a record in the HONORS table corresponding to a student that already exists in the STUDENT table?</a:t>
            </a:r>
            <a:endParaRPr lang="en-US" sz="1800" dirty="0">
              <a:solidFill>
                <a:srgbClr val="328EA0"/>
              </a:solidFill>
            </a:endParaRPr>
          </a:p>
          <a:p>
            <a:pPr marL="0" indent="0" algn="just">
              <a:lnSpc>
                <a:spcPct val="110000"/>
              </a:lnSpc>
              <a:buNone/>
            </a:pPr>
            <a:r>
              <a:rPr lang="en-US" sz="1800" dirty="0"/>
              <a:t>When we create a database we cannot rely on the user to know rules such us “create a HONORS record only if you have already one STUDENT record for that student". If there are constraints/rules that need to be imposed, then the database must impose them automatically through the relationships, so that there is no space for improper use. In this case our constraint/rule is that each record of the HONORS table must correspond to one and only one record of STUDENT. To design a database that imposes this rule automatically, we put </a:t>
            </a:r>
            <a:r>
              <a:rPr lang="en-US" sz="1800" dirty="0" err="1"/>
              <a:t>StudentID</a:t>
            </a:r>
            <a:r>
              <a:rPr lang="en-US" sz="1800" dirty="0"/>
              <a:t> as foreign key in HONORS table (1 honors </a:t>
            </a:r>
            <a:r>
              <a:rPr lang="en-US" sz="1600" dirty="0">
                <a:latin typeface="Wingdings"/>
                <a:ea typeface="Wingdings"/>
                <a:cs typeface="Wingdings"/>
                <a:sym typeface="Wingdings"/>
              </a:rPr>
              <a:t></a:t>
            </a:r>
            <a:r>
              <a:rPr lang="en-US" sz="1800" dirty="0"/>
              <a:t>1 student), and then make </a:t>
            </a:r>
            <a:r>
              <a:rPr lang="en-US" sz="1800" dirty="0" err="1"/>
              <a:t>StudentID</a:t>
            </a:r>
            <a:r>
              <a:rPr lang="en-US" sz="1800" dirty="0"/>
              <a:t> the primary key of HONORS (1 student </a:t>
            </a:r>
            <a:r>
              <a:rPr lang="en-US" sz="1800" dirty="0">
                <a:latin typeface="Wingdings"/>
                <a:ea typeface="Wingdings"/>
                <a:cs typeface="Wingdings"/>
                <a:sym typeface="Wingdings"/>
              </a:rPr>
              <a:t></a:t>
            </a:r>
            <a:r>
              <a:rPr lang="en-US" sz="1800" dirty="0"/>
              <a:t>0 or 1 honors). </a:t>
            </a:r>
          </a:p>
          <a:p>
            <a:pPr marL="0" indent="0" algn="just">
              <a:lnSpc>
                <a:spcPct val="110000"/>
              </a:lnSpc>
              <a:buNone/>
            </a:pPr>
            <a:endParaRPr lang="en-US" sz="1000" dirty="0"/>
          </a:p>
          <a:p>
            <a:pPr marL="0" indent="0" algn="just">
              <a:lnSpc>
                <a:spcPct val="110000"/>
              </a:lnSpc>
              <a:buNone/>
            </a:pPr>
            <a:r>
              <a:rPr lang="en-US" sz="2000" b="1" dirty="0"/>
              <a:t>This is what database design is ultimately about: </a:t>
            </a:r>
            <a:r>
              <a:rPr lang="en-US" sz="2000" b="1" i="1" dirty="0"/>
              <a:t>how do we play with foreign keys and primary keys to create relationships that impose the constraints/rules of our application.</a:t>
            </a:r>
          </a:p>
          <a:p>
            <a:pPr marL="0" indent="0" algn="just">
              <a:lnSpc>
                <a:spcPct val="110000"/>
              </a:lnSpc>
              <a:buNone/>
            </a:pPr>
            <a:endParaRPr lang="en-US" sz="1800" dirty="0"/>
          </a:p>
        </p:txBody>
      </p:sp>
      <p:sp>
        <p:nvSpPr>
          <p:cNvPr id="5" name="Slide Number Placeholder 4"/>
          <p:cNvSpPr>
            <a:spLocks noGrp="1"/>
          </p:cNvSpPr>
          <p:nvPr>
            <p:ph type="sldNum" sz="quarter" idx="12"/>
          </p:nvPr>
        </p:nvSpPr>
        <p:spPr/>
        <p:txBody>
          <a:bodyPr/>
          <a:lstStyle/>
          <a:p>
            <a:fld id="{87F3E754-1C97-4481-A18C-9D97ADBDF344}" type="slidenum">
              <a:rPr lang="en-US" smtClean="0"/>
              <a:t>6</a:t>
            </a:fld>
            <a:endParaRPr lang="en-US" dirty="0"/>
          </a:p>
        </p:txBody>
      </p:sp>
    </p:spTree>
    <p:extLst>
      <p:ext uri="{BB962C8B-B14F-4D97-AF65-F5344CB8AC3E}">
        <p14:creationId xmlns:p14="http://schemas.microsoft.com/office/powerpoint/2010/main" val="4538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493" y="109008"/>
            <a:ext cx="8079581" cy="1012782"/>
          </a:xfrm>
        </p:spPr>
        <p:txBody>
          <a:bodyPr/>
          <a:lstStyle/>
          <a:p>
            <a:r>
              <a:rPr lang="en-US" dirty="0"/>
              <a:t>Subtypes / Supertypes</a:t>
            </a:r>
          </a:p>
        </p:txBody>
      </p:sp>
      <p:sp>
        <p:nvSpPr>
          <p:cNvPr id="3" name="Content Placeholder 2"/>
          <p:cNvSpPr>
            <a:spLocks noGrp="1"/>
          </p:cNvSpPr>
          <p:nvPr>
            <p:ph sz="half" idx="1"/>
          </p:nvPr>
        </p:nvSpPr>
        <p:spPr>
          <a:xfrm>
            <a:off x="1863366" y="1008668"/>
            <a:ext cx="8653806" cy="5849332"/>
          </a:xfrm>
        </p:spPr>
        <p:txBody>
          <a:bodyPr>
            <a:normAutofit/>
          </a:bodyPr>
          <a:lstStyle/>
          <a:p>
            <a:pPr marL="0" indent="0" algn="just">
              <a:lnSpc>
                <a:spcPct val="100000"/>
              </a:lnSpc>
              <a:spcBef>
                <a:spcPts val="600"/>
              </a:spcBef>
              <a:buNone/>
            </a:pPr>
            <a:r>
              <a:rPr lang="en-US" sz="2000" b="1" dirty="0">
                <a:solidFill>
                  <a:schemeClr val="accent1">
                    <a:lumMod val="75000"/>
                  </a:schemeClr>
                </a:solidFill>
              </a:rPr>
              <a:t>What happens when we make a foreign key the primary key of the table?</a:t>
            </a:r>
            <a:r>
              <a:rPr lang="en-US" sz="2000" dirty="0">
                <a:solidFill>
                  <a:schemeClr val="accent1">
                    <a:lumMod val="75000"/>
                  </a:schemeClr>
                </a:solidFill>
              </a:rPr>
              <a:t> </a:t>
            </a:r>
          </a:p>
          <a:p>
            <a:pPr marL="0" indent="0" algn="just">
              <a:lnSpc>
                <a:spcPct val="100000"/>
              </a:lnSpc>
              <a:spcBef>
                <a:spcPts val="600"/>
              </a:spcBef>
              <a:buNone/>
            </a:pPr>
            <a:r>
              <a:rPr lang="en-US" sz="1800" dirty="0"/>
              <a:t>			</a:t>
            </a:r>
            <a:r>
              <a:rPr lang="en-US" sz="2000" dirty="0"/>
              <a:t>TABLE_A (</a:t>
            </a:r>
            <a:r>
              <a:rPr lang="en-US" sz="2000" u="sng" dirty="0"/>
              <a:t>pkA</a:t>
            </a:r>
            <a:r>
              <a:rPr lang="en-US" sz="2000" dirty="0"/>
              <a:t>,   …)</a:t>
            </a:r>
          </a:p>
          <a:p>
            <a:pPr marL="0" indent="0" algn="just">
              <a:lnSpc>
                <a:spcPct val="100000"/>
              </a:lnSpc>
              <a:spcBef>
                <a:spcPts val="0"/>
              </a:spcBef>
              <a:buNone/>
            </a:pPr>
            <a:r>
              <a:rPr lang="en-US" sz="2000" dirty="0"/>
              <a:t>			TABLE_B (</a:t>
            </a:r>
            <a:r>
              <a:rPr lang="en-US" sz="2000" u="sng" dirty="0"/>
              <a:t>fktoA</a:t>
            </a:r>
            <a:r>
              <a:rPr lang="en-US" sz="2000" dirty="0"/>
              <a:t>,  …)</a:t>
            </a:r>
          </a:p>
          <a:p>
            <a:pPr marL="0" indent="0" algn="just">
              <a:lnSpc>
                <a:spcPct val="100000"/>
              </a:lnSpc>
              <a:spcBef>
                <a:spcPts val="0"/>
              </a:spcBef>
              <a:buNone/>
            </a:pPr>
            <a:r>
              <a:rPr lang="en-US" sz="2000" dirty="0"/>
              <a:t>		       	                  fktoA foreign key to TABLE_A</a:t>
            </a:r>
          </a:p>
          <a:p>
            <a:pPr marL="0" indent="0" algn="just">
              <a:lnSpc>
                <a:spcPct val="100000"/>
              </a:lnSpc>
              <a:buNone/>
            </a:pPr>
            <a:r>
              <a:rPr lang="en-US" sz="1800" i="1" dirty="0"/>
              <a:t>We saw that whenever we have a foreign key, we have a 1-to-many relationship. However, when we choose the foreign key for the primary key, we introduce an uniqueness constraint: </a:t>
            </a:r>
            <a:r>
              <a:rPr lang="en-US" sz="1800" b="1" i="1" dirty="0"/>
              <a:t>the same foreign key value cannot show more than once in B. </a:t>
            </a:r>
          </a:p>
          <a:p>
            <a:pPr marL="0" indent="0" algn="just">
              <a:lnSpc>
                <a:spcPct val="100000"/>
              </a:lnSpc>
              <a:spcBef>
                <a:spcPts val="0"/>
              </a:spcBef>
              <a:buNone/>
            </a:pPr>
            <a:endParaRPr lang="en-US" sz="1050" b="1" i="1" dirty="0"/>
          </a:p>
          <a:p>
            <a:pPr marL="0" indent="0" algn="just">
              <a:lnSpc>
                <a:spcPct val="100000"/>
              </a:lnSpc>
              <a:spcBef>
                <a:spcPts val="0"/>
              </a:spcBef>
              <a:buNone/>
            </a:pPr>
            <a:r>
              <a:rPr lang="en-US" sz="1800" dirty="0"/>
              <a:t>As a consequence, we now have that</a:t>
            </a:r>
          </a:p>
          <a:p>
            <a:pPr marL="0" indent="0" algn="just">
              <a:lnSpc>
                <a:spcPct val="100000"/>
              </a:lnSpc>
              <a:spcBef>
                <a:spcPts val="0"/>
              </a:spcBef>
              <a:buNone/>
            </a:pPr>
            <a:r>
              <a:rPr lang="en-US" sz="1800" b="1" i="1" dirty="0"/>
              <a:t>  </a:t>
            </a:r>
            <a:r>
              <a:rPr lang="en-US" sz="1800" b="1" i="1" dirty="0" err="1"/>
              <a:t>i</a:t>
            </a:r>
            <a:r>
              <a:rPr lang="en-US" sz="1800" b="1" i="1" dirty="0"/>
              <a:t>.  Each record to TABLE_B corresponds to 1 and only 1 of TABLE_A</a:t>
            </a:r>
          </a:p>
          <a:p>
            <a:pPr marL="0" indent="0" algn="just">
              <a:lnSpc>
                <a:spcPct val="100000"/>
              </a:lnSpc>
              <a:spcBef>
                <a:spcPts val="0"/>
              </a:spcBef>
              <a:buNone/>
            </a:pPr>
            <a:r>
              <a:rPr lang="en-US" sz="1800" b="1" i="1" dirty="0"/>
              <a:t>  ii. Each record of TABLE_A corresponds to 0 or 1 of TABLE_B</a:t>
            </a:r>
          </a:p>
          <a:p>
            <a:pPr marL="0" indent="0" algn="just">
              <a:lnSpc>
                <a:spcPct val="100000"/>
              </a:lnSpc>
              <a:buNone/>
            </a:pPr>
            <a:r>
              <a:rPr lang="en-US" sz="1800" dirty="0"/>
              <a:t>This new relationship are called </a:t>
            </a:r>
            <a:r>
              <a:rPr lang="en-US" sz="1800" b="1" dirty="0"/>
              <a:t>subtypes/</a:t>
            </a:r>
            <a:r>
              <a:rPr lang="en-US" sz="1800" b="1" dirty="0" err="1"/>
              <a:t>supertypes</a:t>
            </a:r>
            <a:r>
              <a:rPr lang="en-US" sz="1800" dirty="0"/>
              <a:t> in the following sense: B is a subtype of A and A is a supertype of B. It is represented as:</a:t>
            </a:r>
          </a:p>
          <a:p>
            <a:pPr marL="0" indent="0" algn="just">
              <a:lnSpc>
                <a:spcPct val="100000"/>
              </a:lnSpc>
              <a:buNone/>
            </a:pPr>
            <a:endParaRPr lang="en-US" sz="1800" dirty="0"/>
          </a:p>
          <a:p>
            <a:pPr marL="0" indent="0" algn="just">
              <a:lnSpc>
                <a:spcPct val="100000"/>
              </a:lnSpc>
              <a:buNone/>
            </a:pPr>
            <a:endParaRPr lang="en-US" sz="1800" dirty="0"/>
          </a:p>
          <a:p>
            <a:pPr marL="0" indent="0" algn="just">
              <a:lnSpc>
                <a:spcPct val="100000"/>
              </a:lnSpc>
              <a:buNone/>
            </a:pPr>
            <a:r>
              <a:rPr lang="en-US" sz="1600" dirty="0"/>
              <a:t>This relationship is often called 1-to-1 relationship, which is misleading (because of ii.)</a:t>
            </a:r>
          </a:p>
        </p:txBody>
      </p:sp>
      <p:sp>
        <p:nvSpPr>
          <p:cNvPr id="5" name="Slide Number Placeholder 4"/>
          <p:cNvSpPr>
            <a:spLocks noGrp="1"/>
          </p:cNvSpPr>
          <p:nvPr>
            <p:ph type="sldNum" sz="quarter" idx="12"/>
          </p:nvPr>
        </p:nvSpPr>
        <p:spPr/>
        <p:txBody>
          <a:bodyPr/>
          <a:lstStyle/>
          <a:p>
            <a:fld id="{87F3E754-1C97-4481-A18C-9D97ADBDF344}" type="slidenum">
              <a:rPr lang="en-US" smtClean="0"/>
              <a:t>7</a:t>
            </a:fld>
            <a:endParaRPr lang="en-US"/>
          </a:p>
        </p:txBody>
      </p:sp>
      <p:grpSp>
        <p:nvGrpSpPr>
          <p:cNvPr id="4" name="Group 3"/>
          <p:cNvGrpSpPr/>
          <p:nvPr/>
        </p:nvGrpSpPr>
        <p:grpSpPr>
          <a:xfrm>
            <a:off x="3956116" y="5114399"/>
            <a:ext cx="4230333" cy="505857"/>
            <a:chOff x="1237633" y="1447800"/>
            <a:chExt cx="4230333" cy="505857"/>
          </a:xfrm>
        </p:grpSpPr>
        <p:sp>
          <p:nvSpPr>
            <p:cNvPr id="6" name="TextBox 5"/>
            <p:cNvSpPr txBox="1"/>
            <p:nvPr/>
          </p:nvSpPr>
          <p:spPr>
            <a:xfrm>
              <a:off x="1237633" y="1584325"/>
              <a:ext cx="1124567"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defRPr/>
              </a:pPr>
              <a:r>
                <a:rPr lang="en-US" dirty="0">
                  <a:latin typeface="Calibri"/>
                  <a:cs typeface="Calibri"/>
                </a:rPr>
                <a:t>TABLE_A</a:t>
              </a:r>
            </a:p>
          </p:txBody>
        </p:sp>
        <p:sp>
          <p:nvSpPr>
            <p:cNvPr id="7" name="TextBox 6"/>
            <p:cNvSpPr txBox="1"/>
            <p:nvPr/>
          </p:nvSpPr>
          <p:spPr>
            <a:xfrm>
              <a:off x="4343399" y="1584325"/>
              <a:ext cx="1124567" cy="369332"/>
            </a:xfrm>
            <a:prstGeom prst="rect">
              <a:avLst/>
            </a:prstGeom>
            <a:ln w="63500" cmpd="dbl">
              <a:solidFill>
                <a:schemeClr val="tx1"/>
              </a:solidFill>
            </a:ln>
          </p:spPr>
          <p:style>
            <a:lnRef idx="2">
              <a:schemeClr val="dk1"/>
            </a:lnRef>
            <a:fillRef idx="1">
              <a:schemeClr val="lt1"/>
            </a:fillRef>
            <a:effectRef idx="0">
              <a:schemeClr val="dk1"/>
            </a:effectRef>
            <a:fontRef idx="minor">
              <a:schemeClr val="dk1"/>
            </a:fontRef>
          </p:style>
          <p:txBody>
            <a:bodyPr wrap="square">
              <a:spAutoFit/>
            </a:bodyPr>
            <a:lstStyle/>
            <a:p>
              <a:pPr algn="ctr">
                <a:defRPr/>
              </a:pPr>
              <a:r>
                <a:rPr lang="en-US" dirty="0">
                  <a:latin typeface="Calibri"/>
                  <a:cs typeface="Calibri"/>
                </a:rPr>
                <a:t>TABLE_B</a:t>
              </a:r>
            </a:p>
          </p:txBody>
        </p:sp>
        <p:cxnSp>
          <p:nvCxnSpPr>
            <p:cNvPr id="8" name="Straight Connector 3"/>
            <p:cNvCxnSpPr>
              <a:cxnSpLocks noChangeShapeType="1"/>
            </p:cNvCxnSpPr>
            <p:nvPr/>
          </p:nvCxnSpPr>
          <p:spPr bwMode="auto">
            <a:xfrm>
              <a:off x="2362200" y="1812925"/>
              <a:ext cx="1981200" cy="0"/>
            </a:xfrm>
            <a:prstGeom prst="line">
              <a:avLst/>
            </a:prstGeom>
            <a:noFill/>
            <a:ln w="12700">
              <a:solidFill>
                <a:schemeClr val="tx1"/>
              </a:solidFill>
              <a:round/>
              <a:headEnd type="none" w="sm" len="sm"/>
              <a:tailEnd type="none" w="sm" len="sm"/>
            </a:ln>
            <a:extLst>
              <a:ext uri="{909E8E84-426E-40dd-AFC4-6F175D3DCCD1}">
                <a14:hiddenFill xmlns="" xmlns:a14="http://schemas.microsoft.com/office/drawing/2010/main">
                  <a:noFill/>
                </a14:hiddenFill>
              </a:ext>
            </a:extLst>
          </p:spPr>
        </p:cxnSp>
        <p:sp>
          <p:nvSpPr>
            <p:cNvPr id="9" name="TextBox 7"/>
            <p:cNvSpPr txBox="1">
              <a:spLocks noChangeArrowheads="1"/>
            </p:cNvSpPr>
            <p:nvPr/>
          </p:nvSpPr>
          <p:spPr bwMode="auto">
            <a:xfrm>
              <a:off x="2362200" y="1447800"/>
              <a:ext cx="2057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en-US" sz="1800">
                  <a:latin typeface="Calibri" panose="020F0502020204030204" pitchFamily="34" charset="0"/>
                  <a:cs typeface="Calibri" panose="020F0502020204030204" pitchFamily="34" charset="0"/>
                </a:rPr>
                <a:t>1                         0 /1</a:t>
              </a:r>
            </a:p>
          </p:txBody>
        </p:sp>
      </p:grpSp>
    </p:spTree>
    <p:extLst>
      <p:ext uri="{BB962C8B-B14F-4D97-AF65-F5344CB8AC3E}">
        <p14:creationId xmlns:p14="http://schemas.microsoft.com/office/powerpoint/2010/main" val="3831019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493" y="109008"/>
            <a:ext cx="8079581" cy="1658198"/>
          </a:xfrm>
        </p:spPr>
        <p:txBody>
          <a:bodyPr/>
          <a:lstStyle/>
          <a:p>
            <a:r>
              <a:rPr lang="en-US" dirty="0"/>
              <a:t>Creating a subtype in Access</a:t>
            </a:r>
          </a:p>
        </p:txBody>
      </p:sp>
      <p:sp>
        <p:nvSpPr>
          <p:cNvPr id="3" name="Content Placeholder 2"/>
          <p:cNvSpPr>
            <a:spLocks noGrp="1"/>
          </p:cNvSpPr>
          <p:nvPr>
            <p:ph sz="half" idx="1"/>
          </p:nvPr>
        </p:nvSpPr>
        <p:spPr>
          <a:xfrm>
            <a:off x="1905001" y="1670973"/>
            <a:ext cx="8206072" cy="4255008"/>
          </a:xfrm>
        </p:spPr>
        <p:txBody>
          <a:bodyPr>
            <a:normAutofit fontScale="92500" lnSpcReduction="10000"/>
          </a:bodyPr>
          <a:lstStyle/>
          <a:p>
            <a:pPr algn="just"/>
            <a:r>
              <a:rPr lang="en-US" dirty="0"/>
              <a:t>When creating a subtype in Access, we need to be careful how we identify the foreign key.</a:t>
            </a:r>
          </a:p>
          <a:p>
            <a:pPr algn="just"/>
            <a:endParaRPr lang="en-US" dirty="0"/>
          </a:p>
          <a:p>
            <a:pPr algn="just"/>
            <a:r>
              <a:rPr lang="en-US" dirty="0"/>
              <a:t>If </a:t>
            </a:r>
            <a:r>
              <a:rPr lang="en-US" sz="2400" b="1" dirty="0"/>
              <a:t>table B is a subtype of table A</a:t>
            </a:r>
            <a:r>
              <a:rPr lang="en-US" dirty="0"/>
              <a:t>, then, to create the subtype relationship in Access in the relationship window, we </a:t>
            </a:r>
            <a:r>
              <a:rPr lang="en-US" sz="2400" b="1" dirty="0"/>
              <a:t>drag the primary key of A onto the primary key (foreign key to A) of B</a:t>
            </a:r>
            <a:r>
              <a:rPr lang="en-US" b="1" dirty="0"/>
              <a:t>. </a:t>
            </a:r>
          </a:p>
          <a:p>
            <a:pPr algn="just"/>
            <a:endParaRPr lang="en-US" dirty="0"/>
          </a:p>
          <a:p>
            <a:pPr algn="just"/>
            <a:r>
              <a:rPr lang="en-US" dirty="0"/>
              <a:t>In our example, we would drag the primary key from STUDENTS onto the primary key from HONORS.</a:t>
            </a:r>
          </a:p>
          <a:p>
            <a:pPr algn="just"/>
            <a:r>
              <a:rPr lang="en-US" i="1" dirty="0"/>
              <a:t>If we do the other way around, Access will think that STUDENTS is a subtype of HONORS, so order matters!</a:t>
            </a:r>
          </a:p>
        </p:txBody>
      </p:sp>
      <p:sp>
        <p:nvSpPr>
          <p:cNvPr id="5" name="Slide Number Placeholder 4"/>
          <p:cNvSpPr>
            <a:spLocks noGrp="1"/>
          </p:cNvSpPr>
          <p:nvPr>
            <p:ph type="sldNum" sz="quarter" idx="12"/>
          </p:nvPr>
        </p:nvSpPr>
        <p:spPr/>
        <p:txBody>
          <a:bodyPr/>
          <a:lstStyle/>
          <a:p>
            <a:fld id="{87F3E754-1C97-4481-A18C-9D97ADBDF344}" type="slidenum">
              <a:rPr lang="en-US" smtClean="0"/>
              <a:t>8</a:t>
            </a:fld>
            <a:endParaRPr lang="en-US"/>
          </a:p>
        </p:txBody>
      </p:sp>
    </p:spTree>
    <p:extLst>
      <p:ext uri="{BB962C8B-B14F-4D97-AF65-F5344CB8AC3E}">
        <p14:creationId xmlns:p14="http://schemas.microsoft.com/office/powerpoint/2010/main" val="213355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1120</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Subtypes</vt:lpstr>
      <vt:lpstr>Outline</vt:lpstr>
      <vt:lpstr>Honors Program of ESU’s Economics Department</vt:lpstr>
      <vt:lpstr>Honors Program of ESU’s Economics Department</vt:lpstr>
      <vt:lpstr>PowerPoint Presentation</vt:lpstr>
      <vt:lpstr>PowerPoint Presentation</vt:lpstr>
      <vt:lpstr>Subtypes / Supertypes</vt:lpstr>
      <vt:lpstr>Creating a subtype in Access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Subtypes</dc:title>
  <dc:creator>Disha Parkhi</dc:creator>
  <cp:lastModifiedBy>Disha Parkhi</cp:lastModifiedBy>
  <cp:revision>1</cp:revision>
  <dcterms:created xsi:type="dcterms:W3CDTF">2020-08-22T21:05:50Z</dcterms:created>
  <dcterms:modified xsi:type="dcterms:W3CDTF">2020-08-22T21:07:31Z</dcterms:modified>
</cp:coreProperties>
</file>