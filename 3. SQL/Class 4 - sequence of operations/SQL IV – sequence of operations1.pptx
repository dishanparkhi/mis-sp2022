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92" r:id="rId3"/>
    <p:sldId id="295" r:id="rId4"/>
    <p:sldId id="312" r:id="rId5"/>
    <p:sldId id="314" r:id="rId6"/>
    <p:sldId id="315" r:id="rId7"/>
    <p:sldId id="316" r:id="rId8"/>
    <p:sldId id="317" r:id="rId9"/>
    <p:sldId id="320" r:id="rId10"/>
    <p:sldId id="326" r:id="rId11"/>
    <p:sldId id="321" r:id="rId12"/>
    <p:sldId id="304" r:id="rId13"/>
    <p:sldId id="306" r:id="rId14"/>
    <p:sldId id="322" r:id="rId15"/>
    <p:sldId id="324" r:id="rId16"/>
    <p:sldId id="32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7E2B90-7F21-4E67-B0CC-8EC8677041D7}">
          <p14:sldIdLst/>
        </p14:section>
        <p14:section name="Default Section" id="{C892008D-43F3-4264-941F-487151B80BC1}">
          <p14:sldIdLst>
            <p14:sldId id="257"/>
            <p14:sldId id="292"/>
            <p14:sldId id="295"/>
            <p14:sldId id="312"/>
            <p14:sldId id="314"/>
            <p14:sldId id="315"/>
            <p14:sldId id="316"/>
            <p14:sldId id="317"/>
            <p14:sldId id="320"/>
            <p14:sldId id="326"/>
            <p14:sldId id="321"/>
            <p14:sldId id="304"/>
            <p14:sldId id="306"/>
            <p14:sldId id="322"/>
          </p14:sldIdLst>
        </p14:section>
        <p14:section name="Practice" id="{5FD2C9C1-00CA-5946-84D9-0A5B3AF000BD}">
          <p14:sldIdLst>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AC9B9C13-A09E-48F1-97B6-C9045FEC1FE6}"/>
    <pc:docChg chg="undo custSel modSld">
      <pc:chgData name="Disha Parkhi" userId="7ca7a02737f3c9a0" providerId="LiveId" clId="{AC9B9C13-A09E-48F1-97B6-C9045FEC1FE6}" dt="2021-04-08T23:28:14.725" v="3" actId="14734"/>
      <pc:docMkLst>
        <pc:docMk/>
      </pc:docMkLst>
      <pc:sldChg chg="modSp mod">
        <pc:chgData name="Disha Parkhi" userId="7ca7a02737f3c9a0" providerId="LiveId" clId="{AC9B9C13-A09E-48F1-97B6-C9045FEC1FE6}" dt="2021-04-08T23:18:54.571" v="0" actId="14100"/>
        <pc:sldMkLst>
          <pc:docMk/>
          <pc:sldMk cId="3857339781" sldId="292"/>
        </pc:sldMkLst>
        <pc:spChg chg="mod">
          <ac:chgData name="Disha Parkhi" userId="7ca7a02737f3c9a0" providerId="LiveId" clId="{AC9B9C13-A09E-48F1-97B6-C9045FEC1FE6}" dt="2021-04-08T23:18:54.571" v="0" actId="14100"/>
          <ac:spMkLst>
            <pc:docMk/>
            <pc:sldMk cId="3857339781" sldId="292"/>
            <ac:spMk id="3" creationId="{00000000-0000-0000-0000-000000000000}"/>
          </ac:spMkLst>
        </pc:spChg>
      </pc:sldChg>
      <pc:sldChg chg="modSp mod">
        <pc:chgData name="Disha Parkhi" userId="7ca7a02737f3c9a0" providerId="LiveId" clId="{AC9B9C13-A09E-48F1-97B6-C9045FEC1FE6}" dt="2021-04-08T23:20:06.829" v="1" actId="14100"/>
        <pc:sldMkLst>
          <pc:docMk/>
          <pc:sldMk cId="1150014788" sldId="312"/>
        </pc:sldMkLst>
        <pc:spChg chg="mod">
          <ac:chgData name="Disha Parkhi" userId="7ca7a02737f3c9a0" providerId="LiveId" clId="{AC9B9C13-A09E-48F1-97B6-C9045FEC1FE6}" dt="2021-04-08T23:20:06.829" v="1" actId="14100"/>
          <ac:spMkLst>
            <pc:docMk/>
            <pc:sldMk cId="1150014788" sldId="312"/>
            <ac:spMk id="6" creationId="{00000000-0000-0000-0000-000000000000}"/>
          </ac:spMkLst>
        </pc:spChg>
      </pc:sldChg>
      <pc:sldChg chg="modSp mod">
        <pc:chgData name="Disha Parkhi" userId="7ca7a02737f3c9a0" providerId="LiveId" clId="{AC9B9C13-A09E-48F1-97B6-C9045FEC1FE6}" dt="2021-04-08T23:28:14.725" v="3" actId="14734"/>
        <pc:sldMkLst>
          <pc:docMk/>
          <pc:sldMk cId="1017148678" sldId="314"/>
        </pc:sldMkLst>
        <pc:graphicFrameChg chg="modGraphic">
          <ac:chgData name="Disha Parkhi" userId="7ca7a02737f3c9a0" providerId="LiveId" clId="{AC9B9C13-A09E-48F1-97B6-C9045FEC1FE6}" dt="2021-04-08T23:28:14.725" v="3" actId="14734"/>
          <ac:graphicFrameMkLst>
            <pc:docMk/>
            <pc:sldMk cId="1017148678" sldId="314"/>
            <ac:graphicFrameMk id="18335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E190C-D2FF-460A-976C-88906C571A85}" type="datetimeFigureOut">
              <a:rPr lang="en-US" smtClean="0"/>
              <a:t>4/8/2021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52064B-C704-4AB6-8F48-AC85419A0FCC}" type="slidenum">
              <a:rPr lang="en-US" smtClean="0"/>
              <a:t>‹#›</a:t>
            </a:fld>
            <a:endParaRPr lang="en-US"/>
          </a:p>
        </p:txBody>
      </p:sp>
    </p:spTree>
    <p:extLst>
      <p:ext uri="{BB962C8B-B14F-4D97-AF65-F5344CB8AC3E}">
        <p14:creationId xmlns:p14="http://schemas.microsoft.com/office/powerpoint/2010/main" val="3396434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5</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6</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7</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8</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9</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10</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AD065-7167-487D-84C4-7B47B901E43C}" type="slidenum">
              <a:rPr lang="en-US"/>
              <a:pPr/>
              <a:t>11</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8876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928A8-54A3-476F-A340-A28068800E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9C0459-EE88-460E-95BD-E77C11C51A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700131-6210-470F-A24B-422744FAC725}"/>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8456EC62-8D93-4216-859C-452F102F7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C436A8-D99C-403A-87BB-101EAD2D20FC}"/>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1734972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2B742-6985-4EA4-87A6-0AB1002F44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ECB60D-76A9-4A36-B0CF-9BEF5D74BF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4327BB-F292-4891-8D84-70FE34975E9B}"/>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C02FC46C-94CE-4BD2-A875-333BA615D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73A2E-E7F9-4CD4-A09F-62B1BEF7DC6F}"/>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71543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A4A0E-5F05-4E89-B4AD-7C8A9C9E3F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BB9640-CDC9-4B62-A9B0-D68ED5FCF2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704809-170E-44DA-BF85-7C1F5D2CC1C9}"/>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4214BA99-895F-4BF6-A26E-B28653F7D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F2385-4AFE-47A2-8F78-E59656E00CA3}"/>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289169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85C23-93ED-4A53-ADF8-760F42939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B56680-F58C-4F6F-AE1D-CC43193754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0D084D-118D-44CF-B7FB-F3D3B1FA8A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542B3A-16E6-4DF4-8BA5-76611582240A}"/>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6" name="Footer Placeholder 5">
            <a:extLst>
              <a:ext uri="{FF2B5EF4-FFF2-40B4-BE49-F238E27FC236}">
                <a16:creationId xmlns:a16="http://schemas.microsoft.com/office/drawing/2014/main" id="{45E65187-30FA-43A5-AF17-BF7B37C245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67825B-D840-4D3C-A29C-B835C79EC07A}"/>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229503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6BD8E-1726-4A2D-A568-0945DB6389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E18706-59BE-4CBB-861C-9A0DF66EA4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AED0E7-0383-4D3D-B90A-4BEEEBE7C8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BD9B1-D6B6-4C27-BE57-676523DDB8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EE4B11-C407-407A-8A03-C5A307B3FA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A65954-22DD-424C-BA8E-0D17446B1BBF}"/>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8" name="Footer Placeholder 7">
            <a:extLst>
              <a:ext uri="{FF2B5EF4-FFF2-40B4-BE49-F238E27FC236}">
                <a16:creationId xmlns:a16="http://schemas.microsoft.com/office/drawing/2014/main" id="{F9FC97B3-0091-4C84-BC81-E1F7E2B396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48989-DA4F-4559-90B6-F0EF6CA700AD}"/>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1176036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4A8D-5474-48BF-BF99-FE040B8FC9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8AC1A1-C199-4221-88FE-4FA812B231D6}"/>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4" name="Footer Placeholder 3">
            <a:extLst>
              <a:ext uri="{FF2B5EF4-FFF2-40B4-BE49-F238E27FC236}">
                <a16:creationId xmlns:a16="http://schemas.microsoft.com/office/drawing/2014/main" id="{D472E24D-5F39-4E4D-8039-D2B9AA70F1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DC2333-A1E0-4D40-A9F5-41326212AC73}"/>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4288982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EDD8A-3992-47E5-9761-1413CC46736E}"/>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3" name="Footer Placeholder 2">
            <a:extLst>
              <a:ext uri="{FF2B5EF4-FFF2-40B4-BE49-F238E27FC236}">
                <a16:creationId xmlns:a16="http://schemas.microsoft.com/office/drawing/2014/main" id="{7BB6CFD3-3844-411F-94F3-7035ABE75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16A8D4-95D4-49D5-BAD6-664E054E10A6}"/>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1163210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2FD9-ECA1-43EE-9197-69A7BABA7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5A1D9D-8D48-487F-B0AD-BB5FA9BEF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9BCE6D-83AE-4DAE-9B33-2DA2A3352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AB2522-FB84-418A-8A37-6656761BEE14}"/>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6" name="Footer Placeholder 5">
            <a:extLst>
              <a:ext uri="{FF2B5EF4-FFF2-40B4-BE49-F238E27FC236}">
                <a16:creationId xmlns:a16="http://schemas.microsoft.com/office/drawing/2014/main" id="{B0F3C381-401C-4A7E-9643-BBBBAF2F25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F16B39-CEE2-4127-ABE3-ECAA330D7F4D}"/>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71574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C344-9AC8-494A-A285-2F4A0C03B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E32D3A-04E9-43D3-84E2-95DD058060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280B02-2C46-4D61-8FD6-91C3BC33C0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C005F-4163-4A6E-B2D6-4FC1523FEC68}"/>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6" name="Footer Placeholder 5">
            <a:extLst>
              <a:ext uri="{FF2B5EF4-FFF2-40B4-BE49-F238E27FC236}">
                <a16:creationId xmlns:a16="http://schemas.microsoft.com/office/drawing/2014/main" id="{0A532250-23C0-4C26-A908-8F7B42EA04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D3E851-239D-4B24-A45A-478CDEBA6735}"/>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200202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4881-76F9-4EDF-BD2A-8846D0F466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B3596B-75D3-4EDD-85FF-B5E4D9EB5E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A00C73-583D-44F0-A763-1E7541B4E993}"/>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12DEDDD6-5865-44FB-A767-673624604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FCD19E-27A1-4E8B-9473-46BC636DB69D}"/>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72112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E16823-12A9-4B44-8345-445A8AE701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646452-4A52-4931-BD3A-4592D35818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79CE6-D5A7-42ED-950F-E0931059D91A}"/>
              </a:ext>
            </a:extLst>
          </p:cNvPr>
          <p:cNvSpPr>
            <a:spLocks noGrp="1"/>
          </p:cNvSpPr>
          <p:nvPr>
            <p:ph type="dt" sz="half" idx="10"/>
          </p:nvPr>
        </p:nvSpPr>
        <p:spPr/>
        <p:txBody>
          <a:body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F95CE708-4B94-4A01-BE5A-D24C81D02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33AE1-6261-4FFF-A46E-57A5AA45DCCB}"/>
              </a:ext>
            </a:extLst>
          </p:cNvPr>
          <p:cNvSpPr>
            <a:spLocks noGrp="1"/>
          </p:cNvSpPr>
          <p:nvPr>
            <p:ph type="sldNum" sz="quarter" idx="12"/>
          </p:nvPr>
        </p:nvSpPr>
        <p:spPr/>
        <p:txBody>
          <a:bodyPr/>
          <a:lstStyle/>
          <a:p>
            <a:fld id="{6746ABE5-186A-4F9B-8ACA-857CEF189F28}" type="slidenum">
              <a:rPr lang="en-US" smtClean="0"/>
              <a:t>‹#›</a:t>
            </a:fld>
            <a:endParaRPr lang="en-US"/>
          </a:p>
        </p:txBody>
      </p:sp>
    </p:spTree>
    <p:extLst>
      <p:ext uri="{BB962C8B-B14F-4D97-AF65-F5344CB8AC3E}">
        <p14:creationId xmlns:p14="http://schemas.microsoft.com/office/powerpoint/2010/main" val="288824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2605A9-1163-4275-8229-2B9CFBD93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2A1659-997C-4ED0-8EC7-9E33DA181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6BB441-87E0-4D40-B584-5703A08DCB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783F8-4CCC-4DB9-8FAC-48621396129F}" type="datetimeFigureOut">
              <a:rPr lang="en-US" smtClean="0"/>
              <a:t>4/8/2021</a:t>
            </a:fld>
            <a:endParaRPr lang="en-US"/>
          </a:p>
        </p:txBody>
      </p:sp>
      <p:sp>
        <p:nvSpPr>
          <p:cNvPr id="5" name="Footer Placeholder 4">
            <a:extLst>
              <a:ext uri="{FF2B5EF4-FFF2-40B4-BE49-F238E27FC236}">
                <a16:creationId xmlns:a16="http://schemas.microsoft.com/office/drawing/2014/main" id="{78799D85-86AB-4F87-A7E0-204860DD44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C93719-9E72-4954-A8D5-0FA0AD9B3F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46ABE5-186A-4F9B-8ACA-857CEF189F28}" type="slidenum">
              <a:rPr lang="en-US" smtClean="0"/>
              <a:t>‹#›</a:t>
            </a:fld>
            <a:endParaRPr lang="en-US"/>
          </a:p>
        </p:txBody>
      </p:sp>
    </p:spTree>
    <p:extLst>
      <p:ext uri="{BB962C8B-B14F-4D97-AF65-F5344CB8AC3E}">
        <p14:creationId xmlns:p14="http://schemas.microsoft.com/office/powerpoint/2010/main" val="3580168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9" y="770467"/>
            <a:ext cx="8580277" cy="3352800"/>
          </a:xfrm>
        </p:spPr>
        <p:txBody>
          <a:bodyPr/>
          <a:lstStyle/>
          <a:p>
            <a:r>
              <a:rPr lang="en-US" dirty="0"/>
              <a:t>SQL IV – sequence of operations</a:t>
            </a:r>
            <a:endParaRPr lang="en-US" sz="5400" i="1" dirty="0"/>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solidFill>
                <a:schemeClr val="tx1"/>
              </a:solidFill>
            </a:endParaRPr>
          </a:p>
          <a:p>
            <a:r>
              <a:rPr lang="en-US" b="1" dirty="0">
                <a:solidFill>
                  <a:schemeClr val="tx1"/>
                </a:solidFill>
              </a:rPr>
              <a:t>Management Information Systems</a:t>
            </a:r>
          </a:p>
          <a:p>
            <a:r>
              <a:rPr lang="en-US"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7" y="2157733"/>
            <a:ext cx="4334301" cy="2116814"/>
          </a:xfrm>
        </p:spPr>
        <p:txBody>
          <a:bodyPr>
            <a:normAutofit/>
          </a:bodyPr>
          <a:lstStyle/>
          <a:p>
            <a:pPr>
              <a:lnSpc>
                <a:spcPct val="150000"/>
              </a:lnSpc>
              <a:buFont typeface="Wingdings" panose="05000000000000000000" pitchFamily="2" charset="2"/>
              <a:buChar char="§"/>
            </a:pPr>
            <a:r>
              <a:rPr lang="en-US" dirty="0"/>
              <a:t> SQL behind the scenes: conceptual sequence of operations in a query</a:t>
            </a:r>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5" name="Content Placeholder 8"/>
          <p:cNvSpPr txBox="1">
            <a:spLocks/>
          </p:cNvSpPr>
          <p:nvPr/>
        </p:nvSpPr>
        <p:spPr>
          <a:xfrm>
            <a:off x="6657861" y="1993393"/>
            <a:ext cx="3601893" cy="2281153"/>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sz="2200" i="1" dirty="0"/>
              <a:t> Posted notes</a:t>
            </a:r>
          </a:p>
          <a:p>
            <a:pPr>
              <a:lnSpc>
                <a:spcPct val="100000"/>
              </a:lnSpc>
              <a:buFont typeface="Wingdings" charset="2"/>
              <a:buChar char="ü"/>
            </a:pPr>
            <a:r>
              <a:rPr lang="en-US" sz="2200" i="1" dirty="0"/>
              <a:t>Book - Chapter 10: 240-243</a:t>
            </a:r>
          </a:p>
          <a:p>
            <a:pPr marL="0" indent="0">
              <a:lnSpc>
                <a:spcPct val="100000"/>
              </a:lnSpc>
              <a:buNone/>
            </a:pPr>
            <a:endParaRPr lang="en-US" dirty="0"/>
          </a:p>
        </p:txBody>
      </p:sp>
    </p:spTree>
    <p:extLst>
      <p:ext uri="{BB962C8B-B14F-4D97-AF65-F5344CB8AC3E}">
        <p14:creationId xmlns:p14="http://schemas.microsoft.com/office/powerpoint/2010/main" val="385733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212" y="304069"/>
            <a:ext cx="8079581" cy="999753"/>
          </a:xfrm>
        </p:spPr>
        <p:txBody>
          <a:bodyPr>
            <a:normAutofit/>
          </a:bodyPr>
          <a:lstStyle/>
          <a:p>
            <a:r>
              <a:rPr lang="en-US" sz="5400" dirty="0"/>
              <a:t>SQL keywords order</a:t>
            </a:r>
          </a:p>
        </p:txBody>
      </p:sp>
      <p:sp>
        <p:nvSpPr>
          <p:cNvPr id="3" name="Content Placeholder 2"/>
          <p:cNvSpPr>
            <a:spLocks noGrp="1"/>
          </p:cNvSpPr>
          <p:nvPr>
            <p:ph idx="1"/>
          </p:nvPr>
        </p:nvSpPr>
        <p:spPr>
          <a:xfrm>
            <a:off x="1912237" y="1596980"/>
            <a:ext cx="8649454" cy="4836772"/>
          </a:xfrm>
        </p:spPr>
        <p:txBody>
          <a:bodyPr>
            <a:noAutofit/>
          </a:bodyPr>
          <a:lstStyle/>
          <a:p>
            <a:pPr marL="0" indent="0" algn="just">
              <a:lnSpc>
                <a:spcPct val="100000"/>
              </a:lnSpc>
              <a:spcBef>
                <a:spcPts val="0"/>
              </a:spcBef>
              <a:buNone/>
            </a:pPr>
            <a:r>
              <a:rPr lang="en-US" sz="2000" dirty="0"/>
              <a:t>When </a:t>
            </a:r>
            <a:r>
              <a:rPr lang="en-US" sz="2000" u="sng" dirty="0"/>
              <a:t>writing</a:t>
            </a:r>
            <a:r>
              <a:rPr lang="en-US" sz="2000" dirty="0"/>
              <a:t> a query, the following order of the SQL keywords must be respected:</a:t>
            </a:r>
          </a:p>
          <a:p>
            <a:pPr marL="1708560" lvl="8" indent="0" algn="just">
              <a:lnSpc>
                <a:spcPct val="100000"/>
              </a:lnSpc>
              <a:spcBef>
                <a:spcPts val="0"/>
              </a:spcBef>
              <a:buNone/>
            </a:pPr>
            <a:endParaRPr lang="en-US" sz="1600" dirty="0"/>
          </a:p>
          <a:p>
            <a:pPr marL="1708560" lvl="8" indent="0" algn="just">
              <a:lnSpc>
                <a:spcPct val="100000"/>
              </a:lnSpc>
              <a:spcBef>
                <a:spcPts val="0"/>
              </a:spcBef>
              <a:buNone/>
            </a:pPr>
            <a:endParaRPr lang="en-US" sz="1600" dirty="0"/>
          </a:p>
          <a:p>
            <a:pPr lvl="1"/>
            <a:r>
              <a:rPr lang="en-US" dirty="0"/>
              <a:t>SELECT {DISTINCT}  </a:t>
            </a:r>
            <a:r>
              <a:rPr lang="en-US" i="1" dirty="0"/>
              <a:t>expressions1	  </a:t>
            </a:r>
            <a:r>
              <a:rPr lang="en-US" sz="1600" dirty="0"/>
              <a:t>{}</a:t>
            </a:r>
            <a:r>
              <a:rPr lang="en-US" sz="1600" i="1" dirty="0"/>
              <a:t> means </a:t>
            </a:r>
            <a:r>
              <a:rPr lang="en-US" sz="1600" dirty="0"/>
              <a:t>DISTINCT</a:t>
            </a:r>
            <a:r>
              <a:rPr lang="en-US" sz="1600" i="1" dirty="0"/>
              <a:t> is optional</a:t>
            </a:r>
            <a:endParaRPr lang="en-US" dirty="0"/>
          </a:p>
          <a:p>
            <a:pPr lvl="1"/>
            <a:r>
              <a:rPr lang="en-US" dirty="0"/>
              <a:t>FROM     </a:t>
            </a:r>
            <a:r>
              <a:rPr lang="en-US" i="1" dirty="0"/>
              <a:t>tables</a:t>
            </a:r>
            <a:endParaRPr lang="en-US" dirty="0"/>
          </a:p>
          <a:p>
            <a:pPr lvl="1"/>
            <a:r>
              <a:rPr lang="en-US" dirty="0"/>
              <a:t>WHERE    </a:t>
            </a:r>
            <a:r>
              <a:rPr lang="en-US" i="1" dirty="0"/>
              <a:t>conditions1			</a:t>
            </a:r>
            <a:r>
              <a:rPr lang="en-US" sz="1600" i="1" dirty="0"/>
              <a:t>Optional</a:t>
            </a:r>
            <a:endParaRPr lang="en-US" sz="1600" dirty="0"/>
          </a:p>
          <a:p>
            <a:pPr lvl="1"/>
            <a:r>
              <a:rPr lang="en-US" dirty="0"/>
              <a:t>GROUP BY </a:t>
            </a:r>
            <a:r>
              <a:rPr lang="en-US" i="1" dirty="0"/>
              <a:t>expressions2		</a:t>
            </a:r>
            <a:r>
              <a:rPr lang="en-US" sz="1600" i="1" dirty="0"/>
              <a:t>Optional</a:t>
            </a:r>
            <a:endParaRPr lang="en-US" sz="1600" dirty="0"/>
          </a:p>
          <a:p>
            <a:pPr lvl="1"/>
            <a:r>
              <a:rPr lang="en-US" dirty="0"/>
              <a:t>HAVING   </a:t>
            </a:r>
            <a:r>
              <a:rPr lang="en-US" i="1" dirty="0"/>
              <a:t>conditions2			</a:t>
            </a:r>
            <a:r>
              <a:rPr lang="en-US" sz="1600" i="1" dirty="0"/>
              <a:t>Optional</a:t>
            </a:r>
            <a:endParaRPr lang="en-US" sz="1600" dirty="0"/>
          </a:p>
          <a:p>
            <a:pPr lvl="1"/>
            <a:r>
              <a:rPr lang="en-US" dirty="0"/>
              <a:t>ORDER BY </a:t>
            </a:r>
            <a:r>
              <a:rPr lang="en-US" i="1" dirty="0"/>
              <a:t>expressions3		</a:t>
            </a:r>
            <a:r>
              <a:rPr lang="en-US" sz="1600" i="1" dirty="0"/>
              <a:t>Optional</a:t>
            </a:r>
            <a:endParaRPr lang="en-US" sz="1600" dirty="0"/>
          </a:p>
          <a:p>
            <a:pPr lvl="1"/>
            <a:r>
              <a:rPr lang="en-US" dirty="0"/>
              <a:t>;</a:t>
            </a:r>
            <a:endParaRPr lang="en-US" sz="2000" dirty="0"/>
          </a:p>
          <a:p>
            <a:pPr marL="0" indent="0" algn="just">
              <a:buNone/>
            </a:pPr>
            <a:r>
              <a:rPr lang="en-US" b="1" dirty="0">
                <a:solidFill>
                  <a:srgbClr val="FF0000"/>
                </a:solidFill>
              </a:rPr>
              <a:t>However, a query is not processed necessarily in this order</a:t>
            </a:r>
            <a:r>
              <a:rPr lang="is-IS" b="1" dirty="0">
                <a:solidFill>
                  <a:srgbClr val="FF0000"/>
                </a:solidFill>
              </a:rPr>
              <a:t>….</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21922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4171" y="1834998"/>
            <a:ext cx="8866563" cy="5023002"/>
          </a:xfrm>
        </p:spPr>
        <p:txBody>
          <a:bodyPr>
            <a:noAutofit/>
          </a:bodyPr>
          <a:lstStyle/>
          <a:p>
            <a:pPr marL="457200" indent="-457200" algn="just">
              <a:lnSpc>
                <a:spcPct val="100000"/>
              </a:lnSpc>
              <a:buFont typeface="+mj-lt"/>
              <a:buAutoNum type="arabicPeriod"/>
            </a:pPr>
            <a:r>
              <a:rPr lang="en-US" sz="1950" b="1" dirty="0"/>
              <a:t>FROM:</a:t>
            </a:r>
            <a:r>
              <a:rPr lang="en-US" sz="1950" dirty="0"/>
              <a:t> Tables are called and joined if applicable; table aliases are created.</a:t>
            </a:r>
          </a:p>
          <a:p>
            <a:pPr marL="457200" indent="-457200" algn="just">
              <a:lnSpc>
                <a:spcPct val="100000"/>
              </a:lnSpc>
              <a:buFont typeface="+mj-lt"/>
              <a:buAutoNum type="arabicPeriod"/>
            </a:pPr>
            <a:r>
              <a:rPr lang="en-US" sz="1950" b="1" dirty="0"/>
              <a:t>WHERE: </a:t>
            </a:r>
            <a:r>
              <a:rPr lang="en-US" sz="1950" dirty="0"/>
              <a:t>Rows that do not meet the conditions are dropped. </a:t>
            </a:r>
          </a:p>
          <a:p>
            <a:pPr marL="457200" indent="-457200" algn="just">
              <a:lnSpc>
                <a:spcPct val="100000"/>
              </a:lnSpc>
              <a:buAutoNum type="arabicPeriod" startAt="3"/>
            </a:pPr>
            <a:r>
              <a:rPr lang="en-US" sz="1950" b="1" dirty="0"/>
              <a:t>GROUP BY: </a:t>
            </a:r>
            <a:r>
              <a:rPr lang="en-US" sz="1950" dirty="0"/>
              <a:t>Records are divided in groups; the aggregation function(s) values are calculated for each group; records of the same group are condensed into a single row (group).</a:t>
            </a:r>
            <a:endParaRPr lang="en-US" sz="1950" b="1" dirty="0"/>
          </a:p>
          <a:p>
            <a:pPr marL="457200" indent="-457200" algn="just">
              <a:lnSpc>
                <a:spcPct val="100000"/>
              </a:lnSpc>
              <a:buAutoNum type="arabicPeriod" startAt="3"/>
            </a:pPr>
            <a:r>
              <a:rPr lang="en-US" sz="1950" b="1" dirty="0"/>
              <a:t>HAVING: </a:t>
            </a:r>
            <a:r>
              <a:rPr lang="en-US" sz="1950" dirty="0"/>
              <a:t>the groups that do not meet the conditions are dropped.</a:t>
            </a:r>
          </a:p>
          <a:p>
            <a:pPr marL="457200" indent="-457200" algn="just">
              <a:lnSpc>
                <a:spcPct val="100000"/>
              </a:lnSpc>
              <a:buAutoNum type="arabicPeriod" startAt="5"/>
            </a:pPr>
            <a:r>
              <a:rPr lang="en-US" sz="1950" b="1" dirty="0"/>
              <a:t>ORDER BY: </a:t>
            </a:r>
            <a:r>
              <a:rPr lang="en-US" sz="1950" dirty="0"/>
              <a:t>the resulting rows are sorted.</a:t>
            </a:r>
          </a:p>
          <a:p>
            <a:pPr marL="457200" indent="-457200" algn="just">
              <a:lnSpc>
                <a:spcPct val="100000"/>
              </a:lnSpc>
              <a:buAutoNum type="arabicPeriod" startAt="5"/>
            </a:pPr>
            <a:r>
              <a:rPr lang="en-US" sz="1950" b="1" dirty="0"/>
              <a:t>SELECT: </a:t>
            </a:r>
            <a:r>
              <a:rPr lang="en-US" sz="1950" dirty="0"/>
              <a:t>all columns/attributes not appearing in the SELECT clause are deleted. Aliases in SELECT are created.</a:t>
            </a:r>
          </a:p>
          <a:p>
            <a:pPr marL="457200" indent="-457200" algn="just">
              <a:lnSpc>
                <a:spcPct val="100000"/>
              </a:lnSpc>
              <a:buAutoNum type="arabicPeriod" startAt="5"/>
            </a:pPr>
            <a:r>
              <a:rPr lang="en-US" sz="1950" b="1" dirty="0"/>
              <a:t>DISTINCT: </a:t>
            </a:r>
            <a:r>
              <a:rPr lang="en-US" sz="1950" dirty="0"/>
              <a:t>if DISTINCT was specified, any duplicate rows are deleted.</a:t>
            </a:r>
          </a:p>
          <a:p>
            <a:pPr marL="0" indent="0" algn="just">
              <a:lnSpc>
                <a:spcPct val="100000"/>
              </a:lnSpc>
              <a:buNone/>
            </a:pPr>
            <a:r>
              <a:rPr lang="en-US" sz="1950" i="1" dirty="0"/>
              <a:t>Finally, the query is ready to be shown to the user.</a:t>
            </a:r>
          </a:p>
          <a:p>
            <a:pPr marL="514350" indent="-514350" algn="just">
              <a:lnSpc>
                <a:spcPct val="100000"/>
              </a:lnSpc>
              <a:buFont typeface="+mj-lt"/>
              <a:buAutoNum type="arabicPeriod" startAt="4"/>
            </a:pPr>
            <a:endParaRPr lang="en-US" sz="1950" dirty="0"/>
          </a:p>
          <a:p>
            <a:pPr marL="457200" indent="-457200" algn="just">
              <a:lnSpc>
                <a:spcPct val="100000"/>
              </a:lnSpc>
              <a:buFont typeface="+mj-lt"/>
              <a:buAutoNum type="arabicPeriod"/>
            </a:pPr>
            <a:endParaRPr lang="en-US" sz="1950" dirty="0"/>
          </a:p>
          <a:p>
            <a:pPr marL="0" indent="0" algn="just">
              <a:lnSpc>
                <a:spcPct val="100000"/>
              </a:lnSpc>
              <a:buNone/>
            </a:pPr>
            <a:endParaRPr lang="en-US" sz="1950" dirty="0"/>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dirty="0"/>
          </a:p>
        </p:txBody>
      </p:sp>
      <p:sp>
        <p:nvSpPr>
          <p:cNvPr id="6" name="Title 1"/>
          <p:cNvSpPr>
            <a:spLocks noGrp="1"/>
          </p:cNvSpPr>
          <p:nvPr>
            <p:ph type="title"/>
          </p:nvPr>
        </p:nvSpPr>
        <p:spPr>
          <a:xfrm>
            <a:off x="1835331" y="234892"/>
            <a:ext cx="8719636" cy="1227337"/>
          </a:xfrm>
        </p:spPr>
        <p:txBody>
          <a:bodyPr>
            <a:noAutofit/>
          </a:bodyPr>
          <a:lstStyle/>
          <a:p>
            <a:pPr>
              <a:lnSpc>
                <a:spcPct val="100000"/>
              </a:lnSpc>
            </a:pPr>
            <a:r>
              <a:rPr lang="en-US" sz="3200" dirty="0">
                <a:solidFill>
                  <a:srgbClr val="50B4C8"/>
                </a:solidFill>
              </a:rPr>
              <a:t>Conceptually, we should think of a query as the following sequence of operations and in the following order:</a:t>
            </a:r>
          </a:p>
        </p:txBody>
      </p:sp>
    </p:spTree>
    <p:extLst>
      <p:ext uri="{BB962C8B-B14F-4D97-AF65-F5344CB8AC3E}">
        <p14:creationId xmlns:p14="http://schemas.microsoft.com/office/powerpoint/2010/main" val="115001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787137" y="1099161"/>
            <a:ext cx="8580544" cy="5647701"/>
          </a:xfrm>
          <a:prstGeom prst="rect">
            <a:avLst/>
          </a:prstGeom>
          <a:solidFill>
            <a:schemeClr val="bg1"/>
          </a:solidFill>
          <a:ln w="9525">
            <a:noFill/>
            <a:miter lim="800000"/>
            <a:headEnd/>
            <a:tailEnd/>
          </a:ln>
          <a:effectLst/>
        </p:spPr>
        <p:txBody>
          <a:bodyPr wrap="square">
            <a:spAutoFit/>
          </a:bodyPr>
          <a:lstStyle/>
          <a:p>
            <a:pPr eaLnBrk="0" hangingPunct="0"/>
            <a:r>
              <a:rPr lang="en-US" sz="2100" dirty="0">
                <a:solidFill>
                  <a:srgbClr val="000000"/>
                </a:solidFill>
                <a:ea typeface="Menlo" charset="0"/>
                <a:cs typeface="Calibri"/>
              </a:rPr>
              <a:t>Consider the following table named Purchase and the following query. </a:t>
            </a: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2200" dirty="0">
              <a:solidFill>
                <a:srgbClr val="000000"/>
              </a:solidFill>
              <a:ea typeface="Menlo" charset="0"/>
              <a:cs typeface="Calibri"/>
            </a:endParaRPr>
          </a:p>
          <a:p>
            <a:pPr eaLnBrk="0" hangingPunct="0"/>
            <a:endParaRPr lang="en-US" sz="6000" dirty="0">
              <a:solidFill>
                <a:srgbClr val="000000"/>
              </a:solidFill>
              <a:ea typeface="Menlo" charset="0"/>
              <a:cs typeface="Calibri"/>
            </a:endParaRPr>
          </a:p>
          <a:p>
            <a:pPr lvl="1" eaLnBrk="0" hangingPunct="0"/>
            <a:r>
              <a:rPr lang="en-US" sz="2100" i="1" dirty="0">
                <a:solidFill>
                  <a:srgbClr val="000000"/>
                </a:solidFill>
                <a:ea typeface="Menlo" charset="0"/>
                <a:cs typeface="Calibri"/>
              </a:rPr>
              <a:t>SELECT   product, SUM(quantity) AS </a:t>
            </a:r>
            <a:r>
              <a:rPr lang="en-US" sz="2100" i="1" dirty="0" err="1">
                <a:solidFill>
                  <a:srgbClr val="000000"/>
                </a:solidFill>
                <a:ea typeface="Menlo" charset="0"/>
                <a:cs typeface="Calibri"/>
              </a:rPr>
              <a:t>TotalSales</a:t>
            </a:r>
            <a:endParaRPr lang="en-US" sz="2100" i="1" dirty="0">
              <a:solidFill>
                <a:srgbClr val="000000"/>
              </a:solidFill>
              <a:ea typeface="Menlo" charset="0"/>
              <a:cs typeface="Calibri"/>
            </a:endParaRPr>
          </a:p>
          <a:p>
            <a:pPr lvl="1" eaLnBrk="0" hangingPunct="0"/>
            <a:r>
              <a:rPr lang="en-US" sz="2100" i="1" dirty="0">
                <a:solidFill>
                  <a:srgbClr val="000000"/>
                </a:solidFill>
                <a:ea typeface="Menlo" charset="0"/>
                <a:cs typeface="Calibri"/>
              </a:rPr>
              <a:t>FROM     Purchase</a:t>
            </a:r>
          </a:p>
          <a:p>
            <a:pPr lvl="1" eaLnBrk="0" hangingPunct="0"/>
            <a:r>
              <a:rPr lang="en-US" sz="2100" i="1" dirty="0">
                <a:solidFill>
                  <a:srgbClr val="000000"/>
                </a:solidFill>
                <a:ea typeface="Menlo" charset="0"/>
                <a:cs typeface="Calibri"/>
              </a:rPr>
              <a:t>WHERE    date &gt; #10/1/2005#</a:t>
            </a:r>
          </a:p>
          <a:p>
            <a:pPr lvl="1" eaLnBrk="0" hangingPunct="0"/>
            <a:r>
              <a:rPr lang="en-US" sz="2100" i="1" dirty="0">
                <a:solidFill>
                  <a:srgbClr val="000000"/>
                </a:solidFill>
                <a:ea typeface="Menlo" charset="0"/>
                <a:cs typeface="Calibri"/>
              </a:rPr>
              <a:t>GROUP BY product</a:t>
            </a:r>
          </a:p>
          <a:p>
            <a:pPr lvl="1" eaLnBrk="0" hangingPunct="0"/>
            <a:r>
              <a:rPr lang="en-US" sz="2100" i="1" dirty="0">
                <a:solidFill>
                  <a:srgbClr val="000000"/>
                </a:solidFill>
                <a:ea typeface="Menlo" charset="0"/>
                <a:cs typeface="Calibri"/>
              </a:rPr>
              <a:t>HAVING SUM(quantity)&gt;15;</a:t>
            </a:r>
          </a:p>
          <a:p>
            <a:pPr lvl="1" eaLnBrk="0" hangingPunct="0"/>
            <a:r>
              <a:rPr lang="en-US" sz="2100" i="1" dirty="0">
                <a:solidFill>
                  <a:srgbClr val="000000"/>
                </a:solidFill>
                <a:ea typeface="Menlo" charset="0"/>
                <a:cs typeface="Calibri"/>
              </a:rPr>
              <a:t>ORDER BY SUM(quantity) DESC;</a:t>
            </a:r>
          </a:p>
        </p:txBody>
      </p:sp>
      <p:sp>
        <p:nvSpPr>
          <p:cNvPr id="38" name="Slide Number Placeholder 4"/>
          <p:cNvSpPr>
            <a:spLocks noGrp="1"/>
          </p:cNvSpPr>
          <p:nvPr>
            <p:ph type="sldNum" sz="quarter" idx="12"/>
          </p:nvPr>
        </p:nvSpPr>
        <p:spPr/>
        <p:txBody>
          <a:bodyPr/>
          <a:lstStyle/>
          <a:p>
            <a:fld id="{3F57AEB7-BA22-4EB6-A91B-7EA529618DD9}" type="slidenum">
              <a:rPr lang="en-US"/>
              <a:pPr/>
              <a:t>5</a:t>
            </a:fld>
            <a:endParaRPr lang="en-US"/>
          </a:p>
        </p:txBody>
      </p:sp>
      <p:sp>
        <p:nvSpPr>
          <p:cNvPr id="183298" name="Rectangle 2"/>
          <p:cNvSpPr>
            <a:spLocks noGrp="1" noChangeArrowheads="1"/>
          </p:cNvSpPr>
          <p:nvPr>
            <p:ph type="title"/>
          </p:nvPr>
        </p:nvSpPr>
        <p:spPr>
          <a:xfrm>
            <a:off x="1524001" y="52846"/>
            <a:ext cx="9144000" cy="1143000"/>
          </a:xfrm>
        </p:spPr>
        <p:txBody>
          <a:bodyPr>
            <a:normAutofit/>
          </a:bodyPr>
          <a:lstStyle/>
          <a:p>
            <a:r>
              <a:rPr lang="en-US" dirty="0"/>
              <a:t>Example of the sequence of operations</a:t>
            </a:r>
            <a:endParaRPr lang="en-US" sz="3200" dirty="0"/>
          </a:p>
        </p:txBody>
      </p:sp>
      <p:graphicFrame>
        <p:nvGraphicFramePr>
          <p:cNvPr id="183354" name="Group 58"/>
          <p:cNvGraphicFramePr>
            <a:graphicFrameLocks noGrp="1"/>
          </p:cNvGraphicFramePr>
          <p:nvPr>
            <p:extLst>
              <p:ext uri="{D42A27DB-BD31-4B8C-83A1-F6EECF244321}">
                <p14:modId xmlns:p14="http://schemas.microsoft.com/office/powerpoint/2010/main" val="1529586173"/>
              </p:ext>
            </p:extLst>
          </p:nvPr>
        </p:nvGraphicFramePr>
        <p:xfrm>
          <a:off x="3782911" y="1647077"/>
          <a:ext cx="4785328" cy="2773680"/>
        </p:xfrm>
        <a:graphic>
          <a:graphicData uri="http://schemas.openxmlformats.org/drawingml/2006/table">
            <a:tbl>
              <a:tblPr firstRow="1">
                <a:tableStyleId>{B301B821-A1FF-4177-AEE7-76D212191A09}</a:tableStyleId>
              </a:tblPr>
              <a:tblGrid>
                <a:gridCol w="1196332">
                  <a:extLst>
                    <a:ext uri="{9D8B030D-6E8A-4147-A177-3AD203B41FA5}">
                      <a16:colId xmlns:a16="http://schemas.microsoft.com/office/drawing/2014/main" val="20000"/>
                    </a:ext>
                  </a:extLst>
                </a:gridCol>
                <a:gridCol w="1196332">
                  <a:extLst>
                    <a:ext uri="{9D8B030D-6E8A-4147-A177-3AD203B41FA5}">
                      <a16:colId xmlns:a16="http://schemas.microsoft.com/office/drawing/2014/main" val="20001"/>
                    </a:ext>
                  </a:extLst>
                </a:gridCol>
                <a:gridCol w="1196332">
                  <a:extLst>
                    <a:ext uri="{9D8B030D-6E8A-4147-A177-3AD203B41FA5}">
                      <a16:colId xmlns:a16="http://schemas.microsoft.com/office/drawing/2014/main" val="20002"/>
                    </a:ext>
                  </a:extLst>
                </a:gridCol>
                <a:gridCol w="1196332">
                  <a:extLst>
                    <a:ext uri="{9D8B030D-6E8A-4147-A177-3AD203B41FA5}">
                      <a16:colId xmlns:a16="http://schemas.microsoft.com/office/drawing/2014/main" val="20003"/>
                    </a:ext>
                  </a:extLst>
                </a:gridCol>
              </a:tblGrid>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Product</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Date</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Price</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Quantity</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extLst>
                  <a:ext uri="{0D108BD9-81ED-4DB2-BD59-A6C34878D82A}">
                    <a16:rowId xmlns:a16="http://schemas.microsoft.com/office/drawing/2014/main" val="10000"/>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Banana</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10/21</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dk1"/>
                          </a:solidFill>
                          <a:effectLst/>
                          <a:latin typeface="+mn-lt"/>
                        </a:rPr>
                        <a:t>0.75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20</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1"/>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Bagel</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10/25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1.50</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20</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2"/>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Bagel</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10/13</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3"/>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Soda</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10/10</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10</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extLst>
                  <a:ext uri="{0D108BD9-81ED-4DB2-BD59-A6C34878D82A}">
                    <a16:rowId xmlns:a16="http://schemas.microsoft.com/office/drawing/2014/main" val="10004"/>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Banana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10/02</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5"/>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Soda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09/25</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1714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957025" y="1419229"/>
            <a:ext cx="8513622" cy="1581972"/>
          </a:xfrm>
          <a:prstGeom prst="rect">
            <a:avLst/>
          </a:prstGeom>
          <a:solidFill>
            <a:schemeClr val="bg1"/>
          </a:solidFill>
          <a:ln w="9525">
            <a:noFill/>
            <a:miter lim="800000"/>
            <a:headEnd/>
            <a:tailEnd/>
          </a:ln>
          <a:effectLst/>
        </p:spPr>
        <p:txBody>
          <a:bodyPr wrap="square">
            <a:spAutoFit/>
          </a:bodyPr>
          <a:lstStyle/>
          <a:p>
            <a:pPr eaLnBrk="0" hangingPunct="0">
              <a:lnSpc>
                <a:spcPct val="110000"/>
              </a:lnSpc>
            </a:pPr>
            <a:r>
              <a:rPr lang="en-US" sz="2200" dirty="0"/>
              <a:t>The table specified in FROM is selected. If more than one, those tables are joined accordingly to the type of join. We may also think of any computed fields as being appended to the table during this step.</a:t>
            </a:r>
          </a:p>
          <a:p>
            <a:pPr eaLnBrk="0" hangingPunct="0">
              <a:lnSpc>
                <a:spcPct val="110000"/>
              </a:lnSpc>
            </a:pPr>
            <a:endParaRPr lang="en-US" sz="2200" dirty="0">
              <a:solidFill>
                <a:srgbClr val="000000"/>
              </a:solidFill>
              <a:ea typeface="Menlo" charset="0"/>
              <a:cs typeface="Calibri"/>
            </a:endParaRPr>
          </a:p>
        </p:txBody>
      </p:sp>
      <p:sp>
        <p:nvSpPr>
          <p:cNvPr id="38" name="Slide Number Placeholder 4"/>
          <p:cNvSpPr>
            <a:spLocks noGrp="1"/>
          </p:cNvSpPr>
          <p:nvPr>
            <p:ph type="sldNum" sz="quarter" idx="12"/>
          </p:nvPr>
        </p:nvSpPr>
        <p:spPr/>
        <p:txBody>
          <a:bodyPr/>
          <a:lstStyle/>
          <a:p>
            <a:fld id="{3F57AEB7-BA22-4EB6-A91B-7EA529618DD9}" type="slidenum">
              <a:rPr lang="en-US"/>
              <a:pPr/>
              <a:t>6</a:t>
            </a:fld>
            <a:endParaRPr lang="en-US"/>
          </a:p>
        </p:txBody>
      </p:sp>
      <p:sp>
        <p:nvSpPr>
          <p:cNvPr id="183298" name="Rectangle 2"/>
          <p:cNvSpPr>
            <a:spLocks noGrp="1" noChangeArrowheads="1"/>
          </p:cNvSpPr>
          <p:nvPr>
            <p:ph type="title"/>
          </p:nvPr>
        </p:nvSpPr>
        <p:spPr>
          <a:xfrm>
            <a:off x="2026782" y="327454"/>
            <a:ext cx="7534275" cy="1143000"/>
          </a:xfrm>
        </p:spPr>
        <p:txBody>
          <a:bodyPr>
            <a:normAutofit/>
          </a:bodyPr>
          <a:lstStyle/>
          <a:p>
            <a:r>
              <a:rPr lang="en-US" dirty="0"/>
              <a:t>1. FROM Purchase</a:t>
            </a:r>
            <a:endParaRPr lang="en-US" sz="3200" dirty="0"/>
          </a:p>
        </p:txBody>
      </p:sp>
      <p:graphicFrame>
        <p:nvGraphicFramePr>
          <p:cNvPr id="7" name="Group 58"/>
          <p:cNvGraphicFramePr>
            <a:graphicFrameLocks noGrp="1"/>
          </p:cNvGraphicFramePr>
          <p:nvPr/>
        </p:nvGraphicFramePr>
        <p:xfrm>
          <a:off x="3821172" y="3139757"/>
          <a:ext cx="4785328" cy="2773680"/>
        </p:xfrm>
        <a:graphic>
          <a:graphicData uri="http://schemas.openxmlformats.org/drawingml/2006/table">
            <a:tbl>
              <a:tblPr firstRow="1">
                <a:tableStyleId>{B301B821-A1FF-4177-AEE7-76D212191A09}</a:tableStyleId>
              </a:tblPr>
              <a:tblGrid>
                <a:gridCol w="1196332">
                  <a:extLst>
                    <a:ext uri="{9D8B030D-6E8A-4147-A177-3AD203B41FA5}">
                      <a16:colId xmlns:a16="http://schemas.microsoft.com/office/drawing/2014/main" val="20000"/>
                    </a:ext>
                  </a:extLst>
                </a:gridCol>
                <a:gridCol w="1196332">
                  <a:extLst>
                    <a:ext uri="{9D8B030D-6E8A-4147-A177-3AD203B41FA5}">
                      <a16:colId xmlns:a16="http://schemas.microsoft.com/office/drawing/2014/main" val="20001"/>
                    </a:ext>
                  </a:extLst>
                </a:gridCol>
                <a:gridCol w="1196332">
                  <a:extLst>
                    <a:ext uri="{9D8B030D-6E8A-4147-A177-3AD203B41FA5}">
                      <a16:colId xmlns:a16="http://schemas.microsoft.com/office/drawing/2014/main" val="20002"/>
                    </a:ext>
                  </a:extLst>
                </a:gridCol>
                <a:gridCol w="1196332">
                  <a:extLst>
                    <a:ext uri="{9D8B030D-6E8A-4147-A177-3AD203B41FA5}">
                      <a16:colId xmlns:a16="http://schemas.microsoft.com/office/drawing/2014/main" val="20003"/>
                    </a:ext>
                  </a:extLst>
                </a:gridCol>
              </a:tblGrid>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Product</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Date</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Price</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Quantity</a:t>
                      </a:r>
                      <a:endParaRPr kumimoji="0" lang="en-US" sz="2000" b="0" i="0" u="none" strike="noStrike" cap="none" normalizeH="0" baseline="0" dirty="0">
                        <a:ln>
                          <a:noFill/>
                        </a:ln>
                        <a:solidFill>
                          <a:schemeClr val="accent2"/>
                        </a:solidFill>
                        <a:effectLst/>
                        <a:latin typeface="Times New Roman" charset="0"/>
                      </a:endParaRPr>
                    </a:p>
                  </a:txBody>
                  <a:tcPr marL="68580" marR="68580" anchor="ctr" horzOverflow="overflow"/>
                </a:tc>
                <a:extLst>
                  <a:ext uri="{0D108BD9-81ED-4DB2-BD59-A6C34878D82A}">
                    <a16:rowId xmlns:a16="http://schemas.microsoft.com/office/drawing/2014/main" val="10000"/>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Banana</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10/21</a:t>
                      </a:r>
                      <a:endParaRPr kumimoji="0" lang="en-US" sz="2000" b="0" i="0" u="none" strike="noStrike" cap="none" normalizeH="0" baseline="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dk1"/>
                          </a:solidFill>
                          <a:effectLst/>
                          <a:latin typeface="+mn-lt"/>
                        </a:rPr>
                        <a:t>0.75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20</a:t>
                      </a:r>
                      <a:endParaRPr kumimoji="0" lang="en-US" sz="20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1"/>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Bagel</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10/25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1.50</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20</a:t>
                      </a:r>
                      <a:endParaRPr kumimoji="0" lang="en-US" sz="20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2"/>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Bagel</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10/13</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0.5</a:t>
                      </a:r>
                      <a:endParaRPr kumimoji="0" lang="en-US" sz="20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10</a:t>
                      </a:r>
                      <a:endParaRPr kumimoji="0" lang="en-US" sz="20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3"/>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Soda</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10/10</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effectLst/>
                          <a:latin typeface="+mn-lt"/>
                        </a:rPr>
                        <a:t>10</a:t>
                      </a:r>
                      <a:endParaRPr kumimoji="0" lang="en-US" sz="2000" b="0" i="0" u="none" strike="noStrike" cap="none" normalizeH="0" baseline="0" dirty="0">
                        <a:ln>
                          <a:noFill/>
                        </a:ln>
                        <a:solidFill>
                          <a:schemeClr val="tx1"/>
                        </a:solidFill>
                        <a:effectLst/>
                        <a:latin typeface="+mn-lt"/>
                      </a:endParaRPr>
                    </a:p>
                  </a:txBody>
                  <a:tcPr marL="68580" marR="68580" anchor="ctr" horzOverflow="overflow"/>
                </a:tc>
                <a:extLst>
                  <a:ext uri="{0D108BD9-81ED-4DB2-BD59-A6C34878D82A}">
                    <a16:rowId xmlns:a16="http://schemas.microsoft.com/office/drawing/2014/main" val="10004"/>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Banana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10/02</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5"/>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Soda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09/25</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06014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083480" y="1522511"/>
            <a:ext cx="8013286" cy="837152"/>
          </a:xfrm>
          <a:prstGeom prst="rect">
            <a:avLst/>
          </a:prstGeom>
          <a:solidFill>
            <a:schemeClr val="bg1"/>
          </a:solidFill>
          <a:ln w="9525">
            <a:noFill/>
            <a:miter lim="800000"/>
            <a:headEnd/>
            <a:tailEnd/>
          </a:ln>
          <a:effectLst/>
        </p:spPr>
        <p:txBody>
          <a:bodyPr wrap="square">
            <a:spAutoFit/>
          </a:bodyPr>
          <a:lstStyle/>
          <a:p>
            <a:pPr eaLnBrk="0" hangingPunct="0">
              <a:lnSpc>
                <a:spcPct val="110000"/>
              </a:lnSpc>
            </a:pPr>
            <a:r>
              <a:rPr lang="en-US" sz="2200" dirty="0"/>
              <a:t>Any rows that do not meet the WHERE conditions are dropped. </a:t>
            </a:r>
          </a:p>
          <a:p>
            <a:pPr eaLnBrk="0" hangingPunct="0">
              <a:lnSpc>
                <a:spcPct val="110000"/>
              </a:lnSpc>
            </a:pPr>
            <a:endParaRPr lang="en-US" sz="2200" dirty="0">
              <a:solidFill>
                <a:srgbClr val="000000"/>
              </a:solidFill>
              <a:ea typeface="Menlo" charset="0"/>
              <a:cs typeface="Calibri"/>
            </a:endParaRPr>
          </a:p>
        </p:txBody>
      </p:sp>
      <p:sp>
        <p:nvSpPr>
          <p:cNvPr id="38" name="Slide Number Placeholder 4"/>
          <p:cNvSpPr>
            <a:spLocks noGrp="1"/>
          </p:cNvSpPr>
          <p:nvPr>
            <p:ph type="sldNum" sz="quarter" idx="12"/>
          </p:nvPr>
        </p:nvSpPr>
        <p:spPr/>
        <p:txBody>
          <a:bodyPr/>
          <a:lstStyle/>
          <a:p>
            <a:fld id="{3F57AEB7-BA22-4EB6-A91B-7EA529618DD9}" type="slidenum">
              <a:rPr lang="en-US"/>
              <a:pPr/>
              <a:t>7</a:t>
            </a:fld>
            <a:endParaRPr lang="en-US"/>
          </a:p>
        </p:txBody>
      </p:sp>
      <p:sp>
        <p:nvSpPr>
          <p:cNvPr id="183298" name="Rectangle 2"/>
          <p:cNvSpPr>
            <a:spLocks noGrp="1" noChangeArrowheads="1"/>
          </p:cNvSpPr>
          <p:nvPr>
            <p:ph type="title"/>
          </p:nvPr>
        </p:nvSpPr>
        <p:spPr>
          <a:xfrm>
            <a:off x="2026782" y="327454"/>
            <a:ext cx="7534275" cy="1143000"/>
          </a:xfrm>
        </p:spPr>
        <p:txBody>
          <a:bodyPr>
            <a:normAutofit/>
          </a:bodyPr>
          <a:lstStyle/>
          <a:p>
            <a:r>
              <a:rPr lang="en-US" dirty="0"/>
              <a:t>2. WHERE date &gt; #10/1/2005#</a:t>
            </a:r>
            <a:br>
              <a:rPr lang="en-US" dirty="0"/>
            </a:br>
            <a:endParaRPr lang="en-US" sz="3200" dirty="0"/>
          </a:p>
        </p:txBody>
      </p:sp>
      <p:graphicFrame>
        <p:nvGraphicFramePr>
          <p:cNvPr id="7" name="Group 58"/>
          <p:cNvGraphicFramePr>
            <a:graphicFrameLocks noGrp="1"/>
          </p:cNvGraphicFramePr>
          <p:nvPr/>
        </p:nvGraphicFramePr>
        <p:xfrm>
          <a:off x="1803665" y="3351924"/>
          <a:ext cx="3496032" cy="2706745"/>
        </p:xfrm>
        <a:graphic>
          <a:graphicData uri="http://schemas.openxmlformats.org/drawingml/2006/table">
            <a:tbl>
              <a:tblPr firstRow="1">
                <a:tableStyleId>{B301B821-A1FF-4177-AEE7-76D212191A09}</a:tableStyleId>
              </a:tblPr>
              <a:tblGrid>
                <a:gridCol w="1000772">
                  <a:extLst>
                    <a:ext uri="{9D8B030D-6E8A-4147-A177-3AD203B41FA5}">
                      <a16:colId xmlns:a16="http://schemas.microsoft.com/office/drawing/2014/main" val="20000"/>
                    </a:ext>
                  </a:extLst>
                </a:gridCol>
                <a:gridCol w="709218">
                  <a:extLst>
                    <a:ext uri="{9D8B030D-6E8A-4147-A177-3AD203B41FA5}">
                      <a16:colId xmlns:a16="http://schemas.microsoft.com/office/drawing/2014/main" val="20001"/>
                    </a:ext>
                  </a:extLst>
                </a:gridCol>
                <a:gridCol w="696382">
                  <a:extLst>
                    <a:ext uri="{9D8B030D-6E8A-4147-A177-3AD203B41FA5}">
                      <a16:colId xmlns:a16="http://schemas.microsoft.com/office/drawing/2014/main" val="20002"/>
                    </a:ext>
                  </a:extLst>
                </a:gridCol>
                <a:gridCol w="1089660">
                  <a:extLst>
                    <a:ext uri="{9D8B030D-6E8A-4147-A177-3AD203B41FA5}">
                      <a16:colId xmlns:a16="http://schemas.microsoft.com/office/drawing/2014/main" val="20003"/>
                    </a:ext>
                  </a:extLst>
                </a:gridCol>
              </a:tblGrid>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Product</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Date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Price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Quantity</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extLst>
                  <a:ext uri="{0D108BD9-81ED-4DB2-BD59-A6C34878D82A}">
                    <a16:rowId xmlns:a16="http://schemas.microsoft.com/office/drawing/2014/main" val="10000"/>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Banana</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10/21</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dk1"/>
                          </a:solidFill>
                          <a:effectLst/>
                          <a:latin typeface="+mn-lt"/>
                        </a:rPr>
                        <a:t>0.75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20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1"/>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Bagel</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10/25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1.50</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20</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2"/>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Bagel</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10/13</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3"/>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Soda</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extLst>
                  <a:ext uri="{0D108BD9-81ED-4DB2-BD59-A6C34878D82A}">
                    <a16:rowId xmlns:a16="http://schemas.microsoft.com/office/drawing/2014/main" val="10004"/>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Banana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10/02</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5"/>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Soda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09/25</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6"/>
                  </a:ext>
                </a:extLst>
              </a:tr>
            </a:tbl>
          </a:graphicData>
        </a:graphic>
      </p:graphicFrame>
      <p:graphicFrame>
        <p:nvGraphicFramePr>
          <p:cNvPr id="8" name="Group 58"/>
          <p:cNvGraphicFramePr>
            <a:graphicFrameLocks noGrp="1"/>
          </p:cNvGraphicFramePr>
          <p:nvPr/>
        </p:nvGraphicFramePr>
        <p:xfrm>
          <a:off x="6729286" y="3351923"/>
          <a:ext cx="3496032" cy="2319764"/>
        </p:xfrm>
        <a:graphic>
          <a:graphicData uri="http://schemas.openxmlformats.org/drawingml/2006/table">
            <a:tbl>
              <a:tblPr firstRow="1">
                <a:tableStyleId>{B301B821-A1FF-4177-AEE7-76D212191A09}</a:tableStyleId>
              </a:tblPr>
              <a:tblGrid>
                <a:gridCol w="1000772">
                  <a:extLst>
                    <a:ext uri="{9D8B030D-6E8A-4147-A177-3AD203B41FA5}">
                      <a16:colId xmlns:a16="http://schemas.microsoft.com/office/drawing/2014/main" val="20000"/>
                    </a:ext>
                  </a:extLst>
                </a:gridCol>
                <a:gridCol w="709218">
                  <a:extLst>
                    <a:ext uri="{9D8B030D-6E8A-4147-A177-3AD203B41FA5}">
                      <a16:colId xmlns:a16="http://schemas.microsoft.com/office/drawing/2014/main" val="20001"/>
                    </a:ext>
                  </a:extLst>
                </a:gridCol>
                <a:gridCol w="696382">
                  <a:extLst>
                    <a:ext uri="{9D8B030D-6E8A-4147-A177-3AD203B41FA5}">
                      <a16:colId xmlns:a16="http://schemas.microsoft.com/office/drawing/2014/main" val="20002"/>
                    </a:ext>
                  </a:extLst>
                </a:gridCol>
                <a:gridCol w="1089660">
                  <a:extLst>
                    <a:ext uri="{9D8B030D-6E8A-4147-A177-3AD203B41FA5}">
                      <a16:colId xmlns:a16="http://schemas.microsoft.com/office/drawing/2014/main" val="20003"/>
                    </a:ext>
                  </a:extLst>
                </a:gridCol>
              </a:tblGrid>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Product</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Date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Price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Quantity</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extLst>
                  <a:ext uri="{0D108BD9-81ED-4DB2-BD59-A6C34878D82A}">
                    <a16:rowId xmlns:a16="http://schemas.microsoft.com/office/drawing/2014/main" val="10000"/>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Banana</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10/21</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dk1"/>
                          </a:solidFill>
                          <a:effectLst/>
                          <a:latin typeface="+mn-lt"/>
                        </a:rPr>
                        <a:t>0.75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20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1"/>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Bagel</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10/25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1.50</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20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2"/>
                  </a:ext>
                </a:extLst>
              </a:tr>
              <a:tr h="385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Bagel</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10/13</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3"/>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Soda</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extLst>
                  <a:ext uri="{0D108BD9-81ED-4DB2-BD59-A6C34878D82A}">
                    <a16:rowId xmlns:a16="http://schemas.microsoft.com/office/drawing/2014/main" val="10004"/>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Banana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10/02</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5"/>
                  </a:ext>
                </a:extLst>
              </a:tr>
            </a:tbl>
          </a:graphicData>
        </a:graphic>
      </p:graphicFrame>
      <p:sp>
        <p:nvSpPr>
          <p:cNvPr id="9" name="AutoShape 79"/>
          <p:cNvSpPr>
            <a:spLocks noChangeArrowheads="1"/>
          </p:cNvSpPr>
          <p:nvPr/>
        </p:nvSpPr>
        <p:spPr bwMode="auto">
          <a:xfrm>
            <a:off x="5749744" y="4209891"/>
            <a:ext cx="679406" cy="733663"/>
          </a:xfrm>
          <a:prstGeom prst="rightArrow">
            <a:avLst>
              <a:gd name="adj1" fmla="val 50000"/>
              <a:gd name="adj2" fmla="val 50245"/>
            </a:avLst>
          </a:prstGeom>
          <a:solidFill>
            <a:srgbClr val="C0C0C0">
              <a:alpha val="50000"/>
            </a:srgbClr>
          </a:solidFill>
          <a:ln w="9525">
            <a:solidFill>
              <a:schemeClr val="tx1"/>
            </a:solidFill>
            <a:miter lim="800000"/>
            <a:headEnd/>
            <a:tailEnd/>
          </a:ln>
          <a:effectLst/>
        </p:spPr>
        <p:txBody>
          <a:bodyPr wrap="square" anchor="ctr">
            <a:spAutoFit/>
          </a:bodyPr>
          <a:lstStyle/>
          <a:p>
            <a:endParaRPr lang="en-US"/>
          </a:p>
        </p:txBody>
      </p:sp>
      <p:cxnSp>
        <p:nvCxnSpPr>
          <p:cNvPr id="3" name="Straight Connector 2"/>
          <p:cNvCxnSpPr/>
          <p:nvPr/>
        </p:nvCxnSpPr>
        <p:spPr>
          <a:xfrm flipV="1">
            <a:off x="1912986" y="5858262"/>
            <a:ext cx="3237725" cy="11442"/>
          </a:xfrm>
          <a:prstGeom prst="line">
            <a:avLst/>
          </a:prstGeom>
          <a:ln w="28575" cmpd="sng">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86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524000" y="938974"/>
            <a:ext cx="8923766" cy="3477875"/>
          </a:xfrm>
          <a:prstGeom prst="rect">
            <a:avLst/>
          </a:prstGeom>
          <a:solidFill>
            <a:schemeClr val="bg1"/>
          </a:solidFill>
          <a:ln w="9525">
            <a:noFill/>
            <a:miter lim="800000"/>
            <a:headEnd/>
            <a:tailEnd/>
          </a:ln>
          <a:effectLst/>
        </p:spPr>
        <p:txBody>
          <a:bodyPr wrap="square">
            <a:spAutoFit/>
          </a:bodyPr>
          <a:lstStyle/>
          <a:p>
            <a:pPr marL="697230" lvl="1" indent="-514350" algn="just">
              <a:lnSpc>
                <a:spcPct val="110000"/>
              </a:lnSpc>
              <a:buFont typeface="+mj-lt"/>
              <a:buAutoNum type="romanLcPeriod"/>
            </a:pPr>
            <a:r>
              <a:rPr lang="en-US" sz="2100" dirty="0"/>
              <a:t>Records are divided based on the expressions in the GROUP BY clause: groups of records are created.</a:t>
            </a:r>
          </a:p>
          <a:p>
            <a:pPr marL="697230" lvl="1" indent="-514350" algn="just">
              <a:lnSpc>
                <a:spcPct val="110000"/>
              </a:lnSpc>
              <a:buFont typeface="+mj-lt"/>
              <a:buAutoNum type="romanLcPeriod"/>
            </a:pPr>
            <a:r>
              <a:rPr lang="en-US" sz="2100" dirty="0"/>
              <a:t>The aggregation function(s) values are calculated for each group;</a:t>
            </a:r>
          </a:p>
          <a:p>
            <a:pPr marL="697230" lvl="1" indent="-514350" algn="just">
              <a:lnSpc>
                <a:spcPct val="110000"/>
              </a:lnSpc>
              <a:buFont typeface="+mj-lt"/>
              <a:buAutoNum type="romanLcPeriod"/>
            </a:pPr>
            <a:r>
              <a:rPr lang="en-US" sz="2100" dirty="0"/>
              <a:t>Records of the same group are condensed into a single row (group), that has now the following columns: </a:t>
            </a:r>
            <a:r>
              <a:rPr lang="en-US" sz="2100" u="sng" dirty="0">
                <a:solidFill>
                  <a:schemeClr val="accent1"/>
                </a:solidFill>
              </a:rPr>
              <a:t>a column for each of the expressions in GROUP BY and a column for each aggregation function that shows up anywhere in the query</a:t>
            </a:r>
            <a:r>
              <a:rPr lang="en-US" sz="2100" dirty="0">
                <a:solidFill>
                  <a:schemeClr val="accent1"/>
                </a:solidFill>
              </a:rPr>
              <a:t>.</a:t>
            </a:r>
          </a:p>
          <a:p>
            <a:pPr eaLnBrk="0" hangingPunct="0">
              <a:lnSpc>
                <a:spcPct val="110000"/>
              </a:lnSpc>
            </a:pPr>
            <a:endParaRPr lang="en-US" sz="900" dirty="0">
              <a:solidFill>
                <a:srgbClr val="000000"/>
              </a:solidFill>
              <a:ea typeface="Menlo" charset="0"/>
              <a:cs typeface="Calibri"/>
            </a:endParaRPr>
          </a:p>
          <a:p>
            <a:pPr eaLnBrk="0" hangingPunct="0">
              <a:lnSpc>
                <a:spcPct val="110000"/>
              </a:lnSpc>
            </a:pPr>
            <a:r>
              <a:rPr lang="en-US" sz="2200" i="1" dirty="0">
                <a:ea typeface="Menlo" charset="0"/>
                <a:cs typeface="Calibri"/>
              </a:rPr>
              <a:t>In our example, records are grouped according to product name and the SUM(quantity) is calculated for each group.</a:t>
            </a:r>
          </a:p>
        </p:txBody>
      </p:sp>
      <p:sp>
        <p:nvSpPr>
          <p:cNvPr id="38" name="Slide Number Placeholder 4"/>
          <p:cNvSpPr>
            <a:spLocks noGrp="1"/>
          </p:cNvSpPr>
          <p:nvPr>
            <p:ph type="sldNum" sz="quarter" idx="12"/>
          </p:nvPr>
        </p:nvSpPr>
        <p:spPr/>
        <p:txBody>
          <a:bodyPr/>
          <a:lstStyle/>
          <a:p>
            <a:fld id="{3F57AEB7-BA22-4EB6-A91B-7EA529618DD9}" type="slidenum">
              <a:rPr lang="en-US"/>
              <a:pPr/>
              <a:t>8</a:t>
            </a:fld>
            <a:endParaRPr lang="en-US"/>
          </a:p>
        </p:txBody>
      </p:sp>
      <p:sp>
        <p:nvSpPr>
          <p:cNvPr id="183298" name="Rectangle 2"/>
          <p:cNvSpPr>
            <a:spLocks noGrp="1" noChangeArrowheads="1"/>
          </p:cNvSpPr>
          <p:nvPr>
            <p:ph type="title"/>
          </p:nvPr>
        </p:nvSpPr>
        <p:spPr>
          <a:xfrm>
            <a:off x="2003901" y="0"/>
            <a:ext cx="7534275" cy="903912"/>
          </a:xfrm>
        </p:spPr>
        <p:txBody>
          <a:bodyPr>
            <a:normAutofit/>
          </a:bodyPr>
          <a:lstStyle/>
          <a:p>
            <a:r>
              <a:rPr lang="en-US" dirty="0"/>
              <a:t>3. GROUP BY product</a:t>
            </a:r>
            <a:endParaRPr lang="en-US" sz="3200" dirty="0"/>
          </a:p>
        </p:txBody>
      </p:sp>
      <p:graphicFrame>
        <p:nvGraphicFramePr>
          <p:cNvPr id="9" name="Group 74"/>
          <p:cNvGraphicFramePr>
            <a:graphicFrameLocks noGrp="1"/>
          </p:cNvGraphicFramePr>
          <p:nvPr/>
        </p:nvGraphicFramePr>
        <p:xfrm>
          <a:off x="6978677" y="4510804"/>
          <a:ext cx="3128518" cy="1930997"/>
        </p:xfrm>
        <a:graphic>
          <a:graphicData uri="http://schemas.openxmlformats.org/drawingml/2006/table">
            <a:tbl>
              <a:tblPr firstRow="1">
                <a:tableStyleId>{B301B821-A1FF-4177-AEE7-76D212191A09}</a:tableStyleId>
              </a:tblPr>
              <a:tblGrid>
                <a:gridCol w="1270036">
                  <a:extLst>
                    <a:ext uri="{9D8B030D-6E8A-4147-A177-3AD203B41FA5}">
                      <a16:colId xmlns:a16="http://schemas.microsoft.com/office/drawing/2014/main" val="20000"/>
                    </a:ext>
                  </a:extLst>
                </a:gridCol>
                <a:gridCol w="1858482">
                  <a:extLst>
                    <a:ext uri="{9D8B030D-6E8A-4147-A177-3AD203B41FA5}">
                      <a16:colId xmlns:a16="http://schemas.microsoft.com/office/drawing/2014/main" val="20001"/>
                    </a:ext>
                  </a:extLst>
                </a:gridCol>
              </a:tblGrid>
              <a:tr h="4549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Product</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SUM(quantity)</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extLst>
                  <a:ext uri="{0D108BD9-81ED-4DB2-BD59-A6C34878D82A}">
                    <a16:rowId xmlns:a16="http://schemas.microsoft.com/office/drawing/2014/main" val="10000"/>
                  </a:ext>
                </a:extLst>
              </a:tr>
              <a:tr h="49407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Bagel</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30</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1"/>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Banana</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35</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2"/>
                  </a:ext>
                </a:extLst>
              </a:tr>
              <a:tr h="4805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Soda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10</a:t>
                      </a:r>
                    </a:p>
                  </a:txBody>
                  <a:tcPr marL="68580" marR="68580" anchor="ctr" horzOverflow="overflow"/>
                </a:tc>
                <a:extLst>
                  <a:ext uri="{0D108BD9-81ED-4DB2-BD59-A6C34878D82A}">
                    <a16:rowId xmlns:a16="http://schemas.microsoft.com/office/drawing/2014/main" val="10003"/>
                  </a:ext>
                </a:extLst>
              </a:tr>
            </a:tbl>
          </a:graphicData>
        </a:graphic>
      </p:graphicFrame>
      <p:graphicFrame>
        <p:nvGraphicFramePr>
          <p:cNvPr id="10" name="Group 58"/>
          <p:cNvGraphicFramePr>
            <a:graphicFrameLocks noGrp="1"/>
          </p:cNvGraphicFramePr>
          <p:nvPr/>
        </p:nvGraphicFramePr>
        <p:xfrm>
          <a:off x="2210199" y="4446702"/>
          <a:ext cx="3496032" cy="2318703"/>
        </p:xfrm>
        <a:graphic>
          <a:graphicData uri="http://schemas.openxmlformats.org/drawingml/2006/table">
            <a:tbl>
              <a:tblPr firstRow="1">
                <a:tableStyleId>{B301B821-A1FF-4177-AEE7-76D212191A09}</a:tableStyleId>
              </a:tblPr>
              <a:tblGrid>
                <a:gridCol w="1000772">
                  <a:extLst>
                    <a:ext uri="{9D8B030D-6E8A-4147-A177-3AD203B41FA5}">
                      <a16:colId xmlns:a16="http://schemas.microsoft.com/office/drawing/2014/main" val="20000"/>
                    </a:ext>
                  </a:extLst>
                </a:gridCol>
                <a:gridCol w="709218">
                  <a:extLst>
                    <a:ext uri="{9D8B030D-6E8A-4147-A177-3AD203B41FA5}">
                      <a16:colId xmlns:a16="http://schemas.microsoft.com/office/drawing/2014/main" val="20001"/>
                    </a:ext>
                  </a:extLst>
                </a:gridCol>
                <a:gridCol w="696382">
                  <a:extLst>
                    <a:ext uri="{9D8B030D-6E8A-4147-A177-3AD203B41FA5}">
                      <a16:colId xmlns:a16="http://schemas.microsoft.com/office/drawing/2014/main" val="20002"/>
                    </a:ext>
                  </a:extLst>
                </a:gridCol>
                <a:gridCol w="1089660">
                  <a:extLst>
                    <a:ext uri="{9D8B030D-6E8A-4147-A177-3AD203B41FA5}">
                      <a16:colId xmlns:a16="http://schemas.microsoft.com/office/drawing/2014/main" val="20003"/>
                    </a:ext>
                  </a:extLst>
                </a:gridCol>
              </a:tblGrid>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Product</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Date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Price</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Quantity</a:t>
                      </a:r>
                      <a:endParaRPr kumimoji="0" lang="en-US" sz="1800" b="0" i="0" u="none" strike="noStrike" cap="none" normalizeH="0" baseline="0" dirty="0">
                        <a:ln>
                          <a:noFill/>
                        </a:ln>
                        <a:solidFill>
                          <a:schemeClr val="accent2"/>
                        </a:solidFill>
                        <a:effectLst/>
                        <a:latin typeface="Times New Roman" charset="0"/>
                      </a:endParaRPr>
                    </a:p>
                  </a:txBody>
                  <a:tcPr marL="68580" marR="68580" anchor="ctr" horzOverflow="overflow"/>
                </a:tc>
                <a:extLst>
                  <a:ext uri="{0D108BD9-81ED-4DB2-BD59-A6C34878D82A}">
                    <a16:rowId xmlns:a16="http://schemas.microsoft.com/office/drawing/2014/main" val="10000"/>
                  </a:ext>
                </a:extLst>
              </a:tr>
              <a:tr h="386981">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Banana</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10/21</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dk1"/>
                          </a:solidFill>
                          <a:effectLst/>
                          <a:latin typeface="+mn-lt"/>
                        </a:rPr>
                        <a:t>0.75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20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1"/>
                  </a:ext>
                </a:extLst>
              </a:tr>
              <a:tr h="385920">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10/02</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15</a:t>
                      </a:r>
                    </a:p>
                  </a:txBody>
                  <a:tcPr marL="68580" marR="68580" anchor="ctr" horzOverflow="overflow"/>
                </a:tc>
                <a:extLst>
                  <a:ext uri="{0D108BD9-81ED-4DB2-BD59-A6C34878D82A}">
                    <a16:rowId xmlns:a16="http://schemas.microsoft.com/office/drawing/2014/main" val="10002"/>
                  </a:ext>
                </a:extLst>
              </a:tr>
              <a:tr h="38592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Bagel</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10/25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1.50</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20</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3"/>
                  </a:ext>
                </a:extLst>
              </a:tr>
              <a:tr h="385920">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10/13</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0.5</a:t>
                      </a:r>
                      <a:endParaRPr kumimoji="0" lang="en-US" sz="1800" b="0" i="0" u="none" strike="noStrike" cap="none" normalizeH="0" baseline="0" dirty="0">
                        <a:ln>
                          <a:noFill/>
                        </a:ln>
                        <a:solidFill>
                          <a:schemeClr val="tx1"/>
                        </a:solidFill>
                        <a:effectLst/>
                        <a:latin typeface="Times New Roman" charset="0"/>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10</a:t>
                      </a:r>
                      <a:endParaRPr kumimoji="0" lang="en-US" sz="1800" b="0" i="0" u="none" strike="noStrike" cap="none" normalizeH="0" baseline="0">
                        <a:ln>
                          <a:noFill/>
                        </a:ln>
                        <a:solidFill>
                          <a:schemeClr val="tx1"/>
                        </a:solidFill>
                        <a:effectLst/>
                        <a:latin typeface="Times New Roman" charset="0"/>
                      </a:endParaRPr>
                    </a:p>
                  </a:txBody>
                  <a:tcPr marL="68580" marR="68580" anchor="ctr" horzOverflow="overflow"/>
                </a:tc>
                <a:extLst>
                  <a:ext uri="{0D108BD9-81ED-4DB2-BD59-A6C34878D82A}">
                    <a16:rowId xmlns:a16="http://schemas.microsoft.com/office/drawing/2014/main" val="10004"/>
                  </a:ext>
                </a:extLst>
              </a:tr>
              <a:tr h="3869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Soda</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n-lt"/>
                        </a:rPr>
                        <a:t>10</a:t>
                      </a:r>
                      <a:endParaRPr kumimoji="0" lang="en-US" sz="1800" b="0" i="0" u="none" strike="noStrike" cap="none" normalizeH="0" baseline="0" dirty="0">
                        <a:ln>
                          <a:noFill/>
                        </a:ln>
                        <a:solidFill>
                          <a:schemeClr val="tx1"/>
                        </a:solidFill>
                        <a:effectLst/>
                        <a:latin typeface="+mn-lt"/>
                      </a:endParaRPr>
                    </a:p>
                  </a:txBody>
                  <a:tcPr marL="68580" marR="68580" anchor="ctr" horzOverflow="overflow"/>
                </a:tc>
                <a:extLst>
                  <a:ext uri="{0D108BD9-81ED-4DB2-BD59-A6C34878D82A}">
                    <a16:rowId xmlns:a16="http://schemas.microsoft.com/office/drawing/2014/main" val="10005"/>
                  </a:ext>
                </a:extLst>
              </a:tr>
            </a:tbl>
          </a:graphicData>
        </a:graphic>
      </p:graphicFrame>
      <p:sp>
        <p:nvSpPr>
          <p:cNvPr id="11" name="AutoShape 79"/>
          <p:cNvSpPr>
            <a:spLocks noChangeArrowheads="1"/>
          </p:cNvSpPr>
          <p:nvPr/>
        </p:nvSpPr>
        <p:spPr bwMode="auto">
          <a:xfrm>
            <a:off x="5955677" y="5239664"/>
            <a:ext cx="679406" cy="733663"/>
          </a:xfrm>
          <a:prstGeom prst="rightArrow">
            <a:avLst>
              <a:gd name="adj1" fmla="val 50000"/>
              <a:gd name="adj2" fmla="val 50245"/>
            </a:avLst>
          </a:prstGeom>
          <a:solidFill>
            <a:srgbClr val="C0C0C0">
              <a:alpha val="50000"/>
            </a:srgbClr>
          </a:solidFill>
          <a:ln w="9525">
            <a:solidFill>
              <a:schemeClr val="tx1"/>
            </a:solidFill>
            <a:miter lim="800000"/>
            <a:headEnd/>
            <a:tailEnd/>
          </a:ln>
          <a:effectLst/>
        </p:spPr>
        <p:txBody>
          <a:bodyPr wrap="square" anchor="ctr">
            <a:spAutoFit/>
          </a:bodyPr>
          <a:lstStyle/>
          <a:p>
            <a:endParaRPr lang="en-US"/>
          </a:p>
        </p:txBody>
      </p:sp>
    </p:spTree>
    <p:extLst>
      <p:ext uri="{BB962C8B-B14F-4D97-AF65-F5344CB8AC3E}">
        <p14:creationId xmlns:p14="http://schemas.microsoft.com/office/powerpoint/2010/main" val="2975731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844340" y="1236464"/>
            <a:ext cx="8626307" cy="5406801"/>
          </a:xfrm>
          <a:prstGeom prst="rect">
            <a:avLst/>
          </a:prstGeom>
          <a:solidFill>
            <a:schemeClr val="bg1"/>
          </a:solidFill>
          <a:ln w="9525">
            <a:noFill/>
            <a:miter lim="800000"/>
            <a:headEnd/>
            <a:tailEnd/>
          </a:ln>
          <a:effectLst/>
        </p:spPr>
        <p:txBody>
          <a:bodyPr wrap="square">
            <a:spAutoFit/>
          </a:bodyPr>
          <a:lstStyle/>
          <a:p>
            <a:pPr eaLnBrk="0" hangingPunct="0">
              <a:lnSpc>
                <a:spcPct val="110000"/>
              </a:lnSpc>
            </a:pPr>
            <a:r>
              <a:rPr lang="en-US" sz="2100" dirty="0"/>
              <a:t>The groups (they are now rows, so we may refer to them as rows) that do not meet the conditions are dropped.</a:t>
            </a:r>
            <a:endParaRPr lang="en-US" sz="2100" dirty="0">
              <a:solidFill>
                <a:srgbClr val="000000"/>
              </a:solidFill>
              <a:ea typeface="Menlo" charset="0"/>
              <a:cs typeface="Calibri"/>
            </a:endParaRPr>
          </a:p>
          <a:p>
            <a:pPr eaLnBrk="0" hangingPunct="0">
              <a:lnSpc>
                <a:spcPct val="110000"/>
              </a:lnSpc>
            </a:pPr>
            <a:endParaRPr lang="en-US" sz="2100" dirty="0">
              <a:solidFill>
                <a:srgbClr val="000000"/>
              </a:solidFill>
              <a:ea typeface="Menlo" charset="0"/>
              <a:cs typeface="Calibri"/>
            </a:endParaRPr>
          </a:p>
          <a:p>
            <a:pPr eaLnBrk="0" hangingPunct="0">
              <a:lnSpc>
                <a:spcPct val="110000"/>
              </a:lnSpc>
            </a:pPr>
            <a:r>
              <a:rPr lang="en-US" sz="2100" i="1" dirty="0">
                <a:ea typeface="Menlo" charset="0"/>
                <a:cs typeface="Calibri"/>
              </a:rPr>
              <a:t>Now, the “groups” are filtered, the ones with SUM(quantity)&lt;=15 are removed,</a:t>
            </a:r>
          </a:p>
          <a:p>
            <a:pPr eaLnBrk="0" hangingPunct="0">
              <a:lnSpc>
                <a:spcPct val="110000"/>
              </a:lnSpc>
            </a:pPr>
            <a:r>
              <a:rPr lang="en-US" sz="2100" i="1" dirty="0">
                <a:ea typeface="Menlo" charset="0"/>
                <a:cs typeface="Calibri"/>
              </a:rPr>
              <a:t>so the last row of the previous step table is removed.</a:t>
            </a: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endParaRPr lang="en-US" sz="2100" i="1" dirty="0">
              <a:solidFill>
                <a:srgbClr val="000000"/>
              </a:solidFill>
              <a:ea typeface="Menlo" charset="0"/>
              <a:cs typeface="Calibri"/>
            </a:endParaRPr>
          </a:p>
          <a:p>
            <a:pPr eaLnBrk="0" hangingPunct="0">
              <a:lnSpc>
                <a:spcPct val="110000"/>
              </a:lnSpc>
            </a:pPr>
            <a:r>
              <a:rPr lang="en-US" sz="2100" i="1" dirty="0">
                <a:solidFill>
                  <a:srgbClr val="000000"/>
                </a:solidFill>
                <a:ea typeface="Menlo" charset="0"/>
                <a:cs typeface="Calibri"/>
              </a:rPr>
              <a:t>Note that after GROUP BY, fields like Date and Price are no longer known, so they cannot be used in HAVING nor the upcoming steps.</a:t>
            </a:r>
          </a:p>
        </p:txBody>
      </p:sp>
      <p:sp>
        <p:nvSpPr>
          <p:cNvPr id="38" name="Slide Number Placeholder 4"/>
          <p:cNvSpPr>
            <a:spLocks noGrp="1"/>
          </p:cNvSpPr>
          <p:nvPr>
            <p:ph type="sldNum" sz="quarter" idx="12"/>
          </p:nvPr>
        </p:nvSpPr>
        <p:spPr/>
        <p:txBody>
          <a:bodyPr/>
          <a:lstStyle/>
          <a:p>
            <a:fld id="{3F57AEB7-BA22-4EB6-A91B-7EA529618DD9}" type="slidenum">
              <a:rPr lang="en-US"/>
              <a:pPr/>
              <a:t>9</a:t>
            </a:fld>
            <a:endParaRPr lang="en-US"/>
          </a:p>
        </p:txBody>
      </p:sp>
      <p:sp>
        <p:nvSpPr>
          <p:cNvPr id="183298" name="Rectangle 2"/>
          <p:cNvSpPr>
            <a:spLocks noGrp="1" noChangeArrowheads="1"/>
          </p:cNvSpPr>
          <p:nvPr>
            <p:ph type="title"/>
          </p:nvPr>
        </p:nvSpPr>
        <p:spPr>
          <a:xfrm>
            <a:off x="2026782" y="327455"/>
            <a:ext cx="7534275" cy="873947"/>
          </a:xfrm>
        </p:spPr>
        <p:txBody>
          <a:bodyPr>
            <a:normAutofit/>
          </a:bodyPr>
          <a:lstStyle/>
          <a:p>
            <a:r>
              <a:rPr lang="en-US" dirty="0"/>
              <a:t>4. HAVING SUM(quantity)&gt;15</a:t>
            </a:r>
            <a:endParaRPr lang="en-US" sz="3200" dirty="0"/>
          </a:p>
        </p:txBody>
      </p:sp>
      <p:graphicFrame>
        <p:nvGraphicFramePr>
          <p:cNvPr id="7" name="Group 74"/>
          <p:cNvGraphicFramePr>
            <a:graphicFrameLocks noGrp="1"/>
          </p:cNvGraphicFramePr>
          <p:nvPr/>
        </p:nvGraphicFramePr>
        <p:xfrm flipV="1">
          <a:off x="2196454" y="3515358"/>
          <a:ext cx="3128518" cy="1930997"/>
        </p:xfrm>
        <a:graphic>
          <a:graphicData uri="http://schemas.openxmlformats.org/drawingml/2006/table">
            <a:tbl>
              <a:tblPr firstRow="1">
                <a:tableStyleId>{B301B821-A1FF-4177-AEE7-76D212191A09}</a:tableStyleId>
              </a:tblPr>
              <a:tblGrid>
                <a:gridCol w="1270036">
                  <a:extLst>
                    <a:ext uri="{9D8B030D-6E8A-4147-A177-3AD203B41FA5}">
                      <a16:colId xmlns:a16="http://schemas.microsoft.com/office/drawing/2014/main" val="20000"/>
                    </a:ext>
                  </a:extLst>
                </a:gridCol>
                <a:gridCol w="1858482">
                  <a:extLst>
                    <a:ext uri="{9D8B030D-6E8A-4147-A177-3AD203B41FA5}">
                      <a16:colId xmlns:a16="http://schemas.microsoft.com/office/drawing/2014/main" val="20001"/>
                    </a:ext>
                  </a:extLst>
                </a:gridCol>
              </a:tblGrid>
              <a:tr h="4549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Product</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SUM(quantity)</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extLst>
                  <a:ext uri="{0D108BD9-81ED-4DB2-BD59-A6C34878D82A}">
                    <a16:rowId xmlns:a16="http://schemas.microsoft.com/office/drawing/2014/main" val="10000"/>
                  </a:ext>
                </a:extLst>
              </a:tr>
              <a:tr h="49407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Bagel</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30</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1"/>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Banana</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35</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2"/>
                  </a:ext>
                </a:extLst>
              </a:tr>
              <a:tr h="4805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Soda</a:t>
                      </a: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10</a:t>
                      </a:r>
                    </a:p>
                  </a:txBody>
                  <a:tcPr marL="68580" marR="68580" anchor="ctr" horzOverflow="overflow"/>
                </a:tc>
                <a:extLst>
                  <a:ext uri="{0D108BD9-81ED-4DB2-BD59-A6C34878D82A}">
                    <a16:rowId xmlns:a16="http://schemas.microsoft.com/office/drawing/2014/main" val="10003"/>
                  </a:ext>
                </a:extLst>
              </a:tr>
            </a:tbl>
          </a:graphicData>
        </a:graphic>
      </p:graphicFrame>
      <p:graphicFrame>
        <p:nvGraphicFramePr>
          <p:cNvPr id="8" name="Group 74"/>
          <p:cNvGraphicFramePr>
            <a:graphicFrameLocks noGrp="1"/>
          </p:cNvGraphicFramePr>
          <p:nvPr/>
        </p:nvGraphicFramePr>
        <p:xfrm>
          <a:off x="6944355" y="3732754"/>
          <a:ext cx="3128518" cy="1450437"/>
        </p:xfrm>
        <a:graphic>
          <a:graphicData uri="http://schemas.openxmlformats.org/drawingml/2006/table">
            <a:tbl>
              <a:tblPr firstRow="1">
                <a:tableStyleId>{B301B821-A1FF-4177-AEE7-76D212191A09}</a:tableStyleId>
              </a:tblPr>
              <a:tblGrid>
                <a:gridCol w="1270036">
                  <a:extLst>
                    <a:ext uri="{9D8B030D-6E8A-4147-A177-3AD203B41FA5}">
                      <a16:colId xmlns:a16="http://schemas.microsoft.com/office/drawing/2014/main" val="20000"/>
                    </a:ext>
                  </a:extLst>
                </a:gridCol>
                <a:gridCol w="1858482">
                  <a:extLst>
                    <a:ext uri="{9D8B030D-6E8A-4147-A177-3AD203B41FA5}">
                      <a16:colId xmlns:a16="http://schemas.microsoft.com/office/drawing/2014/main" val="20001"/>
                    </a:ext>
                  </a:extLst>
                </a:gridCol>
              </a:tblGrid>
              <a:tr h="4549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Product</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SUM(quantity)</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extLst>
                  <a:ext uri="{0D108BD9-81ED-4DB2-BD59-A6C34878D82A}">
                    <a16:rowId xmlns:a16="http://schemas.microsoft.com/office/drawing/2014/main" val="10000"/>
                  </a:ext>
                </a:extLst>
              </a:tr>
              <a:tr h="49407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Bagel</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30</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1"/>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Banana</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35</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2"/>
                  </a:ext>
                </a:extLst>
              </a:tr>
            </a:tbl>
          </a:graphicData>
        </a:graphic>
      </p:graphicFrame>
      <p:sp>
        <p:nvSpPr>
          <p:cNvPr id="10" name="AutoShape 79"/>
          <p:cNvSpPr>
            <a:spLocks noChangeArrowheads="1"/>
          </p:cNvSpPr>
          <p:nvPr/>
        </p:nvSpPr>
        <p:spPr bwMode="auto">
          <a:xfrm>
            <a:off x="5726863" y="4072589"/>
            <a:ext cx="679406" cy="733663"/>
          </a:xfrm>
          <a:prstGeom prst="rightArrow">
            <a:avLst>
              <a:gd name="adj1" fmla="val 50000"/>
              <a:gd name="adj2" fmla="val 50245"/>
            </a:avLst>
          </a:prstGeom>
          <a:solidFill>
            <a:srgbClr val="C0C0C0">
              <a:alpha val="50000"/>
            </a:srgbClr>
          </a:solidFill>
          <a:ln w="9525">
            <a:solidFill>
              <a:schemeClr val="tx1"/>
            </a:solidFill>
            <a:miter lim="800000"/>
            <a:headEnd/>
            <a:tailEnd/>
          </a:ln>
          <a:effectLst/>
        </p:spPr>
        <p:txBody>
          <a:bodyPr wrap="square" anchor="ctr">
            <a:spAutoFit/>
          </a:bodyPr>
          <a:lstStyle/>
          <a:p>
            <a:endParaRPr lang="en-US"/>
          </a:p>
        </p:txBody>
      </p:sp>
      <p:cxnSp>
        <p:nvCxnSpPr>
          <p:cNvPr id="11" name="Straight Connector 10"/>
          <p:cNvCxnSpPr/>
          <p:nvPr/>
        </p:nvCxnSpPr>
        <p:spPr>
          <a:xfrm>
            <a:off x="2130361" y="5183188"/>
            <a:ext cx="3237725" cy="11442"/>
          </a:xfrm>
          <a:prstGeom prst="line">
            <a:avLst/>
          </a:prstGeom>
          <a:ln w="28575" cmpd="sng">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907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072140" y="1658595"/>
            <a:ext cx="8013286" cy="830997"/>
          </a:xfrm>
          <a:prstGeom prst="rect">
            <a:avLst/>
          </a:prstGeom>
          <a:solidFill>
            <a:schemeClr val="bg1"/>
          </a:solidFill>
          <a:ln w="9525">
            <a:noFill/>
            <a:miter lim="800000"/>
            <a:headEnd/>
            <a:tailEnd/>
          </a:ln>
          <a:effectLst/>
        </p:spPr>
        <p:txBody>
          <a:bodyPr wrap="square">
            <a:spAutoFit/>
          </a:bodyPr>
          <a:lstStyle/>
          <a:p>
            <a:pPr eaLnBrk="0" hangingPunct="0"/>
            <a:r>
              <a:rPr lang="en-US" sz="2400" dirty="0">
                <a:ea typeface="Menlo" charset="0"/>
                <a:cs typeface="Calibri"/>
              </a:rPr>
              <a:t>The remaining records are sorted.</a:t>
            </a:r>
          </a:p>
          <a:p>
            <a:pPr eaLnBrk="0" hangingPunct="0"/>
            <a:endParaRPr lang="en-US" sz="2400" i="1" dirty="0">
              <a:solidFill>
                <a:srgbClr val="FF0000"/>
              </a:solidFill>
              <a:ea typeface="Menlo" charset="0"/>
              <a:cs typeface="Calibri"/>
            </a:endParaRPr>
          </a:p>
        </p:txBody>
      </p:sp>
      <p:sp>
        <p:nvSpPr>
          <p:cNvPr id="38" name="Slide Number Placeholder 4"/>
          <p:cNvSpPr>
            <a:spLocks noGrp="1"/>
          </p:cNvSpPr>
          <p:nvPr>
            <p:ph type="sldNum" sz="quarter" idx="12"/>
          </p:nvPr>
        </p:nvSpPr>
        <p:spPr/>
        <p:txBody>
          <a:bodyPr/>
          <a:lstStyle/>
          <a:p>
            <a:fld id="{3F57AEB7-BA22-4EB6-A91B-7EA529618DD9}" type="slidenum">
              <a:rPr lang="en-US"/>
              <a:pPr/>
              <a:t>10</a:t>
            </a:fld>
            <a:endParaRPr lang="en-US"/>
          </a:p>
        </p:txBody>
      </p:sp>
      <p:sp>
        <p:nvSpPr>
          <p:cNvPr id="183298" name="Rectangle 2"/>
          <p:cNvSpPr>
            <a:spLocks noGrp="1" noChangeArrowheads="1"/>
          </p:cNvSpPr>
          <p:nvPr>
            <p:ph type="title"/>
          </p:nvPr>
        </p:nvSpPr>
        <p:spPr>
          <a:xfrm>
            <a:off x="2026781" y="327454"/>
            <a:ext cx="8232972" cy="1143000"/>
          </a:xfrm>
        </p:spPr>
        <p:txBody>
          <a:bodyPr>
            <a:normAutofit/>
          </a:bodyPr>
          <a:lstStyle/>
          <a:p>
            <a:r>
              <a:rPr lang="en-US" dirty="0"/>
              <a:t>5. ORDER BY SUM(quantity) DESC</a:t>
            </a:r>
            <a:endParaRPr lang="en-US" sz="3200" dirty="0"/>
          </a:p>
        </p:txBody>
      </p:sp>
      <p:graphicFrame>
        <p:nvGraphicFramePr>
          <p:cNvPr id="7" name="Group 74"/>
          <p:cNvGraphicFramePr>
            <a:graphicFrameLocks noGrp="1"/>
          </p:cNvGraphicFramePr>
          <p:nvPr/>
        </p:nvGraphicFramePr>
        <p:xfrm>
          <a:off x="4438836" y="3698427"/>
          <a:ext cx="3128518" cy="1457736"/>
        </p:xfrm>
        <a:graphic>
          <a:graphicData uri="http://schemas.openxmlformats.org/drawingml/2006/table">
            <a:tbl>
              <a:tblPr firstRow="1">
                <a:tableStyleId>{B301B821-A1FF-4177-AEE7-76D212191A09}</a:tableStyleId>
              </a:tblPr>
              <a:tblGrid>
                <a:gridCol w="1270036">
                  <a:extLst>
                    <a:ext uri="{9D8B030D-6E8A-4147-A177-3AD203B41FA5}">
                      <a16:colId xmlns:a16="http://schemas.microsoft.com/office/drawing/2014/main" val="20000"/>
                    </a:ext>
                  </a:extLst>
                </a:gridCol>
                <a:gridCol w="1858482">
                  <a:extLst>
                    <a:ext uri="{9D8B030D-6E8A-4147-A177-3AD203B41FA5}">
                      <a16:colId xmlns:a16="http://schemas.microsoft.com/office/drawing/2014/main" val="20001"/>
                    </a:ext>
                  </a:extLst>
                </a:gridCol>
              </a:tblGrid>
              <a:tr h="4549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Product</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SUM(quantity)</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extLst>
                  <a:ext uri="{0D108BD9-81ED-4DB2-BD59-A6C34878D82A}">
                    <a16:rowId xmlns:a16="http://schemas.microsoft.com/office/drawing/2014/main" val="10000"/>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Banana</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35</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1"/>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Bagel</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dk1"/>
                          </a:solidFill>
                          <a:effectLst/>
                          <a:latin typeface="+mj-lt"/>
                        </a:rPr>
                        <a:t>30</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0231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810019" y="1441198"/>
            <a:ext cx="8500459" cy="4801314"/>
          </a:xfrm>
          <a:prstGeom prst="rect">
            <a:avLst/>
          </a:prstGeom>
          <a:solidFill>
            <a:schemeClr val="bg1"/>
          </a:solidFill>
          <a:ln w="9525">
            <a:noFill/>
            <a:miter lim="800000"/>
            <a:headEnd/>
            <a:tailEnd/>
          </a:ln>
          <a:effectLst/>
        </p:spPr>
        <p:txBody>
          <a:bodyPr wrap="square">
            <a:spAutoFit/>
          </a:bodyPr>
          <a:lstStyle/>
          <a:p>
            <a:pPr lvl="0" algn="just">
              <a:lnSpc>
                <a:spcPct val="100000"/>
              </a:lnSpc>
            </a:pPr>
            <a:r>
              <a:rPr lang="en-US" sz="2200" dirty="0"/>
              <a:t>All columns/attributes not appearing in the SELECT clause are deleted. If any aliases were in SELECT, they are created only at this stage.</a:t>
            </a:r>
          </a:p>
          <a:p>
            <a:pPr lvl="0" algn="just">
              <a:lnSpc>
                <a:spcPct val="100000"/>
              </a:lnSpc>
            </a:pPr>
            <a:endParaRPr lang="en-US" sz="2800" dirty="0"/>
          </a:p>
          <a:p>
            <a:pPr eaLnBrk="0" hangingPunct="0"/>
            <a:r>
              <a:rPr lang="en-US" sz="2200" i="1" dirty="0">
                <a:solidFill>
                  <a:srgbClr val="000000"/>
                </a:solidFill>
                <a:ea typeface="Menlo" charset="0"/>
                <a:cs typeface="Calibri"/>
              </a:rPr>
              <a:t>In our example there is not much to do since the table only has the fields that are specified in SELECT, so the only thing that is done is the alias.</a:t>
            </a:r>
          </a:p>
          <a:p>
            <a:pPr eaLnBrk="0" hangingPunct="0"/>
            <a:endParaRPr lang="en-US" sz="2200" i="1" dirty="0">
              <a:solidFill>
                <a:srgbClr val="000000"/>
              </a:solidFill>
              <a:ea typeface="Menlo" charset="0"/>
              <a:cs typeface="Calibri"/>
            </a:endParaRPr>
          </a:p>
          <a:p>
            <a:pPr eaLnBrk="0" hangingPunct="0"/>
            <a:endParaRPr lang="en-US" sz="2200" i="1" dirty="0">
              <a:solidFill>
                <a:srgbClr val="000000"/>
              </a:solidFill>
              <a:ea typeface="Menlo" charset="0"/>
              <a:cs typeface="Calibri"/>
            </a:endParaRPr>
          </a:p>
          <a:p>
            <a:pPr eaLnBrk="0" hangingPunct="0"/>
            <a:endParaRPr lang="en-US" sz="2200" i="1" dirty="0">
              <a:solidFill>
                <a:srgbClr val="000000"/>
              </a:solidFill>
              <a:ea typeface="Menlo" charset="0"/>
              <a:cs typeface="Calibri"/>
            </a:endParaRPr>
          </a:p>
          <a:p>
            <a:pPr eaLnBrk="0" hangingPunct="0"/>
            <a:endParaRPr lang="en-US" sz="3600" i="1" dirty="0">
              <a:solidFill>
                <a:srgbClr val="000000"/>
              </a:solidFill>
              <a:ea typeface="Menlo" charset="0"/>
              <a:cs typeface="Calibri"/>
            </a:endParaRPr>
          </a:p>
          <a:p>
            <a:pPr eaLnBrk="0" hangingPunct="0"/>
            <a:endParaRPr lang="en-US" sz="2200" i="1" dirty="0">
              <a:solidFill>
                <a:srgbClr val="000000"/>
              </a:solidFill>
              <a:ea typeface="Menlo" charset="0"/>
              <a:cs typeface="Calibri"/>
            </a:endParaRPr>
          </a:p>
          <a:p>
            <a:pPr eaLnBrk="0" hangingPunct="0"/>
            <a:endParaRPr lang="en-US" sz="2200" i="1" dirty="0">
              <a:solidFill>
                <a:srgbClr val="000000"/>
              </a:solidFill>
              <a:ea typeface="Menlo" charset="0"/>
              <a:cs typeface="Calibri"/>
            </a:endParaRPr>
          </a:p>
          <a:p>
            <a:pPr eaLnBrk="0" hangingPunct="0"/>
            <a:r>
              <a:rPr lang="en-US" sz="2200" i="1" dirty="0">
                <a:solidFill>
                  <a:srgbClr val="000000"/>
                </a:solidFill>
                <a:ea typeface="Menlo" charset="0"/>
                <a:cs typeface="Calibri"/>
                <a:sym typeface="Wingdings" panose="05000000000000000000" pitchFamily="2" charset="2"/>
              </a:rPr>
              <a:t></a:t>
            </a:r>
            <a:r>
              <a:rPr lang="en-US" sz="2200" i="1" dirty="0">
                <a:solidFill>
                  <a:srgbClr val="000000"/>
                </a:solidFill>
                <a:ea typeface="Menlo" charset="0"/>
                <a:cs typeface="Calibri"/>
              </a:rPr>
              <a:t>There is no DISTINCT in our example, so the query is done. If there was, then repeated roes would be removed now.</a:t>
            </a:r>
          </a:p>
        </p:txBody>
      </p:sp>
      <p:sp>
        <p:nvSpPr>
          <p:cNvPr id="38" name="Slide Number Placeholder 4"/>
          <p:cNvSpPr>
            <a:spLocks noGrp="1"/>
          </p:cNvSpPr>
          <p:nvPr>
            <p:ph type="sldNum" sz="quarter" idx="12"/>
          </p:nvPr>
        </p:nvSpPr>
        <p:spPr/>
        <p:txBody>
          <a:bodyPr/>
          <a:lstStyle/>
          <a:p>
            <a:fld id="{3F57AEB7-BA22-4EB6-A91B-7EA529618DD9}" type="slidenum">
              <a:rPr lang="en-US"/>
              <a:pPr/>
              <a:t>11</a:t>
            </a:fld>
            <a:endParaRPr lang="en-US"/>
          </a:p>
        </p:txBody>
      </p:sp>
      <p:sp>
        <p:nvSpPr>
          <p:cNvPr id="183298" name="Rectangle 2"/>
          <p:cNvSpPr>
            <a:spLocks noGrp="1" noChangeArrowheads="1"/>
          </p:cNvSpPr>
          <p:nvPr>
            <p:ph type="title"/>
          </p:nvPr>
        </p:nvSpPr>
        <p:spPr>
          <a:xfrm>
            <a:off x="1810018" y="327454"/>
            <a:ext cx="8857982" cy="1143000"/>
          </a:xfrm>
        </p:spPr>
        <p:txBody>
          <a:bodyPr>
            <a:normAutofit fontScale="90000"/>
          </a:bodyPr>
          <a:lstStyle/>
          <a:p>
            <a:r>
              <a:rPr lang="en-US" sz="4200" dirty="0"/>
              <a:t>6. SELECT product, SUM(quantity) AS </a:t>
            </a:r>
            <a:r>
              <a:rPr lang="en-US" sz="4200" dirty="0" err="1"/>
              <a:t>TotalSales</a:t>
            </a:r>
            <a:br>
              <a:rPr lang="en-US" dirty="0"/>
            </a:br>
            <a:endParaRPr lang="en-US" sz="3200" dirty="0"/>
          </a:p>
        </p:txBody>
      </p:sp>
      <p:graphicFrame>
        <p:nvGraphicFramePr>
          <p:cNvPr id="7" name="Group 74"/>
          <p:cNvGraphicFramePr>
            <a:graphicFrameLocks noGrp="1"/>
          </p:cNvGraphicFramePr>
          <p:nvPr/>
        </p:nvGraphicFramePr>
        <p:xfrm>
          <a:off x="4356128" y="3610330"/>
          <a:ext cx="3128518" cy="1457736"/>
        </p:xfrm>
        <a:graphic>
          <a:graphicData uri="http://schemas.openxmlformats.org/drawingml/2006/table">
            <a:tbl>
              <a:tblPr firstRow="1">
                <a:tableStyleId>{B301B821-A1FF-4177-AEE7-76D212191A09}</a:tableStyleId>
              </a:tblPr>
              <a:tblGrid>
                <a:gridCol w="1270036">
                  <a:extLst>
                    <a:ext uri="{9D8B030D-6E8A-4147-A177-3AD203B41FA5}">
                      <a16:colId xmlns:a16="http://schemas.microsoft.com/office/drawing/2014/main" val="20000"/>
                    </a:ext>
                  </a:extLst>
                </a:gridCol>
                <a:gridCol w="1858482">
                  <a:extLst>
                    <a:ext uri="{9D8B030D-6E8A-4147-A177-3AD203B41FA5}">
                      <a16:colId xmlns:a16="http://schemas.microsoft.com/office/drawing/2014/main" val="20001"/>
                    </a:ext>
                  </a:extLst>
                </a:gridCol>
              </a:tblGrid>
              <a:tr h="4549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effectLst/>
                          <a:latin typeface="+mj-lt"/>
                        </a:rPr>
                        <a:t>Product</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err="1">
                          <a:ln>
                            <a:noFill/>
                          </a:ln>
                          <a:effectLst/>
                          <a:latin typeface="+mj-lt"/>
                        </a:rPr>
                        <a:t>TotalSales</a:t>
                      </a:r>
                      <a:endParaRPr kumimoji="0" lang="en-US" sz="1800" b="1" i="0" u="none" strike="noStrike" cap="none" normalizeH="0" baseline="0" dirty="0">
                        <a:ln>
                          <a:noFill/>
                        </a:ln>
                        <a:solidFill>
                          <a:schemeClr val="accent2"/>
                        </a:solidFill>
                        <a:effectLst/>
                        <a:latin typeface="+mj-lt"/>
                      </a:endParaRPr>
                    </a:p>
                  </a:txBody>
                  <a:tcPr marL="68580" marR="68580" anchor="ctr" horzOverflow="overflow"/>
                </a:tc>
                <a:extLst>
                  <a:ext uri="{0D108BD9-81ED-4DB2-BD59-A6C34878D82A}">
                    <a16:rowId xmlns:a16="http://schemas.microsoft.com/office/drawing/2014/main" val="10000"/>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Banana</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30</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1"/>
                  </a:ext>
                </a:extLst>
              </a:tr>
              <a:tr h="50137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effectLst/>
                          <a:latin typeface="+mj-lt"/>
                        </a:rPr>
                        <a:t>Bagel</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dk1"/>
                          </a:solidFill>
                          <a:effectLst/>
                          <a:latin typeface="+mj-lt"/>
                        </a:rPr>
                        <a:t>35</a:t>
                      </a:r>
                      <a:endParaRPr kumimoji="0" lang="en-US" sz="1800" b="0" i="0" u="none" strike="noStrike" cap="none" normalizeH="0" baseline="0" dirty="0">
                        <a:ln>
                          <a:noFill/>
                        </a:ln>
                        <a:solidFill>
                          <a:schemeClr val="tx1"/>
                        </a:solidFill>
                        <a:effectLst/>
                        <a:latin typeface="+mj-lt"/>
                      </a:endParaRPr>
                    </a:p>
                  </a:txBody>
                  <a:tcPr marL="68580" marR="68580" anchor="ctr" horzOverflow="overflow"/>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78515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8213" y="87641"/>
            <a:ext cx="8329805" cy="1065656"/>
          </a:xfrm>
        </p:spPr>
        <p:txBody>
          <a:bodyPr/>
          <a:lstStyle/>
          <a:p>
            <a:r>
              <a:rPr lang="en-US" dirty="0"/>
              <a:t>Very important!!!</a:t>
            </a:r>
          </a:p>
        </p:txBody>
      </p:sp>
      <p:sp>
        <p:nvSpPr>
          <p:cNvPr id="3" name="Content Placeholder 2"/>
          <p:cNvSpPr>
            <a:spLocks noGrp="1"/>
          </p:cNvSpPr>
          <p:nvPr>
            <p:ph idx="1"/>
          </p:nvPr>
        </p:nvSpPr>
        <p:spPr>
          <a:xfrm>
            <a:off x="1858212" y="1331410"/>
            <a:ext cx="8539332" cy="5018590"/>
          </a:xfrm>
        </p:spPr>
        <p:txBody>
          <a:bodyPr>
            <a:noAutofit/>
          </a:bodyPr>
          <a:lstStyle/>
          <a:p>
            <a:pPr algn="just">
              <a:lnSpc>
                <a:spcPct val="110000"/>
              </a:lnSpc>
              <a:buFont typeface="Arial" panose="020B0604020202020204" pitchFamily="34" charset="0"/>
              <a:buChar char="•"/>
            </a:pPr>
            <a:r>
              <a:rPr lang="en-US" sz="2200" dirty="0"/>
              <a:t>    Recall that after step 3, the table is made of a column for each of the expressions in GROUP BY and a column for each aggregation function. That’s the table HAVING, ORDER BY, and SELECT are going to act on. </a:t>
            </a:r>
            <a:r>
              <a:rPr lang="en-US" sz="2200" b="1" dirty="0">
                <a:solidFill>
                  <a:srgbClr val="FF0000"/>
                </a:solidFill>
              </a:rPr>
              <a:t>Therefore, the conditions in HAVING and the expressions in ORDER BY and SELECT must be about those columns and no others!</a:t>
            </a:r>
          </a:p>
          <a:p>
            <a:pPr marL="0" indent="0" algn="just">
              <a:lnSpc>
                <a:spcPct val="110000"/>
              </a:lnSpc>
              <a:buNone/>
            </a:pPr>
            <a:endParaRPr lang="en-US" sz="2200" dirty="0"/>
          </a:p>
          <a:p>
            <a:pPr algn="just">
              <a:lnSpc>
                <a:spcPct val="110000"/>
              </a:lnSpc>
              <a:buFont typeface="Arial" panose="020B0604020202020204" pitchFamily="34" charset="0"/>
              <a:buChar char="•"/>
            </a:pPr>
            <a:r>
              <a:rPr lang="en-US" sz="2200" b="1" dirty="0">
                <a:sym typeface="Wingdings" panose="05000000000000000000" pitchFamily="2" charset="2"/>
              </a:rPr>
              <a:t>  </a:t>
            </a:r>
            <a:r>
              <a:rPr lang="en-US" sz="2200" b="1" dirty="0">
                <a:solidFill>
                  <a:srgbClr val="FF0000"/>
                </a:solidFill>
                <a:sym typeface="Wingdings" panose="05000000000000000000" pitchFamily="2" charset="2"/>
              </a:rPr>
              <a:t> </a:t>
            </a:r>
            <a:r>
              <a:rPr lang="en-US" sz="2200" b="1" dirty="0">
                <a:sym typeface="Wingdings" panose="05000000000000000000" pitchFamily="2" charset="2"/>
              </a:rPr>
              <a:t>Therefore, every column listed in SELECT, HAVING, and ORDER BY (except aggregation functions) must be present in the GROUP BY</a:t>
            </a:r>
            <a:r>
              <a:rPr lang="en-US" sz="2200" dirty="0">
                <a:sym typeface="Wingdings" panose="05000000000000000000" pitchFamily="2" charset="2"/>
              </a:rPr>
              <a:t> (otherwise, SQL will be trying to show something that does not exist in the table we end up with after step 3!)</a:t>
            </a:r>
            <a:r>
              <a:rPr lang="en-US" sz="2200" b="1" dirty="0">
                <a:solidFill>
                  <a:srgbClr val="000000"/>
                </a:solidFill>
                <a:sym typeface="Wingdings" panose="05000000000000000000" pitchFamily="2" charset="2"/>
              </a:rPr>
              <a:t>, but not the other way around.</a:t>
            </a:r>
          </a:p>
        </p:txBody>
      </p:sp>
      <p:sp>
        <p:nvSpPr>
          <p:cNvPr id="4" name="Slide Number Placeholder 3"/>
          <p:cNvSpPr>
            <a:spLocks noGrp="1"/>
          </p:cNvSpPr>
          <p:nvPr>
            <p:ph type="sldNum" sz="quarter" idx="12"/>
          </p:nvPr>
        </p:nvSpPr>
        <p:spPr/>
        <p:txBody>
          <a:bodyPr/>
          <a:lstStyle/>
          <a:p>
            <a:fld id="{87F3E754-1C97-4481-A18C-9D97ADBDF344}" type="slidenum">
              <a:rPr lang="en-US" smtClean="0"/>
              <a:t>12</a:t>
            </a:fld>
            <a:endParaRPr lang="en-US" dirty="0"/>
          </a:p>
        </p:txBody>
      </p:sp>
    </p:spTree>
    <p:extLst>
      <p:ext uri="{BB962C8B-B14F-4D97-AF65-F5344CB8AC3E}">
        <p14:creationId xmlns:p14="http://schemas.microsoft.com/office/powerpoint/2010/main" val="93689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465" y="180648"/>
            <a:ext cx="8470777" cy="1658198"/>
          </a:xfrm>
        </p:spPr>
        <p:txBody>
          <a:bodyPr>
            <a:normAutofit/>
          </a:bodyPr>
          <a:lstStyle/>
          <a:p>
            <a:r>
              <a:rPr lang="en-US" dirty="0"/>
              <a:t>What’s in SELECT must be in GROUP BY, but not the opposite…</a:t>
            </a:r>
          </a:p>
        </p:txBody>
      </p:sp>
      <p:sp>
        <p:nvSpPr>
          <p:cNvPr id="3" name="Content Placeholder 2"/>
          <p:cNvSpPr>
            <a:spLocks noGrp="1"/>
          </p:cNvSpPr>
          <p:nvPr>
            <p:ph idx="1"/>
          </p:nvPr>
        </p:nvSpPr>
        <p:spPr>
          <a:xfrm>
            <a:off x="1929835" y="1838847"/>
            <a:ext cx="8369407" cy="4755137"/>
          </a:xfrm>
        </p:spPr>
        <p:txBody>
          <a:bodyPr>
            <a:noAutofit/>
          </a:bodyPr>
          <a:lstStyle/>
          <a:p>
            <a:pPr marL="0" indent="0" algn="just">
              <a:lnSpc>
                <a:spcPct val="110000"/>
              </a:lnSpc>
              <a:spcBef>
                <a:spcPts val="0"/>
              </a:spcBef>
              <a:buNone/>
            </a:pPr>
            <a:r>
              <a:rPr lang="en-US" sz="2200" i="1" dirty="0">
                <a:sym typeface="Wingdings" panose="05000000000000000000" pitchFamily="2" charset="2"/>
              </a:rPr>
              <a:t>Try the following query where what is in SELECT is in GROUP BY, but not the opposite:</a:t>
            </a:r>
          </a:p>
          <a:p>
            <a:pPr marL="182880" lvl="1" indent="0" algn="just">
              <a:lnSpc>
                <a:spcPct val="110000"/>
              </a:lnSpc>
              <a:spcBef>
                <a:spcPts val="0"/>
              </a:spcBef>
              <a:buNone/>
            </a:pPr>
            <a:r>
              <a:rPr lang="en-US" sz="2200" dirty="0"/>
              <a:t>	SELECT Building, Count(*) </a:t>
            </a:r>
          </a:p>
          <a:p>
            <a:pPr marL="182880" lvl="1" indent="0" algn="just">
              <a:lnSpc>
                <a:spcPct val="110000"/>
              </a:lnSpc>
              <a:spcBef>
                <a:spcPts val="0"/>
              </a:spcBef>
              <a:buNone/>
            </a:pPr>
            <a:r>
              <a:rPr lang="en-US" sz="2200" dirty="0"/>
              <a:t>	FROM Employees</a:t>
            </a:r>
          </a:p>
          <a:p>
            <a:pPr marL="182880" lvl="1" indent="0" algn="just">
              <a:lnSpc>
                <a:spcPct val="110000"/>
              </a:lnSpc>
              <a:spcBef>
                <a:spcPts val="0"/>
              </a:spcBef>
              <a:buNone/>
            </a:pPr>
            <a:r>
              <a:rPr lang="en-US" sz="2200" dirty="0"/>
              <a:t>	GROUP BY Building, Department</a:t>
            </a:r>
          </a:p>
          <a:p>
            <a:pPr marL="182880" lvl="1" indent="0" algn="just">
              <a:lnSpc>
                <a:spcPct val="110000"/>
              </a:lnSpc>
              <a:spcBef>
                <a:spcPts val="0"/>
              </a:spcBef>
              <a:buNone/>
            </a:pPr>
            <a:r>
              <a:rPr lang="en-US" sz="2200" dirty="0"/>
              <a:t>	ORDER BY Building;</a:t>
            </a:r>
          </a:p>
          <a:p>
            <a:pPr marL="0" indent="0" algn="just">
              <a:lnSpc>
                <a:spcPct val="110000"/>
              </a:lnSpc>
              <a:buNone/>
            </a:pPr>
            <a:r>
              <a:rPr lang="en-US" sz="2200" dirty="0"/>
              <a:t>Every row you get in this query corresponds to a group, that is, a combination of Building and Department, but the Department column is not shown because it is not in SELECT, so you end up with a list of buildings that show up many times with different numbers next to it. The query works, but gives you information that you cannot use.</a:t>
            </a:r>
          </a:p>
        </p:txBody>
      </p:sp>
      <p:sp>
        <p:nvSpPr>
          <p:cNvPr id="4" name="Slide Number Placeholder 3"/>
          <p:cNvSpPr>
            <a:spLocks noGrp="1"/>
          </p:cNvSpPr>
          <p:nvPr>
            <p:ph type="sldNum" sz="quarter" idx="12"/>
          </p:nvPr>
        </p:nvSpPr>
        <p:spPr/>
        <p:txBody>
          <a:bodyPr/>
          <a:lstStyle/>
          <a:p>
            <a:fld id="{87F3E754-1C97-4481-A18C-9D97ADBDF344}" type="slidenum">
              <a:rPr lang="en-US" smtClean="0"/>
              <a:t>13</a:t>
            </a:fld>
            <a:endParaRPr lang="en-US"/>
          </a:p>
        </p:txBody>
      </p:sp>
    </p:spTree>
    <p:extLst>
      <p:ext uri="{BB962C8B-B14F-4D97-AF65-F5344CB8AC3E}">
        <p14:creationId xmlns:p14="http://schemas.microsoft.com/office/powerpoint/2010/main" val="939032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465" y="180648"/>
            <a:ext cx="8470777" cy="1086678"/>
          </a:xfrm>
        </p:spPr>
        <p:txBody>
          <a:bodyPr>
            <a:normAutofit/>
          </a:bodyPr>
          <a:lstStyle/>
          <a:p>
            <a:r>
              <a:rPr lang="en-US" dirty="0"/>
              <a:t>And a note on aliases….</a:t>
            </a:r>
          </a:p>
        </p:txBody>
      </p:sp>
      <p:sp>
        <p:nvSpPr>
          <p:cNvPr id="3" name="Content Placeholder 2"/>
          <p:cNvSpPr>
            <a:spLocks noGrp="1"/>
          </p:cNvSpPr>
          <p:nvPr>
            <p:ph idx="1"/>
          </p:nvPr>
        </p:nvSpPr>
        <p:spPr>
          <a:xfrm>
            <a:off x="1780084" y="1596572"/>
            <a:ext cx="8369407" cy="3809034"/>
          </a:xfrm>
        </p:spPr>
        <p:txBody>
          <a:bodyPr>
            <a:noAutofit/>
          </a:bodyPr>
          <a:lstStyle/>
          <a:p>
            <a:pPr marL="0" indent="0" algn="just">
              <a:lnSpc>
                <a:spcPct val="110000"/>
              </a:lnSpc>
              <a:spcBef>
                <a:spcPts val="0"/>
              </a:spcBef>
              <a:buNone/>
            </a:pPr>
            <a:r>
              <a:rPr lang="en-US" dirty="0"/>
              <a:t>   Since FROM is the first thing to be processed, any aliases defined in FROM can be used throughout the rest of the query.</a:t>
            </a:r>
          </a:p>
          <a:p>
            <a:pPr algn="just">
              <a:lnSpc>
                <a:spcPct val="110000"/>
              </a:lnSpc>
              <a:spcBef>
                <a:spcPts val="0"/>
              </a:spcBef>
              <a:buFont typeface="Wingdings" charset="2"/>
              <a:buChar char="§"/>
            </a:pPr>
            <a:endParaRPr lang="en-US" dirty="0"/>
          </a:p>
          <a:p>
            <a:pPr algn="just">
              <a:lnSpc>
                <a:spcPct val="110000"/>
              </a:lnSpc>
              <a:spcBef>
                <a:spcPts val="0"/>
              </a:spcBef>
              <a:buFont typeface="Wingdings" charset="2"/>
              <a:buChar char="§"/>
            </a:pPr>
            <a:endParaRPr lang="en-US" dirty="0"/>
          </a:p>
          <a:p>
            <a:pPr marL="0" indent="0" algn="just">
              <a:lnSpc>
                <a:spcPct val="110000"/>
              </a:lnSpc>
              <a:spcBef>
                <a:spcPts val="0"/>
              </a:spcBef>
              <a:buNone/>
            </a:pPr>
            <a:r>
              <a:rPr lang="en-US" dirty="0"/>
              <a:t>  SELECT is one of the last steps, and that is when the aliases in SELECT are processed. Therefore, we cannot use these aliases in the rest of the query.</a:t>
            </a:r>
          </a:p>
          <a:p>
            <a:pPr marL="0" indent="0" algn="just">
              <a:lnSpc>
                <a:spcPct val="110000"/>
              </a:lnSpc>
              <a:spcBef>
                <a:spcPts val="0"/>
              </a:spcBef>
              <a:buNone/>
            </a:pPr>
            <a:endParaRPr lang="en-US" dirty="0"/>
          </a:p>
          <a:p>
            <a:pPr marL="0" indent="0" algn="just">
              <a:lnSpc>
                <a:spcPct val="110000"/>
              </a:lnSpc>
              <a:spcBef>
                <a:spcPts val="0"/>
              </a:spcBef>
              <a:buNone/>
            </a:pPr>
            <a:endParaRPr lang="en-US" dirty="0"/>
          </a:p>
          <a:p>
            <a:pPr marL="0" indent="0" algn="just">
              <a:lnSpc>
                <a:spcPct val="110000"/>
              </a:lnSpc>
              <a:spcBef>
                <a:spcPts val="0"/>
              </a:spcBef>
              <a:buNone/>
            </a:pPr>
            <a:r>
              <a:rPr lang="en-US" sz="2000" i="1" dirty="0"/>
              <a:t>Note: using the aliases we have in SELECT in the rest of the query is actually possible in some SQL software.</a:t>
            </a:r>
          </a:p>
          <a:p>
            <a:pPr marL="0" indent="0" algn="just">
              <a:lnSpc>
                <a:spcPct val="110000"/>
              </a:lnSpc>
              <a:spcBef>
                <a:spcPts val="0"/>
              </a:spcBef>
              <a:buNone/>
            </a:pPr>
            <a:endParaRPr lang="en-US" sz="2000" i="1" dirty="0"/>
          </a:p>
        </p:txBody>
      </p:sp>
      <p:sp>
        <p:nvSpPr>
          <p:cNvPr id="4" name="Slide Number Placeholder 3"/>
          <p:cNvSpPr>
            <a:spLocks noGrp="1"/>
          </p:cNvSpPr>
          <p:nvPr>
            <p:ph type="sldNum" sz="quarter" idx="12"/>
          </p:nvPr>
        </p:nvSpPr>
        <p:spPr/>
        <p:txBody>
          <a:bodyPr/>
          <a:lstStyle/>
          <a:p>
            <a:fld id="{87F3E754-1C97-4481-A18C-9D97ADBDF344}" type="slidenum">
              <a:rPr lang="en-US" smtClean="0"/>
              <a:t>14</a:t>
            </a:fld>
            <a:endParaRPr lang="en-US" dirty="0"/>
          </a:p>
        </p:txBody>
      </p:sp>
    </p:spTree>
    <p:extLst>
      <p:ext uri="{BB962C8B-B14F-4D97-AF65-F5344CB8AC3E}">
        <p14:creationId xmlns:p14="http://schemas.microsoft.com/office/powerpoint/2010/main" val="94199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p:spPr>
        <p:txBody>
          <a:bodyPr/>
          <a:lstStyle/>
          <a:p>
            <a:r>
              <a:rPr lang="en-US" dirty="0"/>
              <a:t>Practice</a:t>
            </a:r>
          </a:p>
        </p:txBody>
      </p:sp>
      <p:sp>
        <p:nvSpPr>
          <p:cNvPr id="3" name="Text Placeholder 2"/>
          <p:cNvSpPr>
            <a:spLocks noGrp="1"/>
          </p:cNvSpPr>
          <p:nvPr>
            <p:ph type="body" idx="1"/>
          </p:nvPr>
        </p:nvSpPr>
        <p:spPr>
          <a:xfrm>
            <a:off x="2024634" y="4187275"/>
            <a:ext cx="8320093" cy="1645920"/>
          </a:xfrm>
        </p:spPr>
        <p:txBody>
          <a:bodyPr>
            <a:normAutofit/>
          </a:bodyPr>
          <a:lstStyle/>
          <a:p>
            <a:r>
              <a:rPr lang="en-US" sz="3600" dirty="0"/>
              <a:t>Back to </a:t>
            </a:r>
            <a:r>
              <a:rPr lang="en-US" sz="3600" dirty="0" err="1"/>
              <a:t>StaffAndOrders</a:t>
            </a:r>
            <a:endParaRPr lang="en-US" sz="3600" dirty="0"/>
          </a:p>
        </p:txBody>
      </p:sp>
      <p:sp>
        <p:nvSpPr>
          <p:cNvPr id="4" name="Slide Number Placeholder 3"/>
          <p:cNvSpPr>
            <a:spLocks noGrp="1"/>
          </p:cNvSpPr>
          <p:nvPr>
            <p:ph type="sldNum" sz="quarter" idx="12"/>
          </p:nvPr>
        </p:nvSpPr>
        <p:spPr/>
        <p:txBody>
          <a:bodyPr/>
          <a:lstStyle/>
          <a:p>
            <a:fld id="{87F3E754-1C97-4481-A18C-9D97ADBDF344}" type="slidenum">
              <a:rPr lang="en-US" smtClean="0"/>
              <a:t>15</a:t>
            </a:fld>
            <a:endParaRPr lang="en-US"/>
          </a:p>
        </p:txBody>
      </p:sp>
    </p:spTree>
    <p:extLst>
      <p:ext uri="{BB962C8B-B14F-4D97-AF65-F5344CB8AC3E}">
        <p14:creationId xmlns:p14="http://schemas.microsoft.com/office/powerpoint/2010/main" val="607331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6358" y="1098144"/>
            <a:ext cx="8666073" cy="5379746"/>
          </a:xfrm>
        </p:spPr>
        <p:txBody>
          <a:bodyPr>
            <a:noAutofit/>
          </a:bodyPr>
          <a:lstStyle/>
          <a:p>
            <a:pPr marL="457200" indent="-457200" algn="just">
              <a:lnSpc>
                <a:spcPct val="100000"/>
              </a:lnSpc>
              <a:buFont typeface="+mj-lt"/>
              <a:buAutoNum type="arabicPeriod"/>
            </a:pPr>
            <a:r>
              <a:rPr lang="en-US" sz="2100" dirty="0"/>
              <a:t>The total revenue by customer along with the name of the customer</a:t>
            </a:r>
          </a:p>
          <a:p>
            <a:pPr marL="457200" indent="-457200" algn="just">
              <a:lnSpc>
                <a:spcPct val="100000"/>
              </a:lnSpc>
              <a:buFont typeface="+mj-lt"/>
              <a:buAutoNum type="alphaLcPeriod"/>
            </a:pPr>
            <a:r>
              <a:rPr lang="en-US" sz="2100" dirty="0"/>
              <a:t>Change the query such that we only want to see customers who have spent at least $20,000 ordered by revenue descending.</a:t>
            </a:r>
          </a:p>
          <a:p>
            <a:pPr marL="457200" indent="-457200" algn="just">
              <a:lnSpc>
                <a:spcPct val="100000"/>
              </a:lnSpc>
              <a:buFont typeface="+mj-lt"/>
              <a:buAutoNum type="alphaLcPeriod"/>
            </a:pPr>
            <a:endParaRPr lang="en-US" sz="2100" dirty="0"/>
          </a:p>
          <a:p>
            <a:pPr marL="457200" indent="-457200" algn="just">
              <a:lnSpc>
                <a:spcPct val="100000"/>
              </a:lnSpc>
              <a:buFont typeface="+mj-lt"/>
              <a:buAutoNum type="arabicPeriod" startAt="2"/>
            </a:pPr>
            <a:r>
              <a:rPr lang="en-US" sz="2100" dirty="0"/>
              <a:t>Total quantity sold and the sum of the revenue by product description. If a product did not sell any units make sure it shows up in the query. Sort the results by total quantity sold from largest to smallest.</a:t>
            </a:r>
          </a:p>
          <a:p>
            <a:pPr marL="0" indent="0" algn="just">
              <a:lnSpc>
                <a:spcPct val="100000"/>
              </a:lnSpc>
              <a:buNone/>
            </a:pPr>
            <a:endParaRPr lang="en-US" sz="2100" dirty="0"/>
          </a:p>
          <a:p>
            <a:pPr marL="457200" indent="-457200" algn="just">
              <a:lnSpc>
                <a:spcPct val="100000"/>
              </a:lnSpc>
              <a:buFont typeface="+mj-lt"/>
              <a:buAutoNum type="arabicPeriod" startAt="3"/>
            </a:pPr>
            <a:r>
              <a:rPr lang="en-US" sz="2100" dirty="0"/>
              <a:t>For each order placed by customers </a:t>
            </a:r>
            <a:r>
              <a:rPr lang="is-IS" sz="2100" dirty="0"/>
              <a:t>from California and after date April 1st 2012, show the order ID and the total revenue from that order.</a:t>
            </a:r>
          </a:p>
          <a:p>
            <a:pPr marL="457200" indent="-457200" algn="just">
              <a:lnSpc>
                <a:spcPct val="100000"/>
              </a:lnSpc>
              <a:buFont typeface="+mj-lt"/>
              <a:buAutoNum type="alphaLcPeriod"/>
            </a:pPr>
            <a:r>
              <a:rPr lang="is-IS" sz="2100" dirty="0"/>
              <a:t>Modify the query so that only orders that generated more than $10,000 </a:t>
            </a:r>
            <a:r>
              <a:rPr lang="en-US" sz="2100" dirty="0"/>
              <a:t>I</a:t>
            </a:r>
            <a:r>
              <a:rPr lang="is-IS" sz="2100" dirty="0"/>
              <a:t>n revenue are shown, sorted by revenue in decreasing order. </a:t>
            </a:r>
          </a:p>
          <a:p>
            <a:pPr marL="457200" indent="-457200" algn="just">
              <a:lnSpc>
                <a:spcPct val="100000"/>
              </a:lnSpc>
              <a:buFont typeface="+mj-lt"/>
              <a:buAutoNum type="alphaLcPeriod"/>
            </a:pPr>
            <a:endParaRPr lang="en-US" sz="2100" dirty="0"/>
          </a:p>
          <a:p>
            <a:pPr marL="457200" indent="-457200" algn="just">
              <a:lnSpc>
                <a:spcPct val="100000"/>
              </a:lnSpc>
              <a:buFont typeface="+mj-lt"/>
              <a:buAutoNum type="arabicPeriod" startAt="5"/>
            </a:pPr>
            <a:endParaRPr lang="en-US" sz="2100" dirty="0"/>
          </a:p>
          <a:p>
            <a:pPr lvl="0" algn="just">
              <a:lnSpc>
                <a:spcPct val="100000"/>
              </a:lnSpc>
            </a:pPr>
            <a:endParaRPr lang="en-US" sz="2100" dirty="0"/>
          </a:p>
          <a:p>
            <a:pPr lvl="0" algn="just">
              <a:lnSpc>
                <a:spcPct val="100000"/>
              </a:lnSpc>
            </a:pPr>
            <a:endParaRPr lang="en-US" sz="2100" dirty="0"/>
          </a:p>
          <a:p>
            <a:pPr lvl="0" algn="just">
              <a:lnSpc>
                <a:spcPct val="100000"/>
              </a:lnSpc>
            </a:pPr>
            <a:endParaRPr lang="en-US" sz="2100" dirty="0"/>
          </a:p>
        </p:txBody>
      </p:sp>
      <p:sp>
        <p:nvSpPr>
          <p:cNvPr id="4" name="Slide Number Placeholder 3"/>
          <p:cNvSpPr>
            <a:spLocks noGrp="1"/>
          </p:cNvSpPr>
          <p:nvPr>
            <p:ph type="sldNum" sz="quarter" idx="12"/>
          </p:nvPr>
        </p:nvSpPr>
        <p:spPr/>
        <p:txBody>
          <a:bodyPr/>
          <a:lstStyle/>
          <a:p>
            <a:fld id="{87F3E754-1C97-4481-A18C-9D97ADBDF344}" type="slidenum">
              <a:rPr lang="en-US" smtClean="0"/>
              <a:t>16</a:t>
            </a:fld>
            <a:endParaRPr lang="en-US" dirty="0"/>
          </a:p>
        </p:txBody>
      </p:sp>
      <p:sp>
        <p:nvSpPr>
          <p:cNvPr id="5" name="Title 1"/>
          <p:cNvSpPr>
            <a:spLocks noGrp="1"/>
          </p:cNvSpPr>
          <p:nvPr>
            <p:ph type="title"/>
          </p:nvPr>
        </p:nvSpPr>
        <p:spPr>
          <a:xfrm>
            <a:off x="1794458" y="155919"/>
            <a:ext cx="8079581" cy="757767"/>
          </a:xfrm>
        </p:spPr>
        <p:txBody>
          <a:bodyPr/>
          <a:lstStyle/>
          <a:p>
            <a:r>
              <a:rPr lang="en-US" dirty="0"/>
              <a:t>Let’s make a query that…</a:t>
            </a:r>
          </a:p>
        </p:txBody>
      </p:sp>
    </p:spTree>
    <p:extLst>
      <p:ext uri="{BB962C8B-B14F-4D97-AF65-F5344CB8AC3E}">
        <p14:creationId xmlns:p14="http://schemas.microsoft.com/office/powerpoint/2010/main" val="3720301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1373</Words>
  <Application>Microsoft Office PowerPoint</Application>
  <PresentationFormat>Widescreen</PresentationFormat>
  <Paragraphs>302</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SQL IV – sequence of operations</vt:lpstr>
      <vt:lpstr>Outline</vt:lpstr>
      <vt:lpstr>SQL keywords order</vt:lpstr>
      <vt:lpstr>Conceptually, we should think of a query as the following sequence of operations and in the following order:</vt:lpstr>
      <vt:lpstr>Example of the sequence of operations</vt:lpstr>
      <vt:lpstr>1. FROM Purchase</vt:lpstr>
      <vt:lpstr>2. WHERE date &gt; #10/1/2005# </vt:lpstr>
      <vt:lpstr>3. GROUP BY product</vt:lpstr>
      <vt:lpstr>4. HAVING SUM(quantity)&gt;15</vt:lpstr>
      <vt:lpstr>5. ORDER BY SUM(quantity) DESC</vt:lpstr>
      <vt:lpstr>6. SELECT product, SUM(quantity) AS TotalSales </vt:lpstr>
      <vt:lpstr>Very important!!!</vt:lpstr>
      <vt:lpstr>What’s in SELECT must be in GROUP BY, but not the opposite…</vt:lpstr>
      <vt:lpstr>And a note on aliases….</vt:lpstr>
      <vt:lpstr>Practice</vt:lpstr>
      <vt:lpstr>Let’s make a query that…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IV – sequence of operations</dc:title>
  <dc:creator>Disha Parkhi</dc:creator>
  <cp:lastModifiedBy>Disha Parkhi</cp:lastModifiedBy>
  <cp:revision>2</cp:revision>
  <dcterms:created xsi:type="dcterms:W3CDTF">2020-08-22T21:49:37Z</dcterms:created>
  <dcterms:modified xsi:type="dcterms:W3CDTF">2021-04-08T23:28:17Z</dcterms:modified>
</cp:coreProperties>
</file>