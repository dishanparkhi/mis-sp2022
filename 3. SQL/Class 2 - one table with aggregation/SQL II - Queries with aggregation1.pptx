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92" r:id="rId3"/>
    <p:sldId id="308" r:id="rId4"/>
    <p:sldId id="307" r:id="rId5"/>
    <p:sldId id="279" r:id="rId6"/>
    <p:sldId id="298" r:id="rId7"/>
    <p:sldId id="304" r:id="rId8"/>
    <p:sldId id="306" r:id="rId9"/>
    <p:sldId id="299" r:id="rId10"/>
    <p:sldId id="30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E65A2E7-BC34-4C95-B8FB-7A2CD6FBA3F7}">
          <p14:sldIdLst/>
        </p14:section>
        <p14:section name="Default Section" id="{C892008D-43F3-4264-941F-487151B80BC1}">
          <p14:sldIdLst>
            <p14:sldId id="257"/>
            <p14:sldId id="292"/>
          </p14:sldIdLst>
        </p14:section>
        <p14:section name="Aggregation" id="{FCA93C81-0E7E-284F-84C3-EDB23B289D36}">
          <p14:sldIdLst>
            <p14:sldId id="308"/>
            <p14:sldId id="307"/>
            <p14:sldId id="279"/>
            <p14:sldId id="298"/>
            <p14:sldId id="304"/>
            <p14:sldId id="306"/>
            <p14:sldId id="299"/>
            <p14:sldId id="30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ACD9B-EF21-4FA1-9A2E-9D15858D65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906DDC-48B7-4142-84CF-A73CC2E2C5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4094103-4E64-4D29-9369-727112D52B7F}"/>
              </a:ext>
            </a:extLst>
          </p:cNvPr>
          <p:cNvSpPr>
            <a:spLocks noGrp="1"/>
          </p:cNvSpPr>
          <p:nvPr>
            <p:ph type="dt" sz="half" idx="10"/>
          </p:nvPr>
        </p:nvSpPr>
        <p:spPr/>
        <p:txBody>
          <a:bodyPr/>
          <a:lstStyle/>
          <a:p>
            <a:fld id="{7DBBB7D3-233F-4F32-872C-D39B896D0424}" type="datetimeFigureOut">
              <a:rPr lang="en-US" smtClean="0"/>
              <a:t>8/22/2020</a:t>
            </a:fld>
            <a:endParaRPr lang="en-US"/>
          </a:p>
        </p:txBody>
      </p:sp>
      <p:sp>
        <p:nvSpPr>
          <p:cNvPr id="5" name="Footer Placeholder 4">
            <a:extLst>
              <a:ext uri="{FF2B5EF4-FFF2-40B4-BE49-F238E27FC236}">
                <a16:creationId xmlns:a16="http://schemas.microsoft.com/office/drawing/2014/main" id="{E543E9F1-EEF6-4153-A4F5-3C32A8F6BC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00704C-A547-48EC-8C9D-0874069FBCF8}"/>
              </a:ext>
            </a:extLst>
          </p:cNvPr>
          <p:cNvSpPr>
            <a:spLocks noGrp="1"/>
          </p:cNvSpPr>
          <p:nvPr>
            <p:ph type="sldNum" sz="quarter" idx="12"/>
          </p:nvPr>
        </p:nvSpPr>
        <p:spPr/>
        <p:txBody>
          <a:bodyPr/>
          <a:lstStyle/>
          <a:p>
            <a:fld id="{20AE0490-214C-4DC8-A3EA-26AC996C5A1B}" type="slidenum">
              <a:rPr lang="en-US" smtClean="0"/>
              <a:t>‹#›</a:t>
            </a:fld>
            <a:endParaRPr lang="en-US"/>
          </a:p>
        </p:txBody>
      </p:sp>
    </p:spTree>
    <p:extLst>
      <p:ext uri="{BB962C8B-B14F-4D97-AF65-F5344CB8AC3E}">
        <p14:creationId xmlns:p14="http://schemas.microsoft.com/office/powerpoint/2010/main" val="535583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51108-553D-408D-81B9-483FDF539D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F06A68-2AD7-440C-96A9-0426A312A1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5434A-2222-4034-95BF-B7D083564BFC}"/>
              </a:ext>
            </a:extLst>
          </p:cNvPr>
          <p:cNvSpPr>
            <a:spLocks noGrp="1"/>
          </p:cNvSpPr>
          <p:nvPr>
            <p:ph type="dt" sz="half" idx="10"/>
          </p:nvPr>
        </p:nvSpPr>
        <p:spPr/>
        <p:txBody>
          <a:bodyPr/>
          <a:lstStyle/>
          <a:p>
            <a:fld id="{7DBBB7D3-233F-4F32-872C-D39B896D0424}" type="datetimeFigureOut">
              <a:rPr lang="en-US" smtClean="0"/>
              <a:t>8/22/2020</a:t>
            </a:fld>
            <a:endParaRPr lang="en-US"/>
          </a:p>
        </p:txBody>
      </p:sp>
      <p:sp>
        <p:nvSpPr>
          <p:cNvPr id="5" name="Footer Placeholder 4">
            <a:extLst>
              <a:ext uri="{FF2B5EF4-FFF2-40B4-BE49-F238E27FC236}">
                <a16:creationId xmlns:a16="http://schemas.microsoft.com/office/drawing/2014/main" id="{11D2A0AE-4C3F-4B54-89C8-897EB6213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23F9F3-646E-4197-921A-03BBF40AB852}"/>
              </a:ext>
            </a:extLst>
          </p:cNvPr>
          <p:cNvSpPr>
            <a:spLocks noGrp="1"/>
          </p:cNvSpPr>
          <p:nvPr>
            <p:ph type="sldNum" sz="quarter" idx="12"/>
          </p:nvPr>
        </p:nvSpPr>
        <p:spPr/>
        <p:txBody>
          <a:bodyPr/>
          <a:lstStyle/>
          <a:p>
            <a:fld id="{20AE0490-214C-4DC8-A3EA-26AC996C5A1B}" type="slidenum">
              <a:rPr lang="en-US" smtClean="0"/>
              <a:t>‹#›</a:t>
            </a:fld>
            <a:endParaRPr lang="en-US"/>
          </a:p>
        </p:txBody>
      </p:sp>
    </p:spTree>
    <p:extLst>
      <p:ext uri="{BB962C8B-B14F-4D97-AF65-F5344CB8AC3E}">
        <p14:creationId xmlns:p14="http://schemas.microsoft.com/office/powerpoint/2010/main" val="1787411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54686-A63C-43CB-ABE5-E43ECB8260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7E8DAB-7A11-4371-BA70-AF5F4D64BC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BEC151-3EA2-4EFB-B9FE-80E61CCD5824}"/>
              </a:ext>
            </a:extLst>
          </p:cNvPr>
          <p:cNvSpPr>
            <a:spLocks noGrp="1"/>
          </p:cNvSpPr>
          <p:nvPr>
            <p:ph type="dt" sz="half" idx="10"/>
          </p:nvPr>
        </p:nvSpPr>
        <p:spPr/>
        <p:txBody>
          <a:bodyPr/>
          <a:lstStyle/>
          <a:p>
            <a:fld id="{7DBBB7D3-233F-4F32-872C-D39B896D0424}" type="datetimeFigureOut">
              <a:rPr lang="en-US" smtClean="0"/>
              <a:t>8/22/2020</a:t>
            </a:fld>
            <a:endParaRPr lang="en-US"/>
          </a:p>
        </p:txBody>
      </p:sp>
      <p:sp>
        <p:nvSpPr>
          <p:cNvPr id="5" name="Footer Placeholder 4">
            <a:extLst>
              <a:ext uri="{FF2B5EF4-FFF2-40B4-BE49-F238E27FC236}">
                <a16:creationId xmlns:a16="http://schemas.microsoft.com/office/drawing/2014/main" id="{6CDBCC90-4402-4A3B-B044-454AC2462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8D703F-A774-474A-9377-A659DD8171CE}"/>
              </a:ext>
            </a:extLst>
          </p:cNvPr>
          <p:cNvSpPr>
            <a:spLocks noGrp="1"/>
          </p:cNvSpPr>
          <p:nvPr>
            <p:ph type="sldNum" sz="quarter" idx="12"/>
          </p:nvPr>
        </p:nvSpPr>
        <p:spPr/>
        <p:txBody>
          <a:bodyPr/>
          <a:lstStyle/>
          <a:p>
            <a:fld id="{20AE0490-214C-4DC8-A3EA-26AC996C5A1B}" type="slidenum">
              <a:rPr lang="en-US" smtClean="0"/>
              <a:t>‹#›</a:t>
            </a:fld>
            <a:endParaRPr lang="en-US"/>
          </a:p>
        </p:txBody>
      </p:sp>
    </p:spTree>
    <p:extLst>
      <p:ext uri="{BB962C8B-B14F-4D97-AF65-F5344CB8AC3E}">
        <p14:creationId xmlns:p14="http://schemas.microsoft.com/office/powerpoint/2010/main" val="76737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F9F10-6F62-41E6-9B82-30756617FE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59B327-E20B-4F4E-A4B4-20B064A391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089529-ED26-478B-AD19-8B9736B203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50BDB6-E075-4034-BFC3-9D6615CEFC0D}"/>
              </a:ext>
            </a:extLst>
          </p:cNvPr>
          <p:cNvSpPr>
            <a:spLocks noGrp="1"/>
          </p:cNvSpPr>
          <p:nvPr>
            <p:ph type="dt" sz="half" idx="10"/>
          </p:nvPr>
        </p:nvSpPr>
        <p:spPr/>
        <p:txBody>
          <a:bodyPr/>
          <a:lstStyle/>
          <a:p>
            <a:fld id="{7DBBB7D3-233F-4F32-872C-D39B896D0424}" type="datetimeFigureOut">
              <a:rPr lang="en-US" smtClean="0"/>
              <a:t>8/22/2020</a:t>
            </a:fld>
            <a:endParaRPr lang="en-US"/>
          </a:p>
        </p:txBody>
      </p:sp>
      <p:sp>
        <p:nvSpPr>
          <p:cNvPr id="6" name="Footer Placeholder 5">
            <a:extLst>
              <a:ext uri="{FF2B5EF4-FFF2-40B4-BE49-F238E27FC236}">
                <a16:creationId xmlns:a16="http://schemas.microsoft.com/office/drawing/2014/main" id="{6FA28A65-1487-49B4-9E93-A82BE97C57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0AD1D3-5927-4158-AAA0-D41C7E0CA3CB}"/>
              </a:ext>
            </a:extLst>
          </p:cNvPr>
          <p:cNvSpPr>
            <a:spLocks noGrp="1"/>
          </p:cNvSpPr>
          <p:nvPr>
            <p:ph type="sldNum" sz="quarter" idx="12"/>
          </p:nvPr>
        </p:nvSpPr>
        <p:spPr/>
        <p:txBody>
          <a:bodyPr/>
          <a:lstStyle/>
          <a:p>
            <a:fld id="{20AE0490-214C-4DC8-A3EA-26AC996C5A1B}" type="slidenum">
              <a:rPr lang="en-US" smtClean="0"/>
              <a:t>‹#›</a:t>
            </a:fld>
            <a:endParaRPr lang="en-US"/>
          </a:p>
        </p:txBody>
      </p:sp>
    </p:spTree>
    <p:extLst>
      <p:ext uri="{BB962C8B-B14F-4D97-AF65-F5344CB8AC3E}">
        <p14:creationId xmlns:p14="http://schemas.microsoft.com/office/powerpoint/2010/main" val="6854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EF5D-7CCD-4788-8194-1290C7F785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27022E-560D-4C66-9BCF-090EC3618C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99F106-EAE2-43AD-BE28-3FBA798289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7731E3-9A18-46F3-813C-740B670EB5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A5BB3B-B858-4275-B938-60081AC739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0DFC0F-594A-486F-87FD-CCE94D107988}"/>
              </a:ext>
            </a:extLst>
          </p:cNvPr>
          <p:cNvSpPr>
            <a:spLocks noGrp="1"/>
          </p:cNvSpPr>
          <p:nvPr>
            <p:ph type="dt" sz="half" idx="10"/>
          </p:nvPr>
        </p:nvSpPr>
        <p:spPr/>
        <p:txBody>
          <a:bodyPr/>
          <a:lstStyle/>
          <a:p>
            <a:fld id="{7DBBB7D3-233F-4F32-872C-D39B896D0424}" type="datetimeFigureOut">
              <a:rPr lang="en-US" smtClean="0"/>
              <a:t>8/22/2020</a:t>
            </a:fld>
            <a:endParaRPr lang="en-US"/>
          </a:p>
        </p:txBody>
      </p:sp>
      <p:sp>
        <p:nvSpPr>
          <p:cNvPr id="8" name="Footer Placeholder 7">
            <a:extLst>
              <a:ext uri="{FF2B5EF4-FFF2-40B4-BE49-F238E27FC236}">
                <a16:creationId xmlns:a16="http://schemas.microsoft.com/office/drawing/2014/main" id="{C713CBFD-E201-4F98-B149-41BA9B2493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778C59-DA5F-4E13-ACE6-BE7808E7AC03}"/>
              </a:ext>
            </a:extLst>
          </p:cNvPr>
          <p:cNvSpPr>
            <a:spLocks noGrp="1"/>
          </p:cNvSpPr>
          <p:nvPr>
            <p:ph type="sldNum" sz="quarter" idx="12"/>
          </p:nvPr>
        </p:nvSpPr>
        <p:spPr/>
        <p:txBody>
          <a:bodyPr/>
          <a:lstStyle/>
          <a:p>
            <a:fld id="{20AE0490-214C-4DC8-A3EA-26AC996C5A1B}" type="slidenum">
              <a:rPr lang="en-US" smtClean="0"/>
              <a:t>‹#›</a:t>
            </a:fld>
            <a:endParaRPr lang="en-US"/>
          </a:p>
        </p:txBody>
      </p:sp>
    </p:spTree>
    <p:extLst>
      <p:ext uri="{BB962C8B-B14F-4D97-AF65-F5344CB8AC3E}">
        <p14:creationId xmlns:p14="http://schemas.microsoft.com/office/powerpoint/2010/main" val="1441047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8FE50-A482-4255-9CB5-707C36EEFC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A9EDBD-2FCA-46C2-85B3-8A67359248F4}"/>
              </a:ext>
            </a:extLst>
          </p:cNvPr>
          <p:cNvSpPr>
            <a:spLocks noGrp="1"/>
          </p:cNvSpPr>
          <p:nvPr>
            <p:ph type="dt" sz="half" idx="10"/>
          </p:nvPr>
        </p:nvSpPr>
        <p:spPr/>
        <p:txBody>
          <a:bodyPr/>
          <a:lstStyle/>
          <a:p>
            <a:fld id="{7DBBB7D3-233F-4F32-872C-D39B896D0424}" type="datetimeFigureOut">
              <a:rPr lang="en-US" smtClean="0"/>
              <a:t>8/22/2020</a:t>
            </a:fld>
            <a:endParaRPr lang="en-US"/>
          </a:p>
        </p:txBody>
      </p:sp>
      <p:sp>
        <p:nvSpPr>
          <p:cNvPr id="4" name="Footer Placeholder 3">
            <a:extLst>
              <a:ext uri="{FF2B5EF4-FFF2-40B4-BE49-F238E27FC236}">
                <a16:creationId xmlns:a16="http://schemas.microsoft.com/office/drawing/2014/main" id="{5EC77C58-5473-4412-977D-CF582DFDA4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976447-0370-492F-98BC-E8F251F40F56}"/>
              </a:ext>
            </a:extLst>
          </p:cNvPr>
          <p:cNvSpPr>
            <a:spLocks noGrp="1"/>
          </p:cNvSpPr>
          <p:nvPr>
            <p:ph type="sldNum" sz="quarter" idx="12"/>
          </p:nvPr>
        </p:nvSpPr>
        <p:spPr/>
        <p:txBody>
          <a:bodyPr/>
          <a:lstStyle/>
          <a:p>
            <a:fld id="{20AE0490-214C-4DC8-A3EA-26AC996C5A1B}" type="slidenum">
              <a:rPr lang="en-US" smtClean="0"/>
              <a:t>‹#›</a:t>
            </a:fld>
            <a:endParaRPr lang="en-US"/>
          </a:p>
        </p:txBody>
      </p:sp>
    </p:spTree>
    <p:extLst>
      <p:ext uri="{BB962C8B-B14F-4D97-AF65-F5344CB8AC3E}">
        <p14:creationId xmlns:p14="http://schemas.microsoft.com/office/powerpoint/2010/main" val="180175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FF356C-38CF-4F5A-8A2F-EE51B7E2B34E}"/>
              </a:ext>
            </a:extLst>
          </p:cNvPr>
          <p:cNvSpPr>
            <a:spLocks noGrp="1"/>
          </p:cNvSpPr>
          <p:nvPr>
            <p:ph type="dt" sz="half" idx="10"/>
          </p:nvPr>
        </p:nvSpPr>
        <p:spPr/>
        <p:txBody>
          <a:bodyPr/>
          <a:lstStyle/>
          <a:p>
            <a:fld id="{7DBBB7D3-233F-4F32-872C-D39B896D0424}" type="datetimeFigureOut">
              <a:rPr lang="en-US" smtClean="0"/>
              <a:t>8/22/2020</a:t>
            </a:fld>
            <a:endParaRPr lang="en-US"/>
          </a:p>
        </p:txBody>
      </p:sp>
      <p:sp>
        <p:nvSpPr>
          <p:cNvPr id="3" name="Footer Placeholder 2">
            <a:extLst>
              <a:ext uri="{FF2B5EF4-FFF2-40B4-BE49-F238E27FC236}">
                <a16:creationId xmlns:a16="http://schemas.microsoft.com/office/drawing/2014/main" id="{B0130A92-A9BA-4003-A8FE-A46EB2D63E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94DC20-ACCD-4400-AC7C-40DFED586E32}"/>
              </a:ext>
            </a:extLst>
          </p:cNvPr>
          <p:cNvSpPr>
            <a:spLocks noGrp="1"/>
          </p:cNvSpPr>
          <p:nvPr>
            <p:ph type="sldNum" sz="quarter" idx="12"/>
          </p:nvPr>
        </p:nvSpPr>
        <p:spPr/>
        <p:txBody>
          <a:bodyPr/>
          <a:lstStyle/>
          <a:p>
            <a:fld id="{20AE0490-214C-4DC8-A3EA-26AC996C5A1B}" type="slidenum">
              <a:rPr lang="en-US" smtClean="0"/>
              <a:t>‹#›</a:t>
            </a:fld>
            <a:endParaRPr lang="en-US"/>
          </a:p>
        </p:txBody>
      </p:sp>
    </p:spTree>
    <p:extLst>
      <p:ext uri="{BB962C8B-B14F-4D97-AF65-F5344CB8AC3E}">
        <p14:creationId xmlns:p14="http://schemas.microsoft.com/office/powerpoint/2010/main" val="2235195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3537C-4C41-4497-9154-A1984BA411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4B8A46-6908-4EB7-92E9-9767F213AB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54EB844-1F71-4822-BE0C-C69395EA93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68D65A-577B-4587-8A33-1C1A04E25530}"/>
              </a:ext>
            </a:extLst>
          </p:cNvPr>
          <p:cNvSpPr>
            <a:spLocks noGrp="1"/>
          </p:cNvSpPr>
          <p:nvPr>
            <p:ph type="dt" sz="half" idx="10"/>
          </p:nvPr>
        </p:nvSpPr>
        <p:spPr/>
        <p:txBody>
          <a:bodyPr/>
          <a:lstStyle/>
          <a:p>
            <a:fld id="{7DBBB7D3-233F-4F32-872C-D39B896D0424}" type="datetimeFigureOut">
              <a:rPr lang="en-US" smtClean="0"/>
              <a:t>8/22/2020</a:t>
            </a:fld>
            <a:endParaRPr lang="en-US"/>
          </a:p>
        </p:txBody>
      </p:sp>
      <p:sp>
        <p:nvSpPr>
          <p:cNvPr id="6" name="Footer Placeholder 5">
            <a:extLst>
              <a:ext uri="{FF2B5EF4-FFF2-40B4-BE49-F238E27FC236}">
                <a16:creationId xmlns:a16="http://schemas.microsoft.com/office/drawing/2014/main" id="{05AED5A5-2ED1-4B4A-9F0E-EEDB4D55F4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4975BF-30FD-421A-BA44-6A88723269AB}"/>
              </a:ext>
            </a:extLst>
          </p:cNvPr>
          <p:cNvSpPr>
            <a:spLocks noGrp="1"/>
          </p:cNvSpPr>
          <p:nvPr>
            <p:ph type="sldNum" sz="quarter" idx="12"/>
          </p:nvPr>
        </p:nvSpPr>
        <p:spPr/>
        <p:txBody>
          <a:bodyPr/>
          <a:lstStyle/>
          <a:p>
            <a:fld id="{20AE0490-214C-4DC8-A3EA-26AC996C5A1B}" type="slidenum">
              <a:rPr lang="en-US" smtClean="0"/>
              <a:t>‹#›</a:t>
            </a:fld>
            <a:endParaRPr lang="en-US"/>
          </a:p>
        </p:txBody>
      </p:sp>
    </p:spTree>
    <p:extLst>
      <p:ext uri="{BB962C8B-B14F-4D97-AF65-F5344CB8AC3E}">
        <p14:creationId xmlns:p14="http://schemas.microsoft.com/office/powerpoint/2010/main" val="859988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9B9BF-961A-4AD8-B990-FE9D74D4C8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F09456-2786-42D6-9112-9562CA0B45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8B3158-7AA9-4228-B1FA-3D8CD396F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51B164-1B7B-4BC5-A3E6-A709C6E16018}"/>
              </a:ext>
            </a:extLst>
          </p:cNvPr>
          <p:cNvSpPr>
            <a:spLocks noGrp="1"/>
          </p:cNvSpPr>
          <p:nvPr>
            <p:ph type="dt" sz="half" idx="10"/>
          </p:nvPr>
        </p:nvSpPr>
        <p:spPr/>
        <p:txBody>
          <a:bodyPr/>
          <a:lstStyle/>
          <a:p>
            <a:fld id="{7DBBB7D3-233F-4F32-872C-D39B896D0424}" type="datetimeFigureOut">
              <a:rPr lang="en-US" smtClean="0"/>
              <a:t>8/22/2020</a:t>
            </a:fld>
            <a:endParaRPr lang="en-US"/>
          </a:p>
        </p:txBody>
      </p:sp>
      <p:sp>
        <p:nvSpPr>
          <p:cNvPr id="6" name="Footer Placeholder 5">
            <a:extLst>
              <a:ext uri="{FF2B5EF4-FFF2-40B4-BE49-F238E27FC236}">
                <a16:creationId xmlns:a16="http://schemas.microsoft.com/office/drawing/2014/main" id="{1598AEA6-ADFD-4F61-AF59-D29CE6F7F8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D9B3D2-5167-4F43-A697-890E04D4F42D}"/>
              </a:ext>
            </a:extLst>
          </p:cNvPr>
          <p:cNvSpPr>
            <a:spLocks noGrp="1"/>
          </p:cNvSpPr>
          <p:nvPr>
            <p:ph type="sldNum" sz="quarter" idx="12"/>
          </p:nvPr>
        </p:nvSpPr>
        <p:spPr/>
        <p:txBody>
          <a:bodyPr/>
          <a:lstStyle/>
          <a:p>
            <a:fld id="{20AE0490-214C-4DC8-A3EA-26AC996C5A1B}" type="slidenum">
              <a:rPr lang="en-US" smtClean="0"/>
              <a:t>‹#›</a:t>
            </a:fld>
            <a:endParaRPr lang="en-US"/>
          </a:p>
        </p:txBody>
      </p:sp>
    </p:spTree>
    <p:extLst>
      <p:ext uri="{BB962C8B-B14F-4D97-AF65-F5344CB8AC3E}">
        <p14:creationId xmlns:p14="http://schemas.microsoft.com/office/powerpoint/2010/main" val="1533815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12050-7739-4B87-96F6-5C3F356DC9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296456-37B0-458E-A5F9-1E5B779659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8C309-BFC6-4A29-B992-8023A9D51C5D}"/>
              </a:ext>
            </a:extLst>
          </p:cNvPr>
          <p:cNvSpPr>
            <a:spLocks noGrp="1"/>
          </p:cNvSpPr>
          <p:nvPr>
            <p:ph type="dt" sz="half" idx="10"/>
          </p:nvPr>
        </p:nvSpPr>
        <p:spPr/>
        <p:txBody>
          <a:bodyPr/>
          <a:lstStyle/>
          <a:p>
            <a:fld id="{7DBBB7D3-233F-4F32-872C-D39B896D0424}" type="datetimeFigureOut">
              <a:rPr lang="en-US" smtClean="0"/>
              <a:t>8/22/2020</a:t>
            </a:fld>
            <a:endParaRPr lang="en-US"/>
          </a:p>
        </p:txBody>
      </p:sp>
      <p:sp>
        <p:nvSpPr>
          <p:cNvPr id="5" name="Footer Placeholder 4">
            <a:extLst>
              <a:ext uri="{FF2B5EF4-FFF2-40B4-BE49-F238E27FC236}">
                <a16:creationId xmlns:a16="http://schemas.microsoft.com/office/drawing/2014/main" id="{57BC900C-7E17-4A9D-A16D-C344FB2F85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40F6F9-F703-4779-B2AD-EF145E4E96D7}"/>
              </a:ext>
            </a:extLst>
          </p:cNvPr>
          <p:cNvSpPr>
            <a:spLocks noGrp="1"/>
          </p:cNvSpPr>
          <p:nvPr>
            <p:ph type="sldNum" sz="quarter" idx="12"/>
          </p:nvPr>
        </p:nvSpPr>
        <p:spPr/>
        <p:txBody>
          <a:bodyPr/>
          <a:lstStyle/>
          <a:p>
            <a:fld id="{20AE0490-214C-4DC8-A3EA-26AC996C5A1B}" type="slidenum">
              <a:rPr lang="en-US" smtClean="0"/>
              <a:t>‹#›</a:t>
            </a:fld>
            <a:endParaRPr lang="en-US"/>
          </a:p>
        </p:txBody>
      </p:sp>
    </p:spTree>
    <p:extLst>
      <p:ext uri="{BB962C8B-B14F-4D97-AF65-F5344CB8AC3E}">
        <p14:creationId xmlns:p14="http://schemas.microsoft.com/office/powerpoint/2010/main" val="2195358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952631-9FC8-44A6-853C-4F67D7A36B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1EFDC6-8073-4900-AEA6-EAC584A22C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63DE8F-CF7B-4588-AEFE-BF2C0477A33A}"/>
              </a:ext>
            </a:extLst>
          </p:cNvPr>
          <p:cNvSpPr>
            <a:spLocks noGrp="1"/>
          </p:cNvSpPr>
          <p:nvPr>
            <p:ph type="dt" sz="half" idx="10"/>
          </p:nvPr>
        </p:nvSpPr>
        <p:spPr/>
        <p:txBody>
          <a:bodyPr/>
          <a:lstStyle/>
          <a:p>
            <a:fld id="{7DBBB7D3-233F-4F32-872C-D39B896D0424}" type="datetimeFigureOut">
              <a:rPr lang="en-US" smtClean="0"/>
              <a:t>8/22/2020</a:t>
            </a:fld>
            <a:endParaRPr lang="en-US"/>
          </a:p>
        </p:txBody>
      </p:sp>
      <p:sp>
        <p:nvSpPr>
          <p:cNvPr id="5" name="Footer Placeholder 4">
            <a:extLst>
              <a:ext uri="{FF2B5EF4-FFF2-40B4-BE49-F238E27FC236}">
                <a16:creationId xmlns:a16="http://schemas.microsoft.com/office/drawing/2014/main" id="{6272ED29-ECC9-46C3-A6E8-EEF15FB172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514CAD-46CB-486D-AD25-63A94E3E047E}"/>
              </a:ext>
            </a:extLst>
          </p:cNvPr>
          <p:cNvSpPr>
            <a:spLocks noGrp="1"/>
          </p:cNvSpPr>
          <p:nvPr>
            <p:ph type="sldNum" sz="quarter" idx="12"/>
          </p:nvPr>
        </p:nvSpPr>
        <p:spPr/>
        <p:txBody>
          <a:bodyPr/>
          <a:lstStyle/>
          <a:p>
            <a:fld id="{20AE0490-214C-4DC8-A3EA-26AC996C5A1B}" type="slidenum">
              <a:rPr lang="en-US" smtClean="0"/>
              <a:t>‹#›</a:t>
            </a:fld>
            <a:endParaRPr lang="en-US"/>
          </a:p>
        </p:txBody>
      </p:sp>
    </p:spTree>
    <p:extLst>
      <p:ext uri="{BB962C8B-B14F-4D97-AF65-F5344CB8AC3E}">
        <p14:creationId xmlns:p14="http://schemas.microsoft.com/office/powerpoint/2010/main" val="1346568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B91FFE-7FED-4DD1-884F-4A126B5012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773809-4FB2-4D36-8B26-5C4C7CC107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777FC-8641-406D-8F54-608E4D483B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BBB7D3-233F-4F32-872C-D39B896D0424}" type="datetimeFigureOut">
              <a:rPr lang="en-US" smtClean="0"/>
              <a:t>8/22/2020</a:t>
            </a:fld>
            <a:endParaRPr lang="en-US"/>
          </a:p>
        </p:txBody>
      </p:sp>
      <p:sp>
        <p:nvSpPr>
          <p:cNvPr id="5" name="Footer Placeholder 4">
            <a:extLst>
              <a:ext uri="{FF2B5EF4-FFF2-40B4-BE49-F238E27FC236}">
                <a16:creationId xmlns:a16="http://schemas.microsoft.com/office/drawing/2014/main" id="{2159EA89-98AB-4C80-8992-96CDB2E65A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F77A84-2478-425D-AF56-DDED5FEA02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AE0490-214C-4DC8-A3EA-26AC996C5A1B}" type="slidenum">
              <a:rPr lang="en-US" smtClean="0"/>
              <a:t>‹#›</a:t>
            </a:fld>
            <a:endParaRPr lang="en-US"/>
          </a:p>
        </p:txBody>
      </p:sp>
    </p:spTree>
    <p:extLst>
      <p:ext uri="{BB962C8B-B14F-4D97-AF65-F5344CB8AC3E}">
        <p14:creationId xmlns:p14="http://schemas.microsoft.com/office/powerpoint/2010/main" val="18558008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76629" y="770467"/>
            <a:ext cx="8580277" cy="3352800"/>
          </a:xfrm>
        </p:spPr>
        <p:txBody>
          <a:bodyPr/>
          <a:lstStyle/>
          <a:p>
            <a:r>
              <a:rPr lang="en-US" dirty="0"/>
              <a:t>SQL II - Queries with </a:t>
            </a:r>
            <a:r>
              <a:rPr lang="en-US" i="1" dirty="0"/>
              <a:t>aggregation</a:t>
            </a:r>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solidFill>
                <a:schemeClr val="tx1"/>
              </a:solidFill>
            </a:endParaRPr>
          </a:p>
          <a:p>
            <a:r>
              <a:rPr lang="en-US" b="1" dirty="0">
                <a:solidFill>
                  <a:schemeClr val="tx1"/>
                </a:solidFill>
              </a:rPr>
              <a:t>Management of Information Systems</a:t>
            </a:r>
          </a:p>
          <a:p>
            <a:r>
              <a:rPr lang="en-US" dirty="0"/>
              <a:t>Disha Parkhi</a:t>
            </a:r>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268505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2031206" y="2157732"/>
            <a:ext cx="5662588" cy="3766185"/>
          </a:xfrm>
        </p:spPr>
        <p:txBody>
          <a:bodyPr>
            <a:normAutofit/>
          </a:bodyPr>
          <a:lstStyle/>
          <a:p>
            <a:pPr>
              <a:buFont typeface="Wingdings" panose="05000000000000000000" pitchFamily="2" charset="2"/>
              <a:buChar char="§"/>
            </a:pPr>
            <a:r>
              <a:rPr lang="en-US" dirty="0"/>
              <a:t> Queries with one table and aggregation </a:t>
            </a:r>
          </a:p>
          <a:p>
            <a:pPr>
              <a:buFont typeface="Wingdings" panose="05000000000000000000" pitchFamily="2" charset="2"/>
              <a:buChar char="§"/>
            </a:pPr>
            <a:r>
              <a:rPr lang="en-US" dirty="0"/>
              <a:t> GROUP BY and HAVING</a:t>
            </a:r>
          </a:p>
        </p:txBody>
      </p:sp>
      <p:sp>
        <p:nvSpPr>
          <p:cNvPr id="4" name="Slide Number Placeholder 3"/>
          <p:cNvSpPr>
            <a:spLocks noGrp="1"/>
          </p:cNvSpPr>
          <p:nvPr>
            <p:ph type="sldNum" sz="quarter" idx="12"/>
          </p:nvPr>
        </p:nvSpPr>
        <p:spPr/>
        <p:txBody>
          <a:bodyPr/>
          <a:lstStyle/>
          <a:p>
            <a:fld id="{87F3E754-1C97-4481-A18C-9D97ADBDF344}" type="slidenum">
              <a:rPr lang="en-US" smtClean="0"/>
              <a:t>2</a:t>
            </a:fld>
            <a:endParaRPr lang="en-US"/>
          </a:p>
        </p:txBody>
      </p:sp>
      <p:sp>
        <p:nvSpPr>
          <p:cNvPr id="5" name="Content Placeholder 8"/>
          <p:cNvSpPr txBox="1">
            <a:spLocks/>
          </p:cNvSpPr>
          <p:nvPr/>
        </p:nvSpPr>
        <p:spPr>
          <a:xfrm>
            <a:off x="6514641" y="2062420"/>
            <a:ext cx="4010140" cy="1301266"/>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a:lnSpc>
                <a:spcPct val="100000"/>
              </a:lnSpc>
              <a:buFont typeface="Wingdings" charset="2"/>
              <a:buChar char="ü"/>
            </a:pPr>
            <a:r>
              <a:rPr lang="en-US" sz="2300" i="1" dirty="0"/>
              <a:t> Posted notes</a:t>
            </a:r>
          </a:p>
        </p:txBody>
      </p:sp>
    </p:spTree>
    <p:extLst>
      <p:ext uri="{BB962C8B-B14F-4D97-AF65-F5344CB8AC3E}">
        <p14:creationId xmlns:p14="http://schemas.microsoft.com/office/powerpoint/2010/main" val="3857339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4458" y="1367905"/>
            <a:ext cx="8666073" cy="3766185"/>
          </a:xfrm>
        </p:spPr>
        <p:txBody>
          <a:bodyPr>
            <a:noAutofit/>
          </a:bodyPr>
          <a:lstStyle/>
          <a:p>
            <a:pPr marL="0" indent="0" algn="just">
              <a:lnSpc>
                <a:spcPct val="100000"/>
              </a:lnSpc>
              <a:buNone/>
            </a:pPr>
            <a:r>
              <a:rPr lang="en-US" sz="3200" dirty="0"/>
              <a:t>The average product price per category?</a:t>
            </a:r>
          </a:p>
          <a:p>
            <a:pPr marL="0" indent="0" algn="just">
              <a:lnSpc>
                <a:spcPct val="100000"/>
              </a:lnSpc>
              <a:buNone/>
            </a:pPr>
            <a:endParaRPr lang="en-US" sz="3200" dirty="0"/>
          </a:p>
          <a:p>
            <a:pPr marL="0" indent="0" algn="just">
              <a:lnSpc>
                <a:spcPct val="100000"/>
              </a:lnSpc>
              <a:buNone/>
            </a:pPr>
            <a:r>
              <a:rPr lang="en-US" dirty="0"/>
              <a:t>We need to group products by category and then calculate the average price for each group. That is, we need to use queries with aggregation.</a:t>
            </a:r>
          </a:p>
          <a:p>
            <a:pPr marL="0" indent="0" algn="just">
              <a:lnSpc>
                <a:spcPct val="100000"/>
              </a:lnSpc>
              <a:buNone/>
            </a:pPr>
            <a:endParaRPr lang="en-US" dirty="0"/>
          </a:p>
          <a:p>
            <a:pPr marL="0" indent="0" algn="just">
              <a:lnSpc>
                <a:spcPct val="100000"/>
              </a:lnSpc>
              <a:buNone/>
            </a:pPr>
            <a:r>
              <a:rPr lang="en-US" i="1" dirty="0"/>
              <a:t>Aggregation means computing some kind of summary information about groups of records.  Aggregation occurs when you use any aggregation function in your SELECT expressions.</a:t>
            </a:r>
            <a:endParaRPr lang="en-US" u="sng" dirty="0">
              <a:solidFill>
                <a:srgbClr val="00B050"/>
              </a:solidFill>
            </a:endParaRPr>
          </a:p>
          <a:p>
            <a:pPr marL="0" indent="0" algn="just">
              <a:lnSpc>
                <a:spcPct val="100000"/>
              </a:lnSpc>
              <a:buNone/>
            </a:pPr>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3</a:t>
            </a:fld>
            <a:endParaRPr lang="en-US"/>
          </a:p>
        </p:txBody>
      </p:sp>
      <p:sp>
        <p:nvSpPr>
          <p:cNvPr id="5" name="Title 1"/>
          <p:cNvSpPr>
            <a:spLocks noGrp="1"/>
          </p:cNvSpPr>
          <p:nvPr>
            <p:ph type="title"/>
          </p:nvPr>
        </p:nvSpPr>
        <p:spPr>
          <a:xfrm>
            <a:off x="1794458" y="155919"/>
            <a:ext cx="8079581" cy="757767"/>
          </a:xfrm>
        </p:spPr>
        <p:txBody>
          <a:bodyPr/>
          <a:lstStyle/>
          <a:p>
            <a:r>
              <a:rPr lang="en-US" dirty="0"/>
              <a:t>What if we want…</a:t>
            </a:r>
          </a:p>
        </p:txBody>
      </p:sp>
    </p:spTree>
    <p:extLst>
      <p:ext uri="{BB962C8B-B14F-4D97-AF65-F5344CB8AC3E}">
        <p14:creationId xmlns:p14="http://schemas.microsoft.com/office/powerpoint/2010/main" val="3731552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0222" y="295409"/>
            <a:ext cx="8079581" cy="1658198"/>
          </a:xfrm>
        </p:spPr>
        <p:txBody>
          <a:bodyPr/>
          <a:lstStyle/>
          <a:p>
            <a:r>
              <a:rPr lang="en-US" dirty="0"/>
              <a:t>Most common aggregation functions</a:t>
            </a:r>
          </a:p>
        </p:txBody>
      </p:sp>
      <p:graphicFrame>
        <p:nvGraphicFramePr>
          <p:cNvPr id="5" name="Content Placeholder 4"/>
          <p:cNvGraphicFramePr>
            <a:graphicFrameLocks noGrp="1"/>
          </p:cNvGraphicFramePr>
          <p:nvPr>
            <p:ph idx="1"/>
          </p:nvPr>
        </p:nvGraphicFramePr>
        <p:xfrm>
          <a:off x="3156908" y="2118643"/>
          <a:ext cx="6372876" cy="3093720"/>
        </p:xfrm>
        <a:graphic>
          <a:graphicData uri="http://schemas.openxmlformats.org/drawingml/2006/table">
            <a:tbl>
              <a:tblPr firstRow="1" bandRow="1">
                <a:tableStyleId>{69012ECD-51FC-41F1-AA8D-1B2483CD663E}</a:tableStyleId>
              </a:tblPr>
              <a:tblGrid>
                <a:gridCol w="1429482">
                  <a:extLst>
                    <a:ext uri="{9D8B030D-6E8A-4147-A177-3AD203B41FA5}">
                      <a16:colId xmlns:a16="http://schemas.microsoft.com/office/drawing/2014/main" val="20000"/>
                    </a:ext>
                  </a:extLst>
                </a:gridCol>
                <a:gridCol w="4943394">
                  <a:extLst>
                    <a:ext uri="{9D8B030D-6E8A-4147-A177-3AD203B41FA5}">
                      <a16:colId xmlns:a16="http://schemas.microsoft.com/office/drawing/2014/main" val="20001"/>
                    </a:ext>
                  </a:extLst>
                </a:gridCol>
              </a:tblGrid>
              <a:tr h="370840">
                <a:tc>
                  <a:txBody>
                    <a:bodyPr/>
                    <a:lstStyle/>
                    <a:p>
                      <a:pPr marL="0" marR="0" algn="l">
                        <a:spcBef>
                          <a:spcPts val="0"/>
                        </a:spcBef>
                        <a:spcAft>
                          <a:spcPts val="0"/>
                        </a:spcAft>
                      </a:pPr>
                      <a:r>
                        <a:rPr lang="en-US" sz="2300" dirty="0">
                          <a:effectLst/>
                        </a:rPr>
                        <a:t>Function</a:t>
                      </a:r>
                      <a:endParaRPr lang="en-US" sz="2300" dirty="0">
                        <a:effectLst/>
                        <a:latin typeface="Times New Roman"/>
                        <a:ea typeface="Times New Roman"/>
                      </a:endParaRPr>
                    </a:p>
                  </a:txBody>
                  <a:tcPr/>
                </a:tc>
                <a:tc>
                  <a:txBody>
                    <a:bodyPr/>
                    <a:lstStyle/>
                    <a:p>
                      <a:pPr marL="0" marR="0" algn="l">
                        <a:spcBef>
                          <a:spcPts val="0"/>
                        </a:spcBef>
                        <a:spcAft>
                          <a:spcPts val="0"/>
                        </a:spcAft>
                      </a:pPr>
                      <a:r>
                        <a:rPr lang="en-US" sz="2300" dirty="0">
                          <a:effectLst/>
                        </a:rPr>
                        <a:t>Meaning</a:t>
                      </a:r>
                      <a:endParaRPr lang="en-US" sz="2300" dirty="0">
                        <a:effectLst/>
                        <a:latin typeface="Times New Roman"/>
                        <a:ea typeface="Times New Roman"/>
                      </a:endParaRPr>
                    </a:p>
                  </a:txBody>
                  <a:tcPr/>
                </a:tc>
                <a:extLst>
                  <a:ext uri="{0D108BD9-81ED-4DB2-BD59-A6C34878D82A}">
                    <a16:rowId xmlns:a16="http://schemas.microsoft.com/office/drawing/2014/main" val="10000"/>
                  </a:ext>
                </a:extLst>
              </a:tr>
              <a:tr h="370840">
                <a:tc>
                  <a:txBody>
                    <a:bodyPr/>
                    <a:lstStyle/>
                    <a:p>
                      <a:pPr marL="0" marR="0" algn="l">
                        <a:spcBef>
                          <a:spcPts val="300"/>
                        </a:spcBef>
                        <a:spcAft>
                          <a:spcPts val="300"/>
                        </a:spcAft>
                      </a:pPr>
                      <a:r>
                        <a:rPr lang="en-US" sz="2300">
                          <a:effectLst/>
                        </a:rPr>
                        <a:t>Sum( )</a:t>
                      </a:r>
                      <a:endParaRPr lang="en-US" sz="2300">
                        <a:effectLst/>
                        <a:latin typeface="Times New Roman"/>
                        <a:ea typeface="Times New Roman"/>
                      </a:endParaRPr>
                    </a:p>
                  </a:txBody>
                  <a:tcPr anchor="ctr"/>
                </a:tc>
                <a:tc>
                  <a:txBody>
                    <a:bodyPr/>
                    <a:lstStyle/>
                    <a:p>
                      <a:pPr marL="0" marR="0" algn="l">
                        <a:spcBef>
                          <a:spcPts val="300"/>
                        </a:spcBef>
                        <a:spcAft>
                          <a:spcPts val="300"/>
                        </a:spcAft>
                      </a:pPr>
                      <a:r>
                        <a:rPr lang="en-US" sz="2300">
                          <a:effectLst/>
                        </a:rPr>
                        <a:t>Sum</a:t>
                      </a:r>
                      <a:endParaRPr lang="en-US" sz="2300">
                        <a:effectLst/>
                        <a:latin typeface="Times New Roman"/>
                        <a:ea typeface="Times New Roman"/>
                      </a:endParaRPr>
                    </a:p>
                  </a:txBody>
                  <a:tcPr anchor="ctr"/>
                </a:tc>
                <a:extLst>
                  <a:ext uri="{0D108BD9-81ED-4DB2-BD59-A6C34878D82A}">
                    <a16:rowId xmlns:a16="http://schemas.microsoft.com/office/drawing/2014/main" val="10001"/>
                  </a:ext>
                </a:extLst>
              </a:tr>
              <a:tr h="370840">
                <a:tc>
                  <a:txBody>
                    <a:bodyPr/>
                    <a:lstStyle/>
                    <a:p>
                      <a:pPr marL="0" marR="0" algn="l">
                        <a:spcBef>
                          <a:spcPts val="300"/>
                        </a:spcBef>
                        <a:spcAft>
                          <a:spcPts val="300"/>
                        </a:spcAft>
                      </a:pPr>
                      <a:r>
                        <a:rPr lang="en-US" sz="2300">
                          <a:effectLst/>
                        </a:rPr>
                        <a:t>Avg( )</a:t>
                      </a:r>
                      <a:endParaRPr lang="en-US" sz="2300">
                        <a:effectLst/>
                        <a:latin typeface="Times New Roman"/>
                        <a:ea typeface="Times New Roman"/>
                      </a:endParaRPr>
                    </a:p>
                  </a:txBody>
                  <a:tcPr anchor="ctr"/>
                </a:tc>
                <a:tc>
                  <a:txBody>
                    <a:bodyPr/>
                    <a:lstStyle/>
                    <a:p>
                      <a:pPr marL="0" marR="0" algn="l">
                        <a:spcBef>
                          <a:spcPts val="300"/>
                        </a:spcBef>
                        <a:spcAft>
                          <a:spcPts val="300"/>
                        </a:spcAft>
                      </a:pPr>
                      <a:r>
                        <a:rPr lang="en-US" sz="2300">
                          <a:effectLst/>
                        </a:rPr>
                        <a:t>Average (sample mean)</a:t>
                      </a:r>
                      <a:endParaRPr lang="en-US" sz="2300">
                        <a:effectLst/>
                        <a:latin typeface="Times New Roman"/>
                        <a:ea typeface="Times New Roman"/>
                      </a:endParaRPr>
                    </a:p>
                  </a:txBody>
                  <a:tcPr anchor="ctr"/>
                </a:tc>
                <a:extLst>
                  <a:ext uri="{0D108BD9-81ED-4DB2-BD59-A6C34878D82A}">
                    <a16:rowId xmlns:a16="http://schemas.microsoft.com/office/drawing/2014/main" val="10002"/>
                  </a:ext>
                </a:extLst>
              </a:tr>
              <a:tr h="370840">
                <a:tc>
                  <a:txBody>
                    <a:bodyPr/>
                    <a:lstStyle/>
                    <a:p>
                      <a:pPr marL="0" marR="0" algn="l">
                        <a:spcBef>
                          <a:spcPts val="300"/>
                        </a:spcBef>
                        <a:spcAft>
                          <a:spcPts val="300"/>
                        </a:spcAft>
                      </a:pPr>
                      <a:r>
                        <a:rPr lang="en-US" sz="2300">
                          <a:effectLst/>
                        </a:rPr>
                        <a:t>Count( )</a:t>
                      </a:r>
                      <a:endParaRPr lang="en-US" sz="2300">
                        <a:effectLst/>
                        <a:latin typeface="Times New Roman"/>
                        <a:ea typeface="Times New Roman"/>
                      </a:endParaRPr>
                    </a:p>
                  </a:txBody>
                  <a:tcPr anchor="ctr"/>
                </a:tc>
                <a:tc>
                  <a:txBody>
                    <a:bodyPr/>
                    <a:lstStyle/>
                    <a:p>
                      <a:pPr marL="0" marR="0" algn="l">
                        <a:spcBef>
                          <a:spcPts val="300"/>
                        </a:spcBef>
                        <a:spcAft>
                          <a:spcPts val="300"/>
                        </a:spcAft>
                      </a:pPr>
                      <a:r>
                        <a:rPr lang="en-US" sz="2300">
                          <a:effectLst/>
                        </a:rPr>
                        <a:t>Number of non-blank data items</a:t>
                      </a:r>
                      <a:endParaRPr lang="en-US" sz="2300">
                        <a:effectLst/>
                        <a:latin typeface="Times New Roman"/>
                        <a:ea typeface="Times New Roman"/>
                      </a:endParaRPr>
                    </a:p>
                  </a:txBody>
                  <a:tcPr anchor="ctr"/>
                </a:tc>
                <a:extLst>
                  <a:ext uri="{0D108BD9-81ED-4DB2-BD59-A6C34878D82A}">
                    <a16:rowId xmlns:a16="http://schemas.microsoft.com/office/drawing/2014/main" val="10003"/>
                  </a:ext>
                </a:extLst>
              </a:tr>
              <a:tr h="370840">
                <a:tc>
                  <a:txBody>
                    <a:bodyPr/>
                    <a:lstStyle/>
                    <a:p>
                      <a:pPr marL="0" marR="0" algn="l">
                        <a:spcBef>
                          <a:spcPts val="300"/>
                        </a:spcBef>
                        <a:spcAft>
                          <a:spcPts val="300"/>
                        </a:spcAft>
                      </a:pPr>
                      <a:r>
                        <a:rPr lang="en-US" sz="2300">
                          <a:effectLst/>
                        </a:rPr>
                        <a:t>Min( )</a:t>
                      </a:r>
                      <a:endParaRPr lang="en-US" sz="2300">
                        <a:effectLst/>
                        <a:latin typeface="Times New Roman"/>
                        <a:ea typeface="Times New Roman"/>
                      </a:endParaRPr>
                    </a:p>
                  </a:txBody>
                  <a:tcPr anchor="ctr"/>
                </a:tc>
                <a:tc>
                  <a:txBody>
                    <a:bodyPr/>
                    <a:lstStyle/>
                    <a:p>
                      <a:pPr marL="0" marR="0" algn="l">
                        <a:spcBef>
                          <a:spcPts val="300"/>
                        </a:spcBef>
                        <a:spcAft>
                          <a:spcPts val="300"/>
                        </a:spcAft>
                      </a:pPr>
                      <a:r>
                        <a:rPr lang="en-US" sz="2300">
                          <a:effectLst/>
                        </a:rPr>
                        <a:t>Smallest value</a:t>
                      </a:r>
                      <a:endParaRPr lang="en-US" sz="2300">
                        <a:effectLst/>
                        <a:latin typeface="Times New Roman"/>
                        <a:ea typeface="Times New Roman"/>
                      </a:endParaRPr>
                    </a:p>
                  </a:txBody>
                  <a:tcPr anchor="ctr"/>
                </a:tc>
                <a:extLst>
                  <a:ext uri="{0D108BD9-81ED-4DB2-BD59-A6C34878D82A}">
                    <a16:rowId xmlns:a16="http://schemas.microsoft.com/office/drawing/2014/main" val="10004"/>
                  </a:ext>
                </a:extLst>
              </a:tr>
              <a:tr h="370840">
                <a:tc>
                  <a:txBody>
                    <a:bodyPr/>
                    <a:lstStyle/>
                    <a:p>
                      <a:pPr marL="0" marR="0" algn="l">
                        <a:spcBef>
                          <a:spcPts val="300"/>
                        </a:spcBef>
                        <a:spcAft>
                          <a:spcPts val="300"/>
                        </a:spcAft>
                      </a:pPr>
                      <a:r>
                        <a:rPr lang="en-US" sz="2300">
                          <a:effectLst/>
                        </a:rPr>
                        <a:t>Max( )</a:t>
                      </a:r>
                      <a:endParaRPr lang="en-US" sz="2300">
                        <a:effectLst/>
                        <a:latin typeface="Times New Roman"/>
                        <a:ea typeface="Times New Roman"/>
                      </a:endParaRPr>
                    </a:p>
                  </a:txBody>
                  <a:tcPr anchor="ctr"/>
                </a:tc>
                <a:tc>
                  <a:txBody>
                    <a:bodyPr/>
                    <a:lstStyle/>
                    <a:p>
                      <a:pPr marL="0" marR="0" algn="l">
                        <a:spcBef>
                          <a:spcPts val="300"/>
                        </a:spcBef>
                        <a:spcAft>
                          <a:spcPts val="300"/>
                        </a:spcAft>
                      </a:pPr>
                      <a:r>
                        <a:rPr lang="en-US" sz="2300">
                          <a:effectLst/>
                        </a:rPr>
                        <a:t>Largest value</a:t>
                      </a:r>
                      <a:endParaRPr lang="en-US" sz="2300">
                        <a:effectLst/>
                        <a:latin typeface="Times New Roman"/>
                        <a:ea typeface="Times New Roman"/>
                      </a:endParaRPr>
                    </a:p>
                  </a:txBody>
                  <a:tcPr anchor="ctr"/>
                </a:tc>
                <a:extLst>
                  <a:ext uri="{0D108BD9-81ED-4DB2-BD59-A6C34878D82A}">
                    <a16:rowId xmlns:a16="http://schemas.microsoft.com/office/drawing/2014/main" val="10005"/>
                  </a:ext>
                </a:extLst>
              </a:tr>
              <a:tr h="370840">
                <a:tc>
                  <a:txBody>
                    <a:bodyPr/>
                    <a:lstStyle/>
                    <a:p>
                      <a:pPr marL="0" marR="0" algn="l">
                        <a:spcBef>
                          <a:spcPts val="300"/>
                        </a:spcBef>
                        <a:spcAft>
                          <a:spcPts val="300"/>
                        </a:spcAft>
                      </a:pPr>
                      <a:r>
                        <a:rPr lang="en-US" sz="2300">
                          <a:effectLst/>
                        </a:rPr>
                        <a:t>StDev( )</a:t>
                      </a:r>
                      <a:endParaRPr lang="en-US" sz="2300">
                        <a:effectLst/>
                        <a:latin typeface="Times New Roman"/>
                        <a:ea typeface="Times New Roman"/>
                      </a:endParaRPr>
                    </a:p>
                  </a:txBody>
                  <a:tcPr anchor="ctr"/>
                </a:tc>
                <a:tc>
                  <a:txBody>
                    <a:bodyPr/>
                    <a:lstStyle/>
                    <a:p>
                      <a:pPr marL="0" marR="0" algn="l">
                        <a:spcBef>
                          <a:spcPts val="300"/>
                        </a:spcBef>
                        <a:spcAft>
                          <a:spcPts val="300"/>
                        </a:spcAft>
                      </a:pPr>
                      <a:r>
                        <a:rPr lang="en-US" sz="2300" dirty="0">
                          <a:effectLst/>
                        </a:rPr>
                        <a:t>Sample standard deviation</a:t>
                      </a:r>
                      <a:endParaRPr lang="en-US" sz="2300" dirty="0">
                        <a:effectLst/>
                        <a:latin typeface="Times New Roman"/>
                        <a:ea typeface="Times New Roman"/>
                      </a:endParaRPr>
                    </a:p>
                  </a:txBody>
                  <a:tcPr anchor="ctr"/>
                </a:tc>
                <a:extLst>
                  <a:ext uri="{0D108BD9-81ED-4DB2-BD59-A6C34878D82A}">
                    <a16:rowId xmlns:a16="http://schemas.microsoft.com/office/drawing/2014/main" val="10006"/>
                  </a:ext>
                </a:extLst>
              </a:tr>
            </a:tbl>
          </a:graphicData>
        </a:graphic>
      </p:graphicFrame>
      <p:sp>
        <p:nvSpPr>
          <p:cNvPr id="4" name="Slide Number Placeholder 3"/>
          <p:cNvSpPr>
            <a:spLocks noGrp="1"/>
          </p:cNvSpPr>
          <p:nvPr>
            <p:ph type="sldNum" sz="quarter" idx="12"/>
          </p:nvPr>
        </p:nvSpPr>
        <p:spPr/>
        <p:txBody>
          <a:bodyPr/>
          <a:lstStyle/>
          <a:p>
            <a:fld id="{87F3E754-1C97-4481-A18C-9D97ADBDF344}" type="slidenum">
              <a:rPr lang="en-US" smtClean="0"/>
              <a:t>4</a:t>
            </a:fld>
            <a:endParaRPr lang="en-US"/>
          </a:p>
        </p:txBody>
      </p:sp>
      <p:sp>
        <p:nvSpPr>
          <p:cNvPr id="3" name="TextBox 2"/>
          <p:cNvSpPr txBox="1"/>
          <p:nvPr/>
        </p:nvSpPr>
        <p:spPr>
          <a:xfrm>
            <a:off x="1980482" y="5377399"/>
            <a:ext cx="8405296" cy="1569660"/>
          </a:xfrm>
          <a:prstGeom prst="rect">
            <a:avLst/>
          </a:prstGeom>
          <a:noFill/>
        </p:spPr>
        <p:txBody>
          <a:bodyPr wrap="square" rtlCol="0">
            <a:spAutoFit/>
          </a:bodyPr>
          <a:lstStyle/>
          <a:p>
            <a:r>
              <a:rPr lang="en-US" sz="3200" dirty="0"/>
              <a:t>SUM (column)    &lt;- applies to groups (sums the values of column in each group)</a:t>
            </a:r>
          </a:p>
          <a:p>
            <a:r>
              <a:rPr lang="en-US" sz="3200" dirty="0"/>
              <a:t>column1+column2      &lt;- sums columns</a:t>
            </a:r>
          </a:p>
        </p:txBody>
      </p:sp>
    </p:spTree>
    <p:extLst>
      <p:ext uri="{BB962C8B-B14F-4D97-AF65-F5344CB8AC3E}">
        <p14:creationId xmlns:p14="http://schemas.microsoft.com/office/powerpoint/2010/main" val="2796096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9212" y="186496"/>
            <a:ext cx="8848789" cy="999753"/>
          </a:xfrm>
        </p:spPr>
        <p:txBody>
          <a:bodyPr>
            <a:normAutofit fontScale="90000"/>
          </a:bodyPr>
          <a:lstStyle/>
          <a:p>
            <a:r>
              <a:rPr lang="en-US" dirty="0"/>
              <a:t>Summarizing by groups, and with criteria:</a:t>
            </a:r>
          </a:p>
        </p:txBody>
      </p:sp>
      <p:sp>
        <p:nvSpPr>
          <p:cNvPr id="3" name="Content Placeholder 2"/>
          <p:cNvSpPr>
            <a:spLocks noGrp="1"/>
          </p:cNvSpPr>
          <p:nvPr>
            <p:ph idx="1"/>
          </p:nvPr>
        </p:nvSpPr>
        <p:spPr>
          <a:xfrm>
            <a:off x="1524001" y="1077997"/>
            <a:ext cx="9055978" cy="5157550"/>
          </a:xfrm>
        </p:spPr>
        <p:txBody>
          <a:bodyPr>
            <a:noAutofit/>
          </a:bodyPr>
          <a:lstStyle/>
          <a:p>
            <a:pPr marL="182880" lvl="1" indent="0">
              <a:lnSpc>
                <a:spcPct val="100000"/>
              </a:lnSpc>
              <a:spcBef>
                <a:spcPts val="0"/>
              </a:spcBef>
              <a:buNone/>
            </a:pPr>
            <a:r>
              <a:rPr lang="en-US" sz="2200" dirty="0"/>
              <a:t>	</a:t>
            </a:r>
            <a:r>
              <a:rPr lang="en-US" dirty="0"/>
              <a:t>SELECT        </a:t>
            </a:r>
            <a:r>
              <a:rPr lang="en-US" i="1" dirty="0">
                <a:solidFill>
                  <a:srgbClr val="FF6600"/>
                </a:solidFill>
              </a:rPr>
              <a:t>expressions1</a:t>
            </a:r>
            <a:r>
              <a:rPr lang="en-US" i="1" dirty="0"/>
              <a:t>, </a:t>
            </a:r>
            <a:r>
              <a:rPr lang="en-US" i="1" dirty="0" err="1"/>
              <a:t>aggregate_functions</a:t>
            </a:r>
            <a:r>
              <a:rPr lang="en-US" i="1" dirty="0"/>
              <a:t>(expressions2)</a:t>
            </a:r>
          </a:p>
          <a:p>
            <a:pPr marL="182880" lvl="1" indent="0">
              <a:lnSpc>
                <a:spcPct val="100000"/>
              </a:lnSpc>
              <a:spcBef>
                <a:spcPts val="0"/>
              </a:spcBef>
              <a:buNone/>
            </a:pPr>
            <a:r>
              <a:rPr lang="en-US" dirty="0"/>
              <a:t>	FROM          </a:t>
            </a:r>
            <a:r>
              <a:rPr lang="en-US" i="1" dirty="0"/>
              <a:t>tables</a:t>
            </a:r>
            <a:endParaRPr lang="en-US" dirty="0"/>
          </a:p>
          <a:p>
            <a:pPr marL="182880" lvl="1" indent="0">
              <a:lnSpc>
                <a:spcPct val="100000"/>
              </a:lnSpc>
              <a:spcBef>
                <a:spcPts val="0"/>
              </a:spcBef>
              <a:buNone/>
            </a:pPr>
            <a:r>
              <a:rPr lang="en-US" dirty="0"/>
              <a:t>	WHERE        </a:t>
            </a:r>
            <a:r>
              <a:rPr lang="en-US" i="1" dirty="0"/>
              <a:t>conditions1				</a:t>
            </a:r>
          </a:p>
          <a:p>
            <a:pPr marL="182880" lvl="1" indent="0">
              <a:lnSpc>
                <a:spcPct val="100000"/>
              </a:lnSpc>
              <a:spcBef>
                <a:spcPts val="0"/>
              </a:spcBef>
              <a:buNone/>
            </a:pPr>
            <a:r>
              <a:rPr lang="en-US" dirty="0"/>
              <a:t>	GROUP BY   </a:t>
            </a:r>
            <a:r>
              <a:rPr lang="en-US" i="1" dirty="0">
                <a:solidFill>
                  <a:srgbClr val="FF6600"/>
                </a:solidFill>
              </a:rPr>
              <a:t>expressions1</a:t>
            </a:r>
            <a:r>
              <a:rPr lang="en-US" i="1" dirty="0"/>
              <a:t>,</a:t>
            </a:r>
            <a:r>
              <a:rPr lang="en-US" dirty="0"/>
              <a:t> </a:t>
            </a:r>
            <a:r>
              <a:rPr lang="en-US" i="1" dirty="0"/>
              <a:t>other_expressions3</a:t>
            </a:r>
          </a:p>
          <a:p>
            <a:pPr marL="182880" lvl="1" indent="0">
              <a:lnSpc>
                <a:spcPct val="100000"/>
              </a:lnSpc>
              <a:spcBef>
                <a:spcPts val="0"/>
              </a:spcBef>
              <a:buNone/>
            </a:pPr>
            <a:r>
              <a:rPr lang="en-US" dirty="0"/>
              <a:t>	HAVING       </a:t>
            </a:r>
            <a:r>
              <a:rPr lang="en-US" i="1" dirty="0"/>
              <a:t>conditions2				</a:t>
            </a:r>
          </a:p>
          <a:p>
            <a:pPr marL="182880" lvl="1" indent="0">
              <a:lnSpc>
                <a:spcPct val="100000"/>
              </a:lnSpc>
              <a:spcBef>
                <a:spcPts val="0"/>
              </a:spcBef>
              <a:buNone/>
            </a:pPr>
            <a:r>
              <a:rPr lang="en-US" dirty="0"/>
              <a:t>	ORDER BY   </a:t>
            </a:r>
            <a:r>
              <a:rPr lang="en-US" i="1" dirty="0"/>
              <a:t>expressions4 </a:t>
            </a:r>
            <a:r>
              <a:rPr lang="en-US" dirty="0"/>
              <a:t>;</a:t>
            </a:r>
          </a:p>
          <a:p>
            <a:endParaRPr lang="en-US" sz="1400" dirty="0"/>
          </a:p>
          <a:p>
            <a:r>
              <a:rPr lang="en-US" sz="2100" dirty="0"/>
              <a:t>SELECT – specifies the fields to include in the query </a:t>
            </a:r>
            <a:r>
              <a:rPr lang="en-US" sz="2100" u="sng" dirty="0">
                <a:solidFill>
                  <a:srgbClr val="00B050"/>
                </a:solidFill>
              </a:rPr>
              <a:t>and the aggregation functions</a:t>
            </a:r>
          </a:p>
          <a:p>
            <a:r>
              <a:rPr lang="en-US" sz="2100" dirty="0"/>
              <a:t>GROUP BY – indicates how to group the records</a:t>
            </a:r>
          </a:p>
          <a:p>
            <a:r>
              <a:rPr lang="en-US" sz="2100" dirty="0"/>
              <a:t>HAVING – sets the criteria to filter the groups displayed</a:t>
            </a:r>
          </a:p>
          <a:p>
            <a:endParaRPr lang="en-US" sz="1200" dirty="0"/>
          </a:p>
          <a:p>
            <a:pPr marL="0" indent="0" algn="just">
              <a:lnSpc>
                <a:spcPct val="100000"/>
              </a:lnSpc>
              <a:buNone/>
            </a:pPr>
            <a:r>
              <a:rPr lang="en-US" sz="2100" dirty="0">
                <a:sym typeface="Wingdings" panose="05000000000000000000" pitchFamily="2" charset="2"/>
              </a:rPr>
              <a:t> </a:t>
            </a:r>
            <a:r>
              <a:rPr lang="en-US" b="1" dirty="0">
                <a:solidFill>
                  <a:srgbClr val="FF0000"/>
                </a:solidFill>
                <a:sym typeface="Wingdings" panose="05000000000000000000" pitchFamily="2" charset="2"/>
              </a:rPr>
              <a:t>Rule: </a:t>
            </a:r>
            <a:r>
              <a:rPr lang="en-US" b="1" u="sng" dirty="0">
                <a:solidFill>
                  <a:srgbClr val="FF0000"/>
                </a:solidFill>
                <a:sym typeface="Wingdings" panose="05000000000000000000" pitchFamily="2" charset="2"/>
              </a:rPr>
              <a:t>In aggregation queries</a:t>
            </a:r>
            <a:r>
              <a:rPr lang="en-US" b="1" dirty="0">
                <a:solidFill>
                  <a:srgbClr val="FF0000"/>
                </a:solidFill>
                <a:sym typeface="Wingdings" panose="05000000000000000000" pitchFamily="2" charset="2"/>
              </a:rPr>
              <a:t>, every column in SELECT, HAVING and ORDER BY</a:t>
            </a:r>
            <a:r>
              <a:rPr lang="en-US" b="1" dirty="0">
                <a:solidFill>
                  <a:schemeClr val="tx1"/>
                </a:solidFill>
                <a:sym typeface="Wingdings" panose="05000000000000000000" pitchFamily="2" charset="2"/>
              </a:rPr>
              <a:t>, </a:t>
            </a:r>
            <a:r>
              <a:rPr lang="en-US" b="1" dirty="0">
                <a:solidFill>
                  <a:srgbClr val="008000"/>
                </a:solidFill>
                <a:sym typeface="Wingdings" panose="05000000000000000000" pitchFamily="2" charset="2"/>
              </a:rPr>
              <a:t>with the exception of aggregation functions</a:t>
            </a:r>
            <a:r>
              <a:rPr lang="en-US" b="1" dirty="0">
                <a:solidFill>
                  <a:schemeClr val="tx1"/>
                </a:solidFill>
                <a:sym typeface="Wingdings" panose="05000000000000000000" pitchFamily="2" charset="2"/>
              </a:rPr>
              <a:t>, </a:t>
            </a:r>
            <a:r>
              <a:rPr lang="en-US" b="1" dirty="0">
                <a:solidFill>
                  <a:srgbClr val="FF0000"/>
                </a:solidFill>
                <a:sym typeface="Wingdings" panose="05000000000000000000" pitchFamily="2" charset="2"/>
              </a:rPr>
              <a:t>must be listed in GROUP BY.</a:t>
            </a:r>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5</a:t>
            </a:fld>
            <a:endParaRPr lang="en-US" dirty="0"/>
          </a:p>
        </p:txBody>
      </p:sp>
    </p:spTree>
    <p:extLst>
      <p:ext uri="{BB962C8B-B14F-4D97-AF65-F5344CB8AC3E}">
        <p14:creationId xmlns:p14="http://schemas.microsoft.com/office/powerpoint/2010/main" val="2174861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4458" y="1043710"/>
            <a:ext cx="8666073" cy="4861791"/>
          </a:xfrm>
        </p:spPr>
        <p:txBody>
          <a:bodyPr>
            <a:noAutofit/>
          </a:bodyPr>
          <a:lstStyle/>
          <a:p>
            <a:pPr marL="457200" indent="-457200" algn="just">
              <a:lnSpc>
                <a:spcPct val="100000"/>
              </a:lnSpc>
              <a:buFont typeface="+mj-lt"/>
              <a:buAutoNum type="arabicPeriod"/>
            </a:pPr>
            <a:r>
              <a:rPr lang="en-US" dirty="0"/>
              <a:t> gives the average product price per category.</a:t>
            </a:r>
          </a:p>
          <a:p>
            <a:pPr marL="640080" lvl="1" indent="-457200" algn="just">
              <a:lnSpc>
                <a:spcPct val="100000"/>
              </a:lnSpc>
              <a:buFont typeface="+mj-lt"/>
              <a:buAutoNum type="alphaLcPeriod"/>
            </a:pPr>
            <a:r>
              <a:rPr lang="en-US" dirty="0"/>
              <a:t>Change the original query so it gives the average price per category for categories that have at least 10 products.</a:t>
            </a:r>
          </a:p>
          <a:p>
            <a:pPr marL="640080" lvl="1" indent="-457200" algn="just">
              <a:lnSpc>
                <a:spcPct val="100000"/>
              </a:lnSpc>
              <a:buFont typeface="+mj-lt"/>
              <a:buAutoNum type="alphaLcPeriod"/>
            </a:pPr>
            <a:r>
              <a:rPr lang="en-US" dirty="0"/>
              <a:t>Change the query so it gives the average product price per category of the products in the “Bedroom” department.</a:t>
            </a:r>
          </a:p>
          <a:p>
            <a:pPr marL="457200" indent="-457200" algn="just">
              <a:lnSpc>
                <a:spcPct val="100000"/>
              </a:lnSpc>
              <a:buFont typeface="+mj-lt"/>
              <a:buAutoNum type="arabicPeriod"/>
            </a:pPr>
            <a:r>
              <a:rPr lang="en-US" dirty="0"/>
              <a:t>Gives the average salary and sum of salaries by Building and Department</a:t>
            </a:r>
          </a:p>
          <a:p>
            <a:pPr marL="457200" indent="-457200" algn="just">
              <a:lnSpc>
                <a:spcPct val="100000"/>
              </a:lnSpc>
              <a:buFont typeface="+mj-lt"/>
              <a:buAutoNum type="arabicPeriod"/>
            </a:pPr>
            <a:r>
              <a:rPr lang="en-US" dirty="0"/>
              <a:t>Counts the number of people with salary higher than $50,000 per Department, and sorts the departments by number of people in descending order</a:t>
            </a:r>
          </a:p>
          <a:p>
            <a:pPr marL="457200" indent="-457200" algn="just">
              <a:lnSpc>
                <a:spcPct val="100000"/>
              </a:lnSpc>
              <a:buFont typeface="+mj-lt"/>
              <a:buAutoNum type="arabicPeriod"/>
            </a:pPr>
            <a:r>
              <a:rPr lang="en-US" dirty="0"/>
              <a:t> the number of people with job rating 4 and with job rating 5</a:t>
            </a:r>
          </a:p>
          <a:p>
            <a:pPr marL="457200" indent="-457200" algn="just">
              <a:lnSpc>
                <a:spcPct val="100000"/>
              </a:lnSpc>
              <a:buFont typeface="+mj-lt"/>
              <a:buAutoNum type="arabicPeriod"/>
            </a:pPr>
            <a:r>
              <a:rPr lang="en-US" dirty="0"/>
              <a:t>the number of people with job rating 4 and 5 from the Sales department</a:t>
            </a:r>
          </a:p>
          <a:p>
            <a:pPr algn="just">
              <a:lnSpc>
                <a:spcPct val="100000"/>
              </a:lnSpc>
              <a:buFont typeface="+mj-lt"/>
              <a:buAutoNum type="arabicPeriod"/>
            </a:pPr>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6</a:t>
            </a:fld>
            <a:endParaRPr lang="en-US"/>
          </a:p>
        </p:txBody>
      </p:sp>
      <p:sp>
        <p:nvSpPr>
          <p:cNvPr id="5" name="Title 1"/>
          <p:cNvSpPr>
            <a:spLocks noGrp="1"/>
          </p:cNvSpPr>
          <p:nvPr>
            <p:ph type="title"/>
          </p:nvPr>
        </p:nvSpPr>
        <p:spPr>
          <a:xfrm>
            <a:off x="1794458" y="155919"/>
            <a:ext cx="8079581" cy="757767"/>
          </a:xfrm>
        </p:spPr>
        <p:txBody>
          <a:bodyPr/>
          <a:lstStyle/>
          <a:p>
            <a:r>
              <a:rPr lang="en-US" dirty="0"/>
              <a:t>Let’s make a query that…</a:t>
            </a:r>
          </a:p>
        </p:txBody>
      </p:sp>
    </p:spTree>
    <p:extLst>
      <p:ext uri="{BB962C8B-B14F-4D97-AF65-F5344CB8AC3E}">
        <p14:creationId xmlns:p14="http://schemas.microsoft.com/office/powerpoint/2010/main" val="3274580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1926" y="256974"/>
            <a:ext cx="8616264" cy="1835502"/>
          </a:xfrm>
        </p:spPr>
        <p:txBody>
          <a:bodyPr>
            <a:normAutofit/>
          </a:bodyPr>
          <a:lstStyle/>
          <a:p>
            <a:r>
              <a:rPr lang="en-US" b="1" u="sng" dirty="0"/>
              <a:t>On </a:t>
            </a:r>
            <a:r>
              <a:rPr lang="en-US" b="1" u="sng"/>
              <a:t>the “rule”…</a:t>
            </a:r>
            <a:endParaRPr lang="en-US" dirty="0"/>
          </a:p>
        </p:txBody>
      </p:sp>
      <p:sp>
        <p:nvSpPr>
          <p:cNvPr id="3" name="Content Placeholder 2"/>
          <p:cNvSpPr>
            <a:spLocks noGrp="1"/>
          </p:cNvSpPr>
          <p:nvPr>
            <p:ph idx="1"/>
          </p:nvPr>
        </p:nvSpPr>
        <p:spPr>
          <a:xfrm>
            <a:off x="1821927" y="1837427"/>
            <a:ext cx="8437827" cy="3045672"/>
          </a:xfrm>
        </p:spPr>
        <p:txBody>
          <a:bodyPr>
            <a:noAutofit/>
          </a:bodyPr>
          <a:lstStyle/>
          <a:p>
            <a:pPr marL="0" indent="0" algn="just">
              <a:lnSpc>
                <a:spcPct val="120000"/>
              </a:lnSpc>
              <a:buNone/>
            </a:pPr>
            <a:r>
              <a:rPr lang="en-US" dirty="0">
                <a:sym typeface="Wingdings" panose="05000000000000000000" pitchFamily="2" charset="2"/>
              </a:rPr>
              <a:t> </a:t>
            </a:r>
            <a:r>
              <a:rPr lang="en-US" sz="3200" b="1" dirty="0">
                <a:solidFill>
                  <a:srgbClr val="FF0000"/>
                </a:solidFill>
                <a:sym typeface="Wingdings" panose="05000000000000000000" pitchFamily="2" charset="2"/>
              </a:rPr>
              <a:t>Rule: </a:t>
            </a:r>
            <a:r>
              <a:rPr lang="en-US" sz="3200" b="1" u="sng" dirty="0">
                <a:solidFill>
                  <a:srgbClr val="FF0000"/>
                </a:solidFill>
                <a:sym typeface="Wingdings" panose="05000000000000000000" pitchFamily="2" charset="2"/>
              </a:rPr>
              <a:t>In aggregation queries</a:t>
            </a:r>
            <a:r>
              <a:rPr lang="en-US" sz="3200" b="1" dirty="0">
                <a:solidFill>
                  <a:srgbClr val="FF0000"/>
                </a:solidFill>
                <a:sym typeface="Wingdings" panose="05000000000000000000" pitchFamily="2" charset="2"/>
              </a:rPr>
              <a:t>, </a:t>
            </a:r>
            <a:r>
              <a:rPr lang="en-US" b="1" dirty="0">
                <a:solidFill>
                  <a:srgbClr val="FF0000"/>
                </a:solidFill>
                <a:sym typeface="Wingdings" panose="05000000000000000000" pitchFamily="2" charset="2"/>
              </a:rPr>
              <a:t>every column in SELECT, HAVING and ORDER BY</a:t>
            </a:r>
            <a:r>
              <a:rPr lang="en-US" b="1" dirty="0">
                <a:sym typeface="Wingdings" panose="05000000000000000000" pitchFamily="2" charset="2"/>
              </a:rPr>
              <a:t>, </a:t>
            </a:r>
            <a:r>
              <a:rPr lang="en-US" b="1" dirty="0">
                <a:solidFill>
                  <a:srgbClr val="008000"/>
                </a:solidFill>
                <a:sym typeface="Wingdings" panose="05000000000000000000" pitchFamily="2" charset="2"/>
              </a:rPr>
              <a:t>with the exception of aggregation functions</a:t>
            </a:r>
            <a:r>
              <a:rPr lang="en-US" b="1" dirty="0">
                <a:sym typeface="Wingdings" panose="05000000000000000000" pitchFamily="2" charset="2"/>
              </a:rPr>
              <a:t>, </a:t>
            </a:r>
            <a:r>
              <a:rPr lang="en-US" b="1" dirty="0">
                <a:solidFill>
                  <a:srgbClr val="FF0000"/>
                </a:solidFill>
                <a:sym typeface="Wingdings" panose="05000000000000000000" pitchFamily="2" charset="2"/>
              </a:rPr>
              <a:t>must be listed in GROUP BY, </a:t>
            </a:r>
            <a:r>
              <a:rPr lang="en-US" dirty="0">
                <a:solidFill>
                  <a:srgbClr val="000000"/>
                </a:solidFill>
                <a:sym typeface="Wingdings" panose="05000000000000000000" pitchFamily="2" charset="2"/>
              </a:rPr>
              <a:t>but not vice-versa (see next slide).</a:t>
            </a:r>
          </a:p>
          <a:p>
            <a:pPr marL="0" indent="0" algn="just">
              <a:lnSpc>
                <a:spcPct val="120000"/>
              </a:lnSpc>
              <a:buNone/>
            </a:pPr>
            <a:endParaRPr lang="en-US" sz="1000" dirty="0">
              <a:solidFill>
                <a:srgbClr val="000000"/>
              </a:solidFill>
              <a:sym typeface="Wingdings" panose="05000000000000000000" pitchFamily="2" charset="2"/>
            </a:endParaRPr>
          </a:p>
          <a:p>
            <a:pPr marL="0" indent="0" algn="just">
              <a:lnSpc>
                <a:spcPct val="120000"/>
              </a:lnSpc>
              <a:buNone/>
            </a:pPr>
            <a:r>
              <a:rPr lang="en-US" i="1" dirty="0">
                <a:solidFill>
                  <a:srgbClr val="000000"/>
                </a:solidFill>
                <a:sym typeface="Wingdings" panose="05000000000000000000" pitchFamily="2" charset="2"/>
              </a:rPr>
              <a:t>But keep in mind that GROUP BY instructs how to group records. So whatever you put there affects how groups are created.</a:t>
            </a:r>
          </a:p>
          <a:p>
            <a:pPr marL="0" indent="0" algn="just">
              <a:lnSpc>
                <a:spcPct val="120000"/>
              </a:lnSpc>
              <a:buNone/>
            </a:pPr>
            <a:endParaRPr lang="en-US" sz="500" dirty="0">
              <a:solidFill>
                <a:srgbClr val="000000"/>
              </a:solidFill>
              <a:sym typeface="Wingdings" panose="05000000000000000000" pitchFamily="2" charset="2"/>
            </a:endParaRPr>
          </a:p>
          <a:p>
            <a:pPr marL="0" indent="0" algn="just">
              <a:lnSpc>
                <a:spcPct val="120000"/>
              </a:lnSpc>
              <a:buNone/>
            </a:pPr>
            <a:r>
              <a:rPr lang="en-US" dirty="0">
                <a:solidFill>
                  <a:srgbClr val="000000"/>
                </a:solidFill>
                <a:sym typeface="Wingdings" panose="05000000000000000000" pitchFamily="2" charset="2"/>
              </a:rPr>
              <a:t>We will talk about this in more detail later</a:t>
            </a:r>
            <a:r>
              <a:rPr lang="is-IS" dirty="0">
                <a:solidFill>
                  <a:srgbClr val="000000"/>
                </a:solidFill>
                <a:sym typeface="Wingdings" panose="05000000000000000000" pitchFamily="2" charset="2"/>
              </a:rPr>
              <a:t>…</a:t>
            </a:r>
            <a:endParaRPr lang="en-US" dirty="0">
              <a:solidFill>
                <a:srgbClr val="000000"/>
              </a:solidFill>
              <a:sym typeface="Wingdings" panose="05000000000000000000" pitchFamily="2" charset="2"/>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7</a:t>
            </a:fld>
            <a:endParaRPr lang="en-US" dirty="0"/>
          </a:p>
        </p:txBody>
      </p:sp>
    </p:spTree>
    <p:extLst>
      <p:ext uri="{BB962C8B-B14F-4D97-AF65-F5344CB8AC3E}">
        <p14:creationId xmlns:p14="http://schemas.microsoft.com/office/powerpoint/2010/main" val="936899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465" y="180648"/>
            <a:ext cx="8694393" cy="1658198"/>
          </a:xfrm>
        </p:spPr>
        <p:txBody>
          <a:bodyPr>
            <a:normAutofit/>
          </a:bodyPr>
          <a:lstStyle/>
          <a:p>
            <a:r>
              <a:rPr lang="en-US" sz="4300" b="1" u="sng" dirty="0"/>
              <a:t>but not vice-versa</a:t>
            </a:r>
            <a:r>
              <a:rPr lang="en-US" sz="4300" b="1" dirty="0"/>
              <a:t>…</a:t>
            </a:r>
          </a:p>
        </p:txBody>
      </p:sp>
      <p:sp>
        <p:nvSpPr>
          <p:cNvPr id="3" name="Content Placeholder 2"/>
          <p:cNvSpPr>
            <a:spLocks noGrp="1"/>
          </p:cNvSpPr>
          <p:nvPr>
            <p:ph idx="1"/>
          </p:nvPr>
        </p:nvSpPr>
        <p:spPr>
          <a:xfrm>
            <a:off x="1929835" y="1838847"/>
            <a:ext cx="8369407" cy="4755137"/>
          </a:xfrm>
        </p:spPr>
        <p:txBody>
          <a:bodyPr>
            <a:noAutofit/>
          </a:bodyPr>
          <a:lstStyle/>
          <a:p>
            <a:pPr marL="0" indent="0" algn="just">
              <a:lnSpc>
                <a:spcPct val="100000"/>
              </a:lnSpc>
              <a:spcBef>
                <a:spcPts val="0"/>
              </a:spcBef>
              <a:buNone/>
            </a:pPr>
            <a:r>
              <a:rPr lang="en-US" sz="2200" i="1" dirty="0">
                <a:sym typeface="Wingdings" panose="05000000000000000000" pitchFamily="2" charset="2"/>
              </a:rPr>
              <a:t>Try the following query, where what is in SELECT and ORDER BY is in GROUP BY, but not the opposite (Department is in GROUP BY but not in SELECT or ORDER BY):</a:t>
            </a:r>
          </a:p>
          <a:p>
            <a:pPr marL="182880" lvl="1" indent="0" algn="just">
              <a:lnSpc>
                <a:spcPct val="100000"/>
              </a:lnSpc>
              <a:spcBef>
                <a:spcPts val="0"/>
              </a:spcBef>
              <a:buNone/>
            </a:pPr>
            <a:r>
              <a:rPr lang="en-US" sz="2200" dirty="0"/>
              <a:t>		SELECT Building, Count(*) </a:t>
            </a:r>
          </a:p>
          <a:p>
            <a:pPr marL="182880" lvl="1" indent="0" algn="just">
              <a:lnSpc>
                <a:spcPct val="100000"/>
              </a:lnSpc>
              <a:spcBef>
                <a:spcPts val="0"/>
              </a:spcBef>
              <a:buNone/>
            </a:pPr>
            <a:r>
              <a:rPr lang="en-US" sz="2200" dirty="0"/>
              <a:t>		FROM Employees</a:t>
            </a:r>
          </a:p>
          <a:p>
            <a:pPr marL="182880" lvl="1" indent="0" algn="just">
              <a:lnSpc>
                <a:spcPct val="100000"/>
              </a:lnSpc>
              <a:spcBef>
                <a:spcPts val="0"/>
              </a:spcBef>
              <a:buNone/>
            </a:pPr>
            <a:r>
              <a:rPr lang="en-US" sz="2200" dirty="0"/>
              <a:t>		GROUP BY Building, Department</a:t>
            </a:r>
          </a:p>
          <a:p>
            <a:pPr marL="182880" lvl="1" indent="0" algn="just">
              <a:lnSpc>
                <a:spcPct val="100000"/>
              </a:lnSpc>
              <a:spcBef>
                <a:spcPts val="0"/>
              </a:spcBef>
              <a:buNone/>
            </a:pPr>
            <a:r>
              <a:rPr lang="en-US" sz="2200" dirty="0"/>
              <a:t>		ORDER BY Building;</a:t>
            </a:r>
          </a:p>
          <a:p>
            <a:pPr marL="0" indent="0" algn="just">
              <a:lnSpc>
                <a:spcPct val="100000"/>
              </a:lnSpc>
              <a:buNone/>
            </a:pPr>
            <a:r>
              <a:rPr lang="en-US" sz="2200" b="1" dirty="0"/>
              <a:t>The query works (it does not violate the rule), but gives you incomplete information: </a:t>
            </a:r>
            <a:r>
              <a:rPr lang="en-US" sz="2200" dirty="0"/>
              <a:t>Every row you get in this query corresponds to a group, that is, a combination of Building and Department, but the Department column is not shown because it is not in SELECT, so you end up with a list of buildings that show up as many times as the number of its departments. </a:t>
            </a:r>
          </a:p>
        </p:txBody>
      </p:sp>
      <p:sp>
        <p:nvSpPr>
          <p:cNvPr id="4" name="Slide Number Placeholder 3"/>
          <p:cNvSpPr>
            <a:spLocks noGrp="1"/>
          </p:cNvSpPr>
          <p:nvPr>
            <p:ph type="sldNum" sz="quarter" idx="12"/>
          </p:nvPr>
        </p:nvSpPr>
        <p:spPr/>
        <p:txBody>
          <a:bodyPr/>
          <a:lstStyle/>
          <a:p>
            <a:fld id="{87F3E754-1C97-4481-A18C-9D97ADBDF344}" type="slidenum">
              <a:rPr lang="en-US" smtClean="0"/>
              <a:t>8</a:t>
            </a:fld>
            <a:endParaRPr lang="en-US" dirty="0"/>
          </a:p>
        </p:txBody>
      </p:sp>
    </p:spTree>
    <p:extLst>
      <p:ext uri="{BB962C8B-B14F-4D97-AF65-F5344CB8AC3E}">
        <p14:creationId xmlns:p14="http://schemas.microsoft.com/office/powerpoint/2010/main" val="939032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9212" y="186496"/>
            <a:ext cx="8079581" cy="999753"/>
          </a:xfrm>
        </p:spPr>
        <p:txBody>
          <a:bodyPr>
            <a:normAutofit fontScale="90000"/>
          </a:bodyPr>
          <a:lstStyle/>
          <a:p>
            <a:r>
              <a:rPr lang="en-US" dirty="0"/>
              <a:t>Summarizing data without grouping</a:t>
            </a:r>
          </a:p>
        </p:txBody>
      </p:sp>
      <p:sp>
        <p:nvSpPr>
          <p:cNvPr id="3" name="Content Placeholder 2"/>
          <p:cNvSpPr>
            <a:spLocks noGrp="1"/>
          </p:cNvSpPr>
          <p:nvPr>
            <p:ph idx="1"/>
          </p:nvPr>
        </p:nvSpPr>
        <p:spPr>
          <a:xfrm>
            <a:off x="1819212" y="1309818"/>
            <a:ext cx="8774649" cy="5123935"/>
          </a:xfrm>
        </p:spPr>
        <p:txBody>
          <a:bodyPr>
            <a:noAutofit/>
          </a:bodyPr>
          <a:lstStyle/>
          <a:p>
            <a:pPr marL="182880" lvl="1" indent="0">
              <a:lnSpc>
                <a:spcPct val="100000"/>
              </a:lnSpc>
              <a:spcBef>
                <a:spcPts val="0"/>
              </a:spcBef>
              <a:buNone/>
            </a:pPr>
            <a:r>
              <a:rPr lang="en-US" sz="2200" dirty="0"/>
              <a:t>	</a:t>
            </a:r>
          </a:p>
          <a:p>
            <a:pPr marL="182880" lvl="1" indent="0">
              <a:lnSpc>
                <a:spcPct val="100000"/>
              </a:lnSpc>
              <a:spcBef>
                <a:spcPts val="0"/>
              </a:spcBef>
              <a:buNone/>
            </a:pPr>
            <a:r>
              <a:rPr lang="en-US" sz="2300" dirty="0"/>
              <a:t>SELECT        </a:t>
            </a:r>
            <a:r>
              <a:rPr lang="en-US" sz="2300" i="1" dirty="0">
                <a:solidFill>
                  <a:srgbClr val="FF6600"/>
                </a:solidFill>
              </a:rPr>
              <a:t>expressions1</a:t>
            </a:r>
            <a:r>
              <a:rPr lang="en-US" sz="2300" i="1" dirty="0"/>
              <a:t>, </a:t>
            </a:r>
            <a:r>
              <a:rPr lang="en-US" sz="2300" i="1" dirty="0" err="1"/>
              <a:t>aggregate_functions</a:t>
            </a:r>
            <a:r>
              <a:rPr lang="en-US" sz="2300" i="1" dirty="0"/>
              <a:t>(expressions2)</a:t>
            </a:r>
          </a:p>
          <a:p>
            <a:pPr marL="182880" lvl="1" indent="0">
              <a:lnSpc>
                <a:spcPct val="100000"/>
              </a:lnSpc>
              <a:spcBef>
                <a:spcPts val="0"/>
              </a:spcBef>
              <a:buNone/>
            </a:pPr>
            <a:r>
              <a:rPr lang="en-US" sz="2300" dirty="0"/>
              <a:t>FROM           </a:t>
            </a:r>
            <a:r>
              <a:rPr lang="en-US" sz="2300" i="1" dirty="0"/>
              <a:t>tables</a:t>
            </a:r>
            <a:endParaRPr lang="en-US" sz="2300" dirty="0"/>
          </a:p>
          <a:p>
            <a:pPr marL="182880" lvl="1" indent="0">
              <a:lnSpc>
                <a:spcPct val="100000"/>
              </a:lnSpc>
              <a:spcBef>
                <a:spcPts val="0"/>
              </a:spcBef>
              <a:buNone/>
            </a:pPr>
            <a:r>
              <a:rPr lang="en-US" sz="2300" dirty="0"/>
              <a:t>WHERE        </a:t>
            </a:r>
            <a:r>
              <a:rPr lang="en-US" sz="2300" i="1" dirty="0"/>
              <a:t>conditions1					</a:t>
            </a:r>
          </a:p>
          <a:p>
            <a:pPr marL="182880" lvl="1" indent="0">
              <a:lnSpc>
                <a:spcPct val="100000"/>
              </a:lnSpc>
              <a:spcBef>
                <a:spcPts val="0"/>
              </a:spcBef>
              <a:buNone/>
            </a:pPr>
            <a:r>
              <a:rPr lang="en-US" sz="2300" dirty="0"/>
              <a:t>ORDER BY   </a:t>
            </a:r>
            <a:r>
              <a:rPr lang="en-US" sz="2300" i="1" dirty="0"/>
              <a:t>expressions4 </a:t>
            </a:r>
            <a:r>
              <a:rPr lang="en-US" sz="2300" dirty="0"/>
              <a:t>;</a:t>
            </a:r>
          </a:p>
          <a:p>
            <a:pPr marL="182880" lvl="1" indent="0">
              <a:lnSpc>
                <a:spcPct val="100000"/>
              </a:lnSpc>
              <a:spcBef>
                <a:spcPts val="0"/>
              </a:spcBef>
              <a:buNone/>
            </a:pPr>
            <a:endParaRPr lang="en-US" sz="2300" dirty="0"/>
          </a:p>
          <a:p>
            <a:pPr marL="182880" lvl="1" indent="0">
              <a:lnSpc>
                <a:spcPct val="100000"/>
              </a:lnSpc>
              <a:spcBef>
                <a:spcPts val="0"/>
              </a:spcBef>
              <a:buNone/>
            </a:pPr>
            <a:endParaRPr lang="en-US" sz="2300" dirty="0"/>
          </a:p>
          <a:p>
            <a:pPr marL="182880" lvl="1" indent="0">
              <a:lnSpc>
                <a:spcPct val="100000"/>
              </a:lnSpc>
              <a:spcBef>
                <a:spcPts val="0"/>
              </a:spcBef>
              <a:buNone/>
            </a:pPr>
            <a:endParaRPr lang="en-US" sz="2300" dirty="0"/>
          </a:p>
          <a:p>
            <a:pPr marL="182880" lvl="1" indent="0">
              <a:lnSpc>
                <a:spcPct val="100000"/>
              </a:lnSpc>
              <a:spcBef>
                <a:spcPts val="0"/>
              </a:spcBef>
              <a:buNone/>
            </a:pPr>
            <a:r>
              <a:rPr lang="en-US" sz="2300" dirty="0"/>
              <a:t>When we do not use GROUP BY, the query considers that there is a single group composed by all records that passed the WHERE filter condition(s).</a:t>
            </a:r>
          </a:p>
          <a:p>
            <a:endParaRPr lang="en-US" sz="1400" dirty="0"/>
          </a:p>
          <a:p>
            <a:endParaRPr lang="en-US" sz="1400" dirty="0"/>
          </a:p>
          <a:p>
            <a:endParaRPr lang="en-US" sz="2100" u="sng" dirty="0">
              <a:solidFill>
                <a:srgbClr val="00B050"/>
              </a:solidFill>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9</a:t>
            </a:fld>
            <a:endParaRPr lang="en-US"/>
          </a:p>
        </p:txBody>
      </p:sp>
    </p:spTree>
    <p:extLst>
      <p:ext uri="{BB962C8B-B14F-4D97-AF65-F5344CB8AC3E}">
        <p14:creationId xmlns:p14="http://schemas.microsoft.com/office/powerpoint/2010/main" val="3627631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4458" y="1720445"/>
            <a:ext cx="8666073" cy="3766185"/>
          </a:xfrm>
        </p:spPr>
        <p:txBody>
          <a:bodyPr>
            <a:noAutofit/>
          </a:bodyPr>
          <a:lstStyle/>
          <a:p>
            <a:pPr marL="457200" indent="-457200" algn="just">
              <a:lnSpc>
                <a:spcPct val="100000"/>
              </a:lnSpc>
              <a:buFont typeface="+mj-lt"/>
              <a:buAutoNum type="arabicPeriod" startAt="6"/>
            </a:pPr>
            <a:r>
              <a:rPr lang="en-US" dirty="0"/>
              <a:t>counts the number of employees</a:t>
            </a:r>
          </a:p>
          <a:p>
            <a:pPr algn="just">
              <a:lnSpc>
                <a:spcPct val="100000"/>
              </a:lnSpc>
              <a:buFont typeface="+mj-lt"/>
              <a:buAutoNum type="arabicPeriod" startAt="6"/>
            </a:pPr>
            <a:r>
              <a:rPr lang="en-US" dirty="0"/>
              <a:t>  returns the sum of the salaries over all the employees</a:t>
            </a:r>
          </a:p>
          <a:p>
            <a:pPr algn="just">
              <a:lnSpc>
                <a:spcPct val="100000"/>
              </a:lnSpc>
              <a:buFont typeface="+mj-lt"/>
              <a:buAutoNum type="arabicPeriod" startAt="6"/>
            </a:pPr>
            <a:r>
              <a:rPr lang="en-US" dirty="0"/>
              <a:t> counts the number of employees that work in Quality Assurance and displays the sum of their salaries</a:t>
            </a:r>
          </a:p>
        </p:txBody>
      </p:sp>
      <p:sp>
        <p:nvSpPr>
          <p:cNvPr id="4" name="Slide Number Placeholder 3"/>
          <p:cNvSpPr>
            <a:spLocks noGrp="1"/>
          </p:cNvSpPr>
          <p:nvPr>
            <p:ph type="sldNum" sz="quarter" idx="12"/>
          </p:nvPr>
        </p:nvSpPr>
        <p:spPr/>
        <p:txBody>
          <a:bodyPr/>
          <a:lstStyle/>
          <a:p>
            <a:fld id="{87F3E754-1C97-4481-A18C-9D97ADBDF344}" type="slidenum">
              <a:rPr lang="en-US" smtClean="0"/>
              <a:t>10</a:t>
            </a:fld>
            <a:endParaRPr lang="en-US"/>
          </a:p>
        </p:txBody>
      </p:sp>
      <p:sp>
        <p:nvSpPr>
          <p:cNvPr id="5" name="Title 1"/>
          <p:cNvSpPr>
            <a:spLocks noGrp="1"/>
          </p:cNvSpPr>
          <p:nvPr>
            <p:ph type="title"/>
          </p:nvPr>
        </p:nvSpPr>
        <p:spPr>
          <a:xfrm>
            <a:off x="1794458" y="155919"/>
            <a:ext cx="8079581" cy="757767"/>
          </a:xfrm>
        </p:spPr>
        <p:txBody>
          <a:bodyPr/>
          <a:lstStyle/>
          <a:p>
            <a:r>
              <a:rPr lang="en-US" dirty="0"/>
              <a:t>Let’s make a query that…</a:t>
            </a:r>
          </a:p>
        </p:txBody>
      </p:sp>
    </p:spTree>
    <p:extLst>
      <p:ext uri="{BB962C8B-B14F-4D97-AF65-F5344CB8AC3E}">
        <p14:creationId xmlns:p14="http://schemas.microsoft.com/office/powerpoint/2010/main" val="20197309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721</Words>
  <Application>Microsoft Office PowerPoint</Application>
  <PresentationFormat>Widescreen</PresentationFormat>
  <Paragraphs>91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SQL II - Queries with aggregation</vt:lpstr>
      <vt:lpstr>Outline</vt:lpstr>
      <vt:lpstr>What if we want…</vt:lpstr>
      <vt:lpstr>Most common aggregation functions</vt:lpstr>
      <vt:lpstr>Summarizing by groups, and with criteria:</vt:lpstr>
      <vt:lpstr>Let’s make a query that…</vt:lpstr>
      <vt:lpstr>On the “rule”…</vt:lpstr>
      <vt:lpstr>but not vice-versa…</vt:lpstr>
      <vt:lpstr>Summarizing data without grouping</vt:lpstr>
      <vt:lpstr>Let’s make a query that…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II - Queries with aggregation</dc:title>
  <dc:creator>Disha Parkhi</dc:creator>
  <cp:lastModifiedBy>Disha Parkhi</cp:lastModifiedBy>
  <cp:revision>1</cp:revision>
  <dcterms:created xsi:type="dcterms:W3CDTF">2020-08-22T21:42:53Z</dcterms:created>
  <dcterms:modified xsi:type="dcterms:W3CDTF">2020-08-22T21:43:17Z</dcterms:modified>
</cp:coreProperties>
</file>