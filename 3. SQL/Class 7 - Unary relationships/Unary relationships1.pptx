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17" r:id="rId4"/>
    <p:sldId id="318" r:id="rId5"/>
    <p:sldId id="316" r:id="rId6"/>
    <p:sldId id="31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FB689D-14F3-4ACA-BF94-68009AD0AC97}">
          <p14:sldIdLst/>
        </p14:section>
        <p14:section name="Default Section" id="{C892008D-43F3-4264-941F-487151B80BC1}">
          <p14:sldIdLst>
            <p14:sldId id="257"/>
            <p14:sldId id="258"/>
            <p14:sldId id="317"/>
            <p14:sldId id="318"/>
            <p14:sldId id="316"/>
            <p14:sldId id="31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sha Parkhi" userId="7ca7a02737f3c9a0" providerId="LiveId" clId="{15D17EA0-3BF3-4603-BC63-77FE1F33435C}"/>
    <pc:docChg chg="delSld modSld modSection">
      <pc:chgData name="Disha Parkhi" userId="7ca7a02737f3c9a0" providerId="LiveId" clId="{15D17EA0-3BF3-4603-BC63-77FE1F33435C}" dt="2020-08-22T21:58:58.249" v="12" actId="20577"/>
      <pc:docMkLst>
        <pc:docMk/>
      </pc:docMkLst>
      <pc:sldChg chg="del">
        <pc:chgData name="Disha Parkhi" userId="7ca7a02737f3c9a0" providerId="LiveId" clId="{15D17EA0-3BF3-4603-BC63-77FE1F33435C}" dt="2020-08-22T21:58:52.915" v="0" actId="47"/>
        <pc:sldMkLst>
          <pc:docMk/>
          <pc:sldMk cId="2237522773" sldId="256"/>
        </pc:sldMkLst>
      </pc:sldChg>
      <pc:sldChg chg="modSp mod">
        <pc:chgData name="Disha Parkhi" userId="7ca7a02737f3c9a0" providerId="LiveId" clId="{15D17EA0-3BF3-4603-BC63-77FE1F33435C}" dt="2020-08-22T21:58:58.249" v="12" actId="20577"/>
        <pc:sldMkLst>
          <pc:docMk/>
          <pc:sldMk cId="2685054212" sldId="257"/>
        </pc:sldMkLst>
        <pc:spChg chg="mod">
          <ac:chgData name="Disha Parkhi" userId="7ca7a02737f3c9a0" providerId="LiveId" clId="{15D17EA0-3BF3-4603-BC63-77FE1F33435C}" dt="2020-08-22T21:58:58.249" v="12" actId="20577"/>
          <ac:spMkLst>
            <pc:docMk/>
            <pc:sldMk cId="2685054212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1A5A-1263-45CB-B60B-B1BBF649E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71009-EFDD-4407-971C-2E63C3B96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27E96-6601-45C8-95F1-98CF6EA7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5265A-0A43-4AC0-B607-D6251011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31D80-4854-40E5-BB4E-CA752F0A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698D-D3F4-4297-9F77-6AECE10F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1426-5F00-4081-9275-FD7064FE2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A3036-1396-45ED-BB84-19F61597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04EF-5691-4756-B36B-20DA9AE0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C47E-4854-4DA0-88F9-2CC3A1D0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3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572B-BC6A-4A49-8F23-17A280B5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C83D3-D6B5-42E9-94BE-C697F6FBE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BEB51-2FCA-4454-A40A-5F8B5AED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E3095-81C0-466A-A694-D35D17427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0CA5-AC56-474D-83E7-98821399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8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7EEBD-7488-445E-815C-1CCB74508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A8A4-9FE7-48CE-B872-A0351317B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8E95D-1FFC-4607-A02C-60366317E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59A8F-7E0A-4A33-AEC9-26D0F88F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F2283-4E69-444A-B4D7-55335B60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A11DB-F539-48CD-94DA-CC6F68AF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6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B978-CCDB-4B62-A7A2-03E6ADD25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F0C78-917A-4B23-98E1-CF59F4B0B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57D56-5EFD-4478-9A4B-241864193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2338AB-DA68-4ACC-AD77-07541A0CA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05CB5-2C55-49E4-AB17-AA429767B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55672F-9612-48DC-8CC6-EECEBF75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76445-3E06-406C-A6A3-D1A99E17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17AA0-33BA-4271-A7BC-D48BD89D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5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C702-C7C6-4D98-A677-CD86ABA85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FB8AE-7104-41AF-AF41-2303E6A23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9FE74-BFAD-4EFB-A3D1-FDC9C491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BD5ED-7EF7-4CD1-861C-8DC8A6C1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0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69AD0-D209-4F56-AAD5-B045302E5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F034A8-6E42-4A47-A145-6DD6CF23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E6142-D412-4005-A411-076B4556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77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56EA-EBAC-48B9-8597-A48150E54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CF67C-7457-464B-93BD-F42B5C093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F869F-0B48-45DB-90A5-A06D85746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35517-4B3C-4120-B485-6D6CB1A8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75265-9593-4AFE-ADC9-A3CCBC7F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05074-0D43-4852-9927-52BD5737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8386-D738-404A-9A25-59439DEDE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EB396-A5F3-4F74-9905-47B3109F2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B23B3-C319-48E3-B9D3-4BD9221B5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37421-5CFB-4C5A-9D41-7EF0EEF0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6D625-1472-4C38-8852-BDF20A8F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11E3E-E64E-4676-A02B-ABB85047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7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9553-BE28-4B43-9EDF-9C3E5495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1CC20-5551-4C24-A8F1-87254207E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6F858-9660-4586-8DBC-55C5D3DA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56031-5704-4AED-98B5-4BB74A36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74FE2-9925-4D89-B856-A2408D09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26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9BB06-E054-4077-865E-E85E95456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999C6-782D-4B2A-AC83-4248042B6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66838-9076-4A78-BB6A-1EAB882A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C1522-16F4-4CE7-8B35-FD097C9B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8EEF-EFCA-4344-B6F4-109E044C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9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D3166-A438-4892-B1A6-DDA718871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32989-E490-4466-AE89-4397F5A4A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57B4F-0932-4B32-889F-48F6D41B3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6335B-AF64-4017-A7A6-49ADC80389B7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4F513-45FF-4324-B8BD-8FE1F547C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C9319-DD6E-49A1-BE89-0A3E52DEA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72FD9-D40E-4B7C-A223-05ADF833BE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0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Unary relationships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635" y="4198409"/>
            <a:ext cx="8038719" cy="1645920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Management Information Systems</a:t>
            </a:r>
          </a:p>
          <a:p>
            <a:r>
              <a:rPr lang="en-US" sz="2000"/>
              <a:t>Disha Parkhi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9496" y="229078"/>
            <a:ext cx="8079581" cy="1213357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849496" y="1987689"/>
            <a:ext cx="4242135" cy="2016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500" b="1" dirty="0"/>
              <a:t>Unary Relationship Design Exercise</a:t>
            </a:r>
            <a:r>
              <a:rPr lang="en-US" sz="2500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500" dirty="0"/>
              <a:t>The employee database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500" dirty="0"/>
          </a:p>
        </p:txBody>
      </p:sp>
      <p:sp>
        <p:nvSpPr>
          <p:cNvPr id="5" name="Content Placeholder 8"/>
          <p:cNvSpPr txBox="1">
            <a:spLocks/>
          </p:cNvSpPr>
          <p:nvPr/>
        </p:nvSpPr>
        <p:spPr>
          <a:xfrm>
            <a:off x="6961909" y="1993392"/>
            <a:ext cx="3163455" cy="14927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chemeClr val="accent1"/>
                </a:solidFill>
              </a:rPr>
              <a:t>Reading: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  <a:buFont typeface="Wingdings" charset="2"/>
              <a:buChar char="ü"/>
            </a:pPr>
            <a:r>
              <a:rPr lang="en-US" i="1" dirty="0"/>
              <a:t> Chapter 12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93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731143" y="1679527"/>
            <a:ext cx="8675596" cy="3786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/>
            <a:r>
              <a:rPr lang="en-US" sz="2400" dirty="0"/>
              <a:t>You are building a database for your company's HR department. Each employee is identified by an ID number, and you want to store first name, last name, salary, gender, and performance rating.</a:t>
            </a:r>
          </a:p>
          <a:p>
            <a:pPr algn="just"/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You also want to keep track of each employee's location and job title. Each employee is assigned to a single location and has a single job title. For each location, you want to store a name, address, state, zip code, and phone. For each job title, you want to store a name, description, education requirement, minimum salary, and maximum salary. Assume that you do not have a separate zip-code table.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61745" y="148379"/>
            <a:ext cx="8585093" cy="13356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employee database</a:t>
            </a:r>
            <a:endParaRPr lang="en-US" sz="27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485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683665" y="1513345"/>
            <a:ext cx="8813710" cy="3184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100" dirty="0"/>
              <a:t>LOCATION (</a:t>
            </a:r>
            <a:r>
              <a:rPr lang="en-US" sz="2100" u="sng" dirty="0" err="1"/>
              <a:t>LocationID</a:t>
            </a:r>
            <a:r>
              <a:rPr lang="en-US" sz="2100" dirty="0"/>
              <a:t>, Name, Address, City, State, Zip, Phone)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 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TITLE (</a:t>
            </a:r>
            <a:r>
              <a:rPr lang="en-US" sz="2100" u="sng" dirty="0" err="1"/>
              <a:t>TitleID</a:t>
            </a:r>
            <a:r>
              <a:rPr lang="en-US" sz="2100" dirty="0"/>
              <a:t>, Name, Description, </a:t>
            </a:r>
            <a:r>
              <a:rPr lang="en-US" sz="2100" dirty="0" err="1"/>
              <a:t>EdRequired</a:t>
            </a:r>
            <a:r>
              <a:rPr lang="en-US" sz="2100" dirty="0"/>
              <a:t>, </a:t>
            </a:r>
            <a:r>
              <a:rPr lang="en-US" sz="2100" dirty="0" err="1"/>
              <a:t>MinSalary</a:t>
            </a:r>
            <a:r>
              <a:rPr lang="en-US" sz="2100" dirty="0"/>
              <a:t>, </a:t>
            </a:r>
            <a:r>
              <a:rPr lang="en-US" sz="2100" dirty="0" err="1"/>
              <a:t>MaxSalary</a:t>
            </a:r>
            <a:r>
              <a:rPr lang="en-US" sz="2100" dirty="0"/>
              <a:t>)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 </a:t>
            </a:r>
          </a:p>
          <a:p>
            <a:pPr>
              <a:lnSpc>
                <a:spcPct val="120000"/>
              </a:lnSpc>
            </a:pPr>
            <a:r>
              <a:rPr lang="en-US" sz="2100" dirty="0"/>
              <a:t>EMPLOYEE (</a:t>
            </a:r>
            <a:r>
              <a:rPr lang="en-US" sz="2100" u="sng" dirty="0" err="1"/>
              <a:t>EmployeeID</a:t>
            </a:r>
            <a:r>
              <a:rPr lang="en-US" sz="2100" dirty="0"/>
              <a:t>, FirstName, </a:t>
            </a:r>
            <a:r>
              <a:rPr lang="en-US" sz="2100" dirty="0" err="1"/>
              <a:t>LastName</a:t>
            </a:r>
            <a:r>
              <a:rPr lang="en-US" sz="2100" dirty="0"/>
              <a:t>, Salary, Gender, </a:t>
            </a:r>
            <a:r>
              <a:rPr lang="en-US" sz="2100" dirty="0" err="1"/>
              <a:t>PerfRating</a:t>
            </a:r>
            <a:r>
              <a:rPr lang="en-US" sz="2100" dirty="0"/>
              <a:t>, </a:t>
            </a:r>
            <a:r>
              <a:rPr lang="en-US" sz="2100" dirty="0" err="1">
                <a:solidFill>
                  <a:srgbClr val="3366FF"/>
                </a:solidFill>
              </a:rPr>
              <a:t>LocationID</a:t>
            </a:r>
            <a:r>
              <a:rPr lang="en-US" sz="2100" dirty="0"/>
              <a:t>, </a:t>
            </a:r>
            <a:r>
              <a:rPr lang="en-US" sz="2100" dirty="0" err="1">
                <a:solidFill>
                  <a:srgbClr val="008000"/>
                </a:solidFill>
              </a:rPr>
              <a:t>TitleID</a:t>
            </a:r>
            <a:r>
              <a:rPr lang="en-US" sz="2100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sz="2100" dirty="0"/>
              <a:t>    </a:t>
            </a:r>
            <a:r>
              <a:rPr lang="en-US" sz="2100" dirty="0">
                <a:solidFill>
                  <a:srgbClr val="FF0000"/>
                </a:solidFill>
              </a:rPr>
              <a:t> </a:t>
            </a:r>
            <a:r>
              <a:rPr lang="en-US" sz="2100" dirty="0" err="1">
                <a:solidFill>
                  <a:srgbClr val="3366FF"/>
                </a:solidFill>
              </a:rPr>
              <a:t>LocationID</a:t>
            </a:r>
            <a:r>
              <a:rPr lang="en-US" sz="2100" dirty="0">
                <a:solidFill>
                  <a:srgbClr val="3366FF"/>
                </a:solidFill>
              </a:rPr>
              <a:t> foreign key to LOCATION</a:t>
            </a:r>
          </a:p>
          <a:p>
            <a:pPr lvl="1">
              <a:lnSpc>
                <a:spcPct val="120000"/>
              </a:lnSpc>
            </a:pPr>
            <a:r>
              <a:rPr lang="en-US" sz="2100" dirty="0"/>
              <a:t>     </a:t>
            </a:r>
            <a:r>
              <a:rPr lang="en-US" sz="2100" dirty="0" err="1">
                <a:solidFill>
                  <a:srgbClr val="008000"/>
                </a:solidFill>
              </a:rPr>
              <a:t>TitleID</a:t>
            </a:r>
            <a:r>
              <a:rPr lang="en-US" sz="2100" dirty="0">
                <a:solidFill>
                  <a:srgbClr val="008000"/>
                </a:solidFill>
              </a:rPr>
              <a:t> foreign key to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61745" y="148379"/>
            <a:ext cx="8585093" cy="13356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database so far:</a:t>
            </a:r>
            <a:endParaRPr lang="en-US" sz="2700" b="1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085" y="5160641"/>
            <a:ext cx="6801248" cy="65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02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715842" y="1526533"/>
            <a:ext cx="8675596" cy="4753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algn="just">
              <a:lnSpc>
                <a:spcPct val="120000"/>
              </a:lnSpc>
            </a:pPr>
            <a:endParaRPr lang="en-US" sz="14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</a:rPr>
              <a:t>Part 1. </a:t>
            </a:r>
            <a:r>
              <a:rPr lang="en-US" sz="2400" i="1" dirty="0">
                <a:solidFill>
                  <a:srgbClr val="000000"/>
                </a:solidFill>
              </a:rPr>
              <a:t>Suppose that every employee except the CEO has one supervisor (who is another employee and may have a supervisor too). </a:t>
            </a:r>
          </a:p>
          <a:p>
            <a:pPr algn="just"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</a:rPr>
              <a:t>Design a database for this problem. The database should be able to answer queries like "Who is the supervisor of employee </a:t>
            </a:r>
            <a:r>
              <a:rPr lang="en-US" sz="2400" i="1" dirty="0">
                <a:solidFill>
                  <a:srgbClr val="000000"/>
                </a:solidFill>
              </a:rPr>
              <a:t>X</a:t>
            </a:r>
            <a:r>
              <a:rPr lang="en-US" sz="2400" dirty="0">
                <a:solidFill>
                  <a:srgbClr val="000000"/>
                </a:solidFill>
              </a:rPr>
              <a:t>?", or “Who is supervised by employee X?”.</a:t>
            </a:r>
          </a:p>
          <a:p>
            <a:pPr algn="just">
              <a:lnSpc>
                <a:spcPct val="120000"/>
              </a:lnSpc>
            </a:pPr>
            <a:endParaRPr lang="en-US" sz="24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</a:pPr>
            <a:endParaRPr lang="en-US" sz="2400" dirty="0">
              <a:solidFill>
                <a:srgbClr val="00000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2400" dirty="0">
                <a:solidFill>
                  <a:srgbClr val="000000"/>
                </a:solidFill>
              </a:rPr>
              <a:t>Part 2. </a:t>
            </a:r>
            <a:r>
              <a:rPr lang="en-US" sz="2400" i="1" dirty="0">
                <a:solidFill>
                  <a:srgbClr val="000000"/>
                </a:solidFill>
              </a:rPr>
              <a:t>What if an employee can have more than one supervisor? What would change in the design of part 1?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61745" y="148378"/>
            <a:ext cx="8585093" cy="1501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Unary Relationships</a:t>
            </a:r>
            <a:br>
              <a:rPr lang="en-US" dirty="0"/>
            </a:br>
            <a:r>
              <a:rPr lang="en-US" sz="2700" b="1" dirty="0">
                <a:solidFill>
                  <a:schemeClr val="tx1"/>
                </a:solidFill>
              </a:rPr>
              <a:t>The employee database</a:t>
            </a:r>
          </a:p>
        </p:txBody>
      </p:sp>
    </p:spTree>
    <p:extLst>
      <p:ext uri="{BB962C8B-B14F-4D97-AF65-F5344CB8AC3E}">
        <p14:creationId xmlns:p14="http://schemas.microsoft.com/office/powerpoint/2010/main" val="3960829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742887" y="1904987"/>
            <a:ext cx="8642758" cy="4494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lvl="0" algn="just"/>
            <a:r>
              <a:rPr lang="en-US" sz="2200" dirty="0"/>
              <a:t>Open </a:t>
            </a:r>
            <a:r>
              <a:rPr lang="en-US" sz="2200" i="1" dirty="0" err="1"/>
              <a:t>emp-self.accdb</a:t>
            </a:r>
            <a:r>
              <a:rPr lang="en-US" sz="2200" dirty="0"/>
              <a:t>, that contains the DB designed in Part 1.</a:t>
            </a:r>
            <a:endParaRPr lang="en-US" sz="2200" i="1" dirty="0"/>
          </a:p>
          <a:p>
            <a:pPr lvl="0" algn="just"/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Create a query that shows the first name and last name of each person that has a supervisor, along with the first and last name of their supervisor.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Create the same query but now making sure that all employees show up.</a:t>
            </a:r>
          </a:p>
          <a:p>
            <a:pPr lvl="0" algn="just"/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Show the first name, last name, job title, and number of people supervised for each supervisor that supervises at least four people.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3E754-1C97-4481-A18C-9D97ADBDF344}" type="slidenum">
              <a:rPr lang="en-US" smtClean="0"/>
              <a:t>6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85253" y="298207"/>
            <a:ext cx="8585093" cy="1369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Some SQL Queries involving the unary rel.</a:t>
            </a:r>
          </a:p>
        </p:txBody>
      </p:sp>
    </p:spTree>
    <p:extLst>
      <p:ext uri="{BB962C8B-B14F-4D97-AF65-F5344CB8AC3E}">
        <p14:creationId xmlns:p14="http://schemas.microsoft.com/office/powerpoint/2010/main" val="55045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Unary relationships</vt:lpstr>
      <vt:lpstr>Outline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Disha Parkhi</dc:creator>
  <cp:lastModifiedBy>Disha Parkhi</cp:lastModifiedBy>
  <cp:revision>1</cp:revision>
  <dcterms:created xsi:type="dcterms:W3CDTF">2020-08-22T21:58:31Z</dcterms:created>
  <dcterms:modified xsi:type="dcterms:W3CDTF">2020-08-22T21:59:01Z</dcterms:modified>
</cp:coreProperties>
</file>