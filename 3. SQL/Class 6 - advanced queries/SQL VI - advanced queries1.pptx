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92" r:id="rId3"/>
    <p:sldId id="295" r:id="rId4"/>
    <p:sldId id="296" r:id="rId5"/>
    <p:sldId id="297" r:id="rId6"/>
    <p:sldId id="298" r:id="rId7"/>
    <p:sldId id="299" r:id="rId8"/>
    <p:sldId id="300" r:id="rId9"/>
    <p:sldId id="30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892008D-43F3-4264-941F-487151B80BC1}">
          <p14:sldIdLst>
            <p14:sldId id="257"/>
            <p14:sldId id="292"/>
            <p14:sldId id="295"/>
            <p14:sldId id="296"/>
          </p14:sldIdLst>
        </p14:section>
        <p14:section name="Appendix" id="{C24FAB07-FA40-49C5-AA1E-4FA6C1700F0C}">
          <p14:sldIdLst>
            <p14:sldId id="297"/>
            <p14:sldId id="298"/>
            <p14:sldId id="299"/>
            <p14:sldId id="300"/>
            <p14:sldId id="30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667A8-0418-4309-B3DE-988AFE02AC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7F8644-0633-43D4-AAA0-FA9AB9973D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AD7122D-C18C-4FF8-B8F1-2A43519EBFF8}"/>
              </a:ext>
            </a:extLst>
          </p:cNvPr>
          <p:cNvSpPr>
            <a:spLocks noGrp="1"/>
          </p:cNvSpPr>
          <p:nvPr>
            <p:ph type="dt" sz="half" idx="10"/>
          </p:nvPr>
        </p:nvSpPr>
        <p:spPr/>
        <p:txBody>
          <a:bodyPr/>
          <a:lstStyle/>
          <a:p>
            <a:fld id="{3975425B-35B2-4715-B926-BA3DA101DBDC}" type="datetimeFigureOut">
              <a:rPr lang="en-US" smtClean="0"/>
              <a:t>8/22/2020</a:t>
            </a:fld>
            <a:endParaRPr lang="en-US"/>
          </a:p>
        </p:txBody>
      </p:sp>
      <p:sp>
        <p:nvSpPr>
          <p:cNvPr id="5" name="Footer Placeholder 4">
            <a:extLst>
              <a:ext uri="{FF2B5EF4-FFF2-40B4-BE49-F238E27FC236}">
                <a16:creationId xmlns:a16="http://schemas.microsoft.com/office/drawing/2014/main" id="{F7DBD9D2-07E7-4048-841F-3047DA9776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862987-4CB1-4D35-B204-B35B25A15BAC}"/>
              </a:ext>
            </a:extLst>
          </p:cNvPr>
          <p:cNvSpPr>
            <a:spLocks noGrp="1"/>
          </p:cNvSpPr>
          <p:nvPr>
            <p:ph type="sldNum" sz="quarter" idx="12"/>
          </p:nvPr>
        </p:nvSpPr>
        <p:spPr/>
        <p:txBody>
          <a:bodyPr/>
          <a:lstStyle/>
          <a:p>
            <a:fld id="{C60D5DA2-DF47-4006-BBF6-8F1AD9196BAD}" type="slidenum">
              <a:rPr lang="en-US" smtClean="0"/>
              <a:t>‹#›</a:t>
            </a:fld>
            <a:endParaRPr lang="en-US"/>
          </a:p>
        </p:txBody>
      </p:sp>
    </p:spTree>
    <p:extLst>
      <p:ext uri="{BB962C8B-B14F-4D97-AF65-F5344CB8AC3E}">
        <p14:creationId xmlns:p14="http://schemas.microsoft.com/office/powerpoint/2010/main" val="405788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85C90-2D62-4674-83C7-2BC9C5F7C4D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061BCB-A2A8-45D8-AC4E-8528E9C2C0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BA7946-8863-4B62-ABDA-57A625860B30}"/>
              </a:ext>
            </a:extLst>
          </p:cNvPr>
          <p:cNvSpPr>
            <a:spLocks noGrp="1"/>
          </p:cNvSpPr>
          <p:nvPr>
            <p:ph type="dt" sz="half" idx="10"/>
          </p:nvPr>
        </p:nvSpPr>
        <p:spPr/>
        <p:txBody>
          <a:bodyPr/>
          <a:lstStyle/>
          <a:p>
            <a:fld id="{3975425B-35B2-4715-B926-BA3DA101DBDC}" type="datetimeFigureOut">
              <a:rPr lang="en-US" smtClean="0"/>
              <a:t>8/22/2020</a:t>
            </a:fld>
            <a:endParaRPr lang="en-US"/>
          </a:p>
        </p:txBody>
      </p:sp>
      <p:sp>
        <p:nvSpPr>
          <p:cNvPr id="5" name="Footer Placeholder 4">
            <a:extLst>
              <a:ext uri="{FF2B5EF4-FFF2-40B4-BE49-F238E27FC236}">
                <a16:creationId xmlns:a16="http://schemas.microsoft.com/office/drawing/2014/main" id="{725E4300-433F-4AA3-ABB8-E375BED7E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9748D9-4074-4B5E-B0C4-022F9F7A2CC5}"/>
              </a:ext>
            </a:extLst>
          </p:cNvPr>
          <p:cNvSpPr>
            <a:spLocks noGrp="1"/>
          </p:cNvSpPr>
          <p:nvPr>
            <p:ph type="sldNum" sz="quarter" idx="12"/>
          </p:nvPr>
        </p:nvSpPr>
        <p:spPr/>
        <p:txBody>
          <a:bodyPr/>
          <a:lstStyle/>
          <a:p>
            <a:fld id="{C60D5DA2-DF47-4006-BBF6-8F1AD9196BAD}" type="slidenum">
              <a:rPr lang="en-US" smtClean="0"/>
              <a:t>‹#›</a:t>
            </a:fld>
            <a:endParaRPr lang="en-US"/>
          </a:p>
        </p:txBody>
      </p:sp>
    </p:spTree>
    <p:extLst>
      <p:ext uri="{BB962C8B-B14F-4D97-AF65-F5344CB8AC3E}">
        <p14:creationId xmlns:p14="http://schemas.microsoft.com/office/powerpoint/2010/main" val="1236773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961A9-A647-477A-8ACF-C957CA3EE6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3FF9846-54FD-4BF9-9C1A-9F04C93BAA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844EB33-10A7-4C5D-B7D7-FE70A628A23C}"/>
              </a:ext>
            </a:extLst>
          </p:cNvPr>
          <p:cNvSpPr>
            <a:spLocks noGrp="1"/>
          </p:cNvSpPr>
          <p:nvPr>
            <p:ph type="dt" sz="half" idx="10"/>
          </p:nvPr>
        </p:nvSpPr>
        <p:spPr/>
        <p:txBody>
          <a:bodyPr/>
          <a:lstStyle/>
          <a:p>
            <a:fld id="{3975425B-35B2-4715-B926-BA3DA101DBDC}" type="datetimeFigureOut">
              <a:rPr lang="en-US" smtClean="0"/>
              <a:t>8/22/2020</a:t>
            </a:fld>
            <a:endParaRPr lang="en-US"/>
          </a:p>
        </p:txBody>
      </p:sp>
      <p:sp>
        <p:nvSpPr>
          <p:cNvPr id="5" name="Footer Placeholder 4">
            <a:extLst>
              <a:ext uri="{FF2B5EF4-FFF2-40B4-BE49-F238E27FC236}">
                <a16:creationId xmlns:a16="http://schemas.microsoft.com/office/drawing/2014/main" id="{E8E3BDE0-2B17-4B2E-8F72-F394A7C443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99184-3667-48AE-B862-393236AF535B}"/>
              </a:ext>
            </a:extLst>
          </p:cNvPr>
          <p:cNvSpPr>
            <a:spLocks noGrp="1"/>
          </p:cNvSpPr>
          <p:nvPr>
            <p:ph type="sldNum" sz="quarter" idx="12"/>
          </p:nvPr>
        </p:nvSpPr>
        <p:spPr/>
        <p:txBody>
          <a:bodyPr/>
          <a:lstStyle/>
          <a:p>
            <a:fld id="{C60D5DA2-DF47-4006-BBF6-8F1AD9196BAD}" type="slidenum">
              <a:rPr lang="en-US" smtClean="0"/>
              <a:t>‹#›</a:t>
            </a:fld>
            <a:endParaRPr lang="en-US"/>
          </a:p>
        </p:txBody>
      </p:sp>
    </p:spTree>
    <p:extLst>
      <p:ext uri="{BB962C8B-B14F-4D97-AF65-F5344CB8AC3E}">
        <p14:creationId xmlns:p14="http://schemas.microsoft.com/office/powerpoint/2010/main" val="3620648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9974C-D9C8-4FFB-A043-FB54ED5F91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326458-47F2-4877-A7DC-7B328A4708D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402B7F-9280-496B-8134-B534D7440B3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EFBAB6-FD68-4F33-907B-1EBC8FA4173E}"/>
              </a:ext>
            </a:extLst>
          </p:cNvPr>
          <p:cNvSpPr>
            <a:spLocks noGrp="1"/>
          </p:cNvSpPr>
          <p:nvPr>
            <p:ph type="dt" sz="half" idx="10"/>
          </p:nvPr>
        </p:nvSpPr>
        <p:spPr/>
        <p:txBody>
          <a:bodyPr/>
          <a:lstStyle/>
          <a:p>
            <a:fld id="{3975425B-35B2-4715-B926-BA3DA101DBDC}" type="datetimeFigureOut">
              <a:rPr lang="en-US" smtClean="0"/>
              <a:t>8/22/2020</a:t>
            </a:fld>
            <a:endParaRPr lang="en-US"/>
          </a:p>
        </p:txBody>
      </p:sp>
      <p:sp>
        <p:nvSpPr>
          <p:cNvPr id="6" name="Footer Placeholder 5">
            <a:extLst>
              <a:ext uri="{FF2B5EF4-FFF2-40B4-BE49-F238E27FC236}">
                <a16:creationId xmlns:a16="http://schemas.microsoft.com/office/drawing/2014/main" id="{C2949169-0DEE-4EAC-8549-F297DC25B1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C732EC-1B9D-478E-89B7-D697EC292B8D}"/>
              </a:ext>
            </a:extLst>
          </p:cNvPr>
          <p:cNvSpPr>
            <a:spLocks noGrp="1"/>
          </p:cNvSpPr>
          <p:nvPr>
            <p:ph type="sldNum" sz="quarter" idx="12"/>
          </p:nvPr>
        </p:nvSpPr>
        <p:spPr/>
        <p:txBody>
          <a:bodyPr/>
          <a:lstStyle/>
          <a:p>
            <a:fld id="{C60D5DA2-DF47-4006-BBF6-8F1AD9196BAD}" type="slidenum">
              <a:rPr lang="en-US" smtClean="0"/>
              <a:t>‹#›</a:t>
            </a:fld>
            <a:endParaRPr lang="en-US"/>
          </a:p>
        </p:txBody>
      </p:sp>
    </p:spTree>
    <p:extLst>
      <p:ext uri="{BB962C8B-B14F-4D97-AF65-F5344CB8AC3E}">
        <p14:creationId xmlns:p14="http://schemas.microsoft.com/office/powerpoint/2010/main" val="137908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F3476-6A55-479C-8A2D-1B4984044D2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2E11545-836B-4668-B9B3-A0A627B0B96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69C7AF-9326-4BF4-A1BF-7E414636B9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544AA9-28C5-4B7B-9C99-C4E01E02C2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66B17F-0209-4AEF-8B8E-0687E44FD5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EB95AE9-A495-41EF-820E-481FA6EF5E4D}"/>
              </a:ext>
            </a:extLst>
          </p:cNvPr>
          <p:cNvSpPr>
            <a:spLocks noGrp="1"/>
          </p:cNvSpPr>
          <p:nvPr>
            <p:ph type="dt" sz="half" idx="10"/>
          </p:nvPr>
        </p:nvSpPr>
        <p:spPr/>
        <p:txBody>
          <a:bodyPr/>
          <a:lstStyle/>
          <a:p>
            <a:fld id="{3975425B-35B2-4715-B926-BA3DA101DBDC}" type="datetimeFigureOut">
              <a:rPr lang="en-US" smtClean="0"/>
              <a:t>8/22/2020</a:t>
            </a:fld>
            <a:endParaRPr lang="en-US"/>
          </a:p>
        </p:txBody>
      </p:sp>
      <p:sp>
        <p:nvSpPr>
          <p:cNvPr id="8" name="Footer Placeholder 7">
            <a:extLst>
              <a:ext uri="{FF2B5EF4-FFF2-40B4-BE49-F238E27FC236}">
                <a16:creationId xmlns:a16="http://schemas.microsoft.com/office/drawing/2014/main" id="{07B40A01-B4A5-4A00-B029-DA7DA779A1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B4B06C-ABED-42D2-87C8-CE391F887148}"/>
              </a:ext>
            </a:extLst>
          </p:cNvPr>
          <p:cNvSpPr>
            <a:spLocks noGrp="1"/>
          </p:cNvSpPr>
          <p:nvPr>
            <p:ph type="sldNum" sz="quarter" idx="12"/>
          </p:nvPr>
        </p:nvSpPr>
        <p:spPr/>
        <p:txBody>
          <a:bodyPr/>
          <a:lstStyle/>
          <a:p>
            <a:fld id="{C60D5DA2-DF47-4006-BBF6-8F1AD9196BAD}" type="slidenum">
              <a:rPr lang="en-US" smtClean="0"/>
              <a:t>‹#›</a:t>
            </a:fld>
            <a:endParaRPr lang="en-US"/>
          </a:p>
        </p:txBody>
      </p:sp>
    </p:spTree>
    <p:extLst>
      <p:ext uri="{BB962C8B-B14F-4D97-AF65-F5344CB8AC3E}">
        <p14:creationId xmlns:p14="http://schemas.microsoft.com/office/powerpoint/2010/main" val="3982359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1C1B5-1CCC-4E28-BBE7-31595276EF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4F5D52-CE04-499F-BB2E-EC08E7E4E579}"/>
              </a:ext>
            </a:extLst>
          </p:cNvPr>
          <p:cNvSpPr>
            <a:spLocks noGrp="1"/>
          </p:cNvSpPr>
          <p:nvPr>
            <p:ph type="dt" sz="half" idx="10"/>
          </p:nvPr>
        </p:nvSpPr>
        <p:spPr/>
        <p:txBody>
          <a:bodyPr/>
          <a:lstStyle/>
          <a:p>
            <a:fld id="{3975425B-35B2-4715-B926-BA3DA101DBDC}" type="datetimeFigureOut">
              <a:rPr lang="en-US" smtClean="0"/>
              <a:t>8/22/2020</a:t>
            </a:fld>
            <a:endParaRPr lang="en-US"/>
          </a:p>
        </p:txBody>
      </p:sp>
      <p:sp>
        <p:nvSpPr>
          <p:cNvPr id="4" name="Footer Placeholder 3">
            <a:extLst>
              <a:ext uri="{FF2B5EF4-FFF2-40B4-BE49-F238E27FC236}">
                <a16:creationId xmlns:a16="http://schemas.microsoft.com/office/drawing/2014/main" id="{FA17484D-1119-4E81-A81D-E03E8FFDB1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AAB7FF-4520-48DD-B984-BEEA9978F320}"/>
              </a:ext>
            </a:extLst>
          </p:cNvPr>
          <p:cNvSpPr>
            <a:spLocks noGrp="1"/>
          </p:cNvSpPr>
          <p:nvPr>
            <p:ph type="sldNum" sz="quarter" idx="12"/>
          </p:nvPr>
        </p:nvSpPr>
        <p:spPr/>
        <p:txBody>
          <a:bodyPr/>
          <a:lstStyle/>
          <a:p>
            <a:fld id="{C60D5DA2-DF47-4006-BBF6-8F1AD9196BAD}" type="slidenum">
              <a:rPr lang="en-US" smtClean="0"/>
              <a:t>‹#›</a:t>
            </a:fld>
            <a:endParaRPr lang="en-US"/>
          </a:p>
        </p:txBody>
      </p:sp>
    </p:spTree>
    <p:extLst>
      <p:ext uri="{BB962C8B-B14F-4D97-AF65-F5344CB8AC3E}">
        <p14:creationId xmlns:p14="http://schemas.microsoft.com/office/powerpoint/2010/main" val="740311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41C8D0-8B14-4EB6-9D95-2E0177D28277}"/>
              </a:ext>
            </a:extLst>
          </p:cNvPr>
          <p:cNvSpPr>
            <a:spLocks noGrp="1"/>
          </p:cNvSpPr>
          <p:nvPr>
            <p:ph type="dt" sz="half" idx="10"/>
          </p:nvPr>
        </p:nvSpPr>
        <p:spPr/>
        <p:txBody>
          <a:bodyPr/>
          <a:lstStyle/>
          <a:p>
            <a:fld id="{3975425B-35B2-4715-B926-BA3DA101DBDC}" type="datetimeFigureOut">
              <a:rPr lang="en-US" smtClean="0"/>
              <a:t>8/22/2020</a:t>
            </a:fld>
            <a:endParaRPr lang="en-US"/>
          </a:p>
        </p:txBody>
      </p:sp>
      <p:sp>
        <p:nvSpPr>
          <p:cNvPr id="3" name="Footer Placeholder 2">
            <a:extLst>
              <a:ext uri="{FF2B5EF4-FFF2-40B4-BE49-F238E27FC236}">
                <a16:creationId xmlns:a16="http://schemas.microsoft.com/office/drawing/2014/main" id="{C66936E7-299E-42E8-B379-E86242F3EA7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BF587DF-A526-489B-8944-5556508F3CBB}"/>
              </a:ext>
            </a:extLst>
          </p:cNvPr>
          <p:cNvSpPr>
            <a:spLocks noGrp="1"/>
          </p:cNvSpPr>
          <p:nvPr>
            <p:ph type="sldNum" sz="quarter" idx="12"/>
          </p:nvPr>
        </p:nvSpPr>
        <p:spPr/>
        <p:txBody>
          <a:bodyPr/>
          <a:lstStyle/>
          <a:p>
            <a:fld id="{C60D5DA2-DF47-4006-BBF6-8F1AD9196BAD}" type="slidenum">
              <a:rPr lang="en-US" smtClean="0"/>
              <a:t>‹#›</a:t>
            </a:fld>
            <a:endParaRPr lang="en-US"/>
          </a:p>
        </p:txBody>
      </p:sp>
    </p:spTree>
    <p:extLst>
      <p:ext uri="{BB962C8B-B14F-4D97-AF65-F5344CB8AC3E}">
        <p14:creationId xmlns:p14="http://schemas.microsoft.com/office/powerpoint/2010/main" val="22296319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3B39A4-53E4-4C6B-BC75-74297C710D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2586981-DB83-4DCC-8F49-B269EE6427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B75CA08-DB36-496B-B05E-AD914688F9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8310A3-7F7C-482F-A5E7-B6235F06B957}"/>
              </a:ext>
            </a:extLst>
          </p:cNvPr>
          <p:cNvSpPr>
            <a:spLocks noGrp="1"/>
          </p:cNvSpPr>
          <p:nvPr>
            <p:ph type="dt" sz="half" idx="10"/>
          </p:nvPr>
        </p:nvSpPr>
        <p:spPr/>
        <p:txBody>
          <a:bodyPr/>
          <a:lstStyle/>
          <a:p>
            <a:fld id="{3975425B-35B2-4715-B926-BA3DA101DBDC}" type="datetimeFigureOut">
              <a:rPr lang="en-US" smtClean="0"/>
              <a:t>8/22/2020</a:t>
            </a:fld>
            <a:endParaRPr lang="en-US"/>
          </a:p>
        </p:txBody>
      </p:sp>
      <p:sp>
        <p:nvSpPr>
          <p:cNvPr id="6" name="Footer Placeholder 5">
            <a:extLst>
              <a:ext uri="{FF2B5EF4-FFF2-40B4-BE49-F238E27FC236}">
                <a16:creationId xmlns:a16="http://schemas.microsoft.com/office/drawing/2014/main" id="{EA041DA3-5922-492E-9426-E77B2946B4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8EEE03-C477-4C52-95EF-C994E46F63B7}"/>
              </a:ext>
            </a:extLst>
          </p:cNvPr>
          <p:cNvSpPr>
            <a:spLocks noGrp="1"/>
          </p:cNvSpPr>
          <p:nvPr>
            <p:ph type="sldNum" sz="quarter" idx="12"/>
          </p:nvPr>
        </p:nvSpPr>
        <p:spPr/>
        <p:txBody>
          <a:bodyPr/>
          <a:lstStyle/>
          <a:p>
            <a:fld id="{C60D5DA2-DF47-4006-BBF6-8F1AD9196BAD}" type="slidenum">
              <a:rPr lang="en-US" smtClean="0"/>
              <a:t>‹#›</a:t>
            </a:fld>
            <a:endParaRPr lang="en-US"/>
          </a:p>
        </p:txBody>
      </p:sp>
    </p:spTree>
    <p:extLst>
      <p:ext uri="{BB962C8B-B14F-4D97-AF65-F5344CB8AC3E}">
        <p14:creationId xmlns:p14="http://schemas.microsoft.com/office/powerpoint/2010/main" val="3180561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E9A35-61BF-4E88-8296-8BBCBBDDDE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E7CE136-E9A4-4BBA-A527-CD3135ACB6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0979B29-FCFB-4BC7-8227-81E8EB1242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01C2A9-8692-462C-9839-AF19E2DF0BC4}"/>
              </a:ext>
            </a:extLst>
          </p:cNvPr>
          <p:cNvSpPr>
            <a:spLocks noGrp="1"/>
          </p:cNvSpPr>
          <p:nvPr>
            <p:ph type="dt" sz="half" idx="10"/>
          </p:nvPr>
        </p:nvSpPr>
        <p:spPr/>
        <p:txBody>
          <a:bodyPr/>
          <a:lstStyle/>
          <a:p>
            <a:fld id="{3975425B-35B2-4715-B926-BA3DA101DBDC}" type="datetimeFigureOut">
              <a:rPr lang="en-US" smtClean="0"/>
              <a:t>8/22/2020</a:t>
            </a:fld>
            <a:endParaRPr lang="en-US"/>
          </a:p>
        </p:txBody>
      </p:sp>
      <p:sp>
        <p:nvSpPr>
          <p:cNvPr id="6" name="Footer Placeholder 5">
            <a:extLst>
              <a:ext uri="{FF2B5EF4-FFF2-40B4-BE49-F238E27FC236}">
                <a16:creationId xmlns:a16="http://schemas.microsoft.com/office/drawing/2014/main" id="{9F40CE33-E227-49B5-AA25-1BAF207BF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B0AC85-550B-4A8C-8DA5-C59EB9214C21}"/>
              </a:ext>
            </a:extLst>
          </p:cNvPr>
          <p:cNvSpPr>
            <a:spLocks noGrp="1"/>
          </p:cNvSpPr>
          <p:nvPr>
            <p:ph type="sldNum" sz="quarter" idx="12"/>
          </p:nvPr>
        </p:nvSpPr>
        <p:spPr/>
        <p:txBody>
          <a:bodyPr/>
          <a:lstStyle/>
          <a:p>
            <a:fld id="{C60D5DA2-DF47-4006-BBF6-8F1AD9196BAD}" type="slidenum">
              <a:rPr lang="en-US" smtClean="0"/>
              <a:t>‹#›</a:t>
            </a:fld>
            <a:endParaRPr lang="en-US"/>
          </a:p>
        </p:txBody>
      </p:sp>
    </p:spTree>
    <p:extLst>
      <p:ext uri="{BB962C8B-B14F-4D97-AF65-F5344CB8AC3E}">
        <p14:creationId xmlns:p14="http://schemas.microsoft.com/office/powerpoint/2010/main" val="612572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5F1EA-2D11-4664-BE7D-2C467AFBA7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EFE10CA-39E3-469D-B00B-816B692C4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65873-2EBF-45FD-B94E-7AA6A63E97A4}"/>
              </a:ext>
            </a:extLst>
          </p:cNvPr>
          <p:cNvSpPr>
            <a:spLocks noGrp="1"/>
          </p:cNvSpPr>
          <p:nvPr>
            <p:ph type="dt" sz="half" idx="10"/>
          </p:nvPr>
        </p:nvSpPr>
        <p:spPr/>
        <p:txBody>
          <a:bodyPr/>
          <a:lstStyle/>
          <a:p>
            <a:fld id="{3975425B-35B2-4715-B926-BA3DA101DBDC}" type="datetimeFigureOut">
              <a:rPr lang="en-US" smtClean="0"/>
              <a:t>8/22/2020</a:t>
            </a:fld>
            <a:endParaRPr lang="en-US"/>
          </a:p>
        </p:txBody>
      </p:sp>
      <p:sp>
        <p:nvSpPr>
          <p:cNvPr id="5" name="Footer Placeholder 4">
            <a:extLst>
              <a:ext uri="{FF2B5EF4-FFF2-40B4-BE49-F238E27FC236}">
                <a16:creationId xmlns:a16="http://schemas.microsoft.com/office/drawing/2014/main" id="{66C644F5-CCD1-42C6-BCF1-E4F33428DD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BAE667-6C8E-46D7-BC6F-822DFB667399}"/>
              </a:ext>
            </a:extLst>
          </p:cNvPr>
          <p:cNvSpPr>
            <a:spLocks noGrp="1"/>
          </p:cNvSpPr>
          <p:nvPr>
            <p:ph type="sldNum" sz="quarter" idx="12"/>
          </p:nvPr>
        </p:nvSpPr>
        <p:spPr/>
        <p:txBody>
          <a:bodyPr/>
          <a:lstStyle/>
          <a:p>
            <a:fld id="{C60D5DA2-DF47-4006-BBF6-8F1AD9196BAD}" type="slidenum">
              <a:rPr lang="en-US" smtClean="0"/>
              <a:t>‹#›</a:t>
            </a:fld>
            <a:endParaRPr lang="en-US"/>
          </a:p>
        </p:txBody>
      </p:sp>
    </p:spTree>
    <p:extLst>
      <p:ext uri="{BB962C8B-B14F-4D97-AF65-F5344CB8AC3E}">
        <p14:creationId xmlns:p14="http://schemas.microsoft.com/office/powerpoint/2010/main" val="2091960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967A07-1DF0-4EF4-A533-B914954F13D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4A3CA82-F014-4532-89B8-93DAB2244D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233593-0F4F-4647-A9D5-FC337FD74C59}"/>
              </a:ext>
            </a:extLst>
          </p:cNvPr>
          <p:cNvSpPr>
            <a:spLocks noGrp="1"/>
          </p:cNvSpPr>
          <p:nvPr>
            <p:ph type="dt" sz="half" idx="10"/>
          </p:nvPr>
        </p:nvSpPr>
        <p:spPr/>
        <p:txBody>
          <a:bodyPr/>
          <a:lstStyle/>
          <a:p>
            <a:fld id="{3975425B-35B2-4715-B926-BA3DA101DBDC}" type="datetimeFigureOut">
              <a:rPr lang="en-US" smtClean="0"/>
              <a:t>8/22/2020</a:t>
            </a:fld>
            <a:endParaRPr lang="en-US"/>
          </a:p>
        </p:txBody>
      </p:sp>
      <p:sp>
        <p:nvSpPr>
          <p:cNvPr id="5" name="Footer Placeholder 4">
            <a:extLst>
              <a:ext uri="{FF2B5EF4-FFF2-40B4-BE49-F238E27FC236}">
                <a16:creationId xmlns:a16="http://schemas.microsoft.com/office/drawing/2014/main" id="{18BC8F07-AD40-492C-99FD-5098BFF328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4192C1-2A21-449E-823D-7167DBB9E4CD}"/>
              </a:ext>
            </a:extLst>
          </p:cNvPr>
          <p:cNvSpPr>
            <a:spLocks noGrp="1"/>
          </p:cNvSpPr>
          <p:nvPr>
            <p:ph type="sldNum" sz="quarter" idx="12"/>
          </p:nvPr>
        </p:nvSpPr>
        <p:spPr/>
        <p:txBody>
          <a:bodyPr/>
          <a:lstStyle/>
          <a:p>
            <a:fld id="{C60D5DA2-DF47-4006-BBF6-8F1AD9196BAD}" type="slidenum">
              <a:rPr lang="en-US" smtClean="0"/>
              <a:t>‹#›</a:t>
            </a:fld>
            <a:endParaRPr lang="en-US"/>
          </a:p>
        </p:txBody>
      </p:sp>
    </p:spTree>
    <p:extLst>
      <p:ext uri="{BB962C8B-B14F-4D97-AF65-F5344CB8AC3E}">
        <p14:creationId xmlns:p14="http://schemas.microsoft.com/office/powerpoint/2010/main" val="37372159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DF373C-734B-4EA9-8808-3437494883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A9D4769-1C7A-4B70-855F-80FAA6E924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4B52EA-5891-4C0E-A68A-F041EF6805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75425B-35B2-4715-B926-BA3DA101DBDC}" type="datetimeFigureOut">
              <a:rPr lang="en-US" smtClean="0"/>
              <a:t>8/22/2020</a:t>
            </a:fld>
            <a:endParaRPr lang="en-US"/>
          </a:p>
        </p:txBody>
      </p:sp>
      <p:sp>
        <p:nvSpPr>
          <p:cNvPr id="5" name="Footer Placeholder 4">
            <a:extLst>
              <a:ext uri="{FF2B5EF4-FFF2-40B4-BE49-F238E27FC236}">
                <a16:creationId xmlns:a16="http://schemas.microsoft.com/office/drawing/2014/main" id="{07CCA6D1-8C2A-4648-A71B-F121CE21ED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E57C3E0-F310-4208-A667-024C78CFB1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0D5DA2-DF47-4006-BBF6-8F1AD9196BAD}" type="slidenum">
              <a:rPr lang="en-US" smtClean="0"/>
              <a:t>‹#›</a:t>
            </a:fld>
            <a:endParaRPr lang="en-US"/>
          </a:p>
        </p:txBody>
      </p:sp>
    </p:spTree>
    <p:extLst>
      <p:ext uri="{BB962C8B-B14F-4D97-AF65-F5344CB8AC3E}">
        <p14:creationId xmlns:p14="http://schemas.microsoft.com/office/powerpoint/2010/main" val="9077943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SQL VI - advanced queries</a:t>
            </a:r>
          </a:p>
        </p:txBody>
      </p:sp>
      <p:sp>
        <p:nvSpPr>
          <p:cNvPr id="3" name="Subtitle 2"/>
          <p:cNvSpPr>
            <a:spLocks noGrp="1"/>
          </p:cNvSpPr>
          <p:nvPr>
            <p:ph type="subTitle" idx="1"/>
          </p:nvPr>
        </p:nvSpPr>
        <p:spPr>
          <a:xfrm>
            <a:off x="2024635" y="4198409"/>
            <a:ext cx="8038719" cy="1645920"/>
          </a:xfrm>
        </p:spPr>
        <p:txBody>
          <a:bodyPr>
            <a:normAutofit/>
          </a:bodyPr>
          <a:lstStyle/>
          <a:p>
            <a:endParaRPr lang="en-US" b="1" dirty="0">
              <a:solidFill>
                <a:schemeClr val="tx1"/>
              </a:solidFill>
            </a:endParaRPr>
          </a:p>
          <a:p>
            <a:r>
              <a:rPr lang="en-US" b="1" dirty="0">
                <a:solidFill>
                  <a:schemeClr val="tx1"/>
                </a:solidFill>
              </a:rPr>
              <a:t>Management Information Systems</a:t>
            </a:r>
          </a:p>
          <a:p>
            <a:r>
              <a:rPr lang="en-US" dirty="0"/>
              <a:t>Disha Parkhi</a:t>
            </a:r>
          </a:p>
        </p:txBody>
      </p:sp>
      <p:sp>
        <p:nvSpPr>
          <p:cNvPr id="4" name="Slide Number Placeholder 3"/>
          <p:cNvSpPr>
            <a:spLocks noGrp="1"/>
          </p:cNvSpPr>
          <p:nvPr>
            <p:ph type="sldNum" sz="quarter" idx="12"/>
          </p:nvPr>
        </p:nvSpPr>
        <p:spPr/>
        <p:txBody>
          <a:bodyPr/>
          <a:lstStyle/>
          <a:p>
            <a:fld id="{87F3E754-1C97-4481-A18C-9D97ADBDF344}" type="slidenum">
              <a:rPr lang="en-US" smtClean="0"/>
              <a:t>1</a:t>
            </a:fld>
            <a:endParaRPr lang="en-US"/>
          </a:p>
        </p:txBody>
      </p:sp>
    </p:spTree>
    <p:extLst>
      <p:ext uri="{BB962C8B-B14F-4D97-AF65-F5344CB8AC3E}">
        <p14:creationId xmlns:p14="http://schemas.microsoft.com/office/powerpoint/2010/main" val="268505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a:xfrm>
            <a:off x="2031207" y="2157732"/>
            <a:ext cx="4607430" cy="3766185"/>
          </a:xfrm>
        </p:spPr>
        <p:txBody>
          <a:bodyPr>
            <a:normAutofit/>
          </a:bodyPr>
          <a:lstStyle/>
          <a:p>
            <a:pPr marL="0" indent="0">
              <a:lnSpc>
                <a:spcPct val="100000"/>
              </a:lnSpc>
              <a:buNone/>
            </a:pPr>
            <a:r>
              <a:rPr lang="en-US" dirty="0"/>
              <a:t>Practice Exercises – </a:t>
            </a:r>
            <a:r>
              <a:rPr lang="en-US" i="1" dirty="0" err="1"/>
              <a:t>SportsLeague</a:t>
            </a:r>
            <a:r>
              <a:rPr lang="en-US" i="1" dirty="0"/>
              <a:t>:</a:t>
            </a:r>
            <a:r>
              <a:rPr lang="en-US" dirty="0"/>
              <a:t> </a:t>
            </a:r>
          </a:p>
          <a:p>
            <a:pPr lvl="1">
              <a:lnSpc>
                <a:spcPct val="100000"/>
              </a:lnSpc>
              <a:buFont typeface="Arial"/>
              <a:buChar char="•"/>
            </a:pPr>
            <a:r>
              <a:rPr lang="en-US" dirty="0"/>
              <a:t>Advanced queries: Query chaining and </a:t>
            </a:r>
            <a:r>
              <a:rPr lang="en-US" dirty="0" err="1"/>
              <a:t>subqueries</a:t>
            </a:r>
            <a:endParaRPr lang="en-US" dirty="0"/>
          </a:p>
          <a:p>
            <a:pPr lvl="1">
              <a:lnSpc>
                <a:spcPct val="100000"/>
              </a:lnSpc>
              <a:buFont typeface="Arial"/>
              <a:buChar char="•"/>
            </a:pPr>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2</a:t>
            </a:fld>
            <a:endParaRPr lang="en-US"/>
          </a:p>
        </p:txBody>
      </p:sp>
      <p:sp>
        <p:nvSpPr>
          <p:cNvPr id="5" name="Content Placeholder 8"/>
          <p:cNvSpPr txBox="1">
            <a:spLocks/>
          </p:cNvSpPr>
          <p:nvPr/>
        </p:nvSpPr>
        <p:spPr>
          <a:xfrm>
            <a:off x="6749144" y="1993392"/>
            <a:ext cx="3376220" cy="3767328"/>
          </a:xfrm>
          <a:prstGeom prst="rect">
            <a:avLst/>
          </a:prstGeom>
        </p:spPr>
        <p:style>
          <a:lnRef idx="2">
            <a:schemeClr val="accent1"/>
          </a:lnRef>
          <a:fillRef idx="1">
            <a:schemeClr val="lt1"/>
          </a:fillRef>
          <a:effectRef idx="0">
            <a:schemeClr val="accent1"/>
          </a:effectRef>
          <a:fontRef idx="minor">
            <a:schemeClr val="dk1"/>
          </a:fontRef>
        </p:style>
        <p:txBody>
          <a:bodyPr>
            <a:normAutofit/>
          </a:bodyPr>
          <a:lst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274320"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a:lstStyle>
          <a:p>
            <a:pPr marL="0" indent="0" algn="ctr">
              <a:lnSpc>
                <a:spcPct val="100000"/>
              </a:lnSpc>
              <a:buNone/>
            </a:pPr>
            <a:r>
              <a:rPr lang="en-US" sz="2800" dirty="0">
                <a:solidFill>
                  <a:schemeClr val="accent1"/>
                </a:solidFill>
              </a:rPr>
              <a:t>Reading:</a:t>
            </a:r>
            <a:r>
              <a:rPr lang="en-US" dirty="0"/>
              <a:t> </a:t>
            </a:r>
          </a:p>
          <a:p>
            <a:pPr>
              <a:lnSpc>
                <a:spcPct val="100000"/>
              </a:lnSpc>
              <a:buFont typeface="Wingdings" charset="2"/>
              <a:buChar char="ü"/>
            </a:pPr>
            <a:r>
              <a:rPr lang="en-US" i="1" dirty="0"/>
              <a:t> Posted notes with answers to these queries</a:t>
            </a:r>
          </a:p>
          <a:p>
            <a:pPr>
              <a:lnSpc>
                <a:spcPct val="100000"/>
              </a:lnSpc>
              <a:buFont typeface="Wingdings" charset="2"/>
              <a:buChar char="ü"/>
            </a:pPr>
            <a:r>
              <a:rPr lang="en-US" i="1" dirty="0"/>
              <a:t>Chapter 11: 253-275</a:t>
            </a:r>
          </a:p>
          <a:p>
            <a:pPr>
              <a:lnSpc>
                <a:spcPct val="100000"/>
              </a:lnSpc>
              <a:buFont typeface="Wingdings" charset="2"/>
              <a:buChar char="ü"/>
            </a:pPr>
            <a:endParaRPr lang="en-US" dirty="0"/>
          </a:p>
        </p:txBody>
      </p:sp>
    </p:spTree>
    <p:extLst>
      <p:ext uri="{BB962C8B-B14F-4D97-AF65-F5344CB8AC3E}">
        <p14:creationId xmlns:p14="http://schemas.microsoft.com/office/powerpoint/2010/main" val="3857339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1590" y="235923"/>
            <a:ext cx="8079581" cy="925613"/>
          </a:xfrm>
        </p:spPr>
        <p:txBody>
          <a:bodyPr>
            <a:normAutofit/>
          </a:bodyPr>
          <a:lstStyle/>
          <a:p>
            <a:r>
              <a:rPr lang="en-US" dirty="0"/>
              <a:t>Create a SQL query that shows…</a:t>
            </a:r>
          </a:p>
        </p:txBody>
      </p:sp>
      <p:sp>
        <p:nvSpPr>
          <p:cNvPr id="3" name="Content Placeholder 2"/>
          <p:cNvSpPr>
            <a:spLocks noGrp="1"/>
          </p:cNvSpPr>
          <p:nvPr>
            <p:ph idx="1"/>
          </p:nvPr>
        </p:nvSpPr>
        <p:spPr>
          <a:xfrm>
            <a:off x="1801701" y="1267553"/>
            <a:ext cx="8590551" cy="5696465"/>
          </a:xfrm>
        </p:spPr>
        <p:txBody>
          <a:bodyPr>
            <a:normAutofit/>
          </a:bodyPr>
          <a:lstStyle/>
          <a:p>
            <a:pPr marL="0" indent="0" algn="just">
              <a:lnSpc>
                <a:spcPct val="110000"/>
              </a:lnSpc>
              <a:buNone/>
            </a:pPr>
            <a:r>
              <a:rPr lang="en-US" sz="2200" b="1" dirty="0"/>
              <a:t>Using the same table twice in FROM:</a:t>
            </a:r>
          </a:p>
          <a:p>
            <a:pPr marL="457200" indent="-457200" algn="just">
              <a:lnSpc>
                <a:spcPct val="110000"/>
              </a:lnSpc>
              <a:buFont typeface="+mj-lt"/>
              <a:buAutoNum type="arabicPeriod" startAt="13"/>
            </a:pPr>
            <a:r>
              <a:rPr lang="en-US" sz="2200" dirty="0"/>
              <a:t>The date of each game, the sum of the two teams scores, and the home team and visiting team nicknames. We want to sort the rows by sum of the scores from largest to smallest.</a:t>
            </a:r>
          </a:p>
          <a:p>
            <a:pPr marL="0" indent="0" algn="just">
              <a:lnSpc>
                <a:spcPct val="110000"/>
              </a:lnSpc>
              <a:buNone/>
            </a:pPr>
            <a:r>
              <a:rPr lang="en-US" sz="2200" b="1" dirty="0"/>
              <a:t>An example of a query chaining:</a:t>
            </a:r>
          </a:p>
          <a:p>
            <a:pPr marL="457200" indent="-457200" algn="just">
              <a:lnSpc>
                <a:spcPct val="110000"/>
              </a:lnSpc>
              <a:buFont typeface="+mj-lt"/>
              <a:buAutoNum type="arabicPeriod" startAt="14"/>
            </a:pPr>
            <a:r>
              <a:rPr lang="en-US" sz="2200" dirty="0"/>
              <a:t>Show the number of coaches per team (nickname). </a:t>
            </a:r>
            <a:r>
              <a:rPr lang="en-US" sz="2200" u="sng" dirty="0"/>
              <a:t>Use the table from query 8 to answer this question.</a:t>
            </a:r>
          </a:p>
          <a:p>
            <a:pPr marL="0" indent="0" algn="just">
              <a:lnSpc>
                <a:spcPct val="110000"/>
              </a:lnSpc>
              <a:buNone/>
            </a:pPr>
            <a:r>
              <a:rPr lang="en-US" sz="2200" b="1" dirty="0" err="1"/>
              <a:t>Subqueries</a:t>
            </a:r>
            <a:r>
              <a:rPr lang="en-US" sz="2200" b="1" dirty="0"/>
              <a:t>:</a:t>
            </a:r>
          </a:p>
          <a:p>
            <a:pPr marL="457200" indent="-457200" algn="just">
              <a:lnSpc>
                <a:spcPct val="110000"/>
              </a:lnSpc>
              <a:buFont typeface="+mj-lt"/>
              <a:buAutoNum type="arabicPeriod" startAt="15"/>
            </a:pPr>
            <a:r>
              <a:rPr lang="en-US" sz="2200" dirty="0"/>
              <a:t>We want to know the games with the highest sum of points  (</a:t>
            </a:r>
            <a:r>
              <a:rPr lang="en-US" sz="2200" dirty="0" err="1"/>
              <a:t>VisitScore</a:t>
            </a:r>
            <a:r>
              <a:rPr lang="en-US" sz="2200" dirty="0"/>
              <a:t> + </a:t>
            </a:r>
            <a:r>
              <a:rPr lang="en-US" sz="2200" dirty="0" err="1"/>
              <a:t>HomeScore</a:t>
            </a:r>
            <a:r>
              <a:rPr lang="en-US" sz="2200" dirty="0"/>
              <a:t>).</a:t>
            </a:r>
          </a:p>
          <a:p>
            <a:pPr marL="457200" indent="-457200" algn="just">
              <a:lnSpc>
                <a:spcPct val="110000"/>
              </a:lnSpc>
              <a:buFont typeface="+mj-lt"/>
              <a:buAutoNum type="arabicPeriod" startAt="15"/>
            </a:pPr>
            <a:r>
              <a:rPr lang="en-US" sz="2200" dirty="0"/>
              <a:t>The players who played games at home on September 19</a:t>
            </a:r>
            <a:r>
              <a:rPr lang="en-US" sz="2200" baseline="30000" dirty="0"/>
              <a:t>th</a:t>
            </a:r>
            <a:r>
              <a:rPr lang="en-US" sz="2200" dirty="0"/>
              <a:t>.</a:t>
            </a:r>
          </a:p>
          <a:p>
            <a:pPr marL="457200" indent="-457200" algn="just">
              <a:lnSpc>
                <a:spcPct val="110000"/>
              </a:lnSpc>
              <a:buFont typeface="+mj-lt"/>
              <a:buAutoNum type="arabicPeriod" startAt="6"/>
            </a:pPr>
            <a:endParaRPr lang="en-US" sz="2200" dirty="0">
              <a:solidFill>
                <a:srgbClr val="FF0000"/>
              </a:solidFill>
            </a:endParaRPr>
          </a:p>
          <a:p>
            <a:pPr marL="457200" indent="-457200" algn="just">
              <a:lnSpc>
                <a:spcPct val="110000"/>
              </a:lnSpc>
              <a:buFont typeface="+mj-lt"/>
              <a:buAutoNum type="arabicPeriod" startAt="6"/>
            </a:pPr>
            <a:endParaRPr lang="en-US" sz="2200" dirty="0"/>
          </a:p>
          <a:p>
            <a:pPr marL="457200" indent="-457200" algn="just">
              <a:lnSpc>
                <a:spcPct val="110000"/>
              </a:lnSpc>
              <a:buFont typeface="+mj-lt"/>
              <a:buAutoNum type="arabicPeriod" startAt="6"/>
            </a:pPr>
            <a:endParaRPr lang="en-US" sz="2200" dirty="0"/>
          </a:p>
          <a:p>
            <a:pPr marL="457200" indent="-457200" algn="just">
              <a:lnSpc>
                <a:spcPct val="110000"/>
              </a:lnSpc>
              <a:buFont typeface="+mj-lt"/>
              <a:buAutoNum type="arabicPeriod" startAt="6"/>
            </a:pPr>
            <a:endParaRPr lang="en-US" sz="2200" dirty="0"/>
          </a:p>
          <a:p>
            <a:pPr marL="457200" indent="-457200" algn="just">
              <a:lnSpc>
                <a:spcPct val="110000"/>
              </a:lnSpc>
              <a:buFont typeface="+mj-lt"/>
              <a:buAutoNum type="arabicPeriod" startAt="6"/>
            </a:pPr>
            <a:endParaRPr lang="en-US" sz="2200" dirty="0"/>
          </a:p>
        </p:txBody>
      </p:sp>
      <p:sp>
        <p:nvSpPr>
          <p:cNvPr id="4" name="Slide Number Placeholder 3"/>
          <p:cNvSpPr>
            <a:spLocks noGrp="1"/>
          </p:cNvSpPr>
          <p:nvPr>
            <p:ph type="sldNum" sz="quarter" idx="12"/>
          </p:nvPr>
        </p:nvSpPr>
        <p:spPr/>
        <p:txBody>
          <a:bodyPr/>
          <a:lstStyle/>
          <a:p>
            <a:fld id="{87F3E754-1C97-4481-A18C-9D97ADBDF344}" type="slidenum">
              <a:rPr lang="en-US" smtClean="0"/>
              <a:t>3</a:t>
            </a:fld>
            <a:endParaRPr lang="en-US"/>
          </a:p>
        </p:txBody>
      </p:sp>
    </p:spTree>
    <p:extLst>
      <p:ext uri="{BB962C8B-B14F-4D97-AF65-F5344CB8AC3E}">
        <p14:creationId xmlns:p14="http://schemas.microsoft.com/office/powerpoint/2010/main" val="2983084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1590" y="235923"/>
            <a:ext cx="8079581" cy="925613"/>
          </a:xfrm>
        </p:spPr>
        <p:txBody>
          <a:bodyPr>
            <a:normAutofit/>
          </a:bodyPr>
          <a:lstStyle/>
          <a:p>
            <a:r>
              <a:rPr lang="en-US" dirty="0"/>
              <a:t>More “tough” queries</a:t>
            </a:r>
          </a:p>
        </p:txBody>
      </p:sp>
      <p:sp>
        <p:nvSpPr>
          <p:cNvPr id="3" name="Content Placeholder 2"/>
          <p:cNvSpPr>
            <a:spLocks noGrp="1"/>
          </p:cNvSpPr>
          <p:nvPr>
            <p:ph idx="1"/>
          </p:nvPr>
        </p:nvSpPr>
        <p:spPr>
          <a:xfrm>
            <a:off x="1757680" y="1491314"/>
            <a:ext cx="8666480" cy="5183807"/>
          </a:xfrm>
        </p:spPr>
        <p:txBody>
          <a:bodyPr>
            <a:normAutofit/>
          </a:bodyPr>
          <a:lstStyle/>
          <a:p>
            <a:pPr marL="457200" indent="-457200" algn="just">
              <a:lnSpc>
                <a:spcPct val="100000"/>
              </a:lnSpc>
              <a:buFont typeface="+mj-lt"/>
              <a:buAutoNum type="arabicPeriod" startAt="17"/>
            </a:pPr>
            <a:r>
              <a:rPr lang="en-US" dirty="0">
                <a:ea typeface="Times New Roman"/>
                <a:cs typeface="Calibri"/>
              </a:rPr>
              <a:t>The number of games won by each team, showing the team nickname for each team.</a:t>
            </a:r>
          </a:p>
          <a:p>
            <a:pPr marL="457200" indent="-457200" algn="just">
              <a:lnSpc>
                <a:spcPct val="100000"/>
              </a:lnSpc>
              <a:buFont typeface="+mj-lt"/>
              <a:buAutoNum type="arabicPeriod" startAt="17"/>
            </a:pPr>
            <a:endParaRPr lang="en-US" dirty="0">
              <a:ea typeface="Times New Roman"/>
              <a:cs typeface="Calibri"/>
            </a:endParaRPr>
          </a:p>
          <a:p>
            <a:pPr marL="457200" indent="-457200" algn="just">
              <a:lnSpc>
                <a:spcPct val="100000"/>
              </a:lnSpc>
              <a:buFont typeface="+mj-lt"/>
              <a:buAutoNum type="arabicPeriod" startAt="17"/>
            </a:pPr>
            <a:r>
              <a:rPr lang="en-US" dirty="0">
                <a:ea typeface="Times New Roman"/>
                <a:cs typeface="Calibri"/>
              </a:rPr>
              <a:t>Modify the query above to get a similar query but now with the number of games lost, and tied.</a:t>
            </a:r>
          </a:p>
          <a:p>
            <a:pPr marL="457200" indent="-457200" algn="just">
              <a:lnSpc>
                <a:spcPct val="100000"/>
              </a:lnSpc>
              <a:buFont typeface="+mj-lt"/>
              <a:buAutoNum type="arabicPeriod" startAt="17"/>
            </a:pPr>
            <a:endParaRPr lang="en-US" dirty="0">
              <a:ea typeface="Times New Roman"/>
              <a:cs typeface="Calibri"/>
            </a:endParaRPr>
          </a:p>
          <a:p>
            <a:pPr marL="457200" indent="-457200" algn="just">
              <a:lnSpc>
                <a:spcPct val="100000"/>
              </a:lnSpc>
              <a:buFont typeface="+mj-lt"/>
              <a:buAutoNum type="arabicPeriod" startAt="17"/>
            </a:pPr>
            <a:r>
              <a:rPr lang="en-US" dirty="0">
                <a:ea typeface="Times New Roman"/>
                <a:cs typeface="Calibri"/>
              </a:rPr>
              <a:t>Use the three queries created above to create a “leagues standing” table, that shows for each team, the number of won, tied, and lost games.</a:t>
            </a:r>
          </a:p>
          <a:p>
            <a:pPr marL="457200" indent="-457200" algn="just">
              <a:lnSpc>
                <a:spcPct val="100000"/>
              </a:lnSpc>
              <a:buFont typeface="+mj-lt"/>
              <a:buAutoNum type="arabicPeriod" startAt="17"/>
            </a:pPr>
            <a:endParaRPr lang="en-US" dirty="0">
              <a:latin typeface="Times New Roman"/>
              <a:ea typeface="Times New Roman"/>
            </a:endParaRPr>
          </a:p>
          <a:p>
            <a:pPr marL="457200" indent="-457200" algn="just">
              <a:lnSpc>
                <a:spcPct val="100000"/>
              </a:lnSpc>
              <a:buFont typeface="+mj-lt"/>
              <a:buAutoNum type="arabicPeriod" startAt="17"/>
            </a:pPr>
            <a:endParaRPr lang="en-US" dirty="0"/>
          </a:p>
        </p:txBody>
      </p:sp>
      <p:sp>
        <p:nvSpPr>
          <p:cNvPr id="4" name="Slide Number Placeholder 3"/>
          <p:cNvSpPr>
            <a:spLocks noGrp="1"/>
          </p:cNvSpPr>
          <p:nvPr>
            <p:ph type="sldNum" sz="quarter" idx="12"/>
          </p:nvPr>
        </p:nvSpPr>
        <p:spPr/>
        <p:txBody>
          <a:bodyPr/>
          <a:lstStyle/>
          <a:p>
            <a:fld id="{87F3E754-1C97-4481-A18C-9D97ADBDF344}" type="slidenum">
              <a:rPr lang="en-US" smtClean="0"/>
              <a:t>4</a:t>
            </a:fld>
            <a:endParaRPr lang="en-US" dirty="0"/>
          </a:p>
        </p:txBody>
      </p:sp>
    </p:spTree>
    <p:extLst>
      <p:ext uri="{BB962C8B-B14F-4D97-AF65-F5344CB8AC3E}">
        <p14:creationId xmlns:p14="http://schemas.microsoft.com/office/powerpoint/2010/main" val="3912169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1378" y="10191"/>
            <a:ext cx="8055268" cy="3355848"/>
          </a:xfrm>
        </p:spPr>
        <p:txBody>
          <a:bodyPr/>
          <a:lstStyle/>
          <a:p>
            <a:r>
              <a:rPr lang="en-US" dirty="0"/>
              <a:t>Appendix - SQL </a:t>
            </a:r>
            <a:br>
              <a:rPr lang="en-US" dirty="0"/>
            </a:br>
            <a:r>
              <a:rPr lang="en-US" dirty="0"/>
              <a:t>Data Manipulation</a:t>
            </a:r>
          </a:p>
        </p:txBody>
      </p:sp>
      <p:sp>
        <p:nvSpPr>
          <p:cNvPr id="3" name="Text Placeholder 2"/>
          <p:cNvSpPr>
            <a:spLocks noGrp="1"/>
          </p:cNvSpPr>
          <p:nvPr>
            <p:ph type="body" idx="1"/>
          </p:nvPr>
        </p:nvSpPr>
        <p:spPr>
          <a:xfrm>
            <a:off x="1948434" y="4006300"/>
            <a:ext cx="8119491" cy="1645920"/>
          </a:xfrm>
        </p:spPr>
        <p:txBody>
          <a:bodyPr>
            <a:normAutofit/>
          </a:bodyPr>
          <a:lstStyle/>
          <a:p>
            <a:r>
              <a:rPr lang="en-US" i="1" dirty="0"/>
              <a:t>-This is just FYI. No questions about these slides will be asked in exams and or homework assignments</a:t>
            </a:r>
          </a:p>
        </p:txBody>
      </p:sp>
      <p:sp>
        <p:nvSpPr>
          <p:cNvPr id="4" name="Slide Number Placeholder 3"/>
          <p:cNvSpPr>
            <a:spLocks noGrp="1"/>
          </p:cNvSpPr>
          <p:nvPr>
            <p:ph type="sldNum" sz="quarter" idx="12"/>
          </p:nvPr>
        </p:nvSpPr>
        <p:spPr/>
        <p:txBody>
          <a:bodyPr/>
          <a:lstStyle/>
          <a:p>
            <a:fld id="{87F3E754-1C97-4481-A18C-9D97ADBDF344}" type="slidenum">
              <a:rPr lang="en-US" smtClean="0"/>
              <a:t>5</a:t>
            </a:fld>
            <a:endParaRPr lang="en-US"/>
          </a:p>
        </p:txBody>
      </p:sp>
    </p:spTree>
    <p:extLst>
      <p:ext uri="{BB962C8B-B14F-4D97-AF65-F5344CB8AC3E}">
        <p14:creationId xmlns:p14="http://schemas.microsoft.com/office/powerpoint/2010/main" val="27057791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4542" y="178257"/>
            <a:ext cx="8453372" cy="1494024"/>
          </a:xfrm>
        </p:spPr>
        <p:txBody>
          <a:bodyPr>
            <a:normAutofit/>
          </a:bodyPr>
          <a:lstStyle/>
          <a:p>
            <a:r>
              <a:rPr lang="en-US" dirty="0"/>
              <a:t>Data Manipulation</a:t>
            </a:r>
          </a:p>
        </p:txBody>
      </p:sp>
      <p:sp>
        <p:nvSpPr>
          <p:cNvPr id="3" name="Slide Number Placeholder 2"/>
          <p:cNvSpPr>
            <a:spLocks noGrp="1"/>
          </p:cNvSpPr>
          <p:nvPr>
            <p:ph type="sldNum" sz="quarter" idx="12"/>
          </p:nvPr>
        </p:nvSpPr>
        <p:spPr/>
        <p:txBody>
          <a:bodyPr/>
          <a:lstStyle/>
          <a:p>
            <a:fld id="{87F3E754-1C97-4481-A18C-9D97ADBDF344}" type="slidenum">
              <a:rPr lang="en-US" smtClean="0"/>
              <a:t>6</a:t>
            </a:fld>
            <a:endParaRPr lang="en-US"/>
          </a:p>
        </p:txBody>
      </p:sp>
      <p:graphicFrame>
        <p:nvGraphicFramePr>
          <p:cNvPr id="6" name="Table 5"/>
          <p:cNvGraphicFramePr>
            <a:graphicFrameLocks noGrp="1"/>
          </p:cNvGraphicFramePr>
          <p:nvPr/>
        </p:nvGraphicFramePr>
        <p:xfrm>
          <a:off x="3892488" y="2000571"/>
          <a:ext cx="4340036" cy="1854200"/>
        </p:xfrm>
        <a:graphic>
          <a:graphicData uri="http://schemas.openxmlformats.org/drawingml/2006/table">
            <a:tbl>
              <a:tblPr firstRow="1" bandRow="1">
                <a:tableStyleId>{5C22544A-7EE6-4342-B048-85BDC9FD1C3A}</a:tableStyleId>
              </a:tblPr>
              <a:tblGrid>
                <a:gridCol w="635318">
                  <a:extLst>
                    <a:ext uri="{9D8B030D-6E8A-4147-A177-3AD203B41FA5}">
                      <a16:colId xmlns:a16="http://schemas.microsoft.com/office/drawing/2014/main" val="20000"/>
                    </a:ext>
                  </a:extLst>
                </a:gridCol>
                <a:gridCol w="907606">
                  <a:extLst>
                    <a:ext uri="{9D8B030D-6E8A-4147-A177-3AD203B41FA5}">
                      <a16:colId xmlns:a16="http://schemas.microsoft.com/office/drawing/2014/main" val="20001"/>
                    </a:ext>
                  </a:extLst>
                </a:gridCol>
                <a:gridCol w="906780">
                  <a:extLst>
                    <a:ext uri="{9D8B030D-6E8A-4147-A177-3AD203B41FA5}">
                      <a16:colId xmlns:a16="http://schemas.microsoft.com/office/drawing/2014/main" val="20002"/>
                    </a:ext>
                  </a:extLst>
                </a:gridCol>
                <a:gridCol w="1029145">
                  <a:extLst>
                    <a:ext uri="{9D8B030D-6E8A-4147-A177-3AD203B41FA5}">
                      <a16:colId xmlns:a16="http://schemas.microsoft.com/office/drawing/2014/main" val="20003"/>
                    </a:ext>
                  </a:extLst>
                </a:gridCol>
                <a:gridCol w="861187">
                  <a:extLst>
                    <a:ext uri="{9D8B030D-6E8A-4147-A177-3AD203B41FA5}">
                      <a16:colId xmlns:a16="http://schemas.microsoft.com/office/drawing/2014/main" val="20004"/>
                    </a:ext>
                  </a:extLst>
                </a:gridCol>
              </a:tblGrid>
              <a:tr h="370840">
                <a:tc>
                  <a:txBody>
                    <a:bodyPr/>
                    <a:lstStyle/>
                    <a:p>
                      <a:r>
                        <a:rPr lang="en-US" u="sng" dirty="0"/>
                        <a:t>ID</a:t>
                      </a:r>
                    </a:p>
                  </a:txBody>
                  <a:tcPr/>
                </a:tc>
                <a:tc>
                  <a:txBody>
                    <a:bodyPr/>
                    <a:lstStyle/>
                    <a:p>
                      <a:r>
                        <a:rPr lang="en-US" dirty="0" err="1"/>
                        <a:t>FName</a:t>
                      </a:r>
                      <a:endParaRPr lang="en-US" dirty="0"/>
                    </a:p>
                  </a:txBody>
                  <a:tcPr/>
                </a:tc>
                <a:tc>
                  <a:txBody>
                    <a:bodyPr/>
                    <a:lstStyle/>
                    <a:p>
                      <a:r>
                        <a:rPr lang="en-US" dirty="0" err="1"/>
                        <a:t>LName</a:t>
                      </a:r>
                      <a:endParaRPr lang="en-US" dirty="0"/>
                    </a:p>
                  </a:txBody>
                  <a:tcPr/>
                </a:tc>
                <a:tc>
                  <a:txBody>
                    <a:bodyPr/>
                    <a:lstStyle/>
                    <a:p>
                      <a:r>
                        <a:rPr lang="en-US" dirty="0" err="1"/>
                        <a:t>HireDate</a:t>
                      </a:r>
                      <a:endParaRPr lang="en-US" dirty="0"/>
                    </a:p>
                  </a:txBody>
                  <a:tcPr/>
                </a:tc>
                <a:tc>
                  <a:txBody>
                    <a:bodyPr/>
                    <a:lstStyle/>
                    <a:p>
                      <a:r>
                        <a:rPr lang="en-US" dirty="0" err="1"/>
                        <a:t>DeptID</a:t>
                      </a:r>
                      <a:endParaRPr lang="en-US" dirty="0"/>
                    </a:p>
                  </a:txBody>
                  <a:tcPr/>
                </a:tc>
                <a:extLst>
                  <a:ext uri="{0D108BD9-81ED-4DB2-BD59-A6C34878D82A}">
                    <a16:rowId xmlns:a16="http://schemas.microsoft.com/office/drawing/2014/main" val="10000"/>
                  </a:ext>
                </a:extLst>
              </a:tr>
              <a:tr h="370840">
                <a:tc>
                  <a:txBody>
                    <a:bodyPr/>
                    <a:lstStyle/>
                    <a:p>
                      <a:r>
                        <a:rPr lang="en-US" dirty="0"/>
                        <a:t>734</a:t>
                      </a:r>
                    </a:p>
                  </a:txBody>
                  <a:tcPr/>
                </a:tc>
                <a:tc>
                  <a:txBody>
                    <a:bodyPr/>
                    <a:lstStyle/>
                    <a:p>
                      <a:r>
                        <a:rPr lang="en-US" dirty="0"/>
                        <a:t>Aaron</a:t>
                      </a:r>
                    </a:p>
                  </a:txBody>
                  <a:tcPr/>
                </a:tc>
                <a:tc>
                  <a:txBody>
                    <a:bodyPr/>
                    <a:lstStyle/>
                    <a:p>
                      <a:r>
                        <a:rPr lang="en-US" dirty="0"/>
                        <a:t>Cooper</a:t>
                      </a:r>
                    </a:p>
                  </a:txBody>
                  <a:tcPr/>
                </a:tc>
                <a:tc>
                  <a:txBody>
                    <a:bodyPr/>
                    <a:lstStyle/>
                    <a:p>
                      <a:r>
                        <a:rPr lang="en-US" dirty="0"/>
                        <a:t>4/17/99</a:t>
                      </a:r>
                    </a:p>
                  </a:txBody>
                  <a:tcPr/>
                </a:tc>
                <a:tc>
                  <a:txBody>
                    <a:bodyPr/>
                    <a:lstStyle/>
                    <a:p>
                      <a:pPr algn="ctr"/>
                      <a:r>
                        <a:rPr lang="en-US" dirty="0"/>
                        <a:t>2</a:t>
                      </a:r>
                    </a:p>
                  </a:txBody>
                  <a:tcPr/>
                </a:tc>
                <a:extLst>
                  <a:ext uri="{0D108BD9-81ED-4DB2-BD59-A6C34878D82A}">
                    <a16:rowId xmlns:a16="http://schemas.microsoft.com/office/drawing/2014/main" val="10001"/>
                  </a:ext>
                </a:extLst>
              </a:tr>
              <a:tr h="370840">
                <a:tc>
                  <a:txBody>
                    <a:bodyPr/>
                    <a:lstStyle/>
                    <a:p>
                      <a:r>
                        <a:rPr lang="en-US" dirty="0"/>
                        <a:t>735</a:t>
                      </a:r>
                    </a:p>
                  </a:txBody>
                  <a:tcPr/>
                </a:tc>
                <a:tc>
                  <a:txBody>
                    <a:bodyPr/>
                    <a:lstStyle/>
                    <a:p>
                      <a:r>
                        <a:rPr lang="en-US" dirty="0"/>
                        <a:t>Lou</a:t>
                      </a:r>
                    </a:p>
                  </a:txBody>
                  <a:tcPr/>
                </a:tc>
                <a:tc>
                  <a:txBody>
                    <a:bodyPr/>
                    <a:lstStyle/>
                    <a:p>
                      <a:r>
                        <a:rPr lang="en-US" dirty="0"/>
                        <a:t>Bono</a:t>
                      </a:r>
                    </a:p>
                  </a:txBody>
                  <a:tcPr/>
                </a:tc>
                <a:tc>
                  <a:txBody>
                    <a:bodyPr/>
                    <a:lstStyle/>
                    <a:p>
                      <a:r>
                        <a:rPr lang="en-US" dirty="0"/>
                        <a:t>5/22/05</a:t>
                      </a:r>
                    </a:p>
                  </a:txBody>
                  <a:tcPr/>
                </a:tc>
                <a:tc>
                  <a:txBody>
                    <a:bodyPr/>
                    <a:lstStyle/>
                    <a:p>
                      <a:pPr algn="ctr"/>
                      <a:r>
                        <a:rPr lang="en-US" dirty="0"/>
                        <a:t>1</a:t>
                      </a:r>
                    </a:p>
                  </a:txBody>
                  <a:tcPr/>
                </a:tc>
                <a:extLst>
                  <a:ext uri="{0D108BD9-81ED-4DB2-BD59-A6C34878D82A}">
                    <a16:rowId xmlns:a16="http://schemas.microsoft.com/office/drawing/2014/main" val="10002"/>
                  </a:ext>
                </a:extLst>
              </a:tr>
              <a:tr h="370840">
                <a:tc>
                  <a:txBody>
                    <a:bodyPr/>
                    <a:lstStyle/>
                    <a:p>
                      <a:r>
                        <a:rPr lang="en-US" dirty="0"/>
                        <a:t>736</a:t>
                      </a:r>
                    </a:p>
                  </a:txBody>
                  <a:tcPr/>
                </a:tc>
                <a:tc>
                  <a:txBody>
                    <a:bodyPr/>
                    <a:lstStyle/>
                    <a:p>
                      <a:r>
                        <a:rPr lang="en-US" dirty="0"/>
                        <a:t>Alice</a:t>
                      </a:r>
                    </a:p>
                  </a:txBody>
                  <a:tcPr/>
                </a:tc>
                <a:tc>
                  <a:txBody>
                    <a:bodyPr/>
                    <a:lstStyle/>
                    <a:p>
                      <a:r>
                        <a:rPr lang="en-US" dirty="0"/>
                        <a:t>Bailey</a:t>
                      </a:r>
                    </a:p>
                  </a:txBody>
                  <a:tcPr/>
                </a:tc>
                <a:tc>
                  <a:txBody>
                    <a:bodyPr/>
                    <a:lstStyle/>
                    <a:p>
                      <a:r>
                        <a:rPr lang="en-US" dirty="0"/>
                        <a:t>9/1/99</a:t>
                      </a:r>
                    </a:p>
                  </a:txBody>
                  <a:tcPr/>
                </a:tc>
                <a:tc>
                  <a:txBody>
                    <a:bodyPr/>
                    <a:lstStyle/>
                    <a:p>
                      <a:pPr algn="ctr"/>
                      <a:r>
                        <a:rPr lang="en-US" dirty="0"/>
                        <a:t>1</a:t>
                      </a:r>
                    </a:p>
                  </a:txBody>
                  <a:tcPr/>
                </a:tc>
                <a:extLst>
                  <a:ext uri="{0D108BD9-81ED-4DB2-BD59-A6C34878D82A}">
                    <a16:rowId xmlns:a16="http://schemas.microsoft.com/office/drawing/2014/main" val="10003"/>
                  </a:ext>
                </a:extLst>
              </a:tr>
              <a:tr h="370840">
                <a:tc>
                  <a:txBody>
                    <a:bodyPr/>
                    <a:lstStyle/>
                    <a:p>
                      <a:r>
                        <a:rPr lang="en-US" dirty="0"/>
                        <a:t>738</a:t>
                      </a:r>
                    </a:p>
                  </a:txBody>
                  <a:tcPr/>
                </a:tc>
                <a:tc>
                  <a:txBody>
                    <a:bodyPr/>
                    <a:lstStyle/>
                    <a:p>
                      <a:r>
                        <a:rPr lang="en-US" dirty="0"/>
                        <a:t>John</a:t>
                      </a:r>
                    </a:p>
                  </a:txBody>
                  <a:tcPr/>
                </a:tc>
                <a:tc>
                  <a:txBody>
                    <a:bodyPr/>
                    <a:lstStyle/>
                    <a:p>
                      <a:r>
                        <a:rPr lang="en-US" dirty="0"/>
                        <a:t>Cruz</a:t>
                      </a:r>
                    </a:p>
                  </a:txBody>
                  <a:tcPr/>
                </a:tc>
                <a:tc>
                  <a:txBody>
                    <a:bodyPr/>
                    <a:lstStyle/>
                    <a:p>
                      <a:r>
                        <a:rPr lang="en-US" dirty="0"/>
                        <a:t>6/1/15</a:t>
                      </a:r>
                    </a:p>
                  </a:txBody>
                  <a:tcPr/>
                </a:tc>
                <a:tc>
                  <a:txBody>
                    <a:bodyPr/>
                    <a:lstStyle/>
                    <a:p>
                      <a:pPr algn="ctr"/>
                      <a:endParaRPr lang="en-US" dirty="0"/>
                    </a:p>
                  </a:txBody>
                  <a:tcPr/>
                </a:tc>
                <a:extLst>
                  <a:ext uri="{0D108BD9-81ED-4DB2-BD59-A6C34878D82A}">
                    <a16:rowId xmlns:a16="http://schemas.microsoft.com/office/drawing/2014/main" val="10004"/>
                  </a:ext>
                </a:extLst>
              </a:tr>
            </a:tbl>
          </a:graphicData>
        </a:graphic>
      </p:graphicFrame>
      <p:sp>
        <p:nvSpPr>
          <p:cNvPr id="16" name="TextBox 15"/>
          <p:cNvSpPr txBox="1"/>
          <p:nvPr/>
        </p:nvSpPr>
        <p:spPr>
          <a:xfrm>
            <a:off x="1839292" y="1421744"/>
            <a:ext cx="8548622" cy="5262979"/>
          </a:xfrm>
          <a:prstGeom prst="rect">
            <a:avLst/>
          </a:prstGeom>
          <a:noFill/>
        </p:spPr>
        <p:txBody>
          <a:bodyPr wrap="square" rtlCol="0">
            <a:spAutoFit/>
          </a:bodyPr>
          <a:lstStyle/>
          <a:p>
            <a:r>
              <a:rPr lang="en-US" sz="2400" dirty="0"/>
              <a:t>Consider the following database constituted of a single table:</a:t>
            </a:r>
          </a:p>
          <a:p>
            <a:endParaRPr lang="en-US" sz="2400" dirty="0"/>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Data manipulation means altering the data in existing tables (adding, modifying, deleting).</a:t>
            </a:r>
          </a:p>
          <a:p>
            <a:r>
              <a:rPr lang="en-US" sz="2400" dirty="0"/>
              <a:t>The commands explained next can be used in Access, the same way we write a SQL code for query:</a:t>
            </a:r>
          </a:p>
          <a:p>
            <a:r>
              <a:rPr lang="en-US" sz="2400" dirty="0"/>
              <a:t>Create &gt; </a:t>
            </a:r>
            <a:r>
              <a:rPr lang="en-US" sz="2400" dirty="0" err="1"/>
              <a:t>QueryDesign</a:t>
            </a:r>
            <a:r>
              <a:rPr lang="en-US" sz="2400" dirty="0"/>
              <a:t> &gt; SQL view &gt; </a:t>
            </a:r>
            <a:r>
              <a:rPr lang="en-US" sz="2400" i="1" dirty="0"/>
              <a:t>write the code </a:t>
            </a:r>
            <a:r>
              <a:rPr lang="en-US" sz="2400" dirty="0"/>
              <a:t>&gt; press RUN</a:t>
            </a:r>
          </a:p>
          <a:p>
            <a:endParaRPr lang="en-US" sz="2400" dirty="0"/>
          </a:p>
        </p:txBody>
      </p:sp>
    </p:spTree>
    <p:extLst>
      <p:ext uri="{BB962C8B-B14F-4D97-AF65-F5344CB8AC3E}">
        <p14:creationId xmlns:p14="http://schemas.microsoft.com/office/powerpoint/2010/main" val="36483935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6381" y="79403"/>
            <a:ext cx="8453372" cy="1107094"/>
          </a:xfrm>
        </p:spPr>
        <p:txBody>
          <a:bodyPr>
            <a:normAutofit/>
          </a:bodyPr>
          <a:lstStyle/>
          <a:p>
            <a:r>
              <a:rPr lang="en-US" dirty="0"/>
              <a:t>INSERT INTO</a:t>
            </a:r>
          </a:p>
        </p:txBody>
      </p:sp>
      <p:sp>
        <p:nvSpPr>
          <p:cNvPr id="3" name="Slide Number Placeholder 2"/>
          <p:cNvSpPr>
            <a:spLocks noGrp="1"/>
          </p:cNvSpPr>
          <p:nvPr>
            <p:ph type="sldNum" sz="quarter" idx="12"/>
          </p:nvPr>
        </p:nvSpPr>
        <p:spPr/>
        <p:txBody>
          <a:bodyPr/>
          <a:lstStyle/>
          <a:p>
            <a:fld id="{87F3E754-1C97-4481-A18C-9D97ADBDF344}" type="slidenum">
              <a:rPr lang="en-US" smtClean="0"/>
              <a:t>7</a:t>
            </a:fld>
            <a:endParaRPr lang="en-US"/>
          </a:p>
        </p:txBody>
      </p:sp>
      <p:graphicFrame>
        <p:nvGraphicFramePr>
          <p:cNvPr id="6" name="Table 5"/>
          <p:cNvGraphicFramePr>
            <a:graphicFrameLocks noGrp="1"/>
          </p:cNvGraphicFramePr>
          <p:nvPr/>
        </p:nvGraphicFramePr>
        <p:xfrm>
          <a:off x="3516205" y="4342474"/>
          <a:ext cx="4340036" cy="2225040"/>
        </p:xfrm>
        <a:graphic>
          <a:graphicData uri="http://schemas.openxmlformats.org/drawingml/2006/table">
            <a:tbl>
              <a:tblPr firstRow="1" bandRow="1">
                <a:tableStyleId>{5C22544A-7EE6-4342-B048-85BDC9FD1C3A}</a:tableStyleId>
              </a:tblPr>
              <a:tblGrid>
                <a:gridCol w="635318">
                  <a:extLst>
                    <a:ext uri="{9D8B030D-6E8A-4147-A177-3AD203B41FA5}">
                      <a16:colId xmlns:a16="http://schemas.microsoft.com/office/drawing/2014/main" val="20000"/>
                    </a:ext>
                  </a:extLst>
                </a:gridCol>
                <a:gridCol w="907606">
                  <a:extLst>
                    <a:ext uri="{9D8B030D-6E8A-4147-A177-3AD203B41FA5}">
                      <a16:colId xmlns:a16="http://schemas.microsoft.com/office/drawing/2014/main" val="20001"/>
                    </a:ext>
                  </a:extLst>
                </a:gridCol>
                <a:gridCol w="906780">
                  <a:extLst>
                    <a:ext uri="{9D8B030D-6E8A-4147-A177-3AD203B41FA5}">
                      <a16:colId xmlns:a16="http://schemas.microsoft.com/office/drawing/2014/main" val="20002"/>
                    </a:ext>
                  </a:extLst>
                </a:gridCol>
                <a:gridCol w="1029145">
                  <a:extLst>
                    <a:ext uri="{9D8B030D-6E8A-4147-A177-3AD203B41FA5}">
                      <a16:colId xmlns:a16="http://schemas.microsoft.com/office/drawing/2014/main" val="20003"/>
                    </a:ext>
                  </a:extLst>
                </a:gridCol>
                <a:gridCol w="861187">
                  <a:extLst>
                    <a:ext uri="{9D8B030D-6E8A-4147-A177-3AD203B41FA5}">
                      <a16:colId xmlns:a16="http://schemas.microsoft.com/office/drawing/2014/main" val="20004"/>
                    </a:ext>
                  </a:extLst>
                </a:gridCol>
              </a:tblGrid>
              <a:tr h="370840">
                <a:tc>
                  <a:txBody>
                    <a:bodyPr/>
                    <a:lstStyle/>
                    <a:p>
                      <a:r>
                        <a:rPr lang="en-US" u="sng" dirty="0"/>
                        <a:t>ID</a:t>
                      </a:r>
                    </a:p>
                  </a:txBody>
                  <a:tcPr/>
                </a:tc>
                <a:tc>
                  <a:txBody>
                    <a:bodyPr/>
                    <a:lstStyle/>
                    <a:p>
                      <a:r>
                        <a:rPr lang="en-US" dirty="0" err="1"/>
                        <a:t>FName</a:t>
                      </a:r>
                      <a:endParaRPr lang="en-US" dirty="0"/>
                    </a:p>
                  </a:txBody>
                  <a:tcPr/>
                </a:tc>
                <a:tc>
                  <a:txBody>
                    <a:bodyPr/>
                    <a:lstStyle/>
                    <a:p>
                      <a:r>
                        <a:rPr lang="en-US" dirty="0" err="1"/>
                        <a:t>LName</a:t>
                      </a:r>
                      <a:endParaRPr lang="en-US" dirty="0"/>
                    </a:p>
                  </a:txBody>
                  <a:tcPr/>
                </a:tc>
                <a:tc>
                  <a:txBody>
                    <a:bodyPr/>
                    <a:lstStyle/>
                    <a:p>
                      <a:r>
                        <a:rPr lang="en-US" dirty="0" err="1"/>
                        <a:t>HireDate</a:t>
                      </a:r>
                      <a:endParaRPr lang="en-US" dirty="0"/>
                    </a:p>
                  </a:txBody>
                  <a:tcPr/>
                </a:tc>
                <a:tc>
                  <a:txBody>
                    <a:bodyPr/>
                    <a:lstStyle/>
                    <a:p>
                      <a:r>
                        <a:rPr lang="en-US" dirty="0" err="1"/>
                        <a:t>DeptID</a:t>
                      </a:r>
                      <a:endParaRPr lang="en-US" dirty="0"/>
                    </a:p>
                  </a:txBody>
                  <a:tcPr/>
                </a:tc>
                <a:extLst>
                  <a:ext uri="{0D108BD9-81ED-4DB2-BD59-A6C34878D82A}">
                    <a16:rowId xmlns:a16="http://schemas.microsoft.com/office/drawing/2014/main" val="10000"/>
                  </a:ext>
                </a:extLst>
              </a:tr>
              <a:tr h="370840">
                <a:tc>
                  <a:txBody>
                    <a:bodyPr/>
                    <a:lstStyle/>
                    <a:p>
                      <a:r>
                        <a:rPr lang="en-US" dirty="0"/>
                        <a:t>734</a:t>
                      </a:r>
                    </a:p>
                  </a:txBody>
                  <a:tcPr/>
                </a:tc>
                <a:tc>
                  <a:txBody>
                    <a:bodyPr/>
                    <a:lstStyle/>
                    <a:p>
                      <a:r>
                        <a:rPr lang="en-US" dirty="0"/>
                        <a:t>Aaron</a:t>
                      </a:r>
                    </a:p>
                  </a:txBody>
                  <a:tcPr/>
                </a:tc>
                <a:tc>
                  <a:txBody>
                    <a:bodyPr/>
                    <a:lstStyle/>
                    <a:p>
                      <a:r>
                        <a:rPr lang="en-US" dirty="0"/>
                        <a:t>Cooper</a:t>
                      </a:r>
                    </a:p>
                  </a:txBody>
                  <a:tcPr/>
                </a:tc>
                <a:tc>
                  <a:txBody>
                    <a:bodyPr/>
                    <a:lstStyle/>
                    <a:p>
                      <a:r>
                        <a:rPr lang="en-US" dirty="0"/>
                        <a:t>4/17/99</a:t>
                      </a:r>
                    </a:p>
                  </a:txBody>
                  <a:tcPr/>
                </a:tc>
                <a:tc>
                  <a:txBody>
                    <a:bodyPr/>
                    <a:lstStyle/>
                    <a:p>
                      <a:pPr algn="ctr"/>
                      <a:r>
                        <a:rPr lang="en-US" dirty="0"/>
                        <a:t>2</a:t>
                      </a:r>
                    </a:p>
                  </a:txBody>
                  <a:tcPr/>
                </a:tc>
                <a:extLst>
                  <a:ext uri="{0D108BD9-81ED-4DB2-BD59-A6C34878D82A}">
                    <a16:rowId xmlns:a16="http://schemas.microsoft.com/office/drawing/2014/main" val="10001"/>
                  </a:ext>
                </a:extLst>
              </a:tr>
              <a:tr h="370840">
                <a:tc>
                  <a:txBody>
                    <a:bodyPr/>
                    <a:lstStyle/>
                    <a:p>
                      <a:r>
                        <a:rPr lang="en-US" dirty="0"/>
                        <a:t>735</a:t>
                      </a:r>
                    </a:p>
                  </a:txBody>
                  <a:tcPr/>
                </a:tc>
                <a:tc>
                  <a:txBody>
                    <a:bodyPr/>
                    <a:lstStyle/>
                    <a:p>
                      <a:r>
                        <a:rPr lang="en-US" dirty="0"/>
                        <a:t>Lou</a:t>
                      </a:r>
                    </a:p>
                  </a:txBody>
                  <a:tcPr/>
                </a:tc>
                <a:tc>
                  <a:txBody>
                    <a:bodyPr/>
                    <a:lstStyle/>
                    <a:p>
                      <a:r>
                        <a:rPr lang="en-US" dirty="0"/>
                        <a:t>Bono</a:t>
                      </a:r>
                    </a:p>
                  </a:txBody>
                  <a:tcPr/>
                </a:tc>
                <a:tc>
                  <a:txBody>
                    <a:bodyPr/>
                    <a:lstStyle/>
                    <a:p>
                      <a:r>
                        <a:rPr lang="en-US" dirty="0"/>
                        <a:t>5/22/05</a:t>
                      </a:r>
                    </a:p>
                  </a:txBody>
                  <a:tcPr/>
                </a:tc>
                <a:tc>
                  <a:txBody>
                    <a:bodyPr/>
                    <a:lstStyle/>
                    <a:p>
                      <a:pPr algn="ctr"/>
                      <a:r>
                        <a:rPr lang="en-US" dirty="0"/>
                        <a:t>1</a:t>
                      </a:r>
                    </a:p>
                  </a:txBody>
                  <a:tcPr/>
                </a:tc>
                <a:extLst>
                  <a:ext uri="{0D108BD9-81ED-4DB2-BD59-A6C34878D82A}">
                    <a16:rowId xmlns:a16="http://schemas.microsoft.com/office/drawing/2014/main" val="10002"/>
                  </a:ext>
                </a:extLst>
              </a:tr>
              <a:tr h="370840">
                <a:tc>
                  <a:txBody>
                    <a:bodyPr/>
                    <a:lstStyle/>
                    <a:p>
                      <a:r>
                        <a:rPr lang="en-US" dirty="0"/>
                        <a:t>736</a:t>
                      </a:r>
                    </a:p>
                  </a:txBody>
                  <a:tcPr/>
                </a:tc>
                <a:tc>
                  <a:txBody>
                    <a:bodyPr/>
                    <a:lstStyle/>
                    <a:p>
                      <a:r>
                        <a:rPr lang="en-US" dirty="0"/>
                        <a:t>Alice</a:t>
                      </a:r>
                    </a:p>
                  </a:txBody>
                  <a:tcPr/>
                </a:tc>
                <a:tc>
                  <a:txBody>
                    <a:bodyPr/>
                    <a:lstStyle/>
                    <a:p>
                      <a:r>
                        <a:rPr lang="en-US" dirty="0"/>
                        <a:t>Bailey</a:t>
                      </a:r>
                    </a:p>
                  </a:txBody>
                  <a:tcPr/>
                </a:tc>
                <a:tc>
                  <a:txBody>
                    <a:bodyPr/>
                    <a:lstStyle/>
                    <a:p>
                      <a:r>
                        <a:rPr lang="en-US" dirty="0"/>
                        <a:t>9/1/99</a:t>
                      </a:r>
                    </a:p>
                  </a:txBody>
                  <a:tcPr/>
                </a:tc>
                <a:tc>
                  <a:txBody>
                    <a:bodyPr/>
                    <a:lstStyle/>
                    <a:p>
                      <a:pPr algn="ctr"/>
                      <a:r>
                        <a:rPr lang="en-US" dirty="0"/>
                        <a:t>1</a:t>
                      </a:r>
                    </a:p>
                  </a:txBody>
                  <a:tcPr/>
                </a:tc>
                <a:extLst>
                  <a:ext uri="{0D108BD9-81ED-4DB2-BD59-A6C34878D82A}">
                    <a16:rowId xmlns:a16="http://schemas.microsoft.com/office/drawing/2014/main" val="10003"/>
                  </a:ext>
                </a:extLst>
              </a:tr>
              <a:tr h="370840">
                <a:tc>
                  <a:txBody>
                    <a:bodyPr/>
                    <a:lstStyle/>
                    <a:p>
                      <a:r>
                        <a:rPr lang="en-US" dirty="0"/>
                        <a:t>738</a:t>
                      </a:r>
                    </a:p>
                  </a:txBody>
                  <a:tcPr/>
                </a:tc>
                <a:tc>
                  <a:txBody>
                    <a:bodyPr/>
                    <a:lstStyle/>
                    <a:p>
                      <a:r>
                        <a:rPr lang="en-US" dirty="0"/>
                        <a:t>John</a:t>
                      </a:r>
                    </a:p>
                  </a:txBody>
                  <a:tcPr/>
                </a:tc>
                <a:tc>
                  <a:txBody>
                    <a:bodyPr/>
                    <a:lstStyle/>
                    <a:p>
                      <a:r>
                        <a:rPr lang="en-US" dirty="0"/>
                        <a:t>Cruz</a:t>
                      </a:r>
                    </a:p>
                  </a:txBody>
                  <a:tcPr/>
                </a:tc>
                <a:tc>
                  <a:txBody>
                    <a:bodyPr/>
                    <a:lstStyle/>
                    <a:p>
                      <a:r>
                        <a:rPr lang="en-US" dirty="0"/>
                        <a:t>6/1/15</a:t>
                      </a:r>
                    </a:p>
                  </a:txBody>
                  <a:tcPr/>
                </a:tc>
                <a:tc>
                  <a:txBody>
                    <a:bodyPr/>
                    <a:lstStyle/>
                    <a:p>
                      <a:pPr algn="ctr"/>
                      <a:endParaRPr lang="en-US" dirty="0"/>
                    </a:p>
                  </a:txBody>
                  <a:tcPr/>
                </a:tc>
                <a:extLst>
                  <a:ext uri="{0D108BD9-81ED-4DB2-BD59-A6C34878D82A}">
                    <a16:rowId xmlns:a16="http://schemas.microsoft.com/office/drawing/2014/main" val="10004"/>
                  </a:ext>
                </a:extLst>
              </a:tr>
              <a:tr h="370840">
                <a:tc>
                  <a:txBody>
                    <a:bodyPr/>
                    <a:lstStyle/>
                    <a:p>
                      <a:r>
                        <a:rPr lang="en-US" dirty="0"/>
                        <a:t>750</a:t>
                      </a:r>
                    </a:p>
                  </a:txBody>
                  <a:tcPr/>
                </a:tc>
                <a:tc>
                  <a:txBody>
                    <a:bodyPr/>
                    <a:lstStyle/>
                    <a:p>
                      <a:r>
                        <a:rPr lang="en-US" dirty="0"/>
                        <a:t>Joe</a:t>
                      </a:r>
                    </a:p>
                  </a:txBody>
                  <a:tcPr/>
                </a:tc>
                <a:tc>
                  <a:txBody>
                    <a:bodyPr/>
                    <a:lstStyle/>
                    <a:p>
                      <a:r>
                        <a:rPr lang="en-US" dirty="0"/>
                        <a:t>Allen</a:t>
                      </a:r>
                    </a:p>
                  </a:txBody>
                  <a:tcPr/>
                </a:tc>
                <a:tc>
                  <a:txBody>
                    <a:bodyPr/>
                    <a:lstStyle/>
                    <a:p>
                      <a:endParaRPr lang="en-US" dirty="0"/>
                    </a:p>
                  </a:txBody>
                  <a:tcPr/>
                </a:tc>
                <a:tc>
                  <a:txBody>
                    <a:bodyPr/>
                    <a:lstStyle/>
                    <a:p>
                      <a:pPr algn="ctr"/>
                      <a:r>
                        <a:rPr lang="en-US" dirty="0"/>
                        <a:t>3</a:t>
                      </a:r>
                    </a:p>
                  </a:txBody>
                  <a:tcPr/>
                </a:tc>
                <a:extLst>
                  <a:ext uri="{0D108BD9-81ED-4DB2-BD59-A6C34878D82A}">
                    <a16:rowId xmlns:a16="http://schemas.microsoft.com/office/drawing/2014/main" val="10005"/>
                  </a:ext>
                </a:extLst>
              </a:tr>
            </a:tbl>
          </a:graphicData>
        </a:graphic>
      </p:graphicFrame>
      <p:sp>
        <p:nvSpPr>
          <p:cNvPr id="16" name="TextBox 15"/>
          <p:cNvSpPr txBox="1"/>
          <p:nvPr/>
        </p:nvSpPr>
        <p:spPr>
          <a:xfrm>
            <a:off x="2114976" y="3155094"/>
            <a:ext cx="6516131" cy="1015663"/>
          </a:xfrm>
          <a:prstGeom prst="rect">
            <a:avLst/>
          </a:prstGeom>
          <a:noFill/>
        </p:spPr>
        <p:txBody>
          <a:bodyPr wrap="square" rtlCol="0">
            <a:spAutoFit/>
          </a:bodyPr>
          <a:lstStyle/>
          <a:p>
            <a:r>
              <a:rPr lang="en-US" sz="2000" dirty="0"/>
              <a:t>Example: INSERT INTO Employees</a:t>
            </a:r>
          </a:p>
          <a:p>
            <a:r>
              <a:rPr lang="en-US" sz="2000" dirty="0"/>
              <a:t>		(ID, </a:t>
            </a:r>
            <a:r>
              <a:rPr lang="en-US" sz="2000" dirty="0" err="1"/>
              <a:t>FName</a:t>
            </a:r>
            <a:r>
              <a:rPr lang="en-US" sz="2000" dirty="0"/>
              <a:t>, </a:t>
            </a:r>
            <a:r>
              <a:rPr lang="en-US" sz="2000" dirty="0" err="1"/>
              <a:t>LName</a:t>
            </a:r>
            <a:r>
              <a:rPr lang="en-US" sz="2000" dirty="0"/>
              <a:t>, </a:t>
            </a:r>
            <a:r>
              <a:rPr lang="en-US" sz="2000" dirty="0" err="1"/>
              <a:t>DeptID</a:t>
            </a:r>
            <a:r>
              <a:rPr lang="en-US" sz="2000" dirty="0"/>
              <a:t>)</a:t>
            </a:r>
          </a:p>
          <a:p>
            <a:r>
              <a:rPr lang="en-US" sz="2000" dirty="0"/>
              <a:t>		 VALUES (750, ‘Joe’, ‘Allen’, 3);</a:t>
            </a:r>
          </a:p>
        </p:txBody>
      </p:sp>
      <p:sp>
        <p:nvSpPr>
          <p:cNvPr id="7" name="TextBox 6"/>
          <p:cNvSpPr txBox="1"/>
          <p:nvPr/>
        </p:nvSpPr>
        <p:spPr>
          <a:xfrm>
            <a:off x="2114976" y="1186497"/>
            <a:ext cx="6516131" cy="1569660"/>
          </a:xfrm>
          <a:prstGeom prst="rect">
            <a:avLst/>
          </a:prstGeom>
          <a:noFill/>
        </p:spPr>
        <p:txBody>
          <a:bodyPr wrap="square" rtlCol="0">
            <a:spAutoFit/>
          </a:bodyPr>
          <a:lstStyle/>
          <a:p>
            <a:r>
              <a:rPr lang="en-US" sz="2400" dirty="0">
                <a:solidFill>
                  <a:schemeClr val="tx2"/>
                </a:solidFill>
              </a:rPr>
              <a:t>Adds a new record to the table:</a:t>
            </a:r>
          </a:p>
          <a:p>
            <a:r>
              <a:rPr lang="en-US" sz="2400" b="1" dirty="0">
                <a:solidFill>
                  <a:schemeClr val="accent1">
                    <a:lumMod val="75000"/>
                  </a:schemeClr>
                </a:solidFill>
              </a:rPr>
              <a:t>	       INSERT INTO </a:t>
            </a:r>
            <a:r>
              <a:rPr lang="en-US" sz="2400" b="1" i="1" dirty="0">
                <a:solidFill>
                  <a:schemeClr val="accent1">
                    <a:lumMod val="75000"/>
                  </a:schemeClr>
                </a:solidFill>
              </a:rPr>
              <a:t>table</a:t>
            </a:r>
          </a:p>
          <a:p>
            <a:r>
              <a:rPr lang="en-US" sz="2400" b="1" dirty="0">
                <a:solidFill>
                  <a:schemeClr val="accent1">
                    <a:lumMod val="75000"/>
                  </a:schemeClr>
                </a:solidFill>
              </a:rPr>
              <a:t>		   (</a:t>
            </a:r>
            <a:r>
              <a:rPr lang="en-US" sz="2400" b="1" i="1" dirty="0">
                <a:solidFill>
                  <a:schemeClr val="accent1">
                    <a:lumMod val="75000"/>
                  </a:schemeClr>
                </a:solidFill>
              </a:rPr>
              <a:t>attribute1, attribute2, …</a:t>
            </a:r>
            <a:r>
              <a:rPr lang="en-US" sz="2400" b="1" dirty="0">
                <a:solidFill>
                  <a:schemeClr val="accent1">
                    <a:lumMod val="75000"/>
                  </a:schemeClr>
                </a:solidFill>
              </a:rPr>
              <a:t>)</a:t>
            </a:r>
          </a:p>
          <a:p>
            <a:r>
              <a:rPr lang="en-US" sz="2400" b="1" dirty="0">
                <a:solidFill>
                  <a:schemeClr val="accent1">
                    <a:lumMod val="75000"/>
                  </a:schemeClr>
                </a:solidFill>
              </a:rPr>
              <a:t>		   VALUES (</a:t>
            </a:r>
            <a:r>
              <a:rPr lang="en-US" sz="2400" b="1" i="1" dirty="0">
                <a:solidFill>
                  <a:schemeClr val="accent1">
                    <a:lumMod val="75000"/>
                  </a:schemeClr>
                </a:solidFill>
              </a:rPr>
              <a:t>value1, value2, …)</a:t>
            </a:r>
          </a:p>
        </p:txBody>
      </p:sp>
      <p:sp>
        <p:nvSpPr>
          <p:cNvPr id="4" name="Rectangle 3"/>
          <p:cNvSpPr/>
          <p:nvPr/>
        </p:nvSpPr>
        <p:spPr>
          <a:xfrm>
            <a:off x="3468131" y="6203092"/>
            <a:ext cx="4407243" cy="403654"/>
          </a:xfrm>
          <a:prstGeom prst="rect">
            <a:avLst/>
          </a:prstGeom>
          <a:no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22350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6381" y="79403"/>
            <a:ext cx="8453372" cy="1107094"/>
          </a:xfrm>
        </p:spPr>
        <p:txBody>
          <a:bodyPr>
            <a:normAutofit/>
          </a:bodyPr>
          <a:lstStyle/>
          <a:p>
            <a:r>
              <a:rPr lang="en-US" dirty="0"/>
              <a:t>UPDATE … SET</a:t>
            </a:r>
          </a:p>
        </p:txBody>
      </p:sp>
      <p:sp>
        <p:nvSpPr>
          <p:cNvPr id="3" name="Slide Number Placeholder 2"/>
          <p:cNvSpPr>
            <a:spLocks noGrp="1"/>
          </p:cNvSpPr>
          <p:nvPr>
            <p:ph type="sldNum" sz="quarter" idx="12"/>
          </p:nvPr>
        </p:nvSpPr>
        <p:spPr/>
        <p:txBody>
          <a:bodyPr/>
          <a:lstStyle/>
          <a:p>
            <a:fld id="{87F3E754-1C97-4481-A18C-9D97ADBDF344}" type="slidenum">
              <a:rPr lang="en-US" smtClean="0"/>
              <a:t>8</a:t>
            </a:fld>
            <a:endParaRPr lang="en-US"/>
          </a:p>
        </p:txBody>
      </p:sp>
      <p:graphicFrame>
        <p:nvGraphicFramePr>
          <p:cNvPr id="6" name="Table 5"/>
          <p:cNvGraphicFramePr>
            <a:graphicFrameLocks noGrp="1"/>
          </p:cNvGraphicFramePr>
          <p:nvPr/>
        </p:nvGraphicFramePr>
        <p:xfrm>
          <a:off x="3516205" y="4342474"/>
          <a:ext cx="4548988" cy="2225040"/>
        </p:xfrm>
        <a:graphic>
          <a:graphicData uri="http://schemas.openxmlformats.org/drawingml/2006/table">
            <a:tbl>
              <a:tblPr firstRow="1" bandRow="1">
                <a:tableStyleId>{5C22544A-7EE6-4342-B048-85BDC9FD1C3A}</a:tableStyleId>
              </a:tblPr>
              <a:tblGrid>
                <a:gridCol w="665906">
                  <a:extLst>
                    <a:ext uri="{9D8B030D-6E8A-4147-A177-3AD203B41FA5}">
                      <a16:colId xmlns:a16="http://schemas.microsoft.com/office/drawing/2014/main" val="20000"/>
                    </a:ext>
                  </a:extLst>
                </a:gridCol>
                <a:gridCol w="951303">
                  <a:extLst>
                    <a:ext uri="{9D8B030D-6E8A-4147-A177-3AD203B41FA5}">
                      <a16:colId xmlns:a16="http://schemas.microsoft.com/office/drawing/2014/main" val="20001"/>
                    </a:ext>
                  </a:extLst>
                </a:gridCol>
                <a:gridCol w="950437">
                  <a:extLst>
                    <a:ext uri="{9D8B030D-6E8A-4147-A177-3AD203B41FA5}">
                      <a16:colId xmlns:a16="http://schemas.microsoft.com/office/drawing/2014/main" val="20002"/>
                    </a:ext>
                  </a:extLst>
                </a:gridCol>
                <a:gridCol w="1078693">
                  <a:extLst>
                    <a:ext uri="{9D8B030D-6E8A-4147-A177-3AD203B41FA5}">
                      <a16:colId xmlns:a16="http://schemas.microsoft.com/office/drawing/2014/main" val="20003"/>
                    </a:ext>
                  </a:extLst>
                </a:gridCol>
                <a:gridCol w="902649">
                  <a:extLst>
                    <a:ext uri="{9D8B030D-6E8A-4147-A177-3AD203B41FA5}">
                      <a16:colId xmlns:a16="http://schemas.microsoft.com/office/drawing/2014/main" val="20004"/>
                    </a:ext>
                  </a:extLst>
                </a:gridCol>
              </a:tblGrid>
              <a:tr h="370840">
                <a:tc>
                  <a:txBody>
                    <a:bodyPr/>
                    <a:lstStyle/>
                    <a:p>
                      <a:r>
                        <a:rPr lang="en-US" u="sng" dirty="0"/>
                        <a:t>ID</a:t>
                      </a:r>
                    </a:p>
                  </a:txBody>
                  <a:tcPr/>
                </a:tc>
                <a:tc>
                  <a:txBody>
                    <a:bodyPr/>
                    <a:lstStyle/>
                    <a:p>
                      <a:r>
                        <a:rPr lang="en-US" dirty="0" err="1"/>
                        <a:t>FName</a:t>
                      </a:r>
                      <a:endParaRPr lang="en-US" dirty="0"/>
                    </a:p>
                  </a:txBody>
                  <a:tcPr/>
                </a:tc>
                <a:tc>
                  <a:txBody>
                    <a:bodyPr/>
                    <a:lstStyle/>
                    <a:p>
                      <a:r>
                        <a:rPr lang="en-US" dirty="0" err="1"/>
                        <a:t>LName</a:t>
                      </a:r>
                      <a:endParaRPr lang="en-US" dirty="0"/>
                    </a:p>
                  </a:txBody>
                  <a:tcPr/>
                </a:tc>
                <a:tc>
                  <a:txBody>
                    <a:bodyPr/>
                    <a:lstStyle/>
                    <a:p>
                      <a:r>
                        <a:rPr lang="en-US" dirty="0" err="1"/>
                        <a:t>HireDate</a:t>
                      </a:r>
                      <a:endParaRPr lang="en-US" dirty="0"/>
                    </a:p>
                  </a:txBody>
                  <a:tcPr/>
                </a:tc>
                <a:tc>
                  <a:txBody>
                    <a:bodyPr/>
                    <a:lstStyle/>
                    <a:p>
                      <a:r>
                        <a:rPr lang="en-US" dirty="0" err="1"/>
                        <a:t>DeptID</a:t>
                      </a:r>
                      <a:endParaRPr lang="en-US" dirty="0"/>
                    </a:p>
                  </a:txBody>
                  <a:tcPr/>
                </a:tc>
                <a:extLst>
                  <a:ext uri="{0D108BD9-81ED-4DB2-BD59-A6C34878D82A}">
                    <a16:rowId xmlns:a16="http://schemas.microsoft.com/office/drawing/2014/main" val="10000"/>
                  </a:ext>
                </a:extLst>
              </a:tr>
              <a:tr h="370840">
                <a:tc>
                  <a:txBody>
                    <a:bodyPr/>
                    <a:lstStyle/>
                    <a:p>
                      <a:r>
                        <a:rPr lang="en-US" dirty="0"/>
                        <a:t>734</a:t>
                      </a:r>
                    </a:p>
                  </a:txBody>
                  <a:tcPr/>
                </a:tc>
                <a:tc>
                  <a:txBody>
                    <a:bodyPr/>
                    <a:lstStyle/>
                    <a:p>
                      <a:r>
                        <a:rPr lang="en-US" dirty="0"/>
                        <a:t>Aaron</a:t>
                      </a:r>
                    </a:p>
                  </a:txBody>
                  <a:tcPr/>
                </a:tc>
                <a:tc>
                  <a:txBody>
                    <a:bodyPr/>
                    <a:lstStyle/>
                    <a:p>
                      <a:r>
                        <a:rPr lang="en-US" dirty="0"/>
                        <a:t>Cooper</a:t>
                      </a:r>
                    </a:p>
                  </a:txBody>
                  <a:tcPr/>
                </a:tc>
                <a:tc>
                  <a:txBody>
                    <a:bodyPr/>
                    <a:lstStyle/>
                    <a:p>
                      <a:r>
                        <a:rPr lang="en-US" dirty="0"/>
                        <a:t>4/17/99</a:t>
                      </a:r>
                    </a:p>
                  </a:txBody>
                  <a:tcPr/>
                </a:tc>
                <a:tc>
                  <a:txBody>
                    <a:bodyPr/>
                    <a:lstStyle/>
                    <a:p>
                      <a:pPr algn="ctr"/>
                      <a:r>
                        <a:rPr lang="en-US" dirty="0"/>
                        <a:t>2</a:t>
                      </a:r>
                    </a:p>
                  </a:txBody>
                  <a:tcPr/>
                </a:tc>
                <a:extLst>
                  <a:ext uri="{0D108BD9-81ED-4DB2-BD59-A6C34878D82A}">
                    <a16:rowId xmlns:a16="http://schemas.microsoft.com/office/drawing/2014/main" val="10001"/>
                  </a:ext>
                </a:extLst>
              </a:tr>
              <a:tr h="370840">
                <a:tc>
                  <a:txBody>
                    <a:bodyPr/>
                    <a:lstStyle/>
                    <a:p>
                      <a:r>
                        <a:rPr lang="en-US" dirty="0"/>
                        <a:t>735</a:t>
                      </a:r>
                    </a:p>
                  </a:txBody>
                  <a:tcPr/>
                </a:tc>
                <a:tc>
                  <a:txBody>
                    <a:bodyPr/>
                    <a:lstStyle/>
                    <a:p>
                      <a:r>
                        <a:rPr lang="en-US" dirty="0"/>
                        <a:t>Lou</a:t>
                      </a:r>
                    </a:p>
                  </a:txBody>
                  <a:tcPr/>
                </a:tc>
                <a:tc>
                  <a:txBody>
                    <a:bodyPr/>
                    <a:lstStyle/>
                    <a:p>
                      <a:r>
                        <a:rPr lang="en-US" dirty="0"/>
                        <a:t>Bono</a:t>
                      </a:r>
                    </a:p>
                  </a:txBody>
                  <a:tcPr/>
                </a:tc>
                <a:tc>
                  <a:txBody>
                    <a:bodyPr/>
                    <a:lstStyle/>
                    <a:p>
                      <a:r>
                        <a:rPr lang="en-US" dirty="0"/>
                        <a:t>5/22/05</a:t>
                      </a:r>
                    </a:p>
                  </a:txBody>
                  <a:tcPr/>
                </a:tc>
                <a:tc>
                  <a:txBody>
                    <a:bodyPr/>
                    <a:lstStyle/>
                    <a:p>
                      <a:pPr algn="ctr"/>
                      <a:r>
                        <a:rPr lang="en-US" dirty="0"/>
                        <a:t>1</a:t>
                      </a:r>
                    </a:p>
                  </a:txBody>
                  <a:tcPr/>
                </a:tc>
                <a:extLst>
                  <a:ext uri="{0D108BD9-81ED-4DB2-BD59-A6C34878D82A}">
                    <a16:rowId xmlns:a16="http://schemas.microsoft.com/office/drawing/2014/main" val="10002"/>
                  </a:ext>
                </a:extLst>
              </a:tr>
              <a:tr h="370840">
                <a:tc>
                  <a:txBody>
                    <a:bodyPr/>
                    <a:lstStyle/>
                    <a:p>
                      <a:r>
                        <a:rPr lang="en-US" dirty="0"/>
                        <a:t>736</a:t>
                      </a:r>
                    </a:p>
                  </a:txBody>
                  <a:tcPr/>
                </a:tc>
                <a:tc>
                  <a:txBody>
                    <a:bodyPr/>
                    <a:lstStyle/>
                    <a:p>
                      <a:r>
                        <a:rPr lang="en-US" dirty="0"/>
                        <a:t>Alice</a:t>
                      </a:r>
                    </a:p>
                  </a:txBody>
                  <a:tcPr/>
                </a:tc>
                <a:tc>
                  <a:txBody>
                    <a:bodyPr/>
                    <a:lstStyle/>
                    <a:p>
                      <a:r>
                        <a:rPr lang="en-US" dirty="0"/>
                        <a:t>Bailey</a:t>
                      </a:r>
                    </a:p>
                  </a:txBody>
                  <a:tcPr/>
                </a:tc>
                <a:tc>
                  <a:txBody>
                    <a:bodyPr/>
                    <a:lstStyle/>
                    <a:p>
                      <a:r>
                        <a:rPr lang="en-US" dirty="0"/>
                        <a:t>9/1/99</a:t>
                      </a:r>
                    </a:p>
                  </a:txBody>
                  <a:tcPr/>
                </a:tc>
                <a:tc>
                  <a:txBody>
                    <a:bodyPr/>
                    <a:lstStyle/>
                    <a:p>
                      <a:pPr algn="ctr"/>
                      <a:r>
                        <a:rPr lang="en-US" dirty="0"/>
                        <a:t>1</a:t>
                      </a:r>
                    </a:p>
                  </a:txBody>
                  <a:tcPr/>
                </a:tc>
                <a:extLst>
                  <a:ext uri="{0D108BD9-81ED-4DB2-BD59-A6C34878D82A}">
                    <a16:rowId xmlns:a16="http://schemas.microsoft.com/office/drawing/2014/main" val="10003"/>
                  </a:ext>
                </a:extLst>
              </a:tr>
              <a:tr h="370840">
                <a:tc>
                  <a:txBody>
                    <a:bodyPr/>
                    <a:lstStyle/>
                    <a:p>
                      <a:r>
                        <a:rPr lang="en-US" dirty="0"/>
                        <a:t>738</a:t>
                      </a:r>
                    </a:p>
                  </a:txBody>
                  <a:tcPr/>
                </a:tc>
                <a:tc>
                  <a:txBody>
                    <a:bodyPr/>
                    <a:lstStyle/>
                    <a:p>
                      <a:r>
                        <a:rPr lang="en-US" dirty="0"/>
                        <a:t>John</a:t>
                      </a:r>
                    </a:p>
                  </a:txBody>
                  <a:tcPr/>
                </a:tc>
                <a:tc>
                  <a:txBody>
                    <a:bodyPr/>
                    <a:lstStyle/>
                    <a:p>
                      <a:r>
                        <a:rPr lang="en-US" dirty="0"/>
                        <a:t>Cruz</a:t>
                      </a:r>
                    </a:p>
                  </a:txBody>
                  <a:tcPr/>
                </a:tc>
                <a:tc>
                  <a:txBody>
                    <a:bodyPr/>
                    <a:lstStyle/>
                    <a:p>
                      <a:r>
                        <a:rPr lang="en-US" dirty="0"/>
                        <a:t>6/1/15</a:t>
                      </a:r>
                    </a:p>
                  </a:txBody>
                  <a:tcPr/>
                </a:tc>
                <a:tc>
                  <a:txBody>
                    <a:bodyPr/>
                    <a:lstStyle/>
                    <a:p>
                      <a:pPr algn="ctr"/>
                      <a:r>
                        <a:rPr lang="en-US" dirty="0"/>
                        <a:t>3</a:t>
                      </a:r>
                    </a:p>
                  </a:txBody>
                  <a:tcPr/>
                </a:tc>
                <a:extLst>
                  <a:ext uri="{0D108BD9-81ED-4DB2-BD59-A6C34878D82A}">
                    <a16:rowId xmlns:a16="http://schemas.microsoft.com/office/drawing/2014/main" val="10004"/>
                  </a:ext>
                </a:extLst>
              </a:tr>
              <a:tr h="370840">
                <a:tc>
                  <a:txBody>
                    <a:bodyPr/>
                    <a:lstStyle/>
                    <a:p>
                      <a:r>
                        <a:rPr lang="en-US" dirty="0"/>
                        <a:t>750</a:t>
                      </a:r>
                    </a:p>
                  </a:txBody>
                  <a:tcPr/>
                </a:tc>
                <a:tc>
                  <a:txBody>
                    <a:bodyPr/>
                    <a:lstStyle/>
                    <a:p>
                      <a:r>
                        <a:rPr lang="en-US" dirty="0"/>
                        <a:t>Joe</a:t>
                      </a:r>
                    </a:p>
                  </a:txBody>
                  <a:tcPr/>
                </a:tc>
                <a:tc>
                  <a:txBody>
                    <a:bodyPr/>
                    <a:lstStyle/>
                    <a:p>
                      <a:r>
                        <a:rPr lang="en-US" dirty="0"/>
                        <a:t>Allen</a:t>
                      </a:r>
                    </a:p>
                  </a:txBody>
                  <a:tcPr/>
                </a:tc>
                <a:tc>
                  <a:txBody>
                    <a:bodyPr/>
                    <a:lstStyle/>
                    <a:p>
                      <a:r>
                        <a:rPr lang="en-US" dirty="0"/>
                        <a:t>1/8/2012</a:t>
                      </a:r>
                    </a:p>
                  </a:txBody>
                  <a:tcPr/>
                </a:tc>
                <a:tc>
                  <a:txBody>
                    <a:bodyPr/>
                    <a:lstStyle/>
                    <a:p>
                      <a:pPr algn="ctr"/>
                      <a:r>
                        <a:rPr lang="en-US" dirty="0"/>
                        <a:t>4</a:t>
                      </a:r>
                    </a:p>
                  </a:txBody>
                  <a:tcPr/>
                </a:tc>
                <a:extLst>
                  <a:ext uri="{0D108BD9-81ED-4DB2-BD59-A6C34878D82A}">
                    <a16:rowId xmlns:a16="http://schemas.microsoft.com/office/drawing/2014/main" val="10005"/>
                  </a:ext>
                </a:extLst>
              </a:tr>
            </a:tbl>
          </a:graphicData>
        </a:graphic>
      </p:graphicFrame>
      <p:sp>
        <p:nvSpPr>
          <p:cNvPr id="16" name="TextBox 15"/>
          <p:cNvSpPr txBox="1"/>
          <p:nvPr/>
        </p:nvSpPr>
        <p:spPr>
          <a:xfrm>
            <a:off x="2114976" y="3155094"/>
            <a:ext cx="6516131" cy="1015663"/>
          </a:xfrm>
          <a:prstGeom prst="rect">
            <a:avLst/>
          </a:prstGeom>
          <a:noFill/>
        </p:spPr>
        <p:txBody>
          <a:bodyPr wrap="square" rtlCol="0">
            <a:spAutoFit/>
          </a:bodyPr>
          <a:lstStyle/>
          <a:p>
            <a:r>
              <a:rPr lang="en-US" sz="2000" dirty="0"/>
              <a:t>Example: UPDATE Employees</a:t>
            </a:r>
          </a:p>
          <a:p>
            <a:r>
              <a:rPr lang="en-US" sz="2000" dirty="0"/>
              <a:t>	 SET </a:t>
            </a:r>
            <a:r>
              <a:rPr lang="en-US" sz="2000" dirty="0" err="1"/>
              <a:t>DeptID</a:t>
            </a:r>
            <a:r>
              <a:rPr lang="en-US" sz="2000" dirty="0"/>
              <a:t> = 4, </a:t>
            </a:r>
            <a:r>
              <a:rPr lang="en-US" sz="2000" dirty="0" err="1"/>
              <a:t>HireDate</a:t>
            </a:r>
            <a:r>
              <a:rPr lang="en-US" sz="2000" dirty="0"/>
              <a:t>=#1/8/2012#	</a:t>
            </a:r>
          </a:p>
          <a:p>
            <a:r>
              <a:rPr lang="en-US" sz="2000" dirty="0"/>
              <a:t>	 WHERE ID = 750;</a:t>
            </a:r>
          </a:p>
        </p:txBody>
      </p:sp>
      <p:sp>
        <p:nvSpPr>
          <p:cNvPr id="7" name="TextBox 6"/>
          <p:cNvSpPr txBox="1"/>
          <p:nvPr/>
        </p:nvSpPr>
        <p:spPr>
          <a:xfrm>
            <a:off x="2114976" y="1186497"/>
            <a:ext cx="6516131" cy="1569660"/>
          </a:xfrm>
          <a:prstGeom prst="rect">
            <a:avLst/>
          </a:prstGeom>
          <a:noFill/>
        </p:spPr>
        <p:txBody>
          <a:bodyPr wrap="square" rtlCol="0">
            <a:spAutoFit/>
          </a:bodyPr>
          <a:lstStyle/>
          <a:p>
            <a:r>
              <a:rPr lang="en-US" sz="2400" dirty="0">
                <a:solidFill>
                  <a:schemeClr val="tx2"/>
                </a:solidFill>
              </a:rPr>
              <a:t>Updates the information of a record:</a:t>
            </a:r>
          </a:p>
          <a:p>
            <a:r>
              <a:rPr lang="en-US" sz="2400" b="1" dirty="0">
                <a:solidFill>
                  <a:schemeClr val="accent1">
                    <a:lumMod val="75000"/>
                  </a:schemeClr>
                </a:solidFill>
              </a:rPr>
              <a:t>	       	UPDATE </a:t>
            </a:r>
            <a:r>
              <a:rPr lang="en-US" sz="2400" b="1" i="1" dirty="0">
                <a:solidFill>
                  <a:schemeClr val="accent1">
                    <a:lumMod val="75000"/>
                  </a:schemeClr>
                </a:solidFill>
              </a:rPr>
              <a:t>table</a:t>
            </a:r>
          </a:p>
          <a:p>
            <a:r>
              <a:rPr lang="en-US" sz="2400" b="1" i="1" dirty="0">
                <a:solidFill>
                  <a:schemeClr val="accent1">
                    <a:lumMod val="75000"/>
                  </a:schemeClr>
                </a:solidFill>
              </a:rPr>
              <a:t>		</a:t>
            </a:r>
            <a:r>
              <a:rPr lang="en-US" sz="2400" b="1" dirty="0">
                <a:solidFill>
                  <a:schemeClr val="accent1">
                    <a:lumMod val="75000"/>
                  </a:schemeClr>
                </a:solidFill>
              </a:rPr>
              <a:t>SET </a:t>
            </a:r>
            <a:r>
              <a:rPr lang="en-US" sz="2400" b="1" i="1" dirty="0">
                <a:solidFill>
                  <a:schemeClr val="accent1">
                    <a:lumMod val="75000"/>
                  </a:schemeClr>
                </a:solidFill>
              </a:rPr>
              <a:t>attribute = value	</a:t>
            </a:r>
            <a:r>
              <a:rPr lang="en-US" sz="2400" b="1" dirty="0">
                <a:solidFill>
                  <a:schemeClr val="accent1">
                    <a:lumMod val="75000"/>
                  </a:schemeClr>
                </a:solidFill>
              </a:rPr>
              <a:t>	   		WHERE </a:t>
            </a:r>
            <a:r>
              <a:rPr lang="en-US" sz="2400" b="1" i="1" dirty="0">
                <a:solidFill>
                  <a:schemeClr val="accent1">
                    <a:lumMod val="75000"/>
                  </a:schemeClr>
                </a:solidFill>
              </a:rPr>
              <a:t>condition</a:t>
            </a:r>
          </a:p>
        </p:txBody>
      </p:sp>
      <p:sp>
        <p:nvSpPr>
          <p:cNvPr id="8" name="Rectangle 7"/>
          <p:cNvSpPr/>
          <p:nvPr/>
        </p:nvSpPr>
        <p:spPr>
          <a:xfrm>
            <a:off x="5957456" y="6180336"/>
            <a:ext cx="1898786" cy="387178"/>
          </a:xfrm>
          <a:prstGeom prst="rect">
            <a:avLst/>
          </a:prstGeom>
          <a:no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34901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6381" y="79403"/>
            <a:ext cx="8453372" cy="1107094"/>
          </a:xfrm>
        </p:spPr>
        <p:txBody>
          <a:bodyPr>
            <a:normAutofit/>
          </a:bodyPr>
          <a:lstStyle/>
          <a:p>
            <a:r>
              <a:rPr lang="en-US" dirty="0"/>
              <a:t>DELETE FROM</a:t>
            </a:r>
          </a:p>
        </p:txBody>
      </p:sp>
      <p:sp>
        <p:nvSpPr>
          <p:cNvPr id="3" name="Slide Number Placeholder 2"/>
          <p:cNvSpPr>
            <a:spLocks noGrp="1"/>
          </p:cNvSpPr>
          <p:nvPr>
            <p:ph type="sldNum" sz="quarter" idx="12"/>
          </p:nvPr>
        </p:nvSpPr>
        <p:spPr/>
        <p:txBody>
          <a:bodyPr/>
          <a:lstStyle/>
          <a:p>
            <a:fld id="{87F3E754-1C97-4481-A18C-9D97ADBDF344}" type="slidenum">
              <a:rPr lang="en-US" smtClean="0"/>
              <a:t>9</a:t>
            </a:fld>
            <a:endParaRPr lang="en-US"/>
          </a:p>
        </p:txBody>
      </p:sp>
      <p:graphicFrame>
        <p:nvGraphicFramePr>
          <p:cNvPr id="6" name="Table 5"/>
          <p:cNvGraphicFramePr>
            <a:graphicFrameLocks noGrp="1"/>
          </p:cNvGraphicFramePr>
          <p:nvPr/>
        </p:nvGraphicFramePr>
        <p:xfrm>
          <a:off x="3516205" y="4342474"/>
          <a:ext cx="4340036" cy="1854200"/>
        </p:xfrm>
        <a:graphic>
          <a:graphicData uri="http://schemas.openxmlformats.org/drawingml/2006/table">
            <a:tbl>
              <a:tblPr firstRow="1" bandRow="1">
                <a:tableStyleId>{5C22544A-7EE6-4342-B048-85BDC9FD1C3A}</a:tableStyleId>
              </a:tblPr>
              <a:tblGrid>
                <a:gridCol w="635318">
                  <a:extLst>
                    <a:ext uri="{9D8B030D-6E8A-4147-A177-3AD203B41FA5}">
                      <a16:colId xmlns:a16="http://schemas.microsoft.com/office/drawing/2014/main" val="20000"/>
                    </a:ext>
                  </a:extLst>
                </a:gridCol>
                <a:gridCol w="907606">
                  <a:extLst>
                    <a:ext uri="{9D8B030D-6E8A-4147-A177-3AD203B41FA5}">
                      <a16:colId xmlns:a16="http://schemas.microsoft.com/office/drawing/2014/main" val="20001"/>
                    </a:ext>
                  </a:extLst>
                </a:gridCol>
                <a:gridCol w="906780">
                  <a:extLst>
                    <a:ext uri="{9D8B030D-6E8A-4147-A177-3AD203B41FA5}">
                      <a16:colId xmlns:a16="http://schemas.microsoft.com/office/drawing/2014/main" val="20002"/>
                    </a:ext>
                  </a:extLst>
                </a:gridCol>
                <a:gridCol w="1029145">
                  <a:extLst>
                    <a:ext uri="{9D8B030D-6E8A-4147-A177-3AD203B41FA5}">
                      <a16:colId xmlns:a16="http://schemas.microsoft.com/office/drawing/2014/main" val="20003"/>
                    </a:ext>
                  </a:extLst>
                </a:gridCol>
                <a:gridCol w="861187">
                  <a:extLst>
                    <a:ext uri="{9D8B030D-6E8A-4147-A177-3AD203B41FA5}">
                      <a16:colId xmlns:a16="http://schemas.microsoft.com/office/drawing/2014/main" val="20004"/>
                    </a:ext>
                  </a:extLst>
                </a:gridCol>
              </a:tblGrid>
              <a:tr h="370840">
                <a:tc>
                  <a:txBody>
                    <a:bodyPr/>
                    <a:lstStyle/>
                    <a:p>
                      <a:r>
                        <a:rPr lang="en-US" u="sng" dirty="0"/>
                        <a:t>ID</a:t>
                      </a:r>
                    </a:p>
                  </a:txBody>
                  <a:tcPr/>
                </a:tc>
                <a:tc>
                  <a:txBody>
                    <a:bodyPr/>
                    <a:lstStyle/>
                    <a:p>
                      <a:r>
                        <a:rPr lang="en-US" dirty="0" err="1"/>
                        <a:t>FName</a:t>
                      </a:r>
                      <a:endParaRPr lang="en-US" dirty="0"/>
                    </a:p>
                  </a:txBody>
                  <a:tcPr/>
                </a:tc>
                <a:tc>
                  <a:txBody>
                    <a:bodyPr/>
                    <a:lstStyle/>
                    <a:p>
                      <a:r>
                        <a:rPr lang="en-US" dirty="0" err="1"/>
                        <a:t>LName</a:t>
                      </a:r>
                      <a:endParaRPr lang="en-US" dirty="0"/>
                    </a:p>
                  </a:txBody>
                  <a:tcPr/>
                </a:tc>
                <a:tc>
                  <a:txBody>
                    <a:bodyPr/>
                    <a:lstStyle/>
                    <a:p>
                      <a:r>
                        <a:rPr lang="en-US" dirty="0" err="1"/>
                        <a:t>HireDate</a:t>
                      </a:r>
                      <a:endParaRPr lang="en-US" dirty="0"/>
                    </a:p>
                  </a:txBody>
                  <a:tcPr/>
                </a:tc>
                <a:tc>
                  <a:txBody>
                    <a:bodyPr/>
                    <a:lstStyle/>
                    <a:p>
                      <a:r>
                        <a:rPr lang="en-US" dirty="0" err="1"/>
                        <a:t>DeptID</a:t>
                      </a:r>
                      <a:endParaRPr lang="en-US" dirty="0"/>
                    </a:p>
                  </a:txBody>
                  <a:tcPr/>
                </a:tc>
                <a:extLst>
                  <a:ext uri="{0D108BD9-81ED-4DB2-BD59-A6C34878D82A}">
                    <a16:rowId xmlns:a16="http://schemas.microsoft.com/office/drawing/2014/main" val="10000"/>
                  </a:ext>
                </a:extLst>
              </a:tr>
              <a:tr h="370840">
                <a:tc>
                  <a:txBody>
                    <a:bodyPr/>
                    <a:lstStyle/>
                    <a:p>
                      <a:r>
                        <a:rPr lang="en-US" dirty="0"/>
                        <a:t>734</a:t>
                      </a:r>
                    </a:p>
                  </a:txBody>
                  <a:tcPr/>
                </a:tc>
                <a:tc>
                  <a:txBody>
                    <a:bodyPr/>
                    <a:lstStyle/>
                    <a:p>
                      <a:r>
                        <a:rPr lang="en-US" dirty="0"/>
                        <a:t>Aaron</a:t>
                      </a:r>
                    </a:p>
                  </a:txBody>
                  <a:tcPr/>
                </a:tc>
                <a:tc>
                  <a:txBody>
                    <a:bodyPr/>
                    <a:lstStyle/>
                    <a:p>
                      <a:r>
                        <a:rPr lang="en-US" dirty="0"/>
                        <a:t>Cooper</a:t>
                      </a:r>
                    </a:p>
                  </a:txBody>
                  <a:tcPr/>
                </a:tc>
                <a:tc>
                  <a:txBody>
                    <a:bodyPr/>
                    <a:lstStyle/>
                    <a:p>
                      <a:r>
                        <a:rPr lang="en-US" dirty="0"/>
                        <a:t>4/17/99</a:t>
                      </a:r>
                    </a:p>
                  </a:txBody>
                  <a:tcPr/>
                </a:tc>
                <a:tc>
                  <a:txBody>
                    <a:bodyPr/>
                    <a:lstStyle/>
                    <a:p>
                      <a:pPr algn="ctr"/>
                      <a:r>
                        <a:rPr lang="en-US" dirty="0"/>
                        <a:t>2</a:t>
                      </a:r>
                    </a:p>
                  </a:txBody>
                  <a:tcPr/>
                </a:tc>
                <a:extLst>
                  <a:ext uri="{0D108BD9-81ED-4DB2-BD59-A6C34878D82A}">
                    <a16:rowId xmlns:a16="http://schemas.microsoft.com/office/drawing/2014/main" val="10001"/>
                  </a:ext>
                </a:extLst>
              </a:tr>
              <a:tr h="370840">
                <a:tc>
                  <a:txBody>
                    <a:bodyPr/>
                    <a:lstStyle/>
                    <a:p>
                      <a:r>
                        <a:rPr lang="en-US" dirty="0"/>
                        <a:t>736</a:t>
                      </a:r>
                    </a:p>
                  </a:txBody>
                  <a:tcPr/>
                </a:tc>
                <a:tc>
                  <a:txBody>
                    <a:bodyPr/>
                    <a:lstStyle/>
                    <a:p>
                      <a:r>
                        <a:rPr lang="en-US" dirty="0"/>
                        <a:t>Alice</a:t>
                      </a:r>
                    </a:p>
                  </a:txBody>
                  <a:tcPr/>
                </a:tc>
                <a:tc>
                  <a:txBody>
                    <a:bodyPr/>
                    <a:lstStyle/>
                    <a:p>
                      <a:r>
                        <a:rPr lang="en-US" dirty="0"/>
                        <a:t>Bailey</a:t>
                      </a:r>
                    </a:p>
                  </a:txBody>
                  <a:tcPr/>
                </a:tc>
                <a:tc>
                  <a:txBody>
                    <a:bodyPr/>
                    <a:lstStyle/>
                    <a:p>
                      <a:r>
                        <a:rPr lang="en-US" dirty="0"/>
                        <a:t>9/1/99</a:t>
                      </a:r>
                    </a:p>
                  </a:txBody>
                  <a:tcPr/>
                </a:tc>
                <a:tc>
                  <a:txBody>
                    <a:bodyPr/>
                    <a:lstStyle/>
                    <a:p>
                      <a:pPr algn="ctr"/>
                      <a:r>
                        <a:rPr lang="en-US" dirty="0"/>
                        <a:t>1</a:t>
                      </a:r>
                    </a:p>
                  </a:txBody>
                  <a:tcPr/>
                </a:tc>
                <a:extLst>
                  <a:ext uri="{0D108BD9-81ED-4DB2-BD59-A6C34878D82A}">
                    <a16:rowId xmlns:a16="http://schemas.microsoft.com/office/drawing/2014/main" val="10002"/>
                  </a:ext>
                </a:extLst>
              </a:tr>
              <a:tr h="370840">
                <a:tc>
                  <a:txBody>
                    <a:bodyPr/>
                    <a:lstStyle/>
                    <a:p>
                      <a:r>
                        <a:rPr lang="en-US" dirty="0"/>
                        <a:t>738</a:t>
                      </a:r>
                    </a:p>
                  </a:txBody>
                  <a:tcPr/>
                </a:tc>
                <a:tc>
                  <a:txBody>
                    <a:bodyPr/>
                    <a:lstStyle/>
                    <a:p>
                      <a:r>
                        <a:rPr lang="en-US" dirty="0"/>
                        <a:t>John</a:t>
                      </a:r>
                    </a:p>
                  </a:txBody>
                  <a:tcPr/>
                </a:tc>
                <a:tc>
                  <a:txBody>
                    <a:bodyPr/>
                    <a:lstStyle/>
                    <a:p>
                      <a:r>
                        <a:rPr lang="en-US" dirty="0"/>
                        <a:t>Cruz</a:t>
                      </a:r>
                    </a:p>
                  </a:txBody>
                  <a:tcPr/>
                </a:tc>
                <a:tc>
                  <a:txBody>
                    <a:bodyPr/>
                    <a:lstStyle/>
                    <a:p>
                      <a:r>
                        <a:rPr lang="en-US" dirty="0"/>
                        <a:t>6/1/15</a:t>
                      </a:r>
                    </a:p>
                  </a:txBody>
                  <a:tcPr/>
                </a:tc>
                <a:tc>
                  <a:txBody>
                    <a:bodyPr/>
                    <a:lstStyle/>
                    <a:p>
                      <a:pPr algn="ctr"/>
                      <a:r>
                        <a:rPr lang="en-US" dirty="0"/>
                        <a:t>3</a:t>
                      </a:r>
                    </a:p>
                  </a:txBody>
                  <a:tcPr/>
                </a:tc>
                <a:extLst>
                  <a:ext uri="{0D108BD9-81ED-4DB2-BD59-A6C34878D82A}">
                    <a16:rowId xmlns:a16="http://schemas.microsoft.com/office/drawing/2014/main" val="10003"/>
                  </a:ext>
                </a:extLst>
              </a:tr>
              <a:tr h="370840">
                <a:tc>
                  <a:txBody>
                    <a:bodyPr/>
                    <a:lstStyle/>
                    <a:p>
                      <a:r>
                        <a:rPr lang="en-US" dirty="0"/>
                        <a:t>750</a:t>
                      </a:r>
                    </a:p>
                  </a:txBody>
                  <a:tcPr/>
                </a:tc>
                <a:tc>
                  <a:txBody>
                    <a:bodyPr/>
                    <a:lstStyle/>
                    <a:p>
                      <a:r>
                        <a:rPr lang="en-US" dirty="0"/>
                        <a:t>Joe</a:t>
                      </a:r>
                    </a:p>
                  </a:txBody>
                  <a:tcPr/>
                </a:tc>
                <a:tc>
                  <a:txBody>
                    <a:bodyPr/>
                    <a:lstStyle/>
                    <a:p>
                      <a:r>
                        <a:rPr lang="en-US" dirty="0"/>
                        <a:t>Allen</a:t>
                      </a:r>
                    </a:p>
                  </a:txBody>
                  <a:tcPr/>
                </a:tc>
                <a:tc>
                  <a:txBody>
                    <a:bodyPr/>
                    <a:lstStyle/>
                    <a:p>
                      <a:endParaRPr lang="en-US" dirty="0"/>
                    </a:p>
                  </a:txBody>
                  <a:tcPr/>
                </a:tc>
                <a:tc>
                  <a:txBody>
                    <a:bodyPr/>
                    <a:lstStyle/>
                    <a:p>
                      <a:pPr algn="ctr"/>
                      <a:r>
                        <a:rPr lang="en-US" dirty="0"/>
                        <a:t>3</a:t>
                      </a:r>
                    </a:p>
                  </a:txBody>
                  <a:tcPr/>
                </a:tc>
                <a:extLst>
                  <a:ext uri="{0D108BD9-81ED-4DB2-BD59-A6C34878D82A}">
                    <a16:rowId xmlns:a16="http://schemas.microsoft.com/office/drawing/2014/main" val="10004"/>
                  </a:ext>
                </a:extLst>
              </a:tr>
            </a:tbl>
          </a:graphicData>
        </a:graphic>
      </p:graphicFrame>
      <p:sp>
        <p:nvSpPr>
          <p:cNvPr id="16" name="TextBox 15"/>
          <p:cNvSpPr txBox="1"/>
          <p:nvPr/>
        </p:nvSpPr>
        <p:spPr>
          <a:xfrm>
            <a:off x="2114976" y="3155093"/>
            <a:ext cx="6516131" cy="707886"/>
          </a:xfrm>
          <a:prstGeom prst="rect">
            <a:avLst/>
          </a:prstGeom>
          <a:noFill/>
        </p:spPr>
        <p:txBody>
          <a:bodyPr wrap="square" rtlCol="0">
            <a:spAutoFit/>
          </a:bodyPr>
          <a:lstStyle/>
          <a:p>
            <a:r>
              <a:rPr lang="en-US" sz="2000" dirty="0"/>
              <a:t>Example: DELETE FROM Employees		</a:t>
            </a:r>
          </a:p>
          <a:p>
            <a:r>
              <a:rPr lang="en-US" sz="2000" dirty="0"/>
              <a:t>	 WHERE ID = 735;</a:t>
            </a:r>
          </a:p>
        </p:txBody>
      </p:sp>
      <p:sp>
        <p:nvSpPr>
          <p:cNvPr id="7" name="TextBox 6"/>
          <p:cNvSpPr txBox="1"/>
          <p:nvPr/>
        </p:nvSpPr>
        <p:spPr>
          <a:xfrm>
            <a:off x="2114976" y="1186498"/>
            <a:ext cx="6516131" cy="1200329"/>
          </a:xfrm>
          <a:prstGeom prst="rect">
            <a:avLst/>
          </a:prstGeom>
          <a:noFill/>
        </p:spPr>
        <p:txBody>
          <a:bodyPr wrap="square" rtlCol="0">
            <a:spAutoFit/>
          </a:bodyPr>
          <a:lstStyle/>
          <a:p>
            <a:r>
              <a:rPr lang="en-US" sz="2400" dirty="0">
                <a:solidFill>
                  <a:schemeClr val="tx2"/>
                </a:solidFill>
              </a:rPr>
              <a:t>Deletes information:</a:t>
            </a:r>
          </a:p>
          <a:p>
            <a:r>
              <a:rPr lang="en-US" sz="2400" b="1" dirty="0">
                <a:solidFill>
                  <a:schemeClr val="accent1">
                    <a:lumMod val="75000"/>
                  </a:schemeClr>
                </a:solidFill>
              </a:rPr>
              <a:t>	       	DELETE FROM </a:t>
            </a:r>
            <a:r>
              <a:rPr lang="en-US" sz="2400" b="1" i="1" dirty="0">
                <a:solidFill>
                  <a:schemeClr val="accent1">
                    <a:lumMod val="75000"/>
                  </a:schemeClr>
                </a:solidFill>
              </a:rPr>
              <a:t>table</a:t>
            </a:r>
          </a:p>
          <a:p>
            <a:r>
              <a:rPr lang="en-US" sz="2400" b="1" dirty="0">
                <a:solidFill>
                  <a:schemeClr val="accent1">
                    <a:lumMod val="75000"/>
                  </a:schemeClr>
                </a:solidFill>
              </a:rPr>
              <a:t>	   	WHERE </a:t>
            </a:r>
            <a:r>
              <a:rPr lang="en-US" sz="2400" b="1" i="1" dirty="0">
                <a:solidFill>
                  <a:schemeClr val="accent1">
                    <a:lumMod val="75000"/>
                  </a:schemeClr>
                </a:solidFill>
              </a:rPr>
              <a:t>condition</a:t>
            </a:r>
          </a:p>
        </p:txBody>
      </p:sp>
    </p:spTree>
    <p:extLst>
      <p:ext uri="{BB962C8B-B14F-4D97-AF65-F5344CB8AC3E}">
        <p14:creationId xmlns:p14="http://schemas.microsoft.com/office/powerpoint/2010/main" val="4253493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573</Words>
  <Application>Microsoft Office PowerPoint</Application>
  <PresentationFormat>Widescreen</PresentationFormat>
  <Paragraphs>177</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Arial</vt:lpstr>
      <vt:lpstr>Calibri</vt:lpstr>
      <vt:lpstr>Calibri Light</vt:lpstr>
      <vt:lpstr>Times New Roman</vt:lpstr>
      <vt:lpstr>Wingdings</vt:lpstr>
      <vt:lpstr>Office Theme</vt:lpstr>
      <vt:lpstr>SQL VI - advanced queries</vt:lpstr>
      <vt:lpstr>Outline</vt:lpstr>
      <vt:lpstr>Create a SQL query that shows…</vt:lpstr>
      <vt:lpstr>More “tough” queries</vt:lpstr>
      <vt:lpstr>Appendix - SQL  Data Manipulation</vt:lpstr>
      <vt:lpstr>Data Manipulation</vt:lpstr>
      <vt:lpstr>INSERT INTO</vt:lpstr>
      <vt:lpstr>UPDATE … SET</vt:lpstr>
      <vt:lpstr>DELETE FROM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VI - advanced queries</dc:title>
  <dc:creator>Disha Parkhi</dc:creator>
  <cp:lastModifiedBy>Disha Parkhi</cp:lastModifiedBy>
  <cp:revision>1</cp:revision>
  <dcterms:created xsi:type="dcterms:W3CDTF">2020-08-22T21:57:20Z</dcterms:created>
  <dcterms:modified xsi:type="dcterms:W3CDTF">2020-08-22T21:57:46Z</dcterms:modified>
</cp:coreProperties>
</file>