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3" r:id="rId2"/>
    <p:sldId id="292" r:id="rId3"/>
    <p:sldId id="261" r:id="rId4"/>
    <p:sldId id="265" r:id="rId5"/>
    <p:sldId id="298" r:id="rId6"/>
    <p:sldId id="266" r:id="rId7"/>
    <p:sldId id="300" r:id="rId8"/>
    <p:sldId id="301" r:id="rId9"/>
    <p:sldId id="297" r:id="rId10"/>
    <p:sldId id="299" r:id="rId11"/>
    <p:sldId id="268" r:id="rId12"/>
    <p:sldId id="269" r:id="rId13"/>
    <p:sldId id="270" r:id="rId14"/>
    <p:sldId id="271" r:id="rId15"/>
    <p:sldId id="273" r:id="rId16"/>
    <p:sldId id="274" r:id="rId17"/>
    <p:sldId id="276" r:id="rId18"/>
    <p:sldId id="277" r:id="rId19"/>
    <p:sldId id="302" r:id="rId20"/>
    <p:sldId id="280" r:id="rId21"/>
    <p:sldId id="281" r:id="rId22"/>
    <p:sldId id="303" r:id="rId23"/>
    <p:sldId id="295" r:id="rId24"/>
    <p:sldId id="294" r:id="rId25"/>
    <p:sldId id="29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93"/>
            <p14:sldId id="292"/>
          </p14:sldIdLst>
        </p14:section>
        <p14:section name="Joins" id="{1909A38A-556C-4E84-BDF6-740567E38C85}">
          <p14:sldIdLst>
            <p14:sldId id="261"/>
            <p14:sldId id="265"/>
            <p14:sldId id="298"/>
            <p14:sldId id="266"/>
            <p14:sldId id="300"/>
            <p14:sldId id="301"/>
            <p14:sldId id="297"/>
            <p14:sldId id="299"/>
            <p14:sldId id="268"/>
            <p14:sldId id="269"/>
            <p14:sldId id="270"/>
            <p14:sldId id="271"/>
            <p14:sldId id="273"/>
            <p14:sldId id="274"/>
            <p14:sldId id="276"/>
            <p14:sldId id="277"/>
            <p14:sldId id="302"/>
            <p14:sldId id="280"/>
            <p14:sldId id="281"/>
            <p14:sldId id="303"/>
          </p14:sldIdLst>
        </p14:section>
        <p14:section name="Practice" id="{C908350A-318A-7544-AE03-B5A1CC9762BE}">
          <p14:sldIdLst>
            <p14:sldId id="295"/>
            <p14:sldId id="294"/>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sha Parkhi" userId="7ca7a02737f3c9a0" providerId="LiveId" clId="{1EAF7D97-2E02-4688-9A0F-FEEC672452D7}"/>
    <pc:docChg chg="modSld">
      <pc:chgData name="Disha Parkhi" userId="7ca7a02737f3c9a0" providerId="LiveId" clId="{1EAF7D97-2E02-4688-9A0F-FEEC672452D7}" dt="2022-03-31T14:47:54.695" v="1" actId="1076"/>
      <pc:docMkLst>
        <pc:docMk/>
      </pc:docMkLst>
      <pc:sldChg chg="modSp mod">
        <pc:chgData name="Disha Parkhi" userId="7ca7a02737f3c9a0" providerId="LiveId" clId="{1EAF7D97-2E02-4688-9A0F-FEEC672452D7}" dt="2022-03-31T14:47:54.695" v="1" actId="1076"/>
        <pc:sldMkLst>
          <pc:docMk/>
          <pc:sldMk cId="1152268337" sldId="266"/>
        </pc:sldMkLst>
        <pc:spChg chg="mod">
          <ac:chgData name="Disha Parkhi" userId="7ca7a02737f3c9a0" providerId="LiveId" clId="{1EAF7D97-2E02-4688-9A0F-FEEC672452D7}" dt="2022-03-31T14:47:49.202" v="0" actId="1076"/>
          <ac:spMkLst>
            <pc:docMk/>
            <pc:sldMk cId="1152268337" sldId="266"/>
            <ac:spMk id="3" creationId="{00000000-0000-0000-0000-000000000000}"/>
          </ac:spMkLst>
        </pc:spChg>
        <pc:spChg chg="mod">
          <ac:chgData name="Disha Parkhi" userId="7ca7a02737f3c9a0" providerId="LiveId" clId="{1EAF7D97-2E02-4688-9A0F-FEEC672452D7}" dt="2022-03-31T14:47:54.695" v="1" actId="1076"/>
          <ac:spMkLst>
            <pc:docMk/>
            <pc:sldMk cId="1152268337" sldId="266"/>
            <ac:spMk id="1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3503-DD5F-4486-A4F1-2442F1B87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15BA9F-B2B6-4E1F-900B-7357C210FF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1297FF-A0E9-4A21-A30B-F936B60C184E}"/>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40A7C5B7-15ED-4900-AB98-43672E2D2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04AAF-2AFA-4CC5-97D8-DFDB5BDFE227}"/>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512209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C5A5-5489-4305-A3BC-182D87D46D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44F05C-9B75-4D12-B138-43D1C1BB99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93237-77A1-476A-BDEC-5134B65CD59B}"/>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8DA9B674-ADFB-4269-A749-0C8BF1B9BC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E9D4C-88D2-4AC0-AF28-AD4144FD0BEA}"/>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856191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9B2A-F3CC-40AB-B66A-D6EC701772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C8E086-6CD5-4761-958F-192F611154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1D25BE-4C3B-497E-B289-0B0EFA7552A2}"/>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DE4CFC74-EDF7-4811-BF22-1FFF90D7C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1B6D50-B102-4D74-982F-FC887F714230}"/>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1211040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71725-E374-46A1-9603-384B9A33CF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638587-DDFF-44BB-8DBA-55230A2B0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B16972-9E9F-4A40-B780-5B5239D6E0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FC7193-3100-48B3-92DA-D5A3929E9014}"/>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6" name="Footer Placeholder 5">
            <a:extLst>
              <a:ext uri="{FF2B5EF4-FFF2-40B4-BE49-F238E27FC236}">
                <a16:creationId xmlns:a16="http://schemas.microsoft.com/office/drawing/2014/main" id="{C66E55DB-6A41-43FC-84D1-4B8C56AFC3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88E975-7299-4C38-98B4-542A6F80E797}"/>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4214591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14FC-A102-4B3C-B654-CDED20F9CB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1DF93E-7D89-4E57-937B-F139FAAE2A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2037AF-B0A3-4B17-AC1C-FBADE4ADF0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B984C7-22C1-485A-ADF5-CF2BBECA4A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CF9188-5FAA-4A65-8B36-B6EE4788CE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6F65FD-99A0-4A6D-B559-99E67AB31101}"/>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8" name="Footer Placeholder 7">
            <a:extLst>
              <a:ext uri="{FF2B5EF4-FFF2-40B4-BE49-F238E27FC236}">
                <a16:creationId xmlns:a16="http://schemas.microsoft.com/office/drawing/2014/main" id="{4A252F38-E41D-4D57-AC4A-A40CF24399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4F597-B73D-450D-B70D-5495CA241249}"/>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381747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1714-3394-4E2B-9121-280D362A22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666172-814C-4F2F-BF00-1C5FACCF1BBB}"/>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4" name="Footer Placeholder 3">
            <a:extLst>
              <a:ext uri="{FF2B5EF4-FFF2-40B4-BE49-F238E27FC236}">
                <a16:creationId xmlns:a16="http://schemas.microsoft.com/office/drawing/2014/main" id="{4021E77A-7AC7-4971-A5BE-FF9C360017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A70126-D9D3-4213-B91F-8F6E90EB6038}"/>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200221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68152E-55DD-42D7-8619-82615773DDC5}"/>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3" name="Footer Placeholder 2">
            <a:extLst>
              <a:ext uri="{FF2B5EF4-FFF2-40B4-BE49-F238E27FC236}">
                <a16:creationId xmlns:a16="http://schemas.microsoft.com/office/drawing/2014/main" id="{61C1C946-A1F7-4C2F-9E30-4C9F13049B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897F9E-85FB-44A4-9423-017B7D3B864D}"/>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22984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0A31-97E0-4882-AE5A-BFE5938CE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D2B63B-934A-4CF9-8620-ECF9A2B44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05C7FC-3C6A-43C0-B9FB-D978C2E6F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DADF88-26CB-48EC-A542-E2BAFF2439D6}"/>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6" name="Footer Placeholder 5">
            <a:extLst>
              <a:ext uri="{FF2B5EF4-FFF2-40B4-BE49-F238E27FC236}">
                <a16:creationId xmlns:a16="http://schemas.microsoft.com/office/drawing/2014/main" id="{8C517F8A-E8F7-4CFD-8833-C55021180F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4201D-DDE1-4197-AB39-D6033E32FC00}"/>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3319896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4D9BF-4000-4441-A6F2-372FD4B54B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6833EA-EE7A-4493-9EB4-01BCB24E2B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B2B982-6359-4BE6-B4A9-E8E875B05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95E64-EECD-4844-A407-109927942F63}"/>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6" name="Footer Placeholder 5">
            <a:extLst>
              <a:ext uri="{FF2B5EF4-FFF2-40B4-BE49-F238E27FC236}">
                <a16:creationId xmlns:a16="http://schemas.microsoft.com/office/drawing/2014/main" id="{C6C9A53A-C03C-4C5B-BAA2-50D1DF2369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2532A5-7566-48C1-8902-2979413448F8}"/>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2878462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1745-BF96-4361-9651-0029FB9424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DBB185-B7F3-4F6E-B542-06E957D678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61407-FD90-45BA-B150-EFAA3607B2EE}"/>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125DC602-A3E2-4ADB-89B9-0CCFD1E4BC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3B6195-5973-4049-9C61-ABE201BAA828}"/>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1997277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C3D60C-D84A-4614-A783-DC80882115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804F03-89CA-449D-8E73-75E4621D37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27EDA-E9FC-4A6B-9973-45F522A7CDA9}"/>
              </a:ext>
            </a:extLst>
          </p:cNvPr>
          <p:cNvSpPr>
            <a:spLocks noGrp="1"/>
          </p:cNvSpPr>
          <p:nvPr>
            <p:ph type="dt" sz="half" idx="10"/>
          </p:nvPr>
        </p:nvSpPr>
        <p:spPr/>
        <p:txBody>
          <a:body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238545DB-7FB3-4489-B137-FFA1A5280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6D5B80-32E3-4302-A64C-FEA0F63132AD}"/>
              </a:ext>
            </a:extLst>
          </p:cNvPr>
          <p:cNvSpPr>
            <a:spLocks noGrp="1"/>
          </p:cNvSpPr>
          <p:nvPr>
            <p:ph type="sldNum" sz="quarter" idx="12"/>
          </p:nvPr>
        </p:nvSpPr>
        <p:spPr/>
        <p:txBody>
          <a:bodyPr/>
          <a:lstStyle/>
          <a:p>
            <a:fld id="{583FE70D-F1A1-4365-BF16-8F367D4F864A}" type="slidenum">
              <a:rPr lang="en-US" smtClean="0"/>
              <a:t>‹#›</a:t>
            </a:fld>
            <a:endParaRPr lang="en-US"/>
          </a:p>
        </p:txBody>
      </p:sp>
    </p:spTree>
    <p:extLst>
      <p:ext uri="{BB962C8B-B14F-4D97-AF65-F5344CB8AC3E}">
        <p14:creationId xmlns:p14="http://schemas.microsoft.com/office/powerpoint/2010/main" val="304342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FB10CB-B907-49B4-910B-961E38534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6E8A81-E7EE-4DE1-8CD0-F553DEE75D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5705FC-D2B1-4C1F-804C-66AAE0279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69170C-892A-43B2-BA35-58907EDE7A7E}" type="datetimeFigureOut">
              <a:rPr lang="en-US" smtClean="0"/>
              <a:t>3/31/2022</a:t>
            </a:fld>
            <a:endParaRPr lang="en-US"/>
          </a:p>
        </p:txBody>
      </p:sp>
      <p:sp>
        <p:nvSpPr>
          <p:cNvPr id="5" name="Footer Placeholder 4">
            <a:extLst>
              <a:ext uri="{FF2B5EF4-FFF2-40B4-BE49-F238E27FC236}">
                <a16:creationId xmlns:a16="http://schemas.microsoft.com/office/drawing/2014/main" id="{B2CB5C1D-E1E4-4F52-9EF8-7E5F5F3522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1515FC0-32C7-4470-ADB3-2280518B3E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3FE70D-F1A1-4365-BF16-8F367D4F864A}" type="slidenum">
              <a:rPr lang="en-US" smtClean="0"/>
              <a:t>‹#›</a:t>
            </a:fld>
            <a:endParaRPr lang="en-US"/>
          </a:p>
        </p:txBody>
      </p:sp>
    </p:spTree>
    <p:extLst>
      <p:ext uri="{BB962C8B-B14F-4D97-AF65-F5344CB8AC3E}">
        <p14:creationId xmlns:p14="http://schemas.microsoft.com/office/powerpoint/2010/main" val="23430494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 III – multiple tables (</a:t>
            </a:r>
            <a:r>
              <a:rPr lang="en-US" i="1" dirty="0"/>
              <a:t>joins</a:t>
            </a:r>
            <a:r>
              <a:rPr lang="en-US" dirty="0"/>
              <a:t>)</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solidFill>
                <a:schemeClr val="tx1"/>
              </a:solidFill>
            </a:endParaRPr>
          </a:p>
          <a:p>
            <a:r>
              <a:rPr lang="en-US" b="1" dirty="0">
                <a:solidFill>
                  <a:schemeClr val="tx1"/>
                </a:solidFill>
              </a:rPr>
              <a:t>Management Information Systems</a:t>
            </a:r>
          </a:p>
          <a:p>
            <a:r>
              <a:rPr lang="en-US"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1621319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16920" y="1664654"/>
            <a:ext cx="4505469" cy="3766185"/>
          </a:xfrm>
        </p:spPr>
        <p:txBody>
          <a:bodyPr>
            <a:normAutofit/>
          </a:bodyPr>
          <a:lstStyle/>
          <a:p>
            <a:pPr marL="0" indent="0">
              <a:buNone/>
            </a:pPr>
            <a:endParaRPr lang="en-US" dirty="0"/>
          </a:p>
          <a:p>
            <a:pPr>
              <a:buFont typeface="Wingdings" panose="05000000000000000000" pitchFamily="2" charset="2"/>
              <a:buChar char="§"/>
            </a:pPr>
            <a:r>
              <a:rPr lang="en-US" dirty="0"/>
              <a:t> Different ways of joining tables: </a:t>
            </a:r>
          </a:p>
          <a:p>
            <a:pPr lvl="2">
              <a:buFont typeface="Wingdings" panose="05000000000000000000" pitchFamily="2" charset="2"/>
              <a:buChar char="§"/>
            </a:pPr>
            <a:r>
              <a:rPr lang="en-US" dirty="0"/>
              <a:t>INNER JOIN</a:t>
            </a:r>
          </a:p>
          <a:p>
            <a:pPr lvl="2">
              <a:buFont typeface="Wingdings" panose="05000000000000000000" pitchFamily="2" charset="2"/>
              <a:buChar char="§"/>
            </a:pPr>
            <a:r>
              <a:rPr lang="en-US" dirty="0"/>
              <a:t>Outer joins: LEFT JOIN and RIGHT JOIN</a:t>
            </a:r>
          </a:p>
          <a:p>
            <a:pPr>
              <a:buFont typeface="Wingdings" panose="05000000000000000000" pitchFamily="2" charset="2"/>
              <a:buChar char="§"/>
            </a:pPr>
            <a:r>
              <a:rPr lang="en-US" dirty="0"/>
              <a:t> Queries with multiple tables</a:t>
            </a:r>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5" name="Content Placeholder 8"/>
          <p:cNvSpPr txBox="1">
            <a:spLocks/>
          </p:cNvSpPr>
          <p:nvPr/>
        </p:nvSpPr>
        <p:spPr>
          <a:xfrm>
            <a:off x="6793681" y="2157732"/>
            <a:ext cx="3466072" cy="2282661"/>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sz="2200" i="1" dirty="0"/>
              <a:t> </a:t>
            </a:r>
            <a:r>
              <a:rPr lang="en-US" sz="2200" i="1"/>
              <a:t>Posted notes</a:t>
            </a:r>
          </a:p>
          <a:p>
            <a:pPr>
              <a:lnSpc>
                <a:spcPct val="100000"/>
              </a:lnSpc>
              <a:buFont typeface="Wingdings" charset="2"/>
              <a:buChar char="ü"/>
            </a:pPr>
            <a:r>
              <a:rPr lang="en-US" sz="2200" i="1"/>
              <a:t>Book </a:t>
            </a:r>
            <a:r>
              <a:rPr lang="en-US" sz="2200" i="1" dirty="0"/>
              <a:t>chapter 10: 218-240</a:t>
            </a:r>
          </a:p>
        </p:txBody>
      </p:sp>
    </p:spTree>
    <p:extLst>
      <p:ext uri="{BB962C8B-B14F-4D97-AF65-F5344CB8AC3E}">
        <p14:creationId xmlns:p14="http://schemas.microsoft.com/office/powerpoint/2010/main" val="385733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Joins</a:t>
            </a:r>
          </a:p>
        </p:txBody>
      </p:sp>
      <p:sp>
        <p:nvSpPr>
          <p:cNvPr id="3" name="Text Placeholder 2"/>
          <p:cNvSpPr>
            <a:spLocks noGrp="1"/>
          </p:cNvSpPr>
          <p:nvPr>
            <p:ph type="body" idx="1"/>
          </p:nvPr>
        </p:nvSpPr>
        <p:spPr>
          <a:xfrm>
            <a:off x="2024634" y="4187275"/>
            <a:ext cx="7910198" cy="1645920"/>
          </a:xfrm>
        </p:spPr>
        <p:txBody>
          <a:bodyPr>
            <a:normAutofit/>
          </a:bodyPr>
          <a:lstStyle/>
          <a:p>
            <a:r>
              <a:rPr lang="en-US" sz="4000" dirty="0"/>
              <a:t>Understanding how tables are joined in a query</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33251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4542" y="178258"/>
            <a:ext cx="8453372" cy="944487"/>
          </a:xfrm>
        </p:spPr>
        <p:txBody>
          <a:bodyPr>
            <a:normAutofit/>
          </a:bodyPr>
          <a:lstStyle/>
          <a:p>
            <a:r>
              <a:rPr lang="en-US" dirty="0"/>
              <a:t>Multiple table query</a:t>
            </a:r>
          </a:p>
        </p:txBody>
      </p:sp>
      <p:sp>
        <p:nvSpPr>
          <p:cNvPr id="3" name="Slide Number Placeholder 2"/>
          <p:cNvSpPr>
            <a:spLocks noGrp="1"/>
          </p:cNvSpPr>
          <p:nvPr>
            <p:ph type="sldNum" sz="quarter" idx="12"/>
          </p:nvPr>
        </p:nvSpPr>
        <p:spPr/>
        <p:txBody>
          <a:bodyPr/>
          <a:lstStyle/>
          <a:p>
            <a:fld id="{87F3E754-1C97-4481-A18C-9D97ADBDF344}" type="slidenum">
              <a:rPr lang="en-US" smtClean="0"/>
              <a:t>4</a:t>
            </a:fld>
            <a:endParaRPr lang="en-US"/>
          </a:p>
        </p:txBody>
      </p:sp>
      <p:graphicFrame>
        <p:nvGraphicFramePr>
          <p:cNvPr id="6" name="Table 5"/>
          <p:cNvGraphicFramePr>
            <a:graphicFrameLocks noGrp="1"/>
          </p:cNvGraphicFramePr>
          <p:nvPr/>
        </p:nvGraphicFramePr>
        <p:xfrm>
          <a:off x="2000444" y="1787417"/>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NULL</a:t>
                      </a:r>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7251677" y="1940696"/>
          <a:ext cx="3100197" cy="1483360"/>
        </p:xfrm>
        <a:graphic>
          <a:graphicData uri="http://schemas.openxmlformats.org/drawingml/2006/table">
            <a:tbl>
              <a:tblPr firstRow="1" bandRow="1">
                <a:tableStyleId>{5C22544A-7EE6-4342-B048-85BDC9FD1C3A}</a:tableStyleId>
              </a:tblPr>
              <a:tblGrid>
                <a:gridCol w="861187">
                  <a:extLst>
                    <a:ext uri="{9D8B030D-6E8A-4147-A177-3AD203B41FA5}">
                      <a16:colId xmlns:a16="http://schemas.microsoft.com/office/drawing/2014/main" val="20000"/>
                    </a:ext>
                  </a:extLst>
                </a:gridCol>
                <a:gridCol w="1241425">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tblGrid>
              <a:tr h="370840">
                <a:tc>
                  <a:txBody>
                    <a:bodyPr/>
                    <a:lstStyle/>
                    <a:p>
                      <a:r>
                        <a:rPr lang="en-US" u="sng" dirty="0" err="1"/>
                        <a:t>DeptID</a:t>
                      </a:r>
                      <a:endParaRPr lang="en-US" u="sng" dirty="0"/>
                    </a:p>
                  </a:txBody>
                  <a:tcPr/>
                </a:tc>
                <a:tc>
                  <a:txBody>
                    <a:bodyPr/>
                    <a:lstStyle/>
                    <a:p>
                      <a:r>
                        <a:rPr lang="en-US" dirty="0" err="1"/>
                        <a:t>DeptName</a:t>
                      </a:r>
                      <a:endParaRPr lang="en-US" dirty="0"/>
                    </a:p>
                  </a:txBody>
                  <a:tcPr/>
                </a:tc>
                <a:tc>
                  <a:txBody>
                    <a:bodyPr/>
                    <a:lstStyle/>
                    <a:p>
                      <a:r>
                        <a:rPr lang="en-US" dirty="0"/>
                        <a:t>Location</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Production</a:t>
                      </a:r>
                    </a:p>
                  </a:txBody>
                  <a:tcPr/>
                </a:tc>
                <a:tc>
                  <a:txBody>
                    <a:bodyPr/>
                    <a:lstStyle/>
                    <a:p>
                      <a:r>
                        <a:rPr lang="en-US" dirty="0"/>
                        <a:t>NJ</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Marketing</a:t>
                      </a:r>
                    </a:p>
                  </a:txBody>
                  <a:tcPr/>
                </a:tc>
                <a:tc>
                  <a:txBody>
                    <a:bodyPr/>
                    <a:lstStyle/>
                    <a:p>
                      <a:r>
                        <a:rPr lang="en-US" dirty="0"/>
                        <a:t>CA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Sales</a:t>
                      </a:r>
                    </a:p>
                  </a:txBody>
                  <a:tcPr/>
                </a:tc>
                <a:tc>
                  <a:txBody>
                    <a:bodyPr/>
                    <a:lstStyle/>
                    <a:p>
                      <a:r>
                        <a:rPr lang="en-US" dirty="0"/>
                        <a:t>CA</a:t>
                      </a:r>
                    </a:p>
                  </a:txBody>
                  <a:tcPr/>
                </a:tc>
                <a:extLst>
                  <a:ext uri="{0D108BD9-81ED-4DB2-BD59-A6C34878D82A}">
                    <a16:rowId xmlns:a16="http://schemas.microsoft.com/office/drawing/2014/main" val="10003"/>
                  </a:ext>
                </a:extLst>
              </a:tr>
            </a:tbl>
          </a:graphicData>
        </a:graphic>
      </p:graphicFrame>
      <p:cxnSp>
        <p:nvCxnSpPr>
          <p:cNvPr id="10" name="Elbow Connector 9"/>
          <p:cNvCxnSpPr/>
          <p:nvPr/>
        </p:nvCxnSpPr>
        <p:spPr>
          <a:xfrm>
            <a:off x="6318423" y="1993557"/>
            <a:ext cx="955589" cy="172994"/>
          </a:xfrm>
          <a:prstGeom prst="bentConnector3">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004222" y="1865185"/>
            <a:ext cx="881449" cy="369332"/>
          </a:xfrm>
          <a:prstGeom prst="rect">
            <a:avLst/>
          </a:prstGeom>
          <a:noFill/>
        </p:spPr>
        <p:txBody>
          <a:bodyPr wrap="square" rtlCol="0">
            <a:spAutoFit/>
          </a:bodyPr>
          <a:lstStyle/>
          <a:p>
            <a:r>
              <a:rPr lang="en-US" dirty="0"/>
              <a:t>1</a:t>
            </a:r>
          </a:p>
        </p:txBody>
      </p:sp>
      <p:sp>
        <p:nvSpPr>
          <p:cNvPr id="14" name="TextBox 13"/>
          <p:cNvSpPr txBox="1"/>
          <p:nvPr/>
        </p:nvSpPr>
        <p:spPr>
          <a:xfrm>
            <a:off x="6257668" y="1672281"/>
            <a:ext cx="881449" cy="369332"/>
          </a:xfrm>
          <a:prstGeom prst="rect">
            <a:avLst/>
          </a:prstGeom>
          <a:noFill/>
        </p:spPr>
        <p:txBody>
          <a:bodyPr wrap="square" rtlCol="0">
            <a:spAutoFit/>
          </a:bodyPr>
          <a:lstStyle/>
          <a:p>
            <a:r>
              <a:rPr lang="en-US" dirty="0"/>
              <a:t>M</a:t>
            </a:r>
          </a:p>
        </p:txBody>
      </p:sp>
      <p:sp>
        <p:nvSpPr>
          <p:cNvPr id="15" name="Diamond 14"/>
          <p:cNvSpPr/>
          <p:nvPr/>
        </p:nvSpPr>
        <p:spPr>
          <a:xfrm>
            <a:off x="6647936" y="1927655"/>
            <a:ext cx="284207" cy="3068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985513" y="3802256"/>
            <a:ext cx="8351430" cy="830997"/>
          </a:xfrm>
          <a:prstGeom prst="rect">
            <a:avLst/>
          </a:prstGeom>
          <a:noFill/>
        </p:spPr>
        <p:txBody>
          <a:bodyPr wrap="square" rtlCol="0">
            <a:spAutoFit/>
          </a:bodyPr>
          <a:lstStyle/>
          <a:p>
            <a:r>
              <a:rPr lang="en-US" sz="2400" dirty="0"/>
              <a:t>Suppose we want a query that shows the name of the employees who work in each department:</a:t>
            </a:r>
          </a:p>
        </p:txBody>
      </p:sp>
      <p:sp>
        <p:nvSpPr>
          <p:cNvPr id="11" name="TextBox 10"/>
          <p:cNvSpPr txBox="1"/>
          <p:nvPr/>
        </p:nvSpPr>
        <p:spPr>
          <a:xfrm>
            <a:off x="1953286" y="1165115"/>
            <a:ext cx="7274011" cy="461665"/>
          </a:xfrm>
          <a:prstGeom prst="rect">
            <a:avLst/>
          </a:prstGeom>
          <a:noFill/>
        </p:spPr>
        <p:txBody>
          <a:bodyPr wrap="square" rtlCol="0">
            <a:spAutoFit/>
          </a:bodyPr>
          <a:lstStyle/>
          <a:p>
            <a:r>
              <a:rPr lang="en-US" sz="2400" dirty="0"/>
              <a:t>Consider the following tiny database:</a:t>
            </a:r>
          </a:p>
        </p:txBody>
      </p:sp>
      <p:graphicFrame>
        <p:nvGraphicFramePr>
          <p:cNvPr id="12" name="Table 11"/>
          <p:cNvGraphicFramePr>
            <a:graphicFrameLocks noGrp="1"/>
          </p:cNvGraphicFramePr>
          <p:nvPr/>
        </p:nvGraphicFramePr>
        <p:xfrm>
          <a:off x="4515665" y="4744141"/>
          <a:ext cx="3098910" cy="1483360"/>
        </p:xfrm>
        <a:graphic>
          <a:graphicData uri="http://schemas.openxmlformats.org/drawingml/2006/table">
            <a:tbl>
              <a:tblPr firstRow="1" bandRow="1">
                <a:tableStyleId>{5C22544A-7EE6-4342-B048-85BDC9FD1C3A}</a:tableStyleId>
              </a:tblPr>
              <a:tblGrid>
                <a:gridCol w="907606">
                  <a:extLst>
                    <a:ext uri="{9D8B030D-6E8A-4147-A177-3AD203B41FA5}">
                      <a16:colId xmlns:a16="http://schemas.microsoft.com/office/drawing/2014/main" val="20000"/>
                    </a:ext>
                  </a:extLst>
                </a:gridCol>
                <a:gridCol w="906780">
                  <a:extLst>
                    <a:ext uri="{9D8B030D-6E8A-4147-A177-3AD203B41FA5}">
                      <a16:colId xmlns:a16="http://schemas.microsoft.com/office/drawing/2014/main" val="20001"/>
                    </a:ext>
                  </a:extLst>
                </a:gridCol>
                <a:gridCol w="1284524">
                  <a:extLst>
                    <a:ext uri="{9D8B030D-6E8A-4147-A177-3AD203B41FA5}">
                      <a16:colId xmlns:a16="http://schemas.microsoft.com/office/drawing/2014/main" val="20002"/>
                    </a:ext>
                  </a:extLst>
                </a:gridCol>
              </a:tblGrid>
              <a:tr h="370840">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DeptName</a:t>
                      </a:r>
                      <a:endParaRPr lang="en-US" dirty="0"/>
                    </a:p>
                  </a:txBody>
                  <a:tcPr/>
                </a:tc>
                <a:extLst>
                  <a:ext uri="{0D108BD9-81ED-4DB2-BD59-A6C34878D82A}">
                    <a16:rowId xmlns:a16="http://schemas.microsoft.com/office/drawing/2014/main" val="10000"/>
                  </a:ext>
                </a:extLst>
              </a:tr>
              <a:tr h="370840">
                <a:tc>
                  <a:txBody>
                    <a:bodyPr/>
                    <a:lstStyle/>
                    <a:p>
                      <a:r>
                        <a:rPr lang="en-US" dirty="0"/>
                        <a:t>Aaron</a:t>
                      </a:r>
                    </a:p>
                  </a:txBody>
                  <a:tcPr/>
                </a:tc>
                <a:tc>
                  <a:txBody>
                    <a:bodyPr/>
                    <a:lstStyle/>
                    <a:p>
                      <a:r>
                        <a:rPr lang="en-US" dirty="0"/>
                        <a:t>Cooper</a:t>
                      </a:r>
                    </a:p>
                  </a:txBody>
                  <a:tcPr/>
                </a:tc>
                <a:tc>
                  <a:txBody>
                    <a:bodyPr/>
                    <a:lstStyle/>
                    <a:p>
                      <a:pPr algn="ctr"/>
                      <a:r>
                        <a:rPr lang="en-US" dirty="0"/>
                        <a:t>Marketing</a:t>
                      </a:r>
                    </a:p>
                  </a:txBody>
                  <a:tcPr/>
                </a:tc>
                <a:extLst>
                  <a:ext uri="{0D108BD9-81ED-4DB2-BD59-A6C34878D82A}">
                    <a16:rowId xmlns:a16="http://schemas.microsoft.com/office/drawing/2014/main" val="10001"/>
                  </a:ext>
                </a:extLst>
              </a:tr>
              <a:tr h="370840">
                <a:tc>
                  <a:txBody>
                    <a:bodyPr/>
                    <a:lstStyle/>
                    <a:p>
                      <a:r>
                        <a:rPr lang="en-US" dirty="0"/>
                        <a:t>Lou</a:t>
                      </a:r>
                    </a:p>
                  </a:txBody>
                  <a:tcPr/>
                </a:tc>
                <a:tc>
                  <a:txBody>
                    <a:bodyPr/>
                    <a:lstStyle/>
                    <a:p>
                      <a:r>
                        <a:rPr lang="en-US" dirty="0"/>
                        <a:t>Bono</a:t>
                      </a:r>
                    </a:p>
                  </a:txBody>
                  <a:tcPr/>
                </a:tc>
                <a:tc>
                  <a:txBody>
                    <a:bodyPr/>
                    <a:lstStyle/>
                    <a:p>
                      <a:pPr algn="ctr"/>
                      <a:r>
                        <a:rPr lang="en-US" dirty="0"/>
                        <a:t>Production</a:t>
                      </a:r>
                    </a:p>
                  </a:txBody>
                  <a:tcPr/>
                </a:tc>
                <a:extLst>
                  <a:ext uri="{0D108BD9-81ED-4DB2-BD59-A6C34878D82A}">
                    <a16:rowId xmlns:a16="http://schemas.microsoft.com/office/drawing/2014/main" val="10002"/>
                  </a:ext>
                </a:extLst>
              </a:tr>
              <a:tr h="370840">
                <a:tc>
                  <a:txBody>
                    <a:bodyPr/>
                    <a:lstStyle/>
                    <a:p>
                      <a:r>
                        <a:rPr lang="en-US" dirty="0"/>
                        <a:t>Alice</a:t>
                      </a:r>
                    </a:p>
                  </a:txBody>
                  <a:tcPr/>
                </a:tc>
                <a:tc>
                  <a:txBody>
                    <a:bodyPr/>
                    <a:lstStyle/>
                    <a:p>
                      <a:r>
                        <a:rPr lang="en-US" dirty="0"/>
                        <a:t>Bailey</a:t>
                      </a:r>
                    </a:p>
                  </a:txBody>
                  <a:tcPr/>
                </a:tc>
                <a:tc>
                  <a:txBody>
                    <a:bodyPr/>
                    <a:lstStyle/>
                    <a:p>
                      <a:pPr algn="ctr"/>
                      <a:r>
                        <a:rPr lang="en-US" dirty="0"/>
                        <a:t>Production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330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4542" y="178257"/>
            <a:ext cx="8453372" cy="1494024"/>
          </a:xfrm>
        </p:spPr>
        <p:txBody>
          <a:bodyPr>
            <a:normAutofit/>
          </a:bodyPr>
          <a:lstStyle/>
          <a:p>
            <a:r>
              <a:rPr lang="en-US" i="1" dirty="0"/>
              <a:t>1</a:t>
            </a:r>
            <a:r>
              <a:rPr lang="en-US" i="1" baseline="30000" dirty="0"/>
              <a:t>st</a:t>
            </a:r>
            <a:r>
              <a:rPr lang="en-US" i="1" dirty="0"/>
              <a:t> attempt</a:t>
            </a:r>
            <a:endParaRPr lang="en-US" dirty="0"/>
          </a:p>
        </p:txBody>
      </p:sp>
      <p:sp>
        <p:nvSpPr>
          <p:cNvPr id="3" name="Slide Number Placeholder 2"/>
          <p:cNvSpPr>
            <a:spLocks noGrp="1"/>
          </p:cNvSpPr>
          <p:nvPr>
            <p:ph type="sldNum" sz="quarter" idx="12"/>
          </p:nvPr>
        </p:nvSpPr>
        <p:spPr/>
        <p:txBody>
          <a:bodyPr/>
          <a:lstStyle/>
          <a:p>
            <a:fld id="{87F3E754-1C97-4481-A18C-9D97ADBDF344}" type="slidenum">
              <a:rPr lang="en-US" smtClean="0"/>
              <a:t>5</a:t>
            </a:fld>
            <a:endParaRPr lang="en-US"/>
          </a:p>
        </p:txBody>
      </p:sp>
      <p:graphicFrame>
        <p:nvGraphicFramePr>
          <p:cNvPr id="6" name="Table 5"/>
          <p:cNvGraphicFramePr>
            <a:graphicFrameLocks noGrp="1"/>
          </p:cNvGraphicFramePr>
          <p:nvPr/>
        </p:nvGraphicFramePr>
        <p:xfrm>
          <a:off x="2000444" y="1787417"/>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NULL</a:t>
                      </a:r>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7251677" y="1940696"/>
          <a:ext cx="3100197" cy="1483360"/>
        </p:xfrm>
        <a:graphic>
          <a:graphicData uri="http://schemas.openxmlformats.org/drawingml/2006/table">
            <a:tbl>
              <a:tblPr firstRow="1" bandRow="1">
                <a:tableStyleId>{5C22544A-7EE6-4342-B048-85BDC9FD1C3A}</a:tableStyleId>
              </a:tblPr>
              <a:tblGrid>
                <a:gridCol w="861187">
                  <a:extLst>
                    <a:ext uri="{9D8B030D-6E8A-4147-A177-3AD203B41FA5}">
                      <a16:colId xmlns:a16="http://schemas.microsoft.com/office/drawing/2014/main" val="20000"/>
                    </a:ext>
                  </a:extLst>
                </a:gridCol>
                <a:gridCol w="1241425">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tblGrid>
              <a:tr h="370840">
                <a:tc>
                  <a:txBody>
                    <a:bodyPr/>
                    <a:lstStyle/>
                    <a:p>
                      <a:r>
                        <a:rPr lang="en-US" u="sng" dirty="0" err="1"/>
                        <a:t>DeptID</a:t>
                      </a:r>
                      <a:endParaRPr lang="en-US" u="sng" dirty="0"/>
                    </a:p>
                  </a:txBody>
                  <a:tcPr/>
                </a:tc>
                <a:tc>
                  <a:txBody>
                    <a:bodyPr/>
                    <a:lstStyle/>
                    <a:p>
                      <a:r>
                        <a:rPr lang="en-US" dirty="0" err="1"/>
                        <a:t>DeptName</a:t>
                      </a:r>
                      <a:endParaRPr lang="en-US" dirty="0"/>
                    </a:p>
                  </a:txBody>
                  <a:tcPr/>
                </a:tc>
                <a:tc>
                  <a:txBody>
                    <a:bodyPr/>
                    <a:lstStyle/>
                    <a:p>
                      <a:r>
                        <a:rPr lang="en-US" dirty="0"/>
                        <a:t>Location</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Production</a:t>
                      </a:r>
                    </a:p>
                  </a:txBody>
                  <a:tcPr/>
                </a:tc>
                <a:tc>
                  <a:txBody>
                    <a:bodyPr/>
                    <a:lstStyle/>
                    <a:p>
                      <a:r>
                        <a:rPr lang="en-US" dirty="0"/>
                        <a:t>NJ</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Marketing</a:t>
                      </a:r>
                    </a:p>
                  </a:txBody>
                  <a:tcPr/>
                </a:tc>
                <a:tc>
                  <a:txBody>
                    <a:bodyPr/>
                    <a:lstStyle/>
                    <a:p>
                      <a:r>
                        <a:rPr lang="en-US" dirty="0"/>
                        <a:t>CA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Sales</a:t>
                      </a:r>
                    </a:p>
                  </a:txBody>
                  <a:tcPr/>
                </a:tc>
                <a:tc>
                  <a:txBody>
                    <a:bodyPr/>
                    <a:lstStyle/>
                    <a:p>
                      <a:r>
                        <a:rPr lang="en-US" dirty="0"/>
                        <a:t>CA</a:t>
                      </a:r>
                    </a:p>
                  </a:txBody>
                  <a:tcPr/>
                </a:tc>
                <a:extLst>
                  <a:ext uri="{0D108BD9-81ED-4DB2-BD59-A6C34878D82A}">
                    <a16:rowId xmlns:a16="http://schemas.microsoft.com/office/drawing/2014/main" val="10003"/>
                  </a:ext>
                </a:extLst>
              </a:tr>
            </a:tbl>
          </a:graphicData>
        </a:graphic>
      </p:graphicFrame>
      <p:cxnSp>
        <p:nvCxnSpPr>
          <p:cNvPr id="10" name="Elbow Connector 9"/>
          <p:cNvCxnSpPr/>
          <p:nvPr/>
        </p:nvCxnSpPr>
        <p:spPr>
          <a:xfrm>
            <a:off x="6318423" y="1993557"/>
            <a:ext cx="955589" cy="172994"/>
          </a:xfrm>
          <a:prstGeom prst="bentConnector3">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004222" y="1865185"/>
            <a:ext cx="881449" cy="369332"/>
          </a:xfrm>
          <a:prstGeom prst="rect">
            <a:avLst/>
          </a:prstGeom>
          <a:noFill/>
        </p:spPr>
        <p:txBody>
          <a:bodyPr wrap="square" rtlCol="0">
            <a:spAutoFit/>
          </a:bodyPr>
          <a:lstStyle/>
          <a:p>
            <a:r>
              <a:rPr lang="en-US" dirty="0"/>
              <a:t>1</a:t>
            </a:r>
          </a:p>
        </p:txBody>
      </p:sp>
      <p:sp>
        <p:nvSpPr>
          <p:cNvPr id="14" name="TextBox 13"/>
          <p:cNvSpPr txBox="1"/>
          <p:nvPr/>
        </p:nvSpPr>
        <p:spPr>
          <a:xfrm>
            <a:off x="6257668" y="1672281"/>
            <a:ext cx="881449" cy="369332"/>
          </a:xfrm>
          <a:prstGeom prst="rect">
            <a:avLst/>
          </a:prstGeom>
          <a:noFill/>
        </p:spPr>
        <p:txBody>
          <a:bodyPr wrap="square" rtlCol="0">
            <a:spAutoFit/>
          </a:bodyPr>
          <a:lstStyle/>
          <a:p>
            <a:r>
              <a:rPr lang="en-US" dirty="0"/>
              <a:t>M</a:t>
            </a:r>
          </a:p>
        </p:txBody>
      </p:sp>
      <p:sp>
        <p:nvSpPr>
          <p:cNvPr id="15" name="Diamond 14"/>
          <p:cNvSpPr/>
          <p:nvPr/>
        </p:nvSpPr>
        <p:spPr>
          <a:xfrm>
            <a:off x="6647936" y="1927655"/>
            <a:ext cx="284207" cy="3068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431848" y="4415857"/>
            <a:ext cx="7274011" cy="1477327"/>
          </a:xfrm>
          <a:prstGeom prst="rect">
            <a:avLst/>
          </a:prstGeom>
          <a:noFill/>
        </p:spPr>
        <p:txBody>
          <a:bodyPr wrap="square" rtlCol="0">
            <a:spAutoFit/>
          </a:bodyPr>
          <a:lstStyle/>
          <a:p>
            <a:r>
              <a:rPr lang="en-US" sz="2400" dirty="0"/>
              <a:t>Suppose we do the following query in the DB above:</a:t>
            </a:r>
          </a:p>
          <a:p>
            <a:endParaRPr lang="en-US" sz="1400" dirty="0"/>
          </a:p>
          <a:p>
            <a:pPr lvl="1"/>
            <a:r>
              <a:rPr lang="en-US" sz="2400" dirty="0"/>
              <a:t>SELECT </a:t>
            </a:r>
            <a:r>
              <a:rPr lang="en-US" sz="2400" dirty="0" err="1"/>
              <a:t>FName</a:t>
            </a:r>
            <a:r>
              <a:rPr lang="en-US" sz="2400" dirty="0"/>
              <a:t>, </a:t>
            </a:r>
            <a:r>
              <a:rPr lang="en-US" sz="2400" dirty="0" err="1"/>
              <a:t>LName</a:t>
            </a:r>
            <a:r>
              <a:rPr lang="en-US" sz="2400" dirty="0"/>
              <a:t>, </a:t>
            </a:r>
            <a:r>
              <a:rPr lang="en-US" sz="2400" dirty="0" err="1"/>
              <a:t>DeptName</a:t>
            </a:r>
            <a:endParaRPr lang="en-US" sz="2400" dirty="0"/>
          </a:p>
          <a:p>
            <a:pPr lvl="1"/>
            <a:r>
              <a:rPr lang="en-US" sz="2400" dirty="0">
                <a:solidFill>
                  <a:srgbClr val="FF0000"/>
                </a:solidFill>
              </a:rPr>
              <a:t>FROM </a:t>
            </a:r>
            <a:r>
              <a:rPr lang="en-US" sz="2800" b="1" dirty="0">
                <a:solidFill>
                  <a:srgbClr val="FF0000"/>
                </a:solidFill>
              </a:rPr>
              <a:t>Employees, Departments</a:t>
            </a:r>
          </a:p>
        </p:txBody>
      </p:sp>
    </p:spTree>
    <p:extLst>
      <p:ext uri="{BB962C8B-B14F-4D97-AF65-F5344CB8AC3E}">
        <p14:creationId xmlns:p14="http://schemas.microsoft.com/office/powerpoint/2010/main" val="401106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53544"/>
            <a:ext cx="8759202" cy="843236"/>
          </a:xfrm>
        </p:spPr>
        <p:txBody>
          <a:bodyPr>
            <a:normAutofit fontScale="90000"/>
          </a:bodyPr>
          <a:lstStyle/>
          <a:p>
            <a:r>
              <a:rPr lang="en-US" dirty="0"/>
              <a:t>Step 1: FROM - </a:t>
            </a:r>
            <a:r>
              <a:rPr lang="en-US" sz="3600" dirty="0"/>
              <a:t>The tables are joined together</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6</a:t>
            </a:fld>
            <a:endParaRPr lang="en-US"/>
          </a:p>
        </p:txBody>
      </p:sp>
      <p:graphicFrame>
        <p:nvGraphicFramePr>
          <p:cNvPr id="6" name="Table 5"/>
          <p:cNvGraphicFramePr>
            <a:graphicFrameLocks noGrp="1"/>
          </p:cNvGraphicFramePr>
          <p:nvPr/>
        </p:nvGraphicFramePr>
        <p:xfrm>
          <a:off x="1664044" y="2106888"/>
          <a:ext cx="8855675" cy="460248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3"/>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4"/>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5"/>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6"/>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7"/>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8"/>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9"/>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10"/>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1"/>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2"/>
                  </a:ext>
                </a:extLst>
              </a:tr>
            </a:tbl>
          </a:graphicData>
        </a:graphic>
      </p:graphicFrame>
      <p:sp>
        <p:nvSpPr>
          <p:cNvPr id="16" name="TextBox 15"/>
          <p:cNvSpPr txBox="1"/>
          <p:nvPr/>
        </p:nvSpPr>
        <p:spPr>
          <a:xfrm>
            <a:off x="1744041" y="1122508"/>
            <a:ext cx="4699686" cy="954107"/>
          </a:xfrm>
          <a:prstGeom prst="rect">
            <a:avLst/>
          </a:prstGeom>
          <a:noFill/>
        </p:spPr>
        <p:txBody>
          <a:bodyPr wrap="square" rtlCol="0">
            <a:spAutoFit/>
          </a:bodyPr>
          <a:lstStyle/>
          <a:p>
            <a:r>
              <a:rPr lang="en-US" sz="2800" b="1" dirty="0"/>
              <a:t>FROM Employees, Departments</a:t>
            </a:r>
          </a:p>
        </p:txBody>
      </p:sp>
      <p:sp>
        <p:nvSpPr>
          <p:cNvPr id="3" name="TextBox 2"/>
          <p:cNvSpPr txBox="1"/>
          <p:nvPr/>
        </p:nvSpPr>
        <p:spPr>
          <a:xfrm>
            <a:off x="7510689" y="763426"/>
            <a:ext cx="3176809"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t>This creates the table that combines each record from Employees with all the records from Departments (</a:t>
            </a:r>
            <a:r>
              <a:rPr lang="en-US" sz="1600" i="1" dirty="0"/>
              <a:t>the Cartesian product</a:t>
            </a:r>
            <a:r>
              <a:rPr lang="en-US" sz="1600" dirty="0"/>
              <a:t> of the two tables)</a:t>
            </a:r>
          </a:p>
        </p:txBody>
      </p:sp>
    </p:spTree>
    <p:extLst>
      <p:ext uri="{BB962C8B-B14F-4D97-AF65-F5344CB8AC3E}">
        <p14:creationId xmlns:p14="http://schemas.microsoft.com/office/powerpoint/2010/main" val="1152268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53544"/>
            <a:ext cx="8759202" cy="843236"/>
          </a:xfrm>
        </p:spPr>
        <p:txBody>
          <a:bodyPr>
            <a:normAutofit/>
          </a:bodyPr>
          <a:lstStyle/>
          <a:p>
            <a:r>
              <a:rPr lang="en-US" dirty="0"/>
              <a:t>Step 2: SELECT</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a:p>
        </p:txBody>
      </p:sp>
      <p:graphicFrame>
        <p:nvGraphicFramePr>
          <p:cNvPr id="6" name="Table 5"/>
          <p:cNvGraphicFramePr>
            <a:graphicFrameLocks noGrp="1"/>
          </p:cNvGraphicFramePr>
          <p:nvPr/>
        </p:nvGraphicFramePr>
        <p:xfrm>
          <a:off x="1664044" y="2106888"/>
          <a:ext cx="8855675" cy="460248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3"/>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4"/>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5"/>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6"/>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7"/>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8"/>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9"/>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10"/>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1"/>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2"/>
                  </a:ext>
                </a:extLst>
              </a:tr>
            </a:tbl>
          </a:graphicData>
        </a:graphic>
      </p:graphicFrame>
      <p:sp>
        <p:nvSpPr>
          <p:cNvPr id="16" name="TextBox 15"/>
          <p:cNvSpPr txBox="1"/>
          <p:nvPr/>
        </p:nvSpPr>
        <p:spPr>
          <a:xfrm>
            <a:off x="1744041" y="1425146"/>
            <a:ext cx="5016977" cy="461665"/>
          </a:xfrm>
          <a:prstGeom prst="rect">
            <a:avLst/>
          </a:prstGeom>
          <a:noFill/>
        </p:spPr>
        <p:txBody>
          <a:bodyPr wrap="square" rtlCol="0">
            <a:spAutoFit/>
          </a:bodyPr>
          <a:lstStyle/>
          <a:p>
            <a:pPr lvl="1"/>
            <a:r>
              <a:rPr lang="en-US" sz="2400" dirty="0"/>
              <a:t>SELECT </a:t>
            </a:r>
            <a:r>
              <a:rPr lang="en-US" sz="2400" dirty="0" err="1"/>
              <a:t>FName</a:t>
            </a:r>
            <a:r>
              <a:rPr lang="en-US" sz="2400" dirty="0"/>
              <a:t>, </a:t>
            </a:r>
            <a:r>
              <a:rPr lang="en-US" sz="2400" dirty="0" err="1"/>
              <a:t>LName</a:t>
            </a:r>
            <a:r>
              <a:rPr lang="en-US" sz="2400" dirty="0"/>
              <a:t>, </a:t>
            </a:r>
            <a:r>
              <a:rPr lang="en-US" sz="2400" dirty="0" err="1"/>
              <a:t>DeptName</a:t>
            </a:r>
            <a:endParaRPr lang="en-US" sz="2400" dirty="0"/>
          </a:p>
        </p:txBody>
      </p:sp>
      <p:cxnSp>
        <p:nvCxnSpPr>
          <p:cNvPr id="9" name="Straight Connector 8"/>
          <p:cNvCxnSpPr/>
          <p:nvPr/>
        </p:nvCxnSpPr>
        <p:spPr>
          <a:xfrm flipV="1">
            <a:off x="1778000" y="2191266"/>
            <a:ext cx="783968" cy="46667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070763" y="2191266"/>
            <a:ext cx="783968" cy="46667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098309" y="2191266"/>
            <a:ext cx="783968" cy="46667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275945" y="2191266"/>
            <a:ext cx="783968" cy="46667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9550400" y="2191266"/>
            <a:ext cx="783968" cy="46667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231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53544"/>
            <a:ext cx="8759202" cy="843236"/>
          </a:xfrm>
        </p:spPr>
        <p:txBody>
          <a:bodyPr>
            <a:normAutofit/>
          </a:bodyPr>
          <a:lstStyle/>
          <a:p>
            <a:r>
              <a:rPr lang="en-US" dirty="0"/>
              <a:t>Final result – </a:t>
            </a:r>
            <a:r>
              <a:rPr lang="en-US" dirty="0">
                <a:latin typeface="Avenir Black"/>
                <a:cs typeface="Avenir Black"/>
                <a:sym typeface="Wingdings"/>
              </a:rPr>
              <a:t></a:t>
            </a:r>
            <a:endParaRPr lang="en-US" sz="2400" b="1" dirty="0">
              <a:solidFill>
                <a:schemeClr val="tx2"/>
              </a:solidFill>
              <a:latin typeface="Avenir Black"/>
              <a:cs typeface="Avenir Black"/>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8</a:t>
            </a:fld>
            <a:endParaRPr lang="en-US"/>
          </a:p>
        </p:txBody>
      </p:sp>
      <p:graphicFrame>
        <p:nvGraphicFramePr>
          <p:cNvPr id="6" name="Table 5"/>
          <p:cNvGraphicFramePr>
            <a:graphicFrameLocks noGrp="1"/>
          </p:cNvGraphicFramePr>
          <p:nvPr/>
        </p:nvGraphicFramePr>
        <p:xfrm>
          <a:off x="4388771" y="1494979"/>
          <a:ext cx="3418703" cy="4602480"/>
        </p:xfrm>
        <a:graphic>
          <a:graphicData uri="http://schemas.openxmlformats.org/drawingml/2006/table">
            <a:tbl>
              <a:tblPr firstRow="1" bandRow="1">
                <a:tableStyleId>{5C22544A-7EE6-4342-B048-85BDC9FD1C3A}</a:tableStyleId>
              </a:tblPr>
              <a:tblGrid>
                <a:gridCol w="1095632">
                  <a:extLst>
                    <a:ext uri="{9D8B030D-6E8A-4147-A177-3AD203B41FA5}">
                      <a16:colId xmlns:a16="http://schemas.microsoft.com/office/drawing/2014/main" val="20000"/>
                    </a:ext>
                  </a:extLst>
                </a:gridCol>
                <a:gridCol w="1136822">
                  <a:extLst>
                    <a:ext uri="{9D8B030D-6E8A-4147-A177-3AD203B41FA5}">
                      <a16:colId xmlns:a16="http://schemas.microsoft.com/office/drawing/2014/main" val="20001"/>
                    </a:ext>
                  </a:extLst>
                </a:gridCol>
                <a:gridCol w="1186249">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t>Production</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t>Marketing</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t>Sales</a:t>
                      </a:r>
                    </a:p>
                  </a:txBody>
                  <a:tcPr marL="45720" marR="45720"/>
                </a:tc>
                <a:extLst>
                  <a:ext uri="{0D108BD9-81ED-4DB2-BD59-A6C34878D82A}">
                    <a16:rowId xmlns:a16="http://schemas.microsoft.com/office/drawing/2014/main" val="10003"/>
                  </a:ext>
                </a:extLst>
              </a:tr>
              <a:tr h="301752">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t>Production</a:t>
                      </a:r>
                    </a:p>
                  </a:txBody>
                  <a:tcPr marL="45720" marR="45720"/>
                </a:tc>
                <a:extLst>
                  <a:ext uri="{0D108BD9-81ED-4DB2-BD59-A6C34878D82A}">
                    <a16:rowId xmlns:a16="http://schemas.microsoft.com/office/drawing/2014/main" val="10004"/>
                  </a:ext>
                </a:extLst>
              </a:tr>
              <a:tr h="301752">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t>Marketing</a:t>
                      </a:r>
                    </a:p>
                  </a:txBody>
                  <a:tcPr marL="45720" marR="45720"/>
                </a:tc>
                <a:extLst>
                  <a:ext uri="{0D108BD9-81ED-4DB2-BD59-A6C34878D82A}">
                    <a16:rowId xmlns:a16="http://schemas.microsoft.com/office/drawing/2014/main" val="10005"/>
                  </a:ext>
                </a:extLst>
              </a:tr>
              <a:tr h="301752">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t>Sales</a:t>
                      </a:r>
                    </a:p>
                  </a:txBody>
                  <a:tcPr marL="45720" marR="45720"/>
                </a:tc>
                <a:extLst>
                  <a:ext uri="{0D108BD9-81ED-4DB2-BD59-A6C34878D82A}">
                    <a16:rowId xmlns:a16="http://schemas.microsoft.com/office/drawing/2014/main" val="10006"/>
                  </a:ext>
                </a:extLst>
              </a:tr>
              <a:tr h="301752">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t>Production</a:t>
                      </a:r>
                    </a:p>
                  </a:txBody>
                  <a:tcPr marL="45720" marR="45720"/>
                </a:tc>
                <a:extLst>
                  <a:ext uri="{0D108BD9-81ED-4DB2-BD59-A6C34878D82A}">
                    <a16:rowId xmlns:a16="http://schemas.microsoft.com/office/drawing/2014/main" val="10007"/>
                  </a:ext>
                </a:extLst>
              </a:tr>
              <a:tr h="301752">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t>Marketing</a:t>
                      </a:r>
                    </a:p>
                  </a:txBody>
                  <a:tcPr marL="45720" marR="45720"/>
                </a:tc>
                <a:extLst>
                  <a:ext uri="{0D108BD9-81ED-4DB2-BD59-A6C34878D82A}">
                    <a16:rowId xmlns:a16="http://schemas.microsoft.com/office/drawing/2014/main" val="10008"/>
                  </a:ext>
                </a:extLst>
              </a:tr>
              <a:tr h="301752">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t>Sales</a:t>
                      </a:r>
                    </a:p>
                  </a:txBody>
                  <a:tcPr marL="45720" marR="45720"/>
                </a:tc>
                <a:extLst>
                  <a:ext uri="{0D108BD9-81ED-4DB2-BD59-A6C34878D82A}">
                    <a16:rowId xmlns:a16="http://schemas.microsoft.com/office/drawing/2014/main" val="10009"/>
                  </a:ext>
                </a:extLst>
              </a:tr>
              <a:tr h="301752">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t>Production</a:t>
                      </a:r>
                    </a:p>
                  </a:txBody>
                  <a:tcPr marL="45720" marR="45720"/>
                </a:tc>
                <a:extLst>
                  <a:ext uri="{0D108BD9-81ED-4DB2-BD59-A6C34878D82A}">
                    <a16:rowId xmlns:a16="http://schemas.microsoft.com/office/drawing/2014/main" val="10010"/>
                  </a:ext>
                </a:extLst>
              </a:tr>
              <a:tr h="301752">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t>Marketing</a:t>
                      </a:r>
                    </a:p>
                  </a:txBody>
                  <a:tcPr marL="45720" marR="45720"/>
                </a:tc>
                <a:extLst>
                  <a:ext uri="{0D108BD9-81ED-4DB2-BD59-A6C34878D82A}">
                    <a16:rowId xmlns:a16="http://schemas.microsoft.com/office/drawing/2014/main" val="10011"/>
                  </a:ext>
                </a:extLst>
              </a:tr>
              <a:tr h="301752">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t>Sales</a:t>
                      </a:r>
                    </a:p>
                  </a:txBody>
                  <a:tcPr marL="45720" marR="4572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035346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4542" y="178257"/>
            <a:ext cx="8453372" cy="1494024"/>
          </a:xfrm>
        </p:spPr>
        <p:txBody>
          <a:bodyPr>
            <a:normAutofit/>
          </a:bodyPr>
          <a:lstStyle/>
          <a:p>
            <a:r>
              <a:rPr lang="en-US" dirty="0"/>
              <a:t>2</a:t>
            </a:r>
            <a:r>
              <a:rPr lang="en-US" baseline="30000" dirty="0"/>
              <a:t>nd</a:t>
            </a:r>
            <a:r>
              <a:rPr lang="en-US" dirty="0"/>
              <a:t> attempt -‘</a:t>
            </a:r>
            <a:r>
              <a:rPr lang="en-US" i="1" dirty="0"/>
              <a:t>Regular join</a:t>
            </a:r>
            <a:r>
              <a:rPr lang="en-US" dirty="0"/>
              <a:t>’</a:t>
            </a:r>
          </a:p>
        </p:txBody>
      </p:sp>
      <p:sp>
        <p:nvSpPr>
          <p:cNvPr id="3" name="Slide Number Placeholder 2"/>
          <p:cNvSpPr>
            <a:spLocks noGrp="1"/>
          </p:cNvSpPr>
          <p:nvPr>
            <p:ph type="sldNum" sz="quarter" idx="12"/>
          </p:nvPr>
        </p:nvSpPr>
        <p:spPr/>
        <p:txBody>
          <a:bodyPr/>
          <a:lstStyle/>
          <a:p>
            <a:fld id="{87F3E754-1C97-4481-A18C-9D97ADBDF344}" type="slidenum">
              <a:rPr lang="en-US" smtClean="0"/>
              <a:t>9</a:t>
            </a:fld>
            <a:endParaRPr lang="en-US"/>
          </a:p>
        </p:txBody>
      </p:sp>
      <p:graphicFrame>
        <p:nvGraphicFramePr>
          <p:cNvPr id="6" name="Table 5"/>
          <p:cNvGraphicFramePr>
            <a:graphicFrameLocks noGrp="1"/>
          </p:cNvGraphicFramePr>
          <p:nvPr/>
        </p:nvGraphicFramePr>
        <p:xfrm>
          <a:off x="2000444" y="1787417"/>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NULL</a:t>
                      </a:r>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7251677" y="1940696"/>
          <a:ext cx="3100197" cy="1483360"/>
        </p:xfrm>
        <a:graphic>
          <a:graphicData uri="http://schemas.openxmlformats.org/drawingml/2006/table">
            <a:tbl>
              <a:tblPr firstRow="1" bandRow="1">
                <a:tableStyleId>{5C22544A-7EE6-4342-B048-85BDC9FD1C3A}</a:tableStyleId>
              </a:tblPr>
              <a:tblGrid>
                <a:gridCol w="861187">
                  <a:extLst>
                    <a:ext uri="{9D8B030D-6E8A-4147-A177-3AD203B41FA5}">
                      <a16:colId xmlns:a16="http://schemas.microsoft.com/office/drawing/2014/main" val="20000"/>
                    </a:ext>
                  </a:extLst>
                </a:gridCol>
                <a:gridCol w="1241425">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tblGrid>
              <a:tr h="370840">
                <a:tc>
                  <a:txBody>
                    <a:bodyPr/>
                    <a:lstStyle/>
                    <a:p>
                      <a:r>
                        <a:rPr lang="en-US" u="sng" dirty="0" err="1"/>
                        <a:t>DeptID</a:t>
                      </a:r>
                      <a:endParaRPr lang="en-US" u="sng" dirty="0"/>
                    </a:p>
                  </a:txBody>
                  <a:tcPr/>
                </a:tc>
                <a:tc>
                  <a:txBody>
                    <a:bodyPr/>
                    <a:lstStyle/>
                    <a:p>
                      <a:r>
                        <a:rPr lang="en-US" dirty="0" err="1"/>
                        <a:t>DeptName</a:t>
                      </a:r>
                      <a:endParaRPr lang="en-US" dirty="0"/>
                    </a:p>
                  </a:txBody>
                  <a:tcPr/>
                </a:tc>
                <a:tc>
                  <a:txBody>
                    <a:bodyPr/>
                    <a:lstStyle/>
                    <a:p>
                      <a:r>
                        <a:rPr lang="en-US" dirty="0"/>
                        <a:t>Location</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Production</a:t>
                      </a:r>
                    </a:p>
                  </a:txBody>
                  <a:tcPr/>
                </a:tc>
                <a:tc>
                  <a:txBody>
                    <a:bodyPr/>
                    <a:lstStyle/>
                    <a:p>
                      <a:r>
                        <a:rPr lang="en-US" dirty="0"/>
                        <a:t>NJ</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Marketing</a:t>
                      </a:r>
                    </a:p>
                  </a:txBody>
                  <a:tcPr/>
                </a:tc>
                <a:tc>
                  <a:txBody>
                    <a:bodyPr/>
                    <a:lstStyle/>
                    <a:p>
                      <a:r>
                        <a:rPr lang="en-US" dirty="0"/>
                        <a:t>CA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Sales</a:t>
                      </a:r>
                    </a:p>
                  </a:txBody>
                  <a:tcPr/>
                </a:tc>
                <a:tc>
                  <a:txBody>
                    <a:bodyPr/>
                    <a:lstStyle/>
                    <a:p>
                      <a:r>
                        <a:rPr lang="en-US" dirty="0"/>
                        <a:t>CA</a:t>
                      </a:r>
                    </a:p>
                  </a:txBody>
                  <a:tcPr/>
                </a:tc>
                <a:extLst>
                  <a:ext uri="{0D108BD9-81ED-4DB2-BD59-A6C34878D82A}">
                    <a16:rowId xmlns:a16="http://schemas.microsoft.com/office/drawing/2014/main" val="10003"/>
                  </a:ext>
                </a:extLst>
              </a:tr>
            </a:tbl>
          </a:graphicData>
        </a:graphic>
      </p:graphicFrame>
      <p:cxnSp>
        <p:nvCxnSpPr>
          <p:cNvPr id="10" name="Elbow Connector 9"/>
          <p:cNvCxnSpPr/>
          <p:nvPr/>
        </p:nvCxnSpPr>
        <p:spPr>
          <a:xfrm>
            <a:off x="6318423" y="1993557"/>
            <a:ext cx="955589" cy="172994"/>
          </a:xfrm>
          <a:prstGeom prst="bentConnector3">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004222" y="1865185"/>
            <a:ext cx="881449" cy="369332"/>
          </a:xfrm>
          <a:prstGeom prst="rect">
            <a:avLst/>
          </a:prstGeom>
          <a:noFill/>
        </p:spPr>
        <p:txBody>
          <a:bodyPr wrap="square" rtlCol="0">
            <a:spAutoFit/>
          </a:bodyPr>
          <a:lstStyle/>
          <a:p>
            <a:r>
              <a:rPr lang="en-US" dirty="0"/>
              <a:t>1</a:t>
            </a:r>
          </a:p>
        </p:txBody>
      </p:sp>
      <p:sp>
        <p:nvSpPr>
          <p:cNvPr id="14" name="TextBox 13"/>
          <p:cNvSpPr txBox="1"/>
          <p:nvPr/>
        </p:nvSpPr>
        <p:spPr>
          <a:xfrm>
            <a:off x="6257668" y="1672281"/>
            <a:ext cx="881449" cy="369332"/>
          </a:xfrm>
          <a:prstGeom prst="rect">
            <a:avLst/>
          </a:prstGeom>
          <a:noFill/>
        </p:spPr>
        <p:txBody>
          <a:bodyPr wrap="square" rtlCol="0">
            <a:spAutoFit/>
          </a:bodyPr>
          <a:lstStyle/>
          <a:p>
            <a:r>
              <a:rPr lang="en-US" dirty="0"/>
              <a:t>M</a:t>
            </a:r>
          </a:p>
        </p:txBody>
      </p:sp>
      <p:sp>
        <p:nvSpPr>
          <p:cNvPr id="15" name="Diamond 14"/>
          <p:cNvSpPr/>
          <p:nvPr/>
        </p:nvSpPr>
        <p:spPr>
          <a:xfrm>
            <a:off x="6647936" y="1927655"/>
            <a:ext cx="284207" cy="3068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397212" y="4069493"/>
            <a:ext cx="7274011" cy="1846659"/>
          </a:xfrm>
          <a:prstGeom prst="rect">
            <a:avLst/>
          </a:prstGeom>
          <a:noFill/>
        </p:spPr>
        <p:txBody>
          <a:bodyPr wrap="square" rtlCol="0">
            <a:spAutoFit/>
          </a:bodyPr>
          <a:lstStyle/>
          <a:p>
            <a:r>
              <a:rPr lang="en-US" sz="2400" dirty="0"/>
              <a:t>Suppose we do the following query in the DB above:</a:t>
            </a:r>
          </a:p>
          <a:p>
            <a:endParaRPr lang="en-US" sz="1400" dirty="0"/>
          </a:p>
          <a:p>
            <a:pPr lvl="1"/>
            <a:r>
              <a:rPr lang="en-US" sz="2400" dirty="0"/>
              <a:t>SELECT </a:t>
            </a:r>
            <a:r>
              <a:rPr lang="en-US" sz="2400" dirty="0" err="1"/>
              <a:t>FName</a:t>
            </a:r>
            <a:r>
              <a:rPr lang="en-US" sz="2400" dirty="0"/>
              <a:t>, </a:t>
            </a:r>
            <a:r>
              <a:rPr lang="en-US" sz="2400" dirty="0" err="1"/>
              <a:t>LName</a:t>
            </a:r>
            <a:r>
              <a:rPr lang="en-US" sz="2400" dirty="0"/>
              <a:t>, </a:t>
            </a:r>
            <a:r>
              <a:rPr lang="en-US" sz="2400" dirty="0" err="1"/>
              <a:t>DeptName</a:t>
            </a:r>
            <a:endParaRPr lang="en-US" sz="2400" dirty="0"/>
          </a:p>
          <a:p>
            <a:pPr lvl="1"/>
            <a:r>
              <a:rPr lang="en-US" sz="2400" dirty="0">
                <a:solidFill>
                  <a:srgbClr val="FF0000"/>
                </a:solidFill>
              </a:rPr>
              <a:t>FROM </a:t>
            </a:r>
            <a:r>
              <a:rPr lang="en-US" sz="2800" b="1" dirty="0">
                <a:solidFill>
                  <a:srgbClr val="FF0000"/>
                </a:solidFill>
              </a:rPr>
              <a:t>Employees, Departments</a:t>
            </a:r>
          </a:p>
          <a:p>
            <a:pPr lvl="1"/>
            <a:r>
              <a:rPr lang="en-US" sz="2400" dirty="0">
                <a:solidFill>
                  <a:srgbClr val="FF0000"/>
                </a:solidFill>
              </a:rPr>
              <a:t>WHERE </a:t>
            </a:r>
            <a:r>
              <a:rPr lang="en-US" sz="2400" dirty="0" err="1">
                <a:solidFill>
                  <a:srgbClr val="FF0000"/>
                </a:solidFill>
              </a:rPr>
              <a:t>Employees.DeptID</a:t>
            </a:r>
            <a:r>
              <a:rPr lang="en-US" sz="2400" dirty="0">
                <a:solidFill>
                  <a:srgbClr val="FF0000"/>
                </a:solidFill>
              </a:rPr>
              <a:t> = </a:t>
            </a:r>
            <a:r>
              <a:rPr lang="en-US" sz="2400" dirty="0" err="1">
                <a:solidFill>
                  <a:srgbClr val="FF0000"/>
                </a:solidFill>
              </a:rPr>
              <a:t>Departments.DeptID</a:t>
            </a:r>
            <a:endParaRPr lang="en-US" sz="2400" dirty="0">
              <a:solidFill>
                <a:srgbClr val="FF0000"/>
              </a:solidFill>
            </a:endParaRPr>
          </a:p>
        </p:txBody>
      </p:sp>
      <p:sp>
        <p:nvSpPr>
          <p:cNvPr id="11" name="TextBox 10"/>
          <p:cNvSpPr txBox="1"/>
          <p:nvPr/>
        </p:nvSpPr>
        <p:spPr>
          <a:xfrm>
            <a:off x="8497455" y="4773568"/>
            <a:ext cx="1662545" cy="7078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t>‘Regular’ join a.k.a. </a:t>
            </a:r>
            <a:r>
              <a:rPr lang="en-US" sz="2000" i="1" dirty="0"/>
              <a:t>Equijoin</a:t>
            </a:r>
          </a:p>
        </p:txBody>
      </p:sp>
      <p:cxnSp>
        <p:nvCxnSpPr>
          <p:cNvPr id="12" name="Straight Arrow Connector 11"/>
          <p:cNvCxnSpPr/>
          <p:nvPr/>
        </p:nvCxnSpPr>
        <p:spPr>
          <a:xfrm flipH="1">
            <a:off x="8217368" y="5259032"/>
            <a:ext cx="280086" cy="222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327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53544"/>
            <a:ext cx="8759202" cy="843236"/>
          </a:xfrm>
        </p:spPr>
        <p:txBody>
          <a:bodyPr>
            <a:normAutofit fontScale="90000"/>
          </a:bodyPr>
          <a:lstStyle/>
          <a:p>
            <a:r>
              <a:rPr lang="en-US" dirty="0"/>
              <a:t>Step 1: FROM - </a:t>
            </a:r>
            <a:r>
              <a:rPr lang="en-US" sz="3600" dirty="0"/>
              <a:t>The tables are joined together</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10</a:t>
            </a:fld>
            <a:endParaRPr lang="en-US"/>
          </a:p>
        </p:txBody>
      </p:sp>
      <p:graphicFrame>
        <p:nvGraphicFramePr>
          <p:cNvPr id="6" name="Table 5"/>
          <p:cNvGraphicFramePr>
            <a:graphicFrameLocks noGrp="1"/>
          </p:cNvGraphicFramePr>
          <p:nvPr/>
        </p:nvGraphicFramePr>
        <p:xfrm>
          <a:off x="1664044" y="2106888"/>
          <a:ext cx="8855675" cy="460248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rgbClr val="00B050"/>
                          </a:solidFill>
                        </a:rPr>
                        <a:t>734</a:t>
                      </a:r>
                    </a:p>
                  </a:txBody>
                  <a:tcPr marL="45720" marR="45720"/>
                </a:tc>
                <a:tc>
                  <a:txBody>
                    <a:bodyPr/>
                    <a:lstStyle/>
                    <a:p>
                      <a:pPr>
                        <a:lnSpc>
                          <a:spcPct val="100000"/>
                        </a:lnSpc>
                      </a:pPr>
                      <a:r>
                        <a:rPr lang="en-US" sz="1600" u="none" dirty="0">
                          <a:solidFill>
                            <a:srgbClr val="00B050"/>
                          </a:solidFill>
                        </a:rPr>
                        <a:t>Aaron</a:t>
                      </a:r>
                    </a:p>
                  </a:txBody>
                  <a:tcPr marL="45720" marR="45720"/>
                </a:tc>
                <a:tc>
                  <a:txBody>
                    <a:bodyPr/>
                    <a:lstStyle/>
                    <a:p>
                      <a:pPr>
                        <a:lnSpc>
                          <a:spcPct val="100000"/>
                        </a:lnSpc>
                      </a:pPr>
                      <a:r>
                        <a:rPr lang="en-US" sz="1600" u="none" dirty="0">
                          <a:solidFill>
                            <a:srgbClr val="00B050"/>
                          </a:solidFill>
                        </a:rPr>
                        <a:t>Cooper</a:t>
                      </a:r>
                    </a:p>
                  </a:txBody>
                  <a:tcPr marL="45720" marR="45720"/>
                </a:tc>
                <a:tc>
                  <a:txBody>
                    <a:bodyPr/>
                    <a:lstStyle/>
                    <a:p>
                      <a:pPr>
                        <a:lnSpc>
                          <a:spcPct val="100000"/>
                        </a:lnSpc>
                      </a:pPr>
                      <a:r>
                        <a:rPr lang="en-US" sz="1600" u="none" dirty="0">
                          <a:solidFill>
                            <a:srgbClr val="00B050"/>
                          </a:solidFill>
                        </a:rPr>
                        <a:t>4/17/99</a:t>
                      </a:r>
                    </a:p>
                  </a:txBody>
                  <a:tcPr marL="45720" marR="45720"/>
                </a:tc>
                <a:tc>
                  <a:txBody>
                    <a:bodyPr/>
                    <a:lstStyle/>
                    <a:p>
                      <a:pPr algn="ctr">
                        <a:lnSpc>
                          <a:spcPct val="100000"/>
                        </a:lnSpc>
                      </a:pPr>
                      <a:r>
                        <a:rPr lang="en-US" sz="1600" u="none" dirty="0">
                          <a:solidFill>
                            <a:srgbClr val="00B050"/>
                          </a:solidFill>
                        </a:rPr>
                        <a:t>2</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3"/>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4"/>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5"/>
                  </a:ext>
                </a:extLst>
              </a:tr>
              <a:tr h="301752">
                <a:tc>
                  <a:txBody>
                    <a:bodyPr/>
                    <a:lstStyle/>
                    <a:p>
                      <a:pPr>
                        <a:lnSpc>
                          <a:spcPct val="100000"/>
                        </a:lnSpc>
                      </a:pPr>
                      <a:r>
                        <a:rPr lang="en-US" sz="1600" u="none" dirty="0">
                          <a:solidFill>
                            <a:srgbClr val="0070C0"/>
                          </a:solidFill>
                        </a:rPr>
                        <a:t>735</a:t>
                      </a:r>
                    </a:p>
                  </a:txBody>
                  <a:tcPr marL="45720" marR="45720"/>
                </a:tc>
                <a:tc>
                  <a:txBody>
                    <a:bodyPr/>
                    <a:lstStyle/>
                    <a:p>
                      <a:pPr>
                        <a:lnSpc>
                          <a:spcPct val="100000"/>
                        </a:lnSpc>
                      </a:pPr>
                      <a:r>
                        <a:rPr lang="en-US" sz="1600" u="none" dirty="0">
                          <a:solidFill>
                            <a:srgbClr val="0070C0"/>
                          </a:solidFill>
                        </a:rPr>
                        <a:t>Lou</a:t>
                      </a:r>
                    </a:p>
                  </a:txBody>
                  <a:tcPr marL="45720" marR="45720"/>
                </a:tc>
                <a:tc>
                  <a:txBody>
                    <a:bodyPr/>
                    <a:lstStyle/>
                    <a:p>
                      <a:pPr>
                        <a:lnSpc>
                          <a:spcPct val="100000"/>
                        </a:lnSpc>
                      </a:pPr>
                      <a:r>
                        <a:rPr lang="en-US" sz="1600" u="none" dirty="0">
                          <a:solidFill>
                            <a:srgbClr val="0070C0"/>
                          </a:solidFill>
                        </a:rPr>
                        <a:t>Bono</a:t>
                      </a:r>
                    </a:p>
                  </a:txBody>
                  <a:tcPr marL="45720" marR="45720"/>
                </a:tc>
                <a:tc>
                  <a:txBody>
                    <a:bodyPr/>
                    <a:lstStyle/>
                    <a:p>
                      <a:pPr>
                        <a:lnSpc>
                          <a:spcPct val="100000"/>
                        </a:lnSpc>
                      </a:pPr>
                      <a:r>
                        <a:rPr lang="en-US" sz="1600" u="none" dirty="0">
                          <a:solidFill>
                            <a:srgbClr val="0070C0"/>
                          </a:solidFill>
                        </a:rPr>
                        <a:t>5/22/05</a:t>
                      </a:r>
                    </a:p>
                  </a:txBody>
                  <a:tcPr marL="45720" marR="45720"/>
                </a:tc>
                <a:tc>
                  <a:txBody>
                    <a:bodyPr/>
                    <a:lstStyle/>
                    <a:p>
                      <a:pPr algn="ctr">
                        <a:lnSpc>
                          <a:spcPct val="100000"/>
                        </a:lnSpc>
                      </a:pPr>
                      <a:r>
                        <a:rPr lang="en-US" sz="1600" u="none" dirty="0">
                          <a:solidFill>
                            <a:srgbClr val="0070C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6"/>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7"/>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8"/>
                  </a:ext>
                </a:extLst>
              </a:tr>
              <a:tr h="301752">
                <a:tc>
                  <a:txBody>
                    <a:bodyPr/>
                    <a:lstStyle/>
                    <a:p>
                      <a:pPr>
                        <a:lnSpc>
                          <a:spcPct val="100000"/>
                        </a:lnSpc>
                      </a:pPr>
                      <a:r>
                        <a:rPr lang="en-US" sz="1600" u="none" dirty="0">
                          <a:solidFill>
                            <a:srgbClr val="FFC000"/>
                          </a:solidFill>
                        </a:rPr>
                        <a:t>736</a:t>
                      </a:r>
                    </a:p>
                  </a:txBody>
                  <a:tcPr marL="45720" marR="45720"/>
                </a:tc>
                <a:tc>
                  <a:txBody>
                    <a:bodyPr/>
                    <a:lstStyle/>
                    <a:p>
                      <a:pPr>
                        <a:lnSpc>
                          <a:spcPct val="100000"/>
                        </a:lnSpc>
                      </a:pPr>
                      <a:r>
                        <a:rPr lang="en-US" sz="1600" u="none" dirty="0">
                          <a:solidFill>
                            <a:srgbClr val="FFC000"/>
                          </a:solidFill>
                        </a:rPr>
                        <a:t>Alice</a:t>
                      </a:r>
                    </a:p>
                  </a:txBody>
                  <a:tcPr marL="45720" marR="45720"/>
                </a:tc>
                <a:tc>
                  <a:txBody>
                    <a:bodyPr/>
                    <a:lstStyle/>
                    <a:p>
                      <a:pPr>
                        <a:lnSpc>
                          <a:spcPct val="100000"/>
                        </a:lnSpc>
                      </a:pPr>
                      <a:r>
                        <a:rPr lang="en-US" sz="1600" u="none" dirty="0">
                          <a:solidFill>
                            <a:srgbClr val="FFC000"/>
                          </a:solidFill>
                        </a:rPr>
                        <a:t>Bailey</a:t>
                      </a:r>
                    </a:p>
                  </a:txBody>
                  <a:tcPr marL="45720" marR="45720"/>
                </a:tc>
                <a:tc>
                  <a:txBody>
                    <a:bodyPr/>
                    <a:lstStyle/>
                    <a:p>
                      <a:pPr>
                        <a:lnSpc>
                          <a:spcPct val="100000"/>
                        </a:lnSpc>
                      </a:pPr>
                      <a:r>
                        <a:rPr lang="en-US" sz="1600" u="none" dirty="0">
                          <a:solidFill>
                            <a:srgbClr val="FFC000"/>
                          </a:solidFill>
                        </a:rPr>
                        <a:t>9/1/99</a:t>
                      </a:r>
                    </a:p>
                  </a:txBody>
                  <a:tcPr marL="45720" marR="45720"/>
                </a:tc>
                <a:tc>
                  <a:txBody>
                    <a:bodyPr/>
                    <a:lstStyle/>
                    <a:p>
                      <a:pPr algn="ctr">
                        <a:lnSpc>
                          <a:spcPct val="100000"/>
                        </a:lnSpc>
                      </a:pPr>
                      <a:r>
                        <a:rPr lang="en-US" sz="1600" u="none" dirty="0">
                          <a:solidFill>
                            <a:srgbClr val="FFC000"/>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9"/>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10"/>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1"/>
                  </a:ext>
                </a:extLst>
              </a:tr>
              <a:tr h="301752">
                <a:tc>
                  <a:txBody>
                    <a:bodyPr/>
                    <a:lstStyle/>
                    <a:p>
                      <a:pPr>
                        <a:lnSpc>
                          <a:spcPct val="100000"/>
                        </a:lnSpc>
                      </a:pPr>
                      <a:r>
                        <a:rPr lang="en-US" sz="1600" u="none" dirty="0">
                          <a:solidFill>
                            <a:srgbClr val="7030A0"/>
                          </a:solidFill>
                        </a:rPr>
                        <a:t>738</a:t>
                      </a:r>
                    </a:p>
                  </a:txBody>
                  <a:tcPr marL="45720" marR="45720"/>
                </a:tc>
                <a:tc>
                  <a:txBody>
                    <a:bodyPr/>
                    <a:lstStyle/>
                    <a:p>
                      <a:pPr>
                        <a:lnSpc>
                          <a:spcPct val="100000"/>
                        </a:lnSpc>
                      </a:pPr>
                      <a:r>
                        <a:rPr lang="en-US" sz="1600" u="none" dirty="0">
                          <a:solidFill>
                            <a:srgbClr val="7030A0"/>
                          </a:solidFill>
                        </a:rPr>
                        <a:t>John</a:t>
                      </a:r>
                    </a:p>
                  </a:txBody>
                  <a:tcPr marL="45720" marR="45720"/>
                </a:tc>
                <a:tc>
                  <a:txBody>
                    <a:bodyPr/>
                    <a:lstStyle/>
                    <a:p>
                      <a:pPr>
                        <a:lnSpc>
                          <a:spcPct val="100000"/>
                        </a:lnSpc>
                      </a:pPr>
                      <a:r>
                        <a:rPr lang="en-US" sz="1600" u="none" dirty="0">
                          <a:solidFill>
                            <a:srgbClr val="7030A0"/>
                          </a:solidFill>
                        </a:rPr>
                        <a:t>Cruz</a:t>
                      </a:r>
                    </a:p>
                  </a:txBody>
                  <a:tcPr marL="45720" marR="45720"/>
                </a:tc>
                <a:tc>
                  <a:txBody>
                    <a:bodyPr/>
                    <a:lstStyle/>
                    <a:p>
                      <a:pPr>
                        <a:lnSpc>
                          <a:spcPct val="100000"/>
                        </a:lnSpc>
                      </a:pPr>
                      <a:r>
                        <a:rPr lang="en-US" sz="1600" u="none" dirty="0">
                          <a:solidFill>
                            <a:srgbClr val="7030A0"/>
                          </a:solidFill>
                        </a:rPr>
                        <a:t>6/1/15</a:t>
                      </a:r>
                    </a:p>
                  </a:txBody>
                  <a:tcPr marL="45720" marR="45720"/>
                </a:tc>
                <a:tc>
                  <a:txBody>
                    <a:bodyPr/>
                    <a:lstStyle/>
                    <a:p>
                      <a:pPr algn="ctr">
                        <a:lnSpc>
                          <a:spcPct val="100000"/>
                        </a:lnSpc>
                      </a:pPr>
                      <a:r>
                        <a:rPr lang="en-US" sz="1600" u="none" dirty="0">
                          <a:solidFill>
                            <a:srgbClr val="7030A0"/>
                          </a:solidFill>
                        </a:rPr>
                        <a:t>NULL</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2"/>
                  </a:ext>
                </a:extLst>
              </a:tr>
            </a:tbl>
          </a:graphicData>
        </a:graphic>
      </p:graphicFrame>
      <p:sp>
        <p:nvSpPr>
          <p:cNvPr id="16" name="TextBox 15"/>
          <p:cNvSpPr txBox="1"/>
          <p:nvPr/>
        </p:nvSpPr>
        <p:spPr>
          <a:xfrm>
            <a:off x="2009854" y="1290225"/>
            <a:ext cx="4699686" cy="954107"/>
          </a:xfrm>
          <a:prstGeom prst="rect">
            <a:avLst/>
          </a:prstGeom>
          <a:noFill/>
        </p:spPr>
        <p:txBody>
          <a:bodyPr wrap="square" rtlCol="0">
            <a:spAutoFit/>
          </a:bodyPr>
          <a:lstStyle/>
          <a:p>
            <a:r>
              <a:rPr lang="en-US" sz="2800" b="1" dirty="0"/>
              <a:t>FROM Employees, Departments</a:t>
            </a:r>
          </a:p>
        </p:txBody>
      </p:sp>
    </p:spTree>
    <p:extLst>
      <p:ext uri="{BB962C8B-B14F-4D97-AF65-F5344CB8AC3E}">
        <p14:creationId xmlns:p14="http://schemas.microsoft.com/office/powerpoint/2010/main" val="1007128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Step 2: WHERE – </a:t>
            </a:r>
            <a:r>
              <a:rPr lang="en-US" sz="3600" dirty="0"/>
              <a:t>The criterion is applied</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11</a:t>
            </a:fld>
            <a:endParaRPr lang="en-US"/>
          </a:p>
        </p:txBody>
      </p:sp>
      <p:graphicFrame>
        <p:nvGraphicFramePr>
          <p:cNvPr id="6" name="Table 5"/>
          <p:cNvGraphicFramePr>
            <a:graphicFrameLocks noGrp="1"/>
          </p:cNvGraphicFramePr>
          <p:nvPr/>
        </p:nvGraphicFramePr>
        <p:xfrm>
          <a:off x="1664044" y="2106888"/>
          <a:ext cx="8855675" cy="460248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rPr>
                        <a:t>734</a:t>
                      </a:r>
                    </a:p>
                  </a:txBody>
                  <a:tcPr marL="45720" marR="45720">
                    <a:noFill/>
                  </a:tcPr>
                </a:tc>
                <a:tc>
                  <a:txBody>
                    <a:bodyPr/>
                    <a:lstStyle/>
                    <a:p>
                      <a:pPr>
                        <a:lnSpc>
                          <a:spcPct val="100000"/>
                        </a:lnSpc>
                      </a:pPr>
                      <a:r>
                        <a:rPr lang="en-US" sz="1600" u="none" dirty="0">
                          <a:solidFill>
                            <a:schemeClr val="tx1"/>
                          </a:solidFill>
                        </a:rPr>
                        <a:t>Aaron</a:t>
                      </a:r>
                    </a:p>
                  </a:txBody>
                  <a:tcPr marL="45720" marR="45720">
                    <a:noFill/>
                  </a:tcPr>
                </a:tc>
                <a:tc>
                  <a:txBody>
                    <a:bodyPr/>
                    <a:lstStyle/>
                    <a:p>
                      <a:pPr>
                        <a:lnSpc>
                          <a:spcPct val="100000"/>
                        </a:lnSpc>
                      </a:pPr>
                      <a:r>
                        <a:rPr lang="en-US" sz="1600" u="none" dirty="0">
                          <a:solidFill>
                            <a:schemeClr val="tx1"/>
                          </a:solidFill>
                        </a:rPr>
                        <a:t>Cooper</a:t>
                      </a:r>
                    </a:p>
                  </a:txBody>
                  <a:tcPr marL="45720" marR="45720">
                    <a:noFill/>
                  </a:tcPr>
                </a:tc>
                <a:tc>
                  <a:txBody>
                    <a:bodyPr/>
                    <a:lstStyle/>
                    <a:p>
                      <a:pPr>
                        <a:lnSpc>
                          <a:spcPct val="100000"/>
                        </a:lnSpc>
                      </a:pPr>
                      <a:r>
                        <a:rPr lang="en-US" sz="1600" u="none" dirty="0">
                          <a:solidFill>
                            <a:schemeClr val="tx1"/>
                          </a:solidFill>
                        </a:rPr>
                        <a:t>4/17/99</a:t>
                      </a:r>
                    </a:p>
                  </a:txBody>
                  <a:tcPr marL="45720" marR="45720">
                    <a:noFill/>
                  </a:tcPr>
                </a:tc>
                <a:tc>
                  <a:txBody>
                    <a:bodyPr/>
                    <a:lstStyle/>
                    <a:p>
                      <a:pPr algn="ctr">
                        <a:lnSpc>
                          <a:spcPct val="100000"/>
                        </a:lnSpc>
                      </a:pPr>
                      <a:r>
                        <a:rPr lang="en-US" sz="1600" u="none" dirty="0">
                          <a:solidFill>
                            <a:schemeClr val="tx1"/>
                          </a:solidFill>
                        </a:rPr>
                        <a:t>2</a:t>
                      </a:r>
                    </a:p>
                  </a:txBody>
                  <a:tcPr marL="45720" marR="45720">
                    <a:noFill/>
                  </a:tcPr>
                </a:tc>
                <a:tc>
                  <a:txBody>
                    <a:bodyPr/>
                    <a:lstStyle/>
                    <a:p>
                      <a:pPr algn="ctr">
                        <a:lnSpc>
                          <a:spcPct val="100000"/>
                        </a:lnSpc>
                      </a:pPr>
                      <a:r>
                        <a:rPr lang="en-US" sz="1600" u="none" dirty="0"/>
                        <a:t>1</a:t>
                      </a:r>
                    </a:p>
                  </a:txBody>
                  <a:tcPr marL="45720" marR="45720">
                    <a:noFill/>
                  </a:tcPr>
                </a:tc>
                <a:tc>
                  <a:txBody>
                    <a:bodyPr/>
                    <a:lstStyle/>
                    <a:p>
                      <a:pPr>
                        <a:lnSpc>
                          <a:spcPct val="100000"/>
                        </a:lnSpc>
                      </a:pPr>
                      <a:r>
                        <a:rPr lang="en-US" sz="1600" u="none" dirty="0"/>
                        <a:t>Production</a:t>
                      </a:r>
                    </a:p>
                  </a:txBody>
                  <a:tcPr marL="45720" marR="45720">
                    <a:noFill/>
                  </a:tcPr>
                </a:tc>
                <a:tc>
                  <a:txBody>
                    <a:bodyPr/>
                    <a:lstStyle/>
                    <a:p>
                      <a:pPr>
                        <a:lnSpc>
                          <a:spcPct val="100000"/>
                        </a:lnSpc>
                      </a:pPr>
                      <a:r>
                        <a:rPr lang="en-US" sz="1600" u="none" dirty="0"/>
                        <a:t>NJ</a:t>
                      </a:r>
                    </a:p>
                  </a:txBody>
                  <a:tcPr marL="45720" marR="45720">
                    <a:noFill/>
                  </a:tcPr>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b="1" u="none" dirty="0">
                          <a:solidFill>
                            <a:schemeClr val="tx1"/>
                          </a:solidFill>
                        </a:rPr>
                        <a:t>2</a:t>
                      </a:r>
                    </a:p>
                  </a:txBody>
                  <a:tcPr marL="45720" marR="45720"/>
                </a:tc>
                <a:tc>
                  <a:txBody>
                    <a:bodyPr/>
                    <a:lstStyle/>
                    <a:p>
                      <a:pPr algn="ctr">
                        <a:lnSpc>
                          <a:spcPct val="100000"/>
                        </a:lnSpc>
                      </a:pPr>
                      <a:r>
                        <a:rPr lang="en-US" sz="1600" b="1"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3"/>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b="1" u="none" dirty="0">
                          <a:solidFill>
                            <a:schemeClr val="tx1"/>
                          </a:solidFill>
                        </a:rPr>
                        <a:t>1</a:t>
                      </a:r>
                    </a:p>
                  </a:txBody>
                  <a:tcPr marL="45720" marR="45720"/>
                </a:tc>
                <a:tc>
                  <a:txBody>
                    <a:bodyPr/>
                    <a:lstStyle/>
                    <a:p>
                      <a:pPr algn="ctr">
                        <a:lnSpc>
                          <a:spcPct val="100000"/>
                        </a:lnSpc>
                      </a:pPr>
                      <a:r>
                        <a:rPr lang="en-US" sz="1600" b="1"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4"/>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5"/>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6"/>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b="1" u="none" dirty="0">
                          <a:solidFill>
                            <a:schemeClr val="tx1"/>
                          </a:solidFill>
                        </a:rPr>
                        <a:t>1</a:t>
                      </a:r>
                    </a:p>
                  </a:txBody>
                  <a:tcPr marL="45720" marR="45720"/>
                </a:tc>
                <a:tc>
                  <a:txBody>
                    <a:bodyPr/>
                    <a:lstStyle/>
                    <a:p>
                      <a:pPr algn="ctr">
                        <a:lnSpc>
                          <a:spcPct val="100000"/>
                        </a:lnSpc>
                      </a:pPr>
                      <a:r>
                        <a:rPr lang="en-US" sz="1600" b="1"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7"/>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8"/>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9"/>
                  </a:ext>
                </a:extLst>
              </a:tr>
              <a:tr h="301752">
                <a:tc>
                  <a:txBody>
                    <a:bodyPr/>
                    <a:lstStyle/>
                    <a:p>
                      <a:pPr>
                        <a:lnSpc>
                          <a:spcPct val="100000"/>
                        </a:lnSpc>
                      </a:pPr>
                      <a:r>
                        <a:rPr lang="en-US" sz="1600" u="none" dirty="0">
                          <a:solidFill>
                            <a:schemeClr val="tx1"/>
                          </a:solidFill>
                        </a:rPr>
                        <a:t>738</a:t>
                      </a:r>
                    </a:p>
                  </a:txBody>
                  <a:tcPr marL="45720" marR="45720"/>
                </a:tc>
                <a:tc>
                  <a:txBody>
                    <a:bodyPr/>
                    <a:lstStyle/>
                    <a:p>
                      <a:pPr>
                        <a:lnSpc>
                          <a:spcPct val="100000"/>
                        </a:lnSpc>
                      </a:pPr>
                      <a:r>
                        <a:rPr lang="en-US" sz="1600" u="none" dirty="0">
                          <a:solidFill>
                            <a:schemeClr val="tx1"/>
                          </a:solidFill>
                        </a:rPr>
                        <a:t>John</a:t>
                      </a:r>
                    </a:p>
                  </a:txBody>
                  <a:tcPr marL="45720" marR="45720"/>
                </a:tc>
                <a:tc>
                  <a:txBody>
                    <a:bodyPr/>
                    <a:lstStyle/>
                    <a:p>
                      <a:pPr>
                        <a:lnSpc>
                          <a:spcPct val="100000"/>
                        </a:lnSpc>
                      </a:pPr>
                      <a:r>
                        <a:rPr lang="en-US" sz="1600" u="none" dirty="0">
                          <a:solidFill>
                            <a:schemeClr val="tx1"/>
                          </a:solidFill>
                        </a:rPr>
                        <a:t>Cruz</a:t>
                      </a:r>
                    </a:p>
                  </a:txBody>
                  <a:tcPr marL="45720" marR="45720"/>
                </a:tc>
                <a:tc>
                  <a:txBody>
                    <a:bodyPr/>
                    <a:lstStyle/>
                    <a:p>
                      <a:pPr>
                        <a:lnSpc>
                          <a:spcPct val="100000"/>
                        </a:lnSpc>
                      </a:pPr>
                      <a:r>
                        <a:rPr lang="en-US" sz="1600" u="none" dirty="0">
                          <a:solidFill>
                            <a:schemeClr val="tx1"/>
                          </a:solidFill>
                        </a:rPr>
                        <a:t>6/1/15</a:t>
                      </a:r>
                    </a:p>
                  </a:txBody>
                  <a:tcPr marL="45720" marR="45720"/>
                </a:tc>
                <a:tc>
                  <a:txBody>
                    <a:bodyPr/>
                    <a:lstStyle/>
                    <a:p>
                      <a:pPr algn="ctr">
                        <a:lnSpc>
                          <a:spcPct val="100000"/>
                        </a:lnSpc>
                      </a:pPr>
                      <a:r>
                        <a:rPr lang="en-US" sz="1600" u="none" dirty="0">
                          <a:solidFill>
                            <a:schemeClr val="tx1"/>
                          </a:solidFill>
                        </a:rPr>
                        <a:t>NULL</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10"/>
                  </a:ext>
                </a:extLst>
              </a:tr>
              <a:tr h="301752">
                <a:tc>
                  <a:txBody>
                    <a:bodyPr/>
                    <a:lstStyle/>
                    <a:p>
                      <a:pPr>
                        <a:lnSpc>
                          <a:spcPct val="100000"/>
                        </a:lnSpc>
                      </a:pPr>
                      <a:r>
                        <a:rPr lang="en-US" sz="1600" u="none" dirty="0">
                          <a:solidFill>
                            <a:schemeClr val="tx1"/>
                          </a:solidFill>
                        </a:rPr>
                        <a:t>738</a:t>
                      </a:r>
                    </a:p>
                  </a:txBody>
                  <a:tcPr marL="45720" marR="45720"/>
                </a:tc>
                <a:tc>
                  <a:txBody>
                    <a:bodyPr/>
                    <a:lstStyle/>
                    <a:p>
                      <a:pPr>
                        <a:lnSpc>
                          <a:spcPct val="100000"/>
                        </a:lnSpc>
                      </a:pPr>
                      <a:r>
                        <a:rPr lang="en-US" sz="1600" u="none" dirty="0">
                          <a:solidFill>
                            <a:schemeClr val="tx1"/>
                          </a:solidFill>
                        </a:rPr>
                        <a:t>John</a:t>
                      </a:r>
                    </a:p>
                  </a:txBody>
                  <a:tcPr marL="45720" marR="45720"/>
                </a:tc>
                <a:tc>
                  <a:txBody>
                    <a:bodyPr/>
                    <a:lstStyle/>
                    <a:p>
                      <a:pPr>
                        <a:lnSpc>
                          <a:spcPct val="100000"/>
                        </a:lnSpc>
                      </a:pPr>
                      <a:r>
                        <a:rPr lang="en-US" sz="1600" u="none" dirty="0">
                          <a:solidFill>
                            <a:schemeClr val="tx1"/>
                          </a:solidFill>
                        </a:rPr>
                        <a:t>Cruz</a:t>
                      </a:r>
                    </a:p>
                  </a:txBody>
                  <a:tcPr marL="45720" marR="45720"/>
                </a:tc>
                <a:tc>
                  <a:txBody>
                    <a:bodyPr/>
                    <a:lstStyle/>
                    <a:p>
                      <a:pPr>
                        <a:lnSpc>
                          <a:spcPct val="100000"/>
                        </a:lnSpc>
                      </a:pPr>
                      <a:r>
                        <a:rPr lang="en-US" sz="1600" u="none" dirty="0">
                          <a:solidFill>
                            <a:schemeClr val="tx1"/>
                          </a:solidFill>
                        </a:rPr>
                        <a:t>6/1/15</a:t>
                      </a:r>
                    </a:p>
                  </a:txBody>
                  <a:tcPr marL="45720" marR="45720"/>
                </a:tc>
                <a:tc>
                  <a:txBody>
                    <a:bodyPr/>
                    <a:lstStyle/>
                    <a:p>
                      <a:pPr algn="ctr">
                        <a:lnSpc>
                          <a:spcPct val="100000"/>
                        </a:lnSpc>
                      </a:pPr>
                      <a:r>
                        <a:rPr lang="en-US" sz="1600" u="none" dirty="0">
                          <a:solidFill>
                            <a:schemeClr val="tx1"/>
                          </a:solidFill>
                        </a:rPr>
                        <a:t>NULL</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1"/>
                  </a:ext>
                </a:extLst>
              </a:tr>
              <a:tr h="301752">
                <a:tc>
                  <a:txBody>
                    <a:bodyPr/>
                    <a:lstStyle/>
                    <a:p>
                      <a:pPr>
                        <a:lnSpc>
                          <a:spcPct val="100000"/>
                        </a:lnSpc>
                      </a:pPr>
                      <a:r>
                        <a:rPr lang="en-US" sz="1600" u="none" dirty="0">
                          <a:solidFill>
                            <a:schemeClr val="tx1"/>
                          </a:solidFill>
                        </a:rPr>
                        <a:t>738</a:t>
                      </a:r>
                    </a:p>
                  </a:txBody>
                  <a:tcPr marL="45720" marR="45720"/>
                </a:tc>
                <a:tc>
                  <a:txBody>
                    <a:bodyPr/>
                    <a:lstStyle/>
                    <a:p>
                      <a:pPr>
                        <a:lnSpc>
                          <a:spcPct val="100000"/>
                        </a:lnSpc>
                      </a:pPr>
                      <a:r>
                        <a:rPr lang="en-US" sz="1600" u="none" dirty="0">
                          <a:solidFill>
                            <a:schemeClr val="tx1"/>
                          </a:solidFill>
                        </a:rPr>
                        <a:t>John</a:t>
                      </a:r>
                    </a:p>
                  </a:txBody>
                  <a:tcPr marL="45720" marR="45720"/>
                </a:tc>
                <a:tc>
                  <a:txBody>
                    <a:bodyPr/>
                    <a:lstStyle/>
                    <a:p>
                      <a:pPr>
                        <a:lnSpc>
                          <a:spcPct val="100000"/>
                        </a:lnSpc>
                      </a:pPr>
                      <a:r>
                        <a:rPr lang="en-US" sz="1600" u="none" dirty="0">
                          <a:solidFill>
                            <a:schemeClr val="tx1"/>
                          </a:solidFill>
                        </a:rPr>
                        <a:t>Cruz</a:t>
                      </a:r>
                    </a:p>
                  </a:txBody>
                  <a:tcPr marL="45720" marR="45720"/>
                </a:tc>
                <a:tc>
                  <a:txBody>
                    <a:bodyPr/>
                    <a:lstStyle/>
                    <a:p>
                      <a:pPr>
                        <a:lnSpc>
                          <a:spcPct val="100000"/>
                        </a:lnSpc>
                      </a:pPr>
                      <a:r>
                        <a:rPr lang="en-US" sz="1600" u="none" dirty="0">
                          <a:solidFill>
                            <a:schemeClr val="tx1"/>
                          </a:solidFill>
                        </a:rPr>
                        <a:t>6/1/15</a:t>
                      </a:r>
                    </a:p>
                  </a:txBody>
                  <a:tcPr marL="45720" marR="45720"/>
                </a:tc>
                <a:tc>
                  <a:txBody>
                    <a:bodyPr/>
                    <a:lstStyle/>
                    <a:p>
                      <a:pPr algn="ctr">
                        <a:lnSpc>
                          <a:spcPct val="100000"/>
                        </a:lnSpc>
                      </a:pPr>
                      <a:r>
                        <a:rPr lang="en-US" sz="1600" u="none" dirty="0">
                          <a:solidFill>
                            <a:schemeClr val="tx1"/>
                          </a:solidFill>
                        </a:rPr>
                        <a:t>NULL</a:t>
                      </a:r>
                    </a:p>
                  </a:txBody>
                  <a:tcPr marL="45720" marR="45720"/>
                </a:tc>
                <a:tc>
                  <a:txBody>
                    <a:bodyPr/>
                    <a:lstStyle/>
                    <a:p>
                      <a:pPr algn="ctr">
                        <a:lnSpc>
                          <a:spcPct val="100000"/>
                        </a:lnSpc>
                      </a:pPr>
                      <a:r>
                        <a:rPr lang="en-US" sz="1600" u="none" dirty="0"/>
                        <a:t>3</a:t>
                      </a:r>
                    </a:p>
                  </a:txBody>
                  <a:tcPr marL="45720" marR="45720"/>
                </a:tc>
                <a:tc>
                  <a:txBody>
                    <a:bodyPr/>
                    <a:lstStyle/>
                    <a:p>
                      <a:pPr>
                        <a:lnSpc>
                          <a:spcPct val="100000"/>
                        </a:lnSpc>
                      </a:pPr>
                      <a:r>
                        <a:rPr lang="en-US" sz="1600" u="none" dirty="0"/>
                        <a:t>Sales</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12"/>
                  </a:ext>
                </a:extLst>
              </a:tr>
            </a:tbl>
          </a:graphicData>
        </a:graphic>
      </p:graphicFrame>
      <p:sp>
        <p:nvSpPr>
          <p:cNvPr id="16" name="TextBox 15"/>
          <p:cNvSpPr txBox="1"/>
          <p:nvPr/>
        </p:nvSpPr>
        <p:spPr>
          <a:xfrm>
            <a:off x="1622854" y="1347458"/>
            <a:ext cx="7869516" cy="523220"/>
          </a:xfrm>
          <a:prstGeom prst="rect">
            <a:avLst/>
          </a:prstGeom>
          <a:noFill/>
        </p:spPr>
        <p:txBody>
          <a:bodyPr wrap="square" rtlCol="0">
            <a:spAutoFit/>
          </a:bodyPr>
          <a:lstStyle/>
          <a:p>
            <a:r>
              <a:rPr lang="en-US" sz="2800" b="1" dirty="0"/>
              <a:t>WHERE </a:t>
            </a:r>
            <a:r>
              <a:rPr lang="en-US" sz="2800" b="1" dirty="0" err="1"/>
              <a:t>Employees.DeptID</a:t>
            </a:r>
            <a:r>
              <a:rPr lang="en-US" sz="2800" b="1" dirty="0"/>
              <a:t> =</a:t>
            </a:r>
            <a:r>
              <a:rPr lang="en-US" sz="2800" b="1" dirty="0" err="1"/>
              <a:t>Departments.DeptID</a:t>
            </a:r>
            <a:endParaRPr lang="en-US" sz="2800" b="1" dirty="0"/>
          </a:p>
        </p:txBody>
      </p:sp>
      <p:sp>
        <p:nvSpPr>
          <p:cNvPr id="3" name="TextBox 2"/>
          <p:cNvSpPr txBox="1"/>
          <p:nvPr/>
        </p:nvSpPr>
        <p:spPr>
          <a:xfrm>
            <a:off x="8822725" y="1162908"/>
            <a:ext cx="1845275"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The records that do not satisfy the criterion or criteria are deleted</a:t>
            </a:r>
          </a:p>
        </p:txBody>
      </p:sp>
      <p:cxnSp>
        <p:nvCxnSpPr>
          <p:cNvPr id="11" name="Straight Arrow Connector 10"/>
          <p:cNvCxnSpPr/>
          <p:nvPr/>
        </p:nvCxnSpPr>
        <p:spPr>
          <a:xfrm flipH="1">
            <a:off x="8542638" y="1812324"/>
            <a:ext cx="280086" cy="222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622855" y="2833816"/>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622854" y="3505200"/>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1622853" y="4168346"/>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622853" y="4543168"/>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622852" y="5226908"/>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1622851" y="5502876"/>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1622851" y="5869460"/>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622850" y="6186616"/>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1622849" y="6561438"/>
            <a:ext cx="8880389" cy="8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286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Step 2: WHERE – </a:t>
            </a:r>
            <a:r>
              <a:rPr lang="en-US" sz="3600" dirty="0"/>
              <a:t>The criterion is applied</a:t>
            </a:r>
            <a:endParaRPr lang="en-US" sz="2400" b="1" dirty="0">
              <a:solidFill>
                <a:schemeClr val="tx2"/>
              </a:solidFill>
            </a:endParaRPr>
          </a:p>
        </p:txBody>
      </p:sp>
      <p:sp>
        <p:nvSpPr>
          <p:cNvPr id="3" name="Slide Number Placeholder 2"/>
          <p:cNvSpPr>
            <a:spLocks noGrp="1"/>
          </p:cNvSpPr>
          <p:nvPr>
            <p:ph type="sldNum" sz="quarter" idx="12"/>
          </p:nvPr>
        </p:nvSpPr>
        <p:spPr/>
        <p:txBody>
          <a:bodyPr/>
          <a:lstStyle/>
          <a:p>
            <a:fld id="{87F3E754-1C97-4481-A18C-9D97ADBDF344}" type="slidenum">
              <a:rPr lang="en-US" smtClean="0"/>
              <a:t>12</a:t>
            </a:fld>
            <a:endParaRPr lang="en-US"/>
          </a:p>
        </p:txBody>
      </p:sp>
      <p:graphicFrame>
        <p:nvGraphicFramePr>
          <p:cNvPr id="6" name="Table 5"/>
          <p:cNvGraphicFramePr>
            <a:graphicFrameLocks noGrp="1"/>
          </p:cNvGraphicFramePr>
          <p:nvPr/>
        </p:nvGraphicFramePr>
        <p:xfrm>
          <a:off x="1647569" y="2436401"/>
          <a:ext cx="8855675" cy="158496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bl>
          </a:graphicData>
        </a:graphic>
      </p:graphicFrame>
      <p:sp>
        <p:nvSpPr>
          <p:cNvPr id="16" name="TextBox 15"/>
          <p:cNvSpPr txBox="1"/>
          <p:nvPr/>
        </p:nvSpPr>
        <p:spPr>
          <a:xfrm>
            <a:off x="1622854" y="1396886"/>
            <a:ext cx="7869516" cy="523220"/>
          </a:xfrm>
          <a:prstGeom prst="rect">
            <a:avLst/>
          </a:prstGeom>
          <a:noFill/>
        </p:spPr>
        <p:txBody>
          <a:bodyPr wrap="square" rtlCol="0">
            <a:spAutoFit/>
          </a:bodyPr>
          <a:lstStyle/>
          <a:p>
            <a:r>
              <a:rPr lang="en-US" sz="2800" b="1" dirty="0"/>
              <a:t>WHERE </a:t>
            </a:r>
            <a:r>
              <a:rPr lang="en-US" sz="2800" b="1" dirty="0" err="1"/>
              <a:t>Employees.DeptID</a:t>
            </a:r>
            <a:r>
              <a:rPr lang="en-US" sz="2800" b="1" dirty="0"/>
              <a:t> = </a:t>
            </a:r>
            <a:r>
              <a:rPr lang="en-US" sz="2800" b="1" dirty="0" err="1"/>
              <a:t>Departments.DeptID</a:t>
            </a:r>
            <a:endParaRPr lang="en-US" sz="2800" b="1" dirty="0"/>
          </a:p>
        </p:txBody>
      </p:sp>
    </p:spTree>
    <p:extLst>
      <p:ext uri="{BB962C8B-B14F-4D97-AF65-F5344CB8AC3E}">
        <p14:creationId xmlns:p14="http://schemas.microsoft.com/office/powerpoint/2010/main" val="210272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Step 3: SELECT</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13</a:t>
            </a:fld>
            <a:endParaRPr lang="en-US"/>
          </a:p>
        </p:txBody>
      </p:sp>
      <p:graphicFrame>
        <p:nvGraphicFramePr>
          <p:cNvPr id="6" name="Table 5"/>
          <p:cNvGraphicFramePr>
            <a:graphicFrameLocks noGrp="1"/>
          </p:cNvGraphicFramePr>
          <p:nvPr/>
        </p:nvGraphicFramePr>
        <p:xfrm>
          <a:off x="1647569" y="2246931"/>
          <a:ext cx="8855675" cy="158496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bl>
          </a:graphicData>
        </a:graphic>
      </p:graphicFrame>
      <p:sp>
        <p:nvSpPr>
          <p:cNvPr id="16" name="TextBox 15"/>
          <p:cNvSpPr txBox="1"/>
          <p:nvPr/>
        </p:nvSpPr>
        <p:spPr>
          <a:xfrm>
            <a:off x="1622854" y="1396886"/>
            <a:ext cx="7869516" cy="523220"/>
          </a:xfrm>
          <a:prstGeom prst="rect">
            <a:avLst/>
          </a:prstGeom>
          <a:noFill/>
        </p:spPr>
        <p:txBody>
          <a:bodyPr wrap="square" rtlCol="0">
            <a:spAutoFit/>
          </a:bodyPr>
          <a:lstStyle/>
          <a:p>
            <a:r>
              <a:rPr lang="en-US" sz="2800" b="1" dirty="0"/>
              <a:t>SELECT </a:t>
            </a:r>
            <a:r>
              <a:rPr lang="en-US" sz="2800" b="1" dirty="0" err="1"/>
              <a:t>FName</a:t>
            </a:r>
            <a:r>
              <a:rPr lang="en-US" sz="2800" b="1" dirty="0"/>
              <a:t>, </a:t>
            </a:r>
            <a:r>
              <a:rPr lang="en-US" sz="2800" b="1" dirty="0" err="1"/>
              <a:t>LName</a:t>
            </a:r>
            <a:r>
              <a:rPr lang="en-US" sz="2800" b="1" dirty="0"/>
              <a:t>, </a:t>
            </a:r>
            <a:r>
              <a:rPr lang="en-US" sz="2800" b="1" dirty="0" err="1"/>
              <a:t>DeptName</a:t>
            </a:r>
            <a:endParaRPr lang="en-US" sz="2800" b="1" dirty="0"/>
          </a:p>
        </p:txBody>
      </p:sp>
      <p:sp>
        <p:nvSpPr>
          <p:cNvPr id="3" name="TextBox 2"/>
          <p:cNvSpPr txBox="1"/>
          <p:nvPr/>
        </p:nvSpPr>
        <p:spPr>
          <a:xfrm>
            <a:off x="8822725" y="1162907"/>
            <a:ext cx="1351006"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The fields we do not want to see are deleted</a:t>
            </a:r>
          </a:p>
        </p:txBody>
      </p:sp>
      <p:cxnSp>
        <p:nvCxnSpPr>
          <p:cNvPr id="11" name="Straight Arrow Connector 10"/>
          <p:cNvCxnSpPr/>
          <p:nvPr/>
        </p:nvCxnSpPr>
        <p:spPr>
          <a:xfrm flipH="1">
            <a:off x="8542638" y="1812324"/>
            <a:ext cx="280086" cy="222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828800"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086865"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123642"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245179"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9592962"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934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Final result – </a:t>
            </a:r>
            <a:r>
              <a:rPr lang="en-US" dirty="0">
                <a:sym typeface="Wingdings"/>
              </a:rPr>
              <a:t></a:t>
            </a:r>
            <a:endParaRPr lang="en-US" sz="2400" b="1" dirty="0">
              <a:solidFill>
                <a:schemeClr val="tx2"/>
              </a:solidFill>
            </a:endParaRPr>
          </a:p>
        </p:txBody>
      </p:sp>
      <p:sp>
        <p:nvSpPr>
          <p:cNvPr id="3" name="Slide Number Placeholder 2"/>
          <p:cNvSpPr>
            <a:spLocks noGrp="1"/>
          </p:cNvSpPr>
          <p:nvPr>
            <p:ph type="sldNum" sz="quarter" idx="12"/>
          </p:nvPr>
        </p:nvSpPr>
        <p:spPr/>
        <p:txBody>
          <a:bodyPr/>
          <a:lstStyle/>
          <a:p>
            <a:fld id="{87F3E754-1C97-4481-A18C-9D97ADBDF344}" type="slidenum">
              <a:rPr lang="en-US" smtClean="0"/>
              <a:t>14</a:t>
            </a:fld>
            <a:endParaRPr lang="en-US"/>
          </a:p>
        </p:txBody>
      </p:sp>
      <p:graphicFrame>
        <p:nvGraphicFramePr>
          <p:cNvPr id="6" name="Table 5"/>
          <p:cNvGraphicFramePr>
            <a:graphicFrameLocks noGrp="1"/>
          </p:cNvGraphicFramePr>
          <p:nvPr/>
        </p:nvGraphicFramePr>
        <p:xfrm>
          <a:off x="3369274" y="2403450"/>
          <a:ext cx="5967637" cy="1703249"/>
        </p:xfrm>
        <a:graphic>
          <a:graphicData uri="http://schemas.openxmlformats.org/drawingml/2006/table">
            <a:tbl>
              <a:tblPr firstRow="1" bandRow="1">
                <a:tableStyleId>{5C22544A-7EE6-4342-B048-85BDC9FD1C3A}</a:tableStyleId>
              </a:tblPr>
              <a:tblGrid>
                <a:gridCol w="1816939">
                  <a:extLst>
                    <a:ext uri="{9D8B030D-6E8A-4147-A177-3AD203B41FA5}">
                      <a16:colId xmlns:a16="http://schemas.microsoft.com/office/drawing/2014/main" val="20000"/>
                    </a:ext>
                  </a:extLst>
                </a:gridCol>
                <a:gridCol w="1808027">
                  <a:extLst>
                    <a:ext uri="{9D8B030D-6E8A-4147-A177-3AD203B41FA5}">
                      <a16:colId xmlns:a16="http://schemas.microsoft.com/office/drawing/2014/main" val="20001"/>
                    </a:ext>
                  </a:extLst>
                </a:gridCol>
                <a:gridCol w="2342671">
                  <a:extLst>
                    <a:ext uri="{9D8B030D-6E8A-4147-A177-3AD203B41FA5}">
                      <a16:colId xmlns:a16="http://schemas.microsoft.com/office/drawing/2014/main" val="20002"/>
                    </a:ext>
                  </a:extLst>
                </a:gridCol>
              </a:tblGrid>
              <a:tr h="6059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dirty="0" err="1"/>
                        <a:t>Employees.FName</a:t>
                      </a:r>
                      <a:endParaRPr lang="en-US" sz="18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dirty="0" err="1"/>
                        <a:t>Employees.LName</a:t>
                      </a:r>
                      <a:endParaRPr lang="en-US" sz="1800" u="none" dirty="0"/>
                    </a:p>
                  </a:txBody>
                  <a:tcPr marL="45720" marR="45720"/>
                </a:tc>
                <a:tc>
                  <a:txBody>
                    <a:bodyPr/>
                    <a:lstStyle/>
                    <a:p>
                      <a:pPr>
                        <a:lnSpc>
                          <a:spcPct val="100000"/>
                        </a:lnSpc>
                      </a:pPr>
                      <a:r>
                        <a:rPr lang="en-US" sz="1800" u="none" dirty="0" err="1"/>
                        <a:t>Departments.DeptName</a:t>
                      </a:r>
                      <a:endParaRPr lang="en-US" sz="18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800" u="none" dirty="0">
                          <a:solidFill>
                            <a:schemeClr val="tx1"/>
                          </a:solidFill>
                        </a:rPr>
                        <a:t>Aaron</a:t>
                      </a:r>
                    </a:p>
                  </a:txBody>
                  <a:tcPr marL="45720" marR="45720"/>
                </a:tc>
                <a:tc>
                  <a:txBody>
                    <a:bodyPr/>
                    <a:lstStyle/>
                    <a:p>
                      <a:pPr>
                        <a:lnSpc>
                          <a:spcPct val="100000"/>
                        </a:lnSpc>
                      </a:pPr>
                      <a:r>
                        <a:rPr lang="en-US" sz="1800" u="none" dirty="0">
                          <a:solidFill>
                            <a:schemeClr val="tx1"/>
                          </a:solidFill>
                        </a:rPr>
                        <a:t>Cooper</a:t>
                      </a:r>
                    </a:p>
                  </a:txBody>
                  <a:tcPr marL="45720" marR="45720"/>
                </a:tc>
                <a:tc>
                  <a:txBody>
                    <a:bodyPr/>
                    <a:lstStyle/>
                    <a:p>
                      <a:pPr>
                        <a:lnSpc>
                          <a:spcPct val="100000"/>
                        </a:lnSpc>
                      </a:pPr>
                      <a:r>
                        <a:rPr lang="en-US" sz="1800" u="none" dirty="0"/>
                        <a:t>Marketing</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800" u="none" dirty="0">
                          <a:solidFill>
                            <a:schemeClr val="tx1"/>
                          </a:solidFill>
                        </a:rPr>
                        <a:t>Lou</a:t>
                      </a:r>
                    </a:p>
                  </a:txBody>
                  <a:tcPr marL="45720" marR="45720"/>
                </a:tc>
                <a:tc>
                  <a:txBody>
                    <a:bodyPr/>
                    <a:lstStyle/>
                    <a:p>
                      <a:pPr>
                        <a:lnSpc>
                          <a:spcPct val="100000"/>
                        </a:lnSpc>
                      </a:pPr>
                      <a:r>
                        <a:rPr lang="en-US" sz="1800" u="none" dirty="0">
                          <a:solidFill>
                            <a:schemeClr val="tx1"/>
                          </a:solidFill>
                        </a:rPr>
                        <a:t>Bono</a:t>
                      </a:r>
                    </a:p>
                  </a:txBody>
                  <a:tcPr marL="45720" marR="45720"/>
                </a:tc>
                <a:tc>
                  <a:txBody>
                    <a:bodyPr/>
                    <a:lstStyle/>
                    <a:p>
                      <a:pPr>
                        <a:lnSpc>
                          <a:spcPct val="100000"/>
                        </a:lnSpc>
                      </a:pPr>
                      <a:r>
                        <a:rPr lang="en-US" sz="1800" u="none" dirty="0"/>
                        <a:t>Production</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800" u="none" dirty="0">
                          <a:solidFill>
                            <a:schemeClr val="tx1"/>
                          </a:solidFill>
                        </a:rPr>
                        <a:t>Alice</a:t>
                      </a:r>
                    </a:p>
                  </a:txBody>
                  <a:tcPr marL="45720" marR="45720"/>
                </a:tc>
                <a:tc>
                  <a:txBody>
                    <a:bodyPr/>
                    <a:lstStyle/>
                    <a:p>
                      <a:pPr>
                        <a:lnSpc>
                          <a:spcPct val="100000"/>
                        </a:lnSpc>
                      </a:pPr>
                      <a:r>
                        <a:rPr lang="en-US" sz="1800" u="none" dirty="0">
                          <a:solidFill>
                            <a:schemeClr val="tx1"/>
                          </a:solidFill>
                        </a:rPr>
                        <a:t>Bailey</a:t>
                      </a:r>
                    </a:p>
                  </a:txBody>
                  <a:tcPr marL="45720" marR="45720"/>
                </a:tc>
                <a:tc>
                  <a:txBody>
                    <a:bodyPr/>
                    <a:lstStyle/>
                    <a:p>
                      <a:pPr>
                        <a:lnSpc>
                          <a:spcPct val="100000"/>
                        </a:lnSpc>
                      </a:pPr>
                      <a:r>
                        <a:rPr lang="en-US" sz="1800" u="none" dirty="0"/>
                        <a:t>Production</a:t>
                      </a:r>
                    </a:p>
                  </a:txBody>
                  <a:tcPr marL="45720" marR="45720"/>
                </a:tc>
                <a:extLst>
                  <a:ext uri="{0D108BD9-81ED-4DB2-BD59-A6C34878D82A}">
                    <a16:rowId xmlns:a16="http://schemas.microsoft.com/office/drawing/2014/main" val="10003"/>
                  </a:ext>
                </a:extLst>
              </a:tr>
            </a:tbl>
          </a:graphicData>
        </a:graphic>
      </p:graphicFrame>
      <p:sp>
        <p:nvSpPr>
          <p:cNvPr id="16" name="TextBox 15"/>
          <p:cNvSpPr txBox="1"/>
          <p:nvPr/>
        </p:nvSpPr>
        <p:spPr>
          <a:xfrm>
            <a:off x="1744041" y="1388648"/>
            <a:ext cx="7869516" cy="523220"/>
          </a:xfrm>
          <a:prstGeom prst="rect">
            <a:avLst/>
          </a:prstGeom>
          <a:noFill/>
        </p:spPr>
        <p:txBody>
          <a:bodyPr wrap="square" rtlCol="0">
            <a:spAutoFit/>
          </a:bodyPr>
          <a:lstStyle/>
          <a:p>
            <a:r>
              <a:rPr lang="en-US" sz="2800" b="1" dirty="0"/>
              <a:t>SELECT </a:t>
            </a:r>
            <a:r>
              <a:rPr lang="en-US" sz="2800" b="1" dirty="0" err="1"/>
              <a:t>FName</a:t>
            </a:r>
            <a:r>
              <a:rPr lang="en-US" sz="2800" b="1" dirty="0"/>
              <a:t>, </a:t>
            </a:r>
            <a:r>
              <a:rPr lang="en-US" sz="2800" b="1" dirty="0" err="1"/>
              <a:t>LName</a:t>
            </a:r>
            <a:r>
              <a:rPr lang="en-US" sz="2800" b="1" dirty="0"/>
              <a:t>, </a:t>
            </a:r>
            <a:r>
              <a:rPr lang="en-US" sz="2800" b="1" dirty="0" err="1"/>
              <a:t>DeptName</a:t>
            </a:r>
            <a:endParaRPr lang="en-US" sz="2800" b="1" dirty="0"/>
          </a:p>
        </p:txBody>
      </p:sp>
    </p:spTree>
    <p:extLst>
      <p:ext uri="{BB962C8B-B14F-4D97-AF65-F5344CB8AC3E}">
        <p14:creationId xmlns:p14="http://schemas.microsoft.com/office/powerpoint/2010/main" val="320517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2000444" y="1787417"/>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NULL</a:t>
                      </a:r>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7251677" y="1940696"/>
          <a:ext cx="3100197" cy="1483360"/>
        </p:xfrm>
        <a:graphic>
          <a:graphicData uri="http://schemas.openxmlformats.org/drawingml/2006/table">
            <a:tbl>
              <a:tblPr firstRow="1" bandRow="1">
                <a:tableStyleId>{5C22544A-7EE6-4342-B048-85BDC9FD1C3A}</a:tableStyleId>
              </a:tblPr>
              <a:tblGrid>
                <a:gridCol w="861187">
                  <a:extLst>
                    <a:ext uri="{9D8B030D-6E8A-4147-A177-3AD203B41FA5}">
                      <a16:colId xmlns:a16="http://schemas.microsoft.com/office/drawing/2014/main" val="20000"/>
                    </a:ext>
                  </a:extLst>
                </a:gridCol>
                <a:gridCol w="1241425">
                  <a:extLst>
                    <a:ext uri="{9D8B030D-6E8A-4147-A177-3AD203B41FA5}">
                      <a16:colId xmlns:a16="http://schemas.microsoft.com/office/drawing/2014/main" val="20001"/>
                    </a:ext>
                  </a:extLst>
                </a:gridCol>
                <a:gridCol w="997585">
                  <a:extLst>
                    <a:ext uri="{9D8B030D-6E8A-4147-A177-3AD203B41FA5}">
                      <a16:colId xmlns:a16="http://schemas.microsoft.com/office/drawing/2014/main" val="20002"/>
                    </a:ext>
                  </a:extLst>
                </a:gridCol>
              </a:tblGrid>
              <a:tr h="370840">
                <a:tc>
                  <a:txBody>
                    <a:bodyPr/>
                    <a:lstStyle/>
                    <a:p>
                      <a:r>
                        <a:rPr lang="en-US" u="sng" dirty="0" err="1"/>
                        <a:t>DeptID</a:t>
                      </a:r>
                      <a:endParaRPr lang="en-US" u="sng" dirty="0"/>
                    </a:p>
                  </a:txBody>
                  <a:tcPr/>
                </a:tc>
                <a:tc>
                  <a:txBody>
                    <a:bodyPr/>
                    <a:lstStyle/>
                    <a:p>
                      <a:r>
                        <a:rPr lang="en-US" dirty="0" err="1"/>
                        <a:t>DeptName</a:t>
                      </a:r>
                      <a:endParaRPr lang="en-US" dirty="0"/>
                    </a:p>
                  </a:txBody>
                  <a:tcPr/>
                </a:tc>
                <a:tc>
                  <a:txBody>
                    <a:bodyPr/>
                    <a:lstStyle/>
                    <a:p>
                      <a:r>
                        <a:rPr lang="en-US" dirty="0"/>
                        <a:t>Location</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Production</a:t>
                      </a:r>
                    </a:p>
                  </a:txBody>
                  <a:tcPr/>
                </a:tc>
                <a:tc>
                  <a:txBody>
                    <a:bodyPr/>
                    <a:lstStyle/>
                    <a:p>
                      <a:r>
                        <a:rPr lang="en-US" dirty="0"/>
                        <a:t>NJ</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Marketing</a:t>
                      </a:r>
                    </a:p>
                  </a:txBody>
                  <a:tcPr/>
                </a:tc>
                <a:tc>
                  <a:txBody>
                    <a:bodyPr/>
                    <a:lstStyle/>
                    <a:p>
                      <a:r>
                        <a:rPr lang="en-US" dirty="0"/>
                        <a:t>CA</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Sales</a:t>
                      </a:r>
                    </a:p>
                  </a:txBody>
                  <a:tcPr/>
                </a:tc>
                <a:tc>
                  <a:txBody>
                    <a:bodyPr/>
                    <a:lstStyle/>
                    <a:p>
                      <a:r>
                        <a:rPr lang="en-US" dirty="0"/>
                        <a:t>CA</a:t>
                      </a:r>
                    </a:p>
                  </a:txBody>
                  <a:tcPr/>
                </a:tc>
                <a:extLst>
                  <a:ext uri="{0D108BD9-81ED-4DB2-BD59-A6C34878D82A}">
                    <a16:rowId xmlns:a16="http://schemas.microsoft.com/office/drawing/2014/main" val="10003"/>
                  </a:ext>
                </a:extLst>
              </a:tr>
            </a:tbl>
          </a:graphicData>
        </a:graphic>
      </p:graphicFrame>
      <p:cxnSp>
        <p:nvCxnSpPr>
          <p:cNvPr id="10" name="Elbow Connector 9"/>
          <p:cNvCxnSpPr/>
          <p:nvPr/>
        </p:nvCxnSpPr>
        <p:spPr>
          <a:xfrm>
            <a:off x="6318423" y="1993557"/>
            <a:ext cx="955589" cy="172994"/>
          </a:xfrm>
          <a:prstGeom prst="bentConnector3">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029253" y="1797219"/>
            <a:ext cx="881449" cy="369332"/>
          </a:xfrm>
          <a:prstGeom prst="rect">
            <a:avLst/>
          </a:prstGeom>
          <a:noFill/>
        </p:spPr>
        <p:txBody>
          <a:bodyPr wrap="square" rtlCol="0">
            <a:spAutoFit/>
          </a:bodyPr>
          <a:lstStyle/>
          <a:p>
            <a:r>
              <a:rPr lang="en-US" dirty="0"/>
              <a:t>1</a:t>
            </a:r>
          </a:p>
        </p:txBody>
      </p:sp>
      <p:sp>
        <p:nvSpPr>
          <p:cNvPr id="14" name="TextBox 13"/>
          <p:cNvSpPr txBox="1"/>
          <p:nvPr/>
        </p:nvSpPr>
        <p:spPr>
          <a:xfrm>
            <a:off x="6268995" y="1683264"/>
            <a:ext cx="881449" cy="369332"/>
          </a:xfrm>
          <a:prstGeom prst="rect">
            <a:avLst/>
          </a:prstGeom>
          <a:noFill/>
        </p:spPr>
        <p:txBody>
          <a:bodyPr wrap="square" rtlCol="0">
            <a:spAutoFit/>
          </a:bodyPr>
          <a:lstStyle/>
          <a:p>
            <a:r>
              <a:rPr lang="en-US" dirty="0"/>
              <a:t>M</a:t>
            </a:r>
          </a:p>
        </p:txBody>
      </p:sp>
      <p:sp>
        <p:nvSpPr>
          <p:cNvPr id="15" name="Diamond 14"/>
          <p:cNvSpPr/>
          <p:nvPr/>
        </p:nvSpPr>
        <p:spPr>
          <a:xfrm>
            <a:off x="6647936" y="1927655"/>
            <a:ext cx="284207" cy="306863"/>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153723" y="4075423"/>
            <a:ext cx="8106031" cy="1731243"/>
          </a:xfrm>
          <a:prstGeom prst="rect">
            <a:avLst/>
          </a:prstGeom>
          <a:noFill/>
        </p:spPr>
        <p:txBody>
          <a:bodyPr wrap="square" rtlCol="0">
            <a:spAutoFit/>
          </a:bodyPr>
          <a:lstStyle/>
          <a:p>
            <a:r>
              <a:rPr lang="en-US" sz="2400" dirty="0"/>
              <a:t>Suppose we do the following query in the DB above now:</a:t>
            </a:r>
          </a:p>
          <a:p>
            <a:endParaRPr lang="en-US" sz="1050" dirty="0"/>
          </a:p>
          <a:p>
            <a:r>
              <a:rPr lang="en-US" sz="2400" dirty="0"/>
              <a:t>SELECT </a:t>
            </a:r>
            <a:r>
              <a:rPr lang="en-US" sz="2400" dirty="0" err="1"/>
              <a:t>FName</a:t>
            </a:r>
            <a:r>
              <a:rPr lang="en-US" sz="2400" dirty="0"/>
              <a:t>, </a:t>
            </a:r>
            <a:r>
              <a:rPr lang="en-US" sz="2400" dirty="0" err="1"/>
              <a:t>LName</a:t>
            </a:r>
            <a:r>
              <a:rPr lang="en-US" sz="2400" dirty="0"/>
              <a:t>, </a:t>
            </a:r>
            <a:r>
              <a:rPr lang="en-US" sz="2400" dirty="0" err="1"/>
              <a:t>DeptName</a:t>
            </a:r>
            <a:endParaRPr lang="en-US" sz="2400" dirty="0"/>
          </a:p>
          <a:p>
            <a:r>
              <a:rPr lang="en-US" sz="2400" dirty="0">
                <a:solidFill>
                  <a:srgbClr val="FF0000"/>
                </a:solidFill>
              </a:rPr>
              <a:t>FROM Employees </a:t>
            </a:r>
            <a:r>
              <a:rPr lang="en-US" sz="2400" b="1" dirty="0">
                <a:solidFill>
                  <a:srgbClr val="FF0000"/>
                </a:solidFill>
              </a:rPr>
              <a:t>INNER JOIN </a:t>
            </a:r>
            <a:r>
              <a:rPr lang="en-US" sz="2400" dirty="0">
                <a:solidFill>
                  <a:srgbClr val="FF0000"/>
                </a:solidFill>
              </a:rPr>
              <a:t>Departments </a:t>
            </a:r>
            <a:r>
              <a:rPr lang="en-US" sz="2400" b="1" dirty="0">
                <a:solidFill>
                  <a:srgbClr val="FF0000"/>
                </a:solidFill>
              </a:rPr>
              <a:t>ON 					</a:t>
            </a:r>
            <a:r>
              <a:rPr lang="en-US" sz="2400" dirty="0" err="1">
                <a:solidFill>
                  <a:srgbClr val="FF0000"/>
                </a:solidFill>
              </a:rPr>
              <a:t>Employees.DeptID</a:t>
            </a:r>
            <a:r>
              <a:rPr lang="en-US" sz="2400" dirty="0">
                <a:solidFill>
                  <a:srgbClr val="FF0000"/>
                </a:solidFill>
              </a:rPr>
              <a:t> = </a:t>
            </a:r>
            <a:r>
              <a:rPr lang="en-US" sz="2400" dirty="0" err="1">
                <a:solidFill>
                  <a:srgbClr val="FF0000"/>
                </a:solidFill>
              </a:rPr>
              <a:t>Departments.DeptID</a:t>
            </a:r>
            <a:endParaRPr lang="en-US" sz="2400" dirty="0">
              <a:solidFill>
                <a:srgbClr val="FF0000"/>
              </a:solidFill>
            </a:endParaRPr>
          </a:p>
        </p:txBody>
      </p:sp>
      <p:sp>
        <p:nvSpPr>
          <p:cNvPr id="11" name="Title 1"/>
          <p:cNvSpPr txBox="1">
            <a:spLocks/>
          </p:cNvSpPr>
          <p:nvPr/>
        </p:nvSpPr>
        <p:spPr>
          <a:xfrm>
            <a:off x="1909828" y="168420"/>
            <a:ext cx="8453372" cy="12567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a:lstStyle>
          <a:p>
            <a:r>
              <a:rPr lang="en-US" dirty="0"/>
              <a:t>3</a:t>
            </a:r>
            <a:r>
              <a:rPr lang="en-US" baseline="30000" dirty="0"/>
              <a:t>rd</a:t>
            </a:r>
            <a:r>
              <a:rPr lang="en-US" dirty="0"/>
              <a:t> attempt - </a:t>
            </a:r>
            <a:r>
              <a:rPr lang="en-US" i="1" dirty="0"/>
              <a:t>INNER JOIN</a:t>
            </a:r>
          </a:p>
        </p:txBody>
      </p:sp>
      <p:sp>
        <p:nvSpPr>
          <p:cNvPr id="4" name="Slide Number Placeholder 3"/>
          <p:cNvSpPr>
            <a:spLocks noGrp="1"/>
          </p:cNvSpPr>
          <p:nvPr>
            <p:ph type="sldNum" sz="quarter" idx="12"/>
          </p:nvPr>
        </p:nvSpPr>
        <p:spPr/>
        <p:txBody>
          <a:bodyPr/>
          <a:lstStyle/>
          <a:p>
            <a:fld id="{87F3E754-1C97-4481-A18C-9D97ADBDF344}" type="slidenum">
              <a:rPr lang="en-US" smtClean="0"/>
              <a:t>15</a:t>
            </a:fld>
            <a:endParaRPr lang="en-US"/>
          </a:p>
        </p:txBody>
      </p:sp>
    </p:spTree>
    <p:extLst>
      <p:ext uri="{BB962C8B-B14F-4D97-AF65-F5344CB8AC3E}">
        <p14:creationId xmlns:p14="http://schemas.microsoft.com/office/powerpoint/2010/main" val="119294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53544"/>
            <a:ext cx="8759202" cy="843236"/>
          </a:xfrm>
        </p:spPr>
        <p:txBody>
          <a:bodyPr>
            <a:normAutofit fontScale="90000"/>
          </a:bodyPr>
          <a:lstStyle/>
          <a:p>
            <a:r>
              <a:rPr lang="en-US" dirty="0"/>
              <a:t>Step 1: FROM - </a:t>
            </a:r>
            <a:r>
              <a:rPr lang="en-US" sz="3600" dirty="0"/>
              <a:t>The tables are joined together</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16</a:t>
            </a:fld>
            <a:endParaRPr lang="en-US"/>
          </a:p>
        </p:txBody>
      </p:sp>
      <p:sp>
        <p:nvSpPr>
          <p:cNvPr id="16" name="TextBox 15"/>
          <p:cNvSpPr txBox="1"/>
          <p:nvPr/>
        </p:nvSpPr>
        <p:spPr>
          <a:xfrm>
            <a:off x="1669901" y="1277605"/>
            <a:ext cx="8923959" cy="1384995"/>
          </a:xfrm>
          <a:prstGeom prst="rect">
            <a:avLst/>
          </a:prstGeom>
          <a:noFill/>
        </p:spPr>
        <p:txBody>
          <a:bodyPr wrap="square" rtlCol="0">
            <a:spAutoFit/>
          </a:bodyPr>
          <a:lstStyle/>
          <a:p>
            <a:r>
              <a:rPr lang="en-US" sz="2800" b="1" dirty="0"/>
              <a:t>FROM Employees INNER JOIN Departments ON 					</a:t>
            </a:r>
            <a:r>
              <a:rPr lang="en-US" sz="2800" b="1" dirty="0" err="1"/>
              <a:t>Employees.DeptID</a:t>
            </a:r>
            <a:r>
              <a:rPr lang="en-US" sz="2800" b="1" dirty="0"/>
              <a:t> = </a:t>
            </a:r>
            <a:r>
              <a:rPr lang="en-US" sz="2800" b="1" dirty="0" err="1"/>
              <a:t>Departments.DeptID</a:t>
            </a:r>
            <a:endParaRPr lang="en-US" sz="2800" b="1" dirty="0"/>
          </a:p>
        </p:txBody>
      </p:sp>
      <p:sp>
        <p:nvSpPr>
          <p:cNvPr id="3" name="TextBox 2"/>
          <p:cNvSpPr txBox="1"/>
          <p:nvPr/>
        </p:nvSpPr>
        <p:spPr>
          <a:xfrm>
            <a:off x="7990702" y="2707395"/>
            <a:ext cx="2652584"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Creates the table that combines each record from Employees with each record from Departments that has the same </a:t>
            </a:r>
            <a:r>
              <a:rPr lang="en-US" sz="1400" dirty="0" err="1"/>
              <a:t>DeptID</a:t>
            </a:r>
            <a:endParaRPr lang="en-US" sz="1400" dirty="0"/>
          </a:p>
        </p:txBody>
      </p:sp>
      <p:cxnSp>
        <p:nvCxnSpPr>
          <p:cNvPr id="5" name="Straight Arrow Connector 4"/>
          <p:cNvCxnSpPr/>
          <p:nvPr/>
        </p:nvCxnSpPr>
        <p:spPr>
          <a:xfrm>
            <a:off x="7990703" y="2290121"/>
            <a:ext cx="280086" cy="3130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7990703" y="3661502"/>
            <a:ext cx="280086" cy="222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nvGraphicFramePr>
        <p:xfrm>
          <a:off x="1647569" y="4149872"/>
          <a:ext cx="8855675" cy="158496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4585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Step 2: SELECT</a:t>
            </a:r>
            <a:endParaRPr lang="en-US" sz="2400" b="1" dirty="0">
              <a:solidFill>
                <a:schemeClr val="tx2"/>
              </a:solidFill>
            </a:endParaRPr>
          </a:p>
        </p:txBody>
      </p:sp>
      <p:sp>
        <p:nvSpPr>
          <p:cNvPr id="4" name="Slide Number Placeholder 3"/>
          <p:cNvSpPr>
            <a:spLocks noGrp="1"/>
          </p:cNvSpPr>
          <p:nvPr>
            <p:ph type="sldNum" sz="quarter" idx="12"/>
          </p:nvPr>
        </p:nvSpPr>
        <p:spPr/>
        <p:txBody>
          <a:bodyPr/>
          <a:lstStyle/>
          <a:p>
            <a:fld id="{87F3E754-1C97-4481-A18C-9D97ADBDF344}" type="slidenum">
              <a:rPr lang="en-US" smtClean="0"/>
              <a:t>17</a:t>
            </a:fld>
            <a:endParaRPr lang="en-US"/>
          </a:p>
        </p:txBody>
      </p:sp>
      <p:graphicFrame>
        <p:nvGraphicFramePr>
          <p:cNvPr id="6" name="Table 5"/>
          <p:cNvGraphicFramePr>
            <a:graphicFrameLocks noGrp="1"/>
          </p:cNvGraphicFramePr>
          <p:nvPr/>
        </p:nvGraphicFramePr>
        <p:xfrm>
          <a:off x="1647569" y="2246931"/>
          <a:ext cx="8855675" cy="158496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rPr>
                        <a:t>734</a:t>
                      </a:r>
                    </a:p>
                  </a:txBody>
                  <a:tcPr marL="45720" marR="45720"/>
                </a:tc>
                <a:tc>
                  <a:txBody>
                    <a:bodyPr/>
                    <a:lstStyle/>
                    <a:p>
                      <a:pPr>
                        <a:lnSpc>
                          <a:spcPct val="100000"/>
                        </a:lnSpc>
                      </a:pPr>
                      <a:r>
                        <a:rPr lang="en-US" sz="1600" u="none" dirty="0">
                          <a:solidFill>
                            <a:schemeClr val="tx1"/>
                          </a:solidFill>
                        </a:rPr>
                        <a:t>Aaron</a:t>
                      </a:r>
                    </a:p>
                  </a:txBody>
                  <a:tcPr marL="45720" marR="45720"/>
                </a:tc>
                <a:tc>
                  <a:txBody>
                    <a:bodyPr/>
                    <a:lstStyle/>
                    <a:p>
                      <a:pPr>
                        <a:lnSpc>
                          <a:spcPct val="100000"/>
                        </a:lnSpc>
                      </a:pPr>
                      <a:r>
                        <a:rPr lang="en-US" sz="1600" u="none" dirty="0">
                          <a:solidFill>
                            <a:schemeClr val="tx1"/>
                          </a:solidFill>
                        </a:rPr>
                        <a:t>Cooper</a:t>
                      </a:r>
                    </a:p>
                  </a:txBody>
                  <a:tcPr marL="45720" marR="45720"/>
                </a:tc>
                <a:tc>
                  <a:txBody>
                    <a:bodyPr/>
                    <a:lstStyle/>
                    <a:p>
                      <a:pPr>
                        <a:lnSpc>
                          <a:spcPct val="100000"/>
                        </a:lnSpc>
                      </a:pPr>
                      <a:r>
                        <a:rPr lang="en-US" sz="1600" u="none" dirty="0">
                          <a:solidFill>
                            <a:schemeClr val="tx1"/>
                          </a:solidFill>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rPr>
                        <a:t>735</a:t>
                      </a:r>
                    </a:p>
                  </a:txBody>
                  <a:tcPr marL="45720" marR="45720"/>
                </a:tc>
                <a:tc>
                  <a:txBody>
                    <a:bodyPr/>
                    <a:lstStyle/>
                    <a:p>
                      <a:pPr>
                        <a:lnSpc>
                          <a:spcPct val="100000"/>
                        </a:lnSpc>
                      </a:pPr>
                      <a:r>
                        <a:rPr lang="en-US" sz="1600" u="none" dirty="0">
                          <a:solidFill>
                            <a:schemeClr val="tx1"/>
                          </a:solidFill>
                        </a:rPr>
                        <a:t>Lou</a:t>
                      </a:r>
                    </a:p>
                  </a:txBody>
                  <a:tcPr marL="45720" marR="45720"/>
                </a:tc>
                <a:tc>
                  <a:txBody>
                    <a:bodyPr/>
                    <a:lstStyle/>
                    <a:p>
                      <a:pPr>
                        <a:lnSpc>
                          <a:spcPct val="100000"/>
                        </a:lnSpc>
                      </a:pPr>
                      <a:r>
                        <a:rPr lang="en-US" sz="1600" u="none" dirty="0">
                          <a:solidFill>
                            <a:schemeClr val="tx1"/>
                          </a:solidFill>
                        </a:rPr>
                        <a:t>Bono</a:t>
                      </a:r>
                    </a:p>
                  </a:txBody>
                  <a:tcPr marL="45720" marR="45720"/>
                </a:tc>
                <a:tc>
                  <a:txBody>
                    <a:bodyPr/>
                    <a:lstStyle/>
                    <a:p>
                      <a:pPr>
                        <a:lnSpc>
                          <a:spcPct val="100000"/>
                        </a:lnSpc>
                      </a:pPr>
                      <a:r>
                        <a:rPr lang="en-US" sz="1600" u="none" dirty="0">
                          <a:solidFill>
                            <a:schemeClr val="tx1"/>
                          </a:solidFill>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rPr>
                        <a:t>736</a:t>
                      </a:r>
                    </a:p>
                  </a:txBody>
                  <a:tcPr marL="45720" marR="45720"/>
                </a:tc>
                <a:tc>
                  <a:txBody>
                    <a:bodyPr/>
                    <a:lstStyle/>
                    <a:p>
                      <a:pPr>
                        <a:lnSpc>
                          <a:spcPct val="100000"/>
                        </a:lnSpc>
                      </a:pPr>
                      <a:r>
                        <a:rPr lang="en-US" sz="1600" u="none" dirty="0">
                          <a:solidFill>
                            <a:schemeClr val="tx1"/>
                          </a:solidFill>
                        </a:rPr>
                        <a:t>Alice</a:t>
                      </a:r>
                    </a:p>
                  </a:txBody>
                  <a:tcPr marL="45720" marR="45720"/>
                </a:tc>
                <a:tc>
                  <a:txBody>
                    <a:bodyPr/>
                    <a:lstStyle/>
                    <a:p>
                      <a:pPr>
                        <a:lnSpc>
                          <a:spcPct val="100000"/>
                        </a:lnSpc>
                      </a:pPr>
                      <a:r>
                        <a:rPr lang="en-US" sz="1600" u="none" dirty="0">
                          <a:solidFill>
                            <a:schemeClr val="tx1"/>
                          </a:solidFill>
                        </a:rPr>
                        <a:t>Bailey</a:t>
                      </a:r>
                    </a:p>
                  </a:txBody>
                  <a:tcPr marL="45720" marR="45720"/>
                </a:tc>
                <a:tc>
                  <a:txBody>
                    <a:bodyPr/>
                    <a:lstStyle/>
                    <a:p>
                      <a:pPr>
                        <a:lnSpc>
                          <a:spcPct val="100000"/>
                        </a:lnSpc>
                      </a:pPr>
                      <a:r>
                        <a:rPr lang="en-US" sz="1600" u="none" dirty="0">
                          <a:solidFill>
                            <a:schemeClr val="tx1"/>
                          </a:solidFill>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bl>
          </a:graphicData>
        </a:graphic>
      </p:graphicFrame>
      <p:sp>
        <p:nvSpPr>
          <p:cNvPr id="16" name="TextBox 15"/>
          <p:cNvSpPr txBox="1"/>
          <p:nvPr/>
        </p:nvSpPr>
        <p:spPr>
          <a:xfrm>
            <a:off x="1622854" y="1396886"/>
            <a:ext cx="7869516" cy="523220"/>
          </a:xfrm>
          <a:prstGeom prst="rect">
            <a:avLst/>
          </a:prstGeom>
          <a:noFill/>
        </p:spPr>
        <p:txBody>
          <a:bodyPr wrap="square" rtlCol="0">
            <a:spAutoFit/>
          </a:bodyPr>
          <a:lstStyle/>
          <a:p>
            <a:r>
              <a:rPr lang="en-US" sz="2800" b="1" dirty="0"/>
              <a:t>SELECT </a:t>
            </a:r>
            <a:r>
              <a:rPr lang="en-US" sz="2800" b="1" dirty="0" err="1"/>
              <a:t>FName</a:t>
            </a:r>
            <a:r>
              <a:rPr lang="en-US" sz="2800" b="1" dirty="0"/>
              <a:t>, </a:t>
            </a:r>
            <a:r>
              <a:rPr lang="en-US" sz="2800" b="1" dirty="0" err="1"/>
              <a:t>LName</a:t>
            </a:r>
            <a:r>
              <a:rPr lang="en-US" sz="2800" b="1" dirty="0"/>
              <a:t>, </a:t>
            </a:r>
            <a:r>
              <a:rPr lang="en-US" sz="2800" b="1" dirty="0" err="1"/>
              <a:t>DeptName</a:t>
            </a:r>
            <a:endParaRPr lang="en-US" sz="2800" b="1" dirty="0"/>
          </a:p>
        </p:txBody>
      </p:sp>
      <p:sp>
        <p:nvSpPr>
          <p:cNvPr id="3" name="TextBox 2"/>
          <p:cNvSpPr txBox="1"/>
          <p:nvPr/>
        </p:nvSpPr>
        <p:spPr>
          <a:xfrm>
            <a:off x="8822725" y="1162907"/>
            <a:ext cx="1351006" cy="73866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The fields we do not want to see are deleted</a:t>
            </a:r>
          </a:p>
        </p:txBody>
      </p:sp>
      <p:cxnSp>
        <p:nvCxnSpPr>
          <p:cNvPr id="11" name="Straight Arrow Connector 10"/>
          <p:cNvCxnSpPr/>
          <p:nvPr/>
        </p:nvCxnSpPr>
        <p:spPr>
          <a:xfrm flipH="1">
            <a:off x="8542638" y="1812324"/>
            <a:ext cx="280086" cy="2224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828800"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5086865"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123642"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245179"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9592962" y="2191266"/>
            <a:ext cx="733168" cy="1754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789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4041" y="186496"/>
            <a:ext cx="8759202" cy="843236"/>
          </a:xfrm>
        </p:spPr>
        <p:txBody>
          <a:bodyPr>
            <a:noAutofit/>
          </a:bodyPr>
          <a:lstStyle/>
          <a:p>
            <a:r>
              <a:rPr lang="en-US" dirty="0"/>
              <a:t>Final result – </a:t>
            </a:r>
            <a:r>
              <a:rPr lang="en-US" dirty="0">
                <a:sym typeface="Wingdings"/>
              </a:rPr>
              <a:t></a:t>
            </a:r>
            <a:endParaRPr lang="en-US" sz="2400" b="1" dirty="0">
              <a:solidFill>
                <a:schemeClr val="tx2"/>
              </a:solidFill>
            </a:endParaRPr>
          </a:p>
        </p:txBody>
      </p:sp>
      <p:sp>
        <p:nvSpPr>
          <p:cNvPr id="3" name="Slide Number Placeholder 2"/>
          <p:cNvSpPr>
            <a:spLocks noGrp="1"/>
          </p:cNvSpPr>
          <p:nvPr>
            <p:ph type="sldNum" sz="quarter" idx="12"/>
          </p:nvPr>
        </p:nvSpPr>
        <p:spPr/>
        <p:txBody>
          <a:bodyPr/>
          <a:lstStyle/>
          <a:p>
            <a:fld id="{87F3E754-1C97-4481-A18C-9D97ADBDF344}" type="slidenum">
              <a:rPr lang="en-US" smtClean="0"/>
              <a:t>18</a:t>
            </a:fld>
            <a:endParaRPr lang="en-US"/>
          </a:p>
        </p:txBody>
      </p:sp>
      <p:graphicFrame>
        <p:nvGraphicFramePr>
          <p:cNvPr id="6" name="Table 5"/>
          <p:cNvGraphicFramePr>
            <a:graphicFrameLocks noGrp="1"/>
          </p:cNvGraphicFramePr>
          <p:nvPr/>
        </p:nvGraphicFramePr>
        <p:xfrm>
          <a:off x="3121307" y="2403449"/>
          <a:ext cx="6099859" cy="1468120"/>
        </p:xfrm>
        <a:graphic>
          <a:graphicData uri="http://schemas.openxmlformats.org/drawingml/2006/table">
            <a:tbl>
              <a:tblPr firstRow="1" bandRow="1">
                <a:tableStyleId>{5C22544A-7EE6-4342-B048-85BDC9FD1C3A}</a:tableStyleId>
              </a:tblPr>
              <a:tblGrid>
                <a:gridCol w="1857196">
                  <a:extLst>
                    <a:ext uri="{9D8B030D-6E8A-4147-A177-3AD203B41FA5}">
                      <a16:colId xmlns:a16="http://schemas.microsoft.com/office/drawing/2014/main" val="20000"/>
                    </a:ext>
                  </a:extLst>
                </a:gridCol>
                <a:gridCol w="1848086">
                  <a:extLst>
                    <a:ext uri="{9D8B030D-6E8A-4147-A177-3AD203B41FA5}">
                      <a16:colId xmlns:a16="http://schemas.microsoft.com/office/drawing/2014/main" val="20001"/>
                    </a:ext>
                  </a:extLst>
                </a:gridCol>
                <a:gridCol w="2394577">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dirty="0" err="1"/>
                        <a:t>Employees.FName</a:t>
                      </a:r>
                      <a:endParaRPr lang="en-US" sz="18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dirty="0" err="1"/>
                        <a:t>Employees.LName</a:t>
                      </a:r>
                      <a:endParaRPr lang="en-US" sz="1800" u="none" dirty="0"/>
                    </a:p>
                  </a:txBody>
                  <a:tcPr marL="45720" marR="45720"/>
                </a:tc>
                <a:tc>
                  <a:txBody>
                    <a:bodyPr/>
                    <a:lstStyle/>
                    <a:p>
                      <a:pPr>
                        <a:lnSpc>
                          <a:spcPct val="100000"/>
                        </a:lnSpc>
                      </a:pPr>
                      <a:r>
                        <a:rPr lang="en-US" sz="1800" u="none" dirty="0" err="1"/>
                        <a:t>Departments.DeptName</a:t>
                      </a:r>
                      <a:endParaRPr lang="en-US" sz="18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800" u="none" dirty="0">
                          <a:solidFill>
                            <a:schemeClr val="tx1"/>
                          </a:solidFill>
                        </a:rPr>
                        <a:t>Aaron</a:t>
                      </a:r>
                    </a:p>
                  </a:txBody>
                  <a:tcPr marL="45720" marR="45720"/>
                </a:tc>
                <a:tc>
                  <a:txBody>
                    <a:bodyPr/>
                    <a:lstStyle/>
                    <a:p>
                      <a:pPr>
                        <a:lnSpc>
                          <a:spcPct val="100000"/>
                        </a:lnSpc>
                      </a:pPr>
                      <a:r>
                        <a:rPr lang="en-US" sz="1800" u="none" dirty="0">
                          <a:solidFill>
                            <a:schemeClr val="tx1"/>
                          </a:solidFill>
                        </a:rPr>
                        <a:t>Cooper</a:t>
                      </a:r>
                    </a:p>
                  </a:txBody>
                  <a:tcPr marL="45720" marR="45720"/>
                </a:tc>
                <a:tc>
                  <a:txBody>
                    <a:bodyPr/>
                    <a:lstStyle/>
                    <a:p>
                      <a:pPr>
                        <a:lnSpc>
                          <a:spcPct val="100000"/>
                        </a:lnSpc>
                      </a:pPr>
                      <a:r>
                        <a:rPr lang="en-US" sz="1800" u="none" dirty="0"/>
                        <a:t>Marketing</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800" u="none" dirty="0">
                          <a:solidFill>
                            <a:schemeClr val="tx1"/>
                          </a:solidFill>
                        </a:rPr>
                        <a:t>Lou</a:t>
                      </a:r>
                    </a:p>
                  </a:txBody>
                  <a:tcPr marL="45720" marR="45720"/>
                </a:tc>
                <a:tc>
                  <a:txBody>
                    <a:bodyPr/>
                    <a:lstStyle/>
                    <a:p>
                      <a:pPr>
                        <a:lnSpc>
                          <a:spcPct val="100000"/>
                        </a:lnSpc>
                      </a:pPr>
                      <a:r>
                        <a:rPr lang="en-US" sz="1800" u="none" dirty="0">
                          <a:solidFill>
                            <a:schemeClr val="tx1"/>
                          </a:solidFill>
                        </a:rPr>
                        <a:t>Bono</a:t>
                      </a:r>
                    </a:p>
                  </a:txBody>
                  <a:tcPr marL="45720" marR="45720"/>
                </a:tc>
                <a:tc>
                  <a:txBody>
                    <a:bodyPr/>
                    <a:lstStyle/>
                    <a:p>
                      <a:pPr>
                        <a:lnSpc>
                          <a:spcPct val="100000"/>
                        </a:lnSpc>
                      </a:pPr>
                      <a:r>
                        <a:rPr lang="en-US" sz="1800" u="none" dirty="0"/>
                        <a:t>Production</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800" u="none" dirty="0">
                          <a:solidFill>
                            <a:schemeClr val="tx1"/>
                          </a:solidFill>
                        </a:rPr>
                        <a:t>Alice</a:t>
                      </a:r>
                    </a:p>
                  </a:txBody>
                  <a:tcPr marL="45720" marR="45720"/>
                </a:tc>
                <a:tc>
                  <a:txBody>
                    <a:bodyPr/>
                    <a:lstStyle/>
                    <a:p>
                      <a:pPr>
                        <a:lnSpc>
                          <a:spcPct val="100000"/>
                        </a:lnSpc>
                      </a:pPr>
                      <a:r>
                        <a:rPr lang="en-US" sz="1800" u="none" dirty="0">
                          <a:solidFill>
                            <a:schemeClr val="tx1"/>
                          </a:solidFill>
                        </a:rPr>
                        <a:t>Bailey</a:t>
                      </a:r>
                    </a:p>
                  </a:txBody>
                  <a:tcPr marL="45720" marR="45720"/>
                </a:tc>
                <a:tc>
                  <a:txBody>
                    <a:bodyPr/>
                    <a:lstStyle/>
                    <a:p>
                      <a:pPr>
                        <a:lnSpc>
                          <a:spcPct val="100000"/>
                        </a:lnSpc>
                      </a:pPr>
                      <a:r>
                        <a:rPr lang="en-US" sz="1800" u="none" dirty="0"/>
                        <a:t>Production</a:t>
                      </a:r>
                    </a:p>
                  </a:txBody>
                  <a:tcPr marL="45720" marR="45720"/>
                </a:tc>
                <a:extLst>
                  <a:ext uri="{0D108BD9-81ED-4DB2-BD59-A6C34878D82A}">
                    <a16:rowId xmlns:a16="http://schemas.microsoft.com/office/drawing/2014/main" val="10003"/>
                  </a:ext>
                </a:extLst>
              </a:tr>
            </a:tbl>
          </a:graphicData>
        </a:graphic>
      </p:graphicFrame>
      <p:sp>
        <p:nvSpPr>
          <p:cNvPr id="16" name="TextBox 15"/>
          <p:cNvSpPr txBox="1"/>
          <p:nvPr/>
        </p:nvSpPr>
        <p:spPr>
          <a:xfrm>
            <a:off x="1622854" y="1396886"/>
            <a:ext cx="7869516" cy="523220"/>
          </a:xfrm>
          <a:prstGeom prst="rect">
            <a:avLst/>
          </a:prstGeom>
          <a:noFill/>
        </p:spPr>
        <p:txBody>
          <a:bodyPr wrap="square" rtlCol="0">
            <a:spAutoFit/>
          </a:bodyPr>
          <a:lstStyle/>
          <a:p>
            <a:r>
              <a:rPr lang="en-US" sz="2800" b="1" dirty="0"/>
              <a:t>SELECT </a:t>
            </a:r>
            <a:r>
              <a:rPr lang="en-US" sz="2800" b="1" dirty="0" err="1"/>
              <a:t>FName</a:t>
            </a:r>
            <a:r>
              <a:rPr lang="en-US" sz="2800" b="1" dirty="0"/>
              <a:t>, </a:t>
            </a:r>
            <a:r>
              <a:rPr lang="en-US" sz="2800" b="1" dirty="0" err="1"/>
              <a:t>LName</a:t>
            </a:r>
            <a:r>
              <a:rPr lang="en-US" sz="2800" b="1" dirty="0"/>
              <a:t>, </a:t>
            </a:r>
            <a:r>
              <a:rPr lang="en-US" sz="2800" b="1" dirty="0" err="1"/>
              <a:t>DeptName</a:t>
            </a:r>
            <a:endParaRPr lang="en-US" sz="2800" b="1" dirty="0"/>
          </a:p>
        </p:txBody>
      </p:sp>
    </p:spTree>
    <p:extLst>
      <p:ext uri="{BB962C8B-B14F-4D97-AF65-F5344CB8AC3E}">
        <p14:creationId xmlns:p14="http://schemas.microsoft.com/office/powerpoint/2010/main" val="3154243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3485" y="183016"/>
            <a:ext cx="8552469" cy="1257550"/>
          </a:xfrm>
        </p:spPr>
        <p:txBody>
          <a:bodyPr>
            <a:normAutofit fontScale="90000"/>
          </a:bodyPr>
          <a:lstStyle/>
          <a:p>
            <a:r>
              <a:rPr lang="en-US" dirty="0"/>
              <a:t>What’s the difference between the regular join and INNER JOIN? </a:t>
            </a:r>
          </a:p>
        </p:txBody>
      </p:sp>
      <p:sp>
        <p:nvSpPr>
          <p:cNvPr id="3" name="Content Placeholder 2"/>
          <p:cNvSpPr>
            <a:spLocks noGrp="1"/>
          </p:cNvSpPr>
          <p:nvPr>
            <p:ph idx="1"/>
          </p:nvPr>
        </p:nvSpPr>
        <p:spPr>
          <a:xfrm>
            <a:off x="1873484" y="1613647"/>
            <a:ext cx="8386269" cy="4903694"/>
          </a:xfrm>
        </p:spPr>
        <p:txBody>
          <a:bodyPr>
            <a:normAutofit fontScale="92500" lnSpcReduction="20000"/>
          </a:bodyPr>
          <a:lstStyle/>
          <a:p>
            <a:pPr marL="0" lvl="1" indent="0">
              <a:lnSpc>
                <a:spcPct val="110000"/>
              </a:lnSpc>
              <a:buNone/>
            </a:pPr>
            <a:r>
              <a:rPr lang="en-US" dirty="0"/>
              <a:t>Doing this:</a:t>
            </a:r>
          </a:p>
          <a:p>
            <a:pPr lvl="1">
              <a:lnSpc>
                <a:spcPct val="110000"/>
              </a:lnSpc>
            </a:pPr>
            <a:r>
              <a:rPr lang="en-US" dirty="0"/>
              <a:t>FROM Employees, Departments</a:t>
            </a:r>
          </a:p>
          <a:p>
            <a:pPr lvl="1">
              <a:lnSpc>
                <a:spcPct val="110000"/>
              </a:lnSpc>
            </a:pPr>
            <a:r>
              <a:rPr lang="en-US" dirty="0"/>
              <a:t>WHERE </a:t>
            </a:r>
            <a:r>
              <a:rPr lang="en-US" dirty="0" err="1"/>
              <a:t>Employees.DeptID</a:t>
            </a:r>
            <a:r>
              <a:rPr lang="en-US" dirty="0"/>
              <a:t> = </a:t>
            </a:r>
            <a:r>
              <a:rPr lang="en-US" dirty="0" err="1"/>
              <a:t>Departments.DeptID</a:t>
            </a:r>
            <a:endParaRPr lang="en-US" dirty="0"/>
          </a:p>
          <a:p>
            <a:pPr marL="0" indent="0">
              <a:lnSpc>
                <a:spcPct val="110000"/>
              </a:lnSpc>
              <a:buNone/>
            </a:pPr>
            <a:r>
              <a:rPr lang="en-US" dirty="0"/>
              <a:t>or this:</a:t>
            </a:r>
          </a:p>
          <a:p>
            <a:pPr marL="0" indent="0">
              <a:lnSpc>
                <a:spcPct val="110000"/>
              </a:lnSpc>
              <a:buNone/>
            </a:pPr>
            <a:r>
              <a:rPr lang="en-US" dirty="0"/>
              <a:t>      FROM Employees INNER JOIN Departments ON 				</a:t>
            </a:r>
            <a:r>
              <a:rPr lang="en-US" dirty="0" err="1"/>
              <a:t>Employees.DeptID</a:t>
            </a:r>
            <a:r>
              <a:rPr lang="en-US" dirty="0"/>
              <a:t> = </a:t>
            </a:r>
            <a:r>
              <a:rPr lang="en-US" dirty="0" err="1"/>
              <a:t>Departments.DeptID</a:t>
            </a:r>
            <a:endParaRPr lang="en-US" dirty="0"/>
          </a:p>
          <a:p>
            <a:pPr marL="0" indent="0">
              <a:lnSpc>
                <a:spcPct val="110000"/>
              </a:lnSpc>
              <a:buNone/>
            </a:pPr>
            <a:r>
              <a:rPr lang="en-US" dirty="0"/>
              <a:t>produces the very same result. </a:t>
            </a:r>
            <a:r>
              <a:rPr lang="en-US" dirty="0">
                <a:solidFill>
                  <a:srgbClr val="FF0000"/>
                </a:solidFill>
              </a:rPr>
              <a:t>So there is no difference.</a:t>
            </a:r>
          </a:p>
          <a:p>
            <a:pPr marL="0" indent="0">
              <a:lnSpc>
                <a:spcPct val="110000"/>
              </a:lnSpc>
              <a:buNone/>
            </a:pPr>
            <a:endParaRPr lang="en-US" sz="900" dirty="0">
              <a:solidFill>
                <a:srgbClr val="FF0000"/>
              </a:solidFill>
            </a:endParaRPr>
          </a:p>
          <a:p>
            <a:pPr marL="0" indent="0" algn="just">
              <a:lnSpc>
                <a:spcPct val="110000"/>
              </a:lnSpc>
              <a:buNone/>
            </a:pPr>
            <a:r>
              <a:rPr lang="en-US" sz="2100" dirty="0"/>
              <a:t>The only difference may have to do with the DB management software you are using, that may process one more efficiently than the other. Obviously when the database is small this does not make a difference, but in a large database it can determine whether to wait 2 secs or 20 secs for the query to be done.</a:t>
            </a:r>
          </a:p>
        </p:txBody>
      </p:sp>
      <p:sp>
        <p:nvSpPr>
          <p:cNvPr id="4" name="Slide Number Placeholder 3"/>
          <p:cNvSpPr>
            <a:spLocks noGrp="1"/>
          </p:cNvSpPr>
          <p:nvPr>
            <p:ph type="sldNum" sz="quarter" idx="12"/>
          </p:nvPr>
        </p:nvSpPr>
        <p:spPr/>
        <p:txBody>
          <a:bodyPr/>
          <a:lstStyle/>
          <a:p>
            <a:fld id="{87F3E754-1C97-4481-A18C-9D97ADBDF344}" type="slidenum">
              <a:rPr lang="en-US" smtClean="0"/>
              <a:t>19</a:t>
            </a:fld>
            <a:endParaRPr lang="en-US"/>
          </a:p>
        </p:txBody>
      </p:sp>
    </p:spTree>
    <p:extLst>
      <p:ext uri="{BB962C8B-B14F-4D97-AF65-F5344CB8AC3E}">
        <p14:creationId xmlns:p14="http://schemas.microsoft.com/office/powerpoint/2010/main" val="3843630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7613" y="190607"/>
            <a:ext cx="8079581" cy="1197462"/>
          </a:xfrm>
        </p:spPr>
        <p:txBody>
          <a:bodyPr>
            <a:normAutofit/>
          </a:bodyPr>
          <a:lstStyle/>
          <a:p>
            <a:r>
              <a:rPr lang="en-US" dirty="0"/>
              <a:t>LEFT (OUTER) JOIN</a:t>
            </a:r>
          </a:p>
        </p:txBody>
      </p:sp>
      <p:sp>
        <p:nvSpPr>
          <p:cNvPr id="3" name="Content Placeholder 2"/>
          <p:cNvSpPr>
            <a:spLocks noGrp="1"/>
          </p:cNvSpPr>
          <p:nvPr>
            <p:ph idx="1"/>
          </p:nvPr>
        </p:nvSpPr>
        <p:spPr>
          <a:xfrm>
            <a:off x="1701962" y="1388070"/>
            <a:ext cx="8779838" cy="2351909"/>
          </a:xfrm>
        </p:spPr>
        <p:txBody>
          <a:bodyPr>
            <a:noAutofit/>
          </a:bodyPr>
          <a:lstStyle/>
          <a:p>
            <a:pPr marL="0" indent="0">
              <a:lnSpc>
                <a:spcPct val="107000"/>
              </a:lnSpc>
              <a:buNone/>
            </a:pPr>
            <a:r>
              <a:rPr lang="en-US" sz="2000" dirty="0">
                <a:ea typeface="Calibri" panose="020F0502020204030204" pitchFamily="34" charset="0"/>
                <a:cs typeface="Times New Roman" panose="02020603050405020304" pitchFamily="18" charset="0"/>
              </a:rPr>
              <a:t>The LEFT JOIN or LEFT OUTER JOIN syntax specifies that the join result always contain at least one representative of the table on the left, even if there is no matching record in the right-hand table that causes the ON condition to be satisfied.</a:t>
            </a:r>
            <a:endParaRPr lang="en-US" sz="200" dirty="0">
              <a:ea typeface="Calibri" panose="020F0502020204030204" pitchFamily="34" charset="0"/>
              <a:cs typeface="Times New Roman" panose="02020603050405020304" pitchFamily="18" charset="0"/>
            </a:endParaRPr>
          </a:p>
          <a:p>
            <a:pPr marL="0" indent="0">
              <a:lnSpc>
                <a:spcPct val="100000"/>
              </a:lnSpc>
              <a:spcBef>
                <a:spcPts val="600"/>
              </a:spcBef>
              <a:buNone/>
            </a:pPr>
            <a:r>
              <a:rPr lang="en-US" b="1" dirty="0"/>
              <a:t>		SELECT *</a:t>
            </a:r>
          </a:p>
          <a:p>
            <a:pPr marL="0" indent="0">
              <a:lnSpc>
                <a:spcPct val="100000"/>
              </a:lnSpc>
              <a:spcBef>
                <a:spcPts val="600"/>
              </a:spcBef>
              <a:buNone/>
            </a:pPr>
            <a:r>
              <a:rPr lang="en-US" b="1" dirty="0"/>
              <a:t>		FROM Employees LEFT JOIN Departments </a:t>
            </a:r>
          </a:p>
          <a:p>
            <a:pPr marL="0" indent="0">
              <a:lnSpc>
                <a:spcPct val="100000"/>
              </a:lnSpc>
              <a:spcBef>
                <a:spcPts val="600"/>
              </a:spcBef>
              <a:buNone/>
            </a:pPr>
            <a:r>
              <a:rPr lang="en-US" b="1" dirty="0"/>
              <a:t>			ON </a:t>
            </a:r>
            <a:r>
              <a:rPr lang="en-US" b="1" dirty="0" err="1"/>
              <a:t>Employees.DeptID</a:t>
            </a:r>
            <a:r>
              <a:rPr lang="en-US" b="1" dirty="0"/>
              <a:t> =</a:t>
            </a:r>
            <a:r>
              <a:rPr lang="en-US" b="1" dirty="0" err="1"/>
              <a:t>Departments.DeptID</a:t>
            </a:r>
            <a:endParaRPr lang="en-US" b="1" dirty="0"/>
          </a:p>
          <a:p>
            <a:pPr marL="0" indent="0">
              <a:lnSpc>
                <a:spcPct val="107000"/>
              </a:lnSpc>
              <a:buNone/>
            </a:pPr>
            <a:endParaRPr lang="en-US" dirty="0">
              <a:ea typeface="Calibri" panose="020F0502020204030204" pitchFamily="34" charset="0"/>
              <a:cs typeface="Times New Roman" panose="02020603050405020304" pitchFamily="18" charset="0"/>
            </a:endParaRPr>
          </a:p>
          <a:p>
            <a:pPr marL="0" indent="0">
              <a:lnSpc>
                <a:spcPct val="107000"/>
              </a:lnSpc>
              <a:buNone/>
            </a:pPr>
            <a:endParaRPr lang="en-US" dirty="0">
              <a:ea typeface="Calibri" panose="020F0502020204030204" pitchFamily="34" charset="0"/>
              <a:cs typeface="Times New Roman" panose="02020603050405020304" pitchFamily="18" charset="0"/>
            </a:endParaRPr>
          </a:p>
          <a:p>
            <a:endParaRPr lang="en-US" dirty="0"/>
          </a:p>
        </p:txBody>
      </p:sp>
      <p:sp>
        <p:nvSpPr>
          <p:cNvPr id="7" name="Slide Number Placeholder 6"/>
          <p:cNvSpPr>
            <a:spLocks noGrp="1"/>
          </p:cNvSpPr>
          <p:nvPr>
            <p:ph type="sldNum" sz="quarter" idx="12"/>
          </p:nvPr>
        </p:nvSpPr>
        <p:spPr/>
        <p:txBody>
          <a:bodyPr/>
          <a:lstStyle/>
          <a:p>
            <a:fld id="{87F3E754-1C97-4481-A18C-9D97ADBDF344}" type="slidenum">
              <a:rPr lang="en-US" smtClean="0"/>
              <a:t>20</a:t>
            </a:fld>
            <a:endParaRPr lang="en-US"/>
          </a:p>
        </p:txBody>
      </p:sp>
      <p:graphicFrame>
        <p:nvGraphicFramePr>
          <p:cNvPr id="5" name="Table 4"/>
          <p:cNvGraphicFramePr>
            <a:graphicFrameLocks noGrp="1"/>
          </p:cNvGraphicFramePr>
          <p:nvPr/>
        </p:nvGraphicFramePr>
        <p:xfrm>
          <a:off x="1664045" y="4199298"/>
          <a:ext cx="8855675" cy="195072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latin typeface="+mn-lt"/>
                        </a:rPr>
                        <a:t>734</a:t>
                      </a:r>
                    </a:p>
                  </a:txBody>
                  <a:tcPr marL="45720" marR="45720"/>
                </a:tc>
                <a:tc>
                  <a:txBody>
                    <a:bodyPr/>
                    <a:lstStyle/>
                    <a:p>
                      <a:pPr>
                        <a:lnSpc>
                          <a:spcPct val="100000"/>
                        </a:lnSpc>
                      </a:pPr>
                      <a:r>
                        <a:rPr lang="en-US" sz="1600" u="none" dirty="0">
                          <a:solidFill>
                            <a:schemeClr val="tx1"/>
                          </a:solidFill>
                          <a:latin typeface="+mn-lt"/>
                        </a:rPr>
                        <a:t>Aaron</a:t>
                      </a:r>
                    </a:p>
                  </a:txBody>
                  <a:tcPr marL="45720" marR="45720"/>
                </a:tc>
                <a:tc>
                  <a:txBody>
                    <a:bodyPr/>
                    <a:lstStyle/>
                    <a:p>
                      <a:pPr>
                        <a:lnSpc>
                          <a:spcPct val="100000"/>
                        </a:lnSpc>
                      </a:pPr>
                      <a:r>
                        <a:rPr lang="en-US" sz="1600" u="none" dirty="0">
                          <a:solidFill>
                            <a:schemeClr val="tx1"/>
                          </a:solidFill>
                          <a:latin typeface="+mn-lt"/>
                        </a:rPr>
                        <a:t>Cooper</a:t>
                      </a:r>
                    </a:p>
                  </a:txBody>
                  <a:tcPr marL="45720" marR="45720"/>
                </a:tc>
                <a:tc>
                  <a:txBody>
                    <a:bodyPr/>
                    <a:lstStyle/>
                    <a:p>
                      <a:pPr>
                        <a:lnSpc>
                          <a:spcPct val="100000"/>
                        </a:lnSpc>
                      </a:pPr>
                      <a:r>
                        <a:rPr lang="en-US" sz="1600" u="none" dirty="0">
                          <a:solidFill>
                            <a:schemeClr val="tx1"/>
                          </a:solidFill>
                          <a:latin typeface="+mn-lt"/>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latin typeface="+mn-lt"/>
                        </a:rPr>
                        <a:t>735</a:t>
                      </a:r>
                    </a:p>
                  </a:txBody>
                  <a:tcPr marL="45720" marR="45720"/>
                </a:tc>
                <a:tc>
                  <a:txBody>
                    <a:bodyPr/>
                    <a:lstStyle/>
                    <a:p>
                      <a:pPr>
                        <a:lnSpc>
                          <a:spcPct val="100000"/>
                        </a:lnSpc>
                      </a:pPr>
                      <a:r>
                        <a:rPr lang="en-US" sz="1600" u="none" dirty="0">
                          <a:solidFill>
                            <a:schemeClr val="tx1"/>
                          </a:solidFill>
                          <a:latin typeface="+mn-lt"/>
                        </a:rPr>
                        <a:t>Lou</a:t>
                      </a:r>
                    </a:p>
                  </a:txBody>
                  <a:tcPr marL="45720" marR="45720"/>
                </a:tc>
                <a:tc>
                  <a:txBody>
                    <a:bodyPr/>
                    <a:lstStyle/>
                    <a:p>
                      <a:pPr>
                        <a:lnSpc>
                          <a:spcPct val="100000"/>
                        </a:lnSpc>
                      </a:pPr>
                      <a:r>
                        <a:rPr lang="en-US" sz="1600" u="none" dirty="0">
                          <a:solidFill>
                            <a:schemeClr val="tx1"/>
                          </a:solidFill>
                          <a:latin typeface="+mn-lt"/>
                        </a:rPr>
                        <a:t>Bono</a:t>
                      </a:r>
                    </a:p>
                  </a:txBody>
                  <a:tcPr marL="45720" marR="45720"/>
                </a:tc>
                <a:tc>
                  <a:txBody>
                    <a:bodyPr/>
                    <a:lstStyle/>
                    <a:p>
                      <a:pPr>
                        <a:lnSpc>
                          <a:spcPct val="100000"/>
                        </a:lnSpc>
                      </a:pPr>
                      <a:r>
                        <a:rPr lang="en-US" sz="1600" u="none" dirty="0">
                          <a:solidFill>
                            <a:schemeClr val="tx1"/>
                          </a:solidFill>
                          <a:latin typeface="+mn-lt"/>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latin typeface="+mn-lt"/>
                        </a:rPr>
                        <a:t>736</a:t>
                      </a:r>
                    </a:p>
                  </a:txBody>
                  <a:tcPr marL="45720" marR="45720"/>
                </a:tc>
                <a:tc>
                  <a:txBody>
                    <a:bodyPr/>
                    <a:lstStyle/>
                    <a:p>
                      <a:pPr>
                        <a:lnSpc>
                          <a:spcPct val="100000"/>
                        </a:lnSpc>
                      </a:pPr>
                      <a:r>
                        <a:rPr lang="en-US" sz="1600" u="none" dirty="0">
                          <a:solidFill>
                            <a:schemeClr val="tx1"/>
                          </a:solidFill>
                          <a:latin typeface="+mn-lt"/>
                        </a:rPr>
                        <a:t>Alice</a:t>
                      </a:r>
                    </a:p>
                  </a:txBody>
                  <a:tcPr marL="45720" marR="45720"/>
                </a:tc>
                <a:tc>
                  <a:txBody>
                    <a:bodyPr/>
                    <a:lstStyle/>
                    <a:p>
                      <a:pPr>
                        <a:lnSpc>
                          <a:spcPct val="100000"/>
                        </a:lnSpc>
                      </a:pPr>
                      <a:r>
                        <a:rPr lang="en-US" sz="1600" u="none" dirty="0">
                          <a:solidFill>
                            <a:schemeClr val="tx1"/>
                          </a:solidFill>
                          <a:latin typeface="+mn-lt"/>
                        </a:rPr>
                        <a:t>Bailey</a:t>
                      </a:r>
                    </a:p>
                  </a:txBody>
                  <a:tcPr marL="45720" marR="45720"/>
                </a:tc>
                <a:tc>
                  <a:txBody>
                    <a:bodyPr/>
                    <a:lstStyle/>
                    <a:p>
                      <a:pPr>
                        <a:lnSpc>
                          <a:spcPct val="100000"/>
                        </a:lnSpc>
                      </a:pPr>
                      <a:r>
                        <a:rPr lang="en-US" sz="1600" u="none" dirty="0">
                          <a:solidFill>
                            <a:schemeClr val="tx1"/>
                          </a:solidFill>
                          <a:latin typeface="+mn-lt"/>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r h="301752">
                <a:tc>
                  <a:txBody>
                    <a:bodyPr/>
                    <a:lstStyle/>
                    <a:p>
                      <a:r>
                        <a:rPr lang="en-US" sz="1600" dirty="0">
                          <a:solidFill>
                            <a:srgbClr val="FF0000"/>
                          </a:solidFill>
                          <a:latin typeface="+mn-lt"/>
                        </a:rPr>
                        <a:t>738</a:t>
                      </a:r>
                    </a:p>
                  </a:txBody>
                  <a:tcPr/>
                </a:tc>
                <a:tc>
                  <a:txBody>
                    <a:bodyPr/>
                    <a:lstStyle/>
                    <a:p>
                      <a:r>
                        <a:rPr lang="en-US" sz="1600" dirty="0">
                          <a:solidFill>
                            <a:srgbClr val="FF0000"/>
                          </a:solidFill>
                          <a:latin typeface="+mn-lt"/>
                        </a:rPr>
                        <a:t>John</a:t>
                      </a:r>
                    </a:p>
                  </a:txBody>
                  <a:tcPr/>
                </a:tc>
                <a:tc>
                  <a:txBody>
                    <a:bodyPr/>
                    <a:lstStyle/>
                    <a:p>
                      <a:r>
                        <a:rPr lang="en-US" sz="1600" dirty="0">
                          <a:solidFill>
                            <a:srgbClr val="FF0000"/>
                          </a:solidFill>
                          <a:latin typeface="+mn-lt"/>
                        </a:rPr>
                        <a:t>Cruz</a:t>
                      </a:r>
                    </a:p>
                  </a:txBody>
                  <a:tcPr/>
                </a:tc>
                <a:tc>
                  <a:txBody>
                    <a:bodyPr/>
                    <a:lstStyle/>
                    <a:p>
                      <a:r>
                        <a:rPr lang="en-US" sz="1600" dirty="0">
                          <a:solidFill>
                            <a:srgbClr val="FF0000"/>
                          </a:solidFill>
                          <a:latin typeface="+mn-lt"/>
                        </a:rPr>
                        <a:t>6/1/15</a:t>
                      </a:r>
                    </a:p>
                  </a:txBody>
                  <a:tcPr/>
                </a:tc>
                <a:tc>
                  <a:txBody>
                    <a:bodyPr/>
                    <a:lstStyle/>
                    <a:p>
                      <a:pPr algn="ctr"/>
                      <a:endParaRPr lang="en-US" dirty="0"/>
                    </a:p>
                  </a:txBody>
                  <a:tcPr/>
                </a:tc>
                <a:tc>
                  <a:txBody>
                    <a:bodyPr/>
                    <a:lstStyle/>
                    <a:p>
                      <a:pPr algn="ctr">
                        <a:lnSpc>
                          <a:spcPct val="100000"/>
                        </a:lnSpc>
                      </a:pPr>
                      <a:endParaRPr lang="en-US" sz="1600" u="none" dirty="0"/>
                    </a:p>
                  </a:txBody>
                  <a:tcPr marL="45720" marR="45720"/>
                </a:tc>
                <a:tc>
                  <a:txBody>
                    <a:bodyPr/>
                    <a:lstStyle/>
                    <a:p>
                      <a:pPr>
                        <a:lnSpc>
                          <a:spcPct val="100000"/>
                        </a:lnSpc>
                      </a:pPr>
                      <a:endParaRPr lang="en-US" sz="1600" u="none" dirty="0"/>
                    </a:p>
                  </a:txBody>
                  <a:tcPr marL="45720" marR="45720"/>
                </a:tc>
                <a:tc>
                  <a:txBody>
                    <a:bodyPr/>
                    <a:lstStyle/>
                    <a:p>
                      <a:pPr>
                        <a:lnSpc>
                          <a:spcPct val="100000"/>
                        </a:lnSpc>
                      </a:pPr>
                      <a:endParaRPr lang="en-US" sz="1600" u="none" dirty="0"/>
                    </a:p>
                  </a:txBody>
                  <a:tcPr marL="45720" marR="4572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95693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7613" y="190607"/>
            <a:ext cx="8079581" cy="1197462"/>
          </a:xfrm>
        </p:spPr>
        <p:txBody>
          <a:bodyPr>
            <a:normAutofit/>
          </a:bodyPr>
          <a:lstStyle/>
          <a:p>
            <a:r>
              <a:rPr lang="en-US" dirty="0"/>
              <a:t>RIGHT (OUTER) JOIN</a:t>
            </a:r>
          </a:p>
        </p:txBody>
      </p:sp>
      <p:sp>
        <p:nvSpPr>
          <p:cNvPr id="3" name="Content Placeholder 2"/>
          <p:cNvSpPr>
            <a:spLocks noGrp="1"/>
          </p:cNvSpPr>
          <p:nvPr>
            <p:ph idx="1"/>
          </p:nvPr>
        </p:nvSpPr>
        <p:spPr>
          <a:xfrm>
            <a:off x="1787612" y="1388070"/>
            <a:ext cx="8674442" cy="2351909"/>
          </a:xfrm>
        </p:spPr>
        <p:txBody>
          <a:bodyPr>
            <a:noAutofit/>
          </a:bodyPr>
          <a:lstStyle/>
          <a:p>
            <a:pPr marL="0" indent="0">
              <a:lnSpc>
                <a:spcPct val="107000"/>
              </a:lnSpc>
              <a:buNone/>
            </a:pPr>
            <a:r>
              <a:rPr lang="en-US" sz="2000" dirty="0">
                <a:ea typeface="Calibri" panose="020F0502020204030204" pitchFamily="34" charset="0"/>
                <a:cs typeface="Times New Roman" panose="02020603050405020304" pitchFamily="18" charset="0"/>
              </a:rPr>
              <a:t>The RIGHT JOIN or RIGHT OUTER JOIN syntax specifies that the join result always contain at least one representative of the table on the right, even if there is no matching record in the left-hand table that causes the ON condition to be satisfied.</a:t>
            </a:r>
            <a:endParaRPr lang="en-US" sz="200" dirty="0">
              <a:ea typeface="Calibri" panose="020F0502020204030204" pitchFamily="34" charset="0"/>
              <a:cs typeface="Times New Roman" panose="02020603050405020304" pitchFamily="18" charset="0"/>
            </a:endParaRPr>
          </a:p>
          <a:p>
            <a:pPr marL="0" indent="0">
              <a:lnSpc>
                <a:spcPct val="100000"/>
              </a:lnSpc>
              <a:spcBef>
                <a:spcPts val="600"/>
              </a:spcBef>
              <a:buNone/>
            </a:pPr>
            <a:r>
              <a:rPr lang="en-US" b="1" dirty="0"/>
              <a:t>		SELECT *</a:t>
            </a:r>
          </a:p>
          <a:p>
            <a:pPr marL="0" indent="0">
              <a:lnSpc>
                <a:spcPct val="100000"/>
              </a:lnSpc>
              <a:spcBef>
                <a:spcPts val="600"/>
              </a:spcBef>
              <a:buNone/>
            </a:pPr>
            <a:r>
              <a:rPr lang="en-US" b="1" dirty="0"/>
              <a:t>		FROM Employees RIGHT JOIN Departments </a:t>
            </a:r>
          </a:p>
          <a:p>
            <a:pPr marL="0" indent="0">
              <a:lnSpc>
                <a:spcPct val="100000"/>
              </a:lnSpc>
              <a:spcBef>
                <a:spcPts val="600"/>
              </a:spcBef>
              <a:buNone/>
            </a:pPr>
            <a:r>
              <a:rPr lang="en-US" b="1" dirty="0"/>
              <a:t>			ON </a:t>
            </a:r>
            <a:r>
              <a:rPr lang="en-US" b="1" dirty="0" err="1"/>
              <a:t>Employees.DeptID</a:t>
            </a:r>
            <a:r>
              <a:rPr lang="en-US" b="1" dirty="0"/>
              <a:t> =</a:t>
            </a:r>
            <a:r>
              <a:rPr lang="en-US" b="1" dirty="0" err="1"/>
              <a:t>Departments.DeptID</a:t>
            </a:r>
            <a:endParaRPr lang="en-US" b="1" dirty="0"/>
          </a:p>
          <a:p>
            <a:pPr marL="0" indent="0">
              <a:lnSpc>
                <a:spcPct val="107000"/>
              </a:lnSpc>
              <a:buNone/>
            </a:pPr>
            <a:endParaRPr lang="en-US" dirty="0">
              <a:ea typeface="Calibri" panose="020F0502020204030204" pitchFamily="34" charset="0"/>
              <a:cs typeface="Times New Roman" panose="02020603050405020304" pitchFamily="18" charset="0"/>
            </a:endParaRPr>
          </a:p>
          <a:p>
            <a:pPr marL="0" indent="0">
              <a:lnSpc>
                <a:spcPct val="107000"/>
              </a:lnSpc>
              <a:buNone/>
            </a:pPr>
            <a:endParaRPr lang="en-US" dirty="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21</a:t>
            </a:fld>
            <a:endParaRPr lang="en-US"/>
          </a:p>
        </p:txBody>
      </p:sp>
      <p:graphicFrame>
        <p:nvGraphicFramePr>
          <p:cNvPr id="5" name="Table 4"/>
          <p:cNvGraphicFramePr>
            <a:graphicFrameLocks noGrp="1"/>
          </p:cNvGraphicFramePr>
          <p:nvPr/>
        </p:nvGraphicFramePr>
        <p:xfrm>
          <a:off x="1664045" y="4199298"/>
          <a:ext cx="8855675" cy="195072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latin typeface="+mn-lt"/>
                        </a:rPr>
                        <a:t>734</a:t>
                      </a:r>
                    </a:p>
                  </a:txBody>
                  <a:tcPr marL="45720" marR="45720"/>
                </a:tc>
                <a:tc>
                  <a:txBody>
                    <a:bodyPr/>
                    <a:lstStyle/>
                    <a:p>
                      <a:pPr>
                        <a:lnSpc>
                          <a:spcPct val="100000"/>
                        </a:lnSpc>
                      </a:pPr>
                      <a:r>
                        <a:rPr lang="en-US" sz="1600" u="none" dirty="0">
                          <a:solidFill>
                            <a:schemeClr val="tx1"/>
                          </a:solidFill>
                          <a:latin typeface="+mn-lt"/>
                        </a:rPr>
                        <a:t>Aaron</a:t>
                      </a:r>
                    </a:p>
                  </a:txBody>
                  <a:tcPr marL="45720" marR="45720"/>
                </a:tc>
                <a:tc>
                  <a:txBody>
                    <a:bodyPr/>
                    <a:lstStyle/>
                    <a:p>
                      <a:pPr>
                        <a:lnSpc>
                          <a:spcPct val="100000"/>
                        </a:lnSpc>
                      </a:pPr>
                      <a:r>
                        <a:rPr lang="en-US" sz="1600" u="none" dirty="0">
                          <a:solidFill>
                            <a:schemeClr val="tx1"/>
                          </a:solidFill>
                          <a:latin typeface="+mn-lt"/>
                        </a:rPr>
                        <a:t>Cooper</a:t>
                      </a:r>
                    </a:p>
                  </a:txBody>
                  <a:tcPr marL="45720" marR="45720"/>
                </a:tc>
                <a:tc>
                  <a:txBody>
                    <a:bodyPr/>
                    <a:lstStyle/>
                    <a:p>
                      <a:pPr>
                        <a:lnSpc>
                          <a:spcPct val="100000"/>
                        </a:lnSpc>
                      </a:pPr>
                      <a:r>
                        <a:rPr lang="en-US" sz="1600" u="none" dirty="0">
                          <a:solidFill>
                            <a:schemeClr val="tx1"/>
                          </a:solidFill>
                          <a:latin typeface="+mn-lt"/>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latin typeface="+mn-lt"/>
                        </a:rPr>
                        <a:t>735</a:t>
                      </a:r>
                    </a:p>
                  </a:txBody>
                  <a:tcPr marL="45720" marR="45720"/>
                </a:tc>
                <a:tc>
                  <a:txBody>
                    <a:bodyPr/>
                    <a:lstStyle/>
                    <a:p>
                      <a:pPr>
                        <a:lnSpc>
                          <a:spcPct val="100000"/>
                        </a:lnSpc>
                      </a:pPr>
                      <a:r>
                        <a:rPr lang="en-US" sz="1600" u="none" dirty="0">
                          <a:solidFill>
                            <a:schemeClr val="tx1"/>
                          </a:solidFill>
                          <a:latin typeface="+mn-lt"/>
                        </a:rPr>
                        <a:t>Lou</a:t>
                      </a:r>
                    </a:p>
                  </a:txBody>
                  <a:tcPr marL="45720" marR="45720"/>
                </a:tc>
                <a:tc>
                  <a:txBody>
                    <a:bodyPr/>
                    <a:lstStyle/>
                    <a:p>
                      <a:pPr>
                        <a:lnSpc>
                          <a:spcPct val="100000"/>
                        </a:lnSpc>
                      </a:pPr>
                      <a:r>
                        <a:rPr lang="en-US" sz="1600" u="none" dirty="0">
                          <a:solidFill>
                            <a:schemeClr val="tx1"/>
                          </a:solidFill>
                          <a:latin typeface="+mn-lt"/>
                        </a:rPr>
                        <a:t>Bono</a:t>
                      </a:r>
                    </a:p>
                  </a:txBody>
                  <a:tcPr marL="45720" marR="45720"/>
                </a:tc>
                <a:tc>
                  <a:txBody>
                    <a:bodyPr/>
                    <a:lstStyle/>
                    <a:p>
                      <a:pPr>
                        <a:lnSpc>
                          <a:spcPct val="100000"/>
                        </a:lnSpc>
                      </a:pPr>
                      <a:r>
                        <a:rPr lang="en-US" sz="1600" u="none" dirty="0">
                          <a:solidFill>
                            <a:schemeClr val="tx1"/>
                          </a:solidFill>
                          <a:latin typeface="+mn-lt"/>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latin typeface="+mn-lt"/>
                        </a:rPr>
                        <a:t>736</a:t>
                      </a:r>
                    </a:p>
                  </a:txBody>
                  <a:tcPr marL="45720" marR="45720"/>
                </a:tc>
                <a:tc>
                  <a:txBody>
                    <a:bodyPr/>
                    <a:lstStyle/>
                    <a:p>
                      <a:pPr>
                        <a:lnSpc>
                          <a:spcPct val="100000"/>
                        </a:lnSpc>
                      </a:pPr>
                      <a:r>
                        <a:rPr lang="en-US" sz="1600" u="none" dirty="0">
                          <a:solidFill>
                            <a:schemeClr val="tx1"/>
                          </a:solidFill>
                          <a:latin typeface="+mn-lt"/>
                        </a:rPr>
                        <a:t>Alice</a:t>
                      </a:r>
                    </a:p>
                  </a:txBody>
                  <a:tcPr marL="45720" marR="45720"/>
                </a:tc>
                <a:tc>
                  <a:txBody>
                    <a:bodyPr/>
                    <a:lstStyle/>
                    <a:p>
                      <a:pPr>
                        <a:lnSpc>
                          <a:spcPct val="100000"/>
                        </a:lnSpc>
                      </a:pPr>
                      <a:r>
                        <a:rPr lang="en-US" sz="1600" u="none" dirty="0">
                          <a:solidFill>
                            <a:schemeClr val="tx1"/>
                          </a:solidFill>
                          <a:latin typeface="+mn-lt"/>
                        </a:rPr>
                        <a:t>Bailey</a:t>
                      </a:r>
                    </a:p>
                  </a:txBody>
                  <a:tcPr marL="45720" marR="45720"/>
                </a:tc>
                <a:tc>
                  <a:txBody>
                    <a:bodyPr/>
                    <a:lstStyle/>
                    <a:p>
                      <a:pPr>
                        <a:lnSpc>
                          <a:spcPct val="100000"/>
                        </a:lnSpc>
                      </a:pPr>
                      <a:r>
                        <a:rPr lang="en-US" sz="1600" u="none" dirty="0">
                          <a:solidFill>
                            <a:schemeClr val="tx1"/>
                          </a:solidFill>
                          <a:latin typeface="+mn-lt"/>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r h="301752">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pPr algn="ctr"/>
                      <a:endParaRPr lang="en-US" dirty="0"/>
                    </a:p>
                  </a:txBody>
                  <a:tcPr/>
                </a:tc>
                <a:tc>
                  <a:txBody>
                    <a:bodyPr/>
                    <a:lstStyle/>
                    <a:p>
                      <a:pPr algn="ctr"/>
                      <a:r>
                        <a:rPr lang="en-US" sz="1600" dirty="0">
                          <a:solidFill>
                            <a:srgbClr val="FF0000"/>
                          </a:solidFill>
                        </a:rPr>
                        <a:t>3</a:t>
                      </a:r>
                    </a:p>
                  </a:txBody>
                  <a:tcPr/>
                </a:tc>
                <a:tc>
                  <a:txBody>
                    <a:bodyPr/>
                    <a:lstStyle/>
                    <a:p>
                      <a:r>
                        <a:rPr lang="en-US" sz="1600" dirty="0">
                          <a:solidFill>
                            <a:srgbClr val="FF0000"/>
                          </a:solidFill>
                        </a:rPr>
                        <a:t>Sales</a:t>
                      </a:r>
                    </a:p>
                  </a:txBody>
                  <a:tcPr/>
                </a:tc>
                <a:tc>
                  <a:txBody>
                    <a:bodyPr/>
                    <a:lstStyle/>
                    <a:p>
                      <a:r>
                        <a:rPr lang="en-US" sz="1600" dirty="0">
                          <a:solidFill>
                            <a:srgbClr val="FF0000"/>
                          </a:solidFill>
                        </a:rPr>
                        <a:t>CA</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64666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7612" y="75151"/>
            <a:ext cx="8646868" cy="901002"/>
          </a:xfrm>
        </p:spPr>
        <p:txBody>
          <a:bodyPr>
            <a:normAutofit/>
          </a:bodyPr>
          <a:lstStyle/>
          <a:p>
            <a:r>
              <a:rPr lang="en-US" sz="3600" dirty="0"/>
              <a:t>FYI: FULL OUTER JOIN – </a:t>
            </a:r>
            <a:r>
              <a:rPr lang="en-US" sz="2800" i="1" dirty="0"/>
              <a:t>not supported by </a:t>
            </a:r>
            <a:r>
              <a:rPr lang="en-US" sz="2800" i="1" dirty="0" err="1"/>
              <a:t>Ms</a:t>
            </a:r>
            <a:r>
              <a:rPr lang="en-US" sz="2800" i="1" dirty="0"/>
              <a:t> Access</a:t>
            </a:r>
          </a:p>
        </p:txBody>
      </p:sp>
      <p:sp>
        <p:nvSpPr>
          <p:cNvPr id="3" name="Content Placeholder 2"/>
          <p:cNvSpPr>
            <a:spLocks noGrp="1"/>
          </p:cNvSpPr>
          <p:nvPr>
            <p:ph idx="1"/>
          </p:nvPr>
        </p:nvSpPr>
        <p:spPr>
          <a:xfrm>
            <a:off x="1660439" y="884247"/>
            <a:ext cx="8759635" cy="5780884"/>
          </a:xfrm>
        </p:spPr>
        <p:txBody>
          <a:bodyPr>
            <a:noAutofit/>
          </a:bodyPr>
          <a:lstStyle/>
          <a:p>
            <a:pPr marL="0" indent="0">
              <a:lnSpc>
                <a:spcPct val="110000"/>
              </a:lnSpc>
              <a:buNone/>
            </a:pPr>
            <a:r>
              <a:rPr lang="en-US" sz="2000" dirty="0">
                <a:ea typeface="Calibri" panose="020F0502020204030204" pitchFamily="34" charset="0"/>
                <a:cs typeface="Times New Roman" panose="02020603050405020304" pitchFamily="18" charset="0"/>
              </a:rPr>
              <a:t>If we want both a LEFT JOIN and a RIGHT JOIN, that is, we want as output:</a:t>
            </a:r>
          </a:p>
          <a:p>
            <a:pPr marL="0" indent="0">
              <a:lnSpc>
                <a:spcPct val="110000"/>
              </a:lnSpc>
              <a:buNone/>
            </a:pPr>
            <a:endParaRPr lang="en-US" sz="2000" dirty="0">
              <a:ea typeface="Calibri" panose="020F0502020204030204" pitchFamily="34" charset="0"/>
              <a:cs typeface="Times New Roman" panose="02020603050405020304" pitchFamily="18" charset="0"/>
            </a:endParaRPr>
          </a:p>
          <a:p>
            <a:pPr marL="0" indent="0">
              <a:lnSpc>
                <a:spcPct val="110000"/>
              </a:lnSpc>
              <a:buNone/>
            </a:pPr>
            <a:endParaRPr lang="en-US" sz="2000" dirty="0">
              <a:ea typeface="Calibri" panose="020F0502020204030204" pitchFamily="34" charset="0"/>
              <a:cs typeface="Times New Roman" panose="02020603050405020304" pitchFamily="18" charset="0"/>
            </a:endParaRPr>
          </a:p>
          <a:p>
            <a:pPr marL="0" indent="0">
              <a:lnSpc>
                <a:spcPct val="110000"/>
              </a:lnSpc>
              <a:buNone/>
            </a:pPr>
            <a:endParaRPr lang="en-US" sz="2000" dirty="0">
              <a:ea typeface="Calibri" panose="020F0502020204030204" pitchFamily="34" charset="0"/>
              <a:cs typeface="Times New Roman" panose="02020603050405020304" pitchFamily="18" charset="0"/>
            </a:endParaRPr>
          </a:p>
          <a:p>
            <a:pPr marL="0" indent="0">
              <a:lnSpc>
                <a:spcPct val="110000"/>
              </a:lnSpc>
              <a:spcBef>
                <a:spcPts val="600"/>
              </a:spcBef>
              <a:buNone/>
            </a:pPr>
            <a:endParaRPr lang="en-US" sz="2000" b="1" dirty="0"/>
          </a:p>
          <a:p>
            <a:pPr marL="0" indent="0">
              <a:lnSpc>
                <a:spcPct val="110000"/>
              </a:lnSpc>
              <a:spcBef>
                <a:spcPts val="600"/>
              </a:spcBef>
              <a:buNone/>
            </a:pPr>
            <a:endParaRPr lang="en-US" sz="2000" b="1" dirty="0"/>
          </a:p>
          <a:p>
            <a:pPr marL="0" indent="0">
              <a:lnSpc>
                <a:spcPct val="110000"/>
              </a:lnSpc>
              <a:spcBef>
                <a:spcPts val="600"/>
              </a:spcBef>
              <a:buNone/>
            </a:pPr>
            <a:endParaRPr lang="en-US" sz="2000" b="1" dirty="0"/>
          </a:p>
          <a:p>
            <a:pPr marL="0" indent="0">
              <a:lnSpc>
                <a:spcPct val="110000"/>
              </a:lnSpc>
              <a:spcBef>
                <a:spcPts val="600"/>
              </a:spcBef>
              <a:buNone/>
            </a:pPr>
            <a:endParaRPr lang="en-US" sz="2000" dirty="0"/>
          </a:p>
          <a:p>
            <a:pPr marL="0" indent="0">
              <a:lnSpc>
                <a:spcPct val="110000"/>
              </a:lnSpc>
              <a:spcBef>
                <a:spcPts val="600"/>
              </a:spcBef>
              <a:buNone/>
            </a:pPr>
            <a:r>
              <a:rPr lang="en-US" sz="2000" dirty="0"/>
              <a:t>We would use another kind of join called FULL OUTER JOIN. This join includes all records from both the left and right tables even if there is no match. </a:t>
            </a:r>
            <a:r>
              <a:rPr lang="en-US" sz="2000" i="1" u="sng" dirty="0">
                <a:solidFill>
                  <a:srgbClr val="FF0000"/>
                </a:solidFill>
              </a:rPr>
              <a:t>However, </a:t>
            </a:r>
            <a:r>
              <a:rPr lang="en-US" sz="2000" i="1" u="sng" dirty="0" err="1">
                <a:solidFill>
                  <a:srgbClr val="FF0000"/>
                </a:solidFill>
              </a:rPr>
              <a:t>Ms</a:t>
            </a:r>
            <a:r>
              <a:rPr lang="en-US" sz="2000" i="1" u="sng" dirty="0">
                <a:solidFill>
                  <a:srgbClr val="FF0000"/>
                </a:solidFill>
              </a:rPr>
              <a:t> Access does not support this kind of join.</a:t>
            </a:r>
            <a:r>
              <a:rPr lang="en-US" sz="2000" dirty="0"/>
              <a:t>	</a:t>
            </a:r>
          </a:p>
          <a:p>
            <a:pPr marL="0" indent="0">
              <a:lnSpc>
                <a:spcPct val="110000"/>
              </a:lnSpc>
              <a:spcBef>
                <a:spcPts val="600"/>
              </a:spcBef>
              <a:buNone/>
            </a:pPr>
            <a:r>
              <a:rPr lang="en-US" sz="1800" b="1" dirty="0"/>
              <a:t>FROM Employees FULL OUTER JOIN Departments </a:t>
            </a:r>
          </a:p>
          <a:p>
            <a:pPr marL="0" indent="0">
              <a:lnSpc>
                <a:spcPct val="110000"/>
              </a:lnSpc>
              <a:spcBef>
                <a:spcPts val="600"/>
              </a:spcBef>
              <a:buNone/>
            </a:pPr>
            <a:r>
              <a:rPr lang="en-US" sz="1800" b="1" dirty="0"/>
              <a:t>			ON </a:t>
            </a:r>
            <a:r>
              <a:rPr lang="en-US" sz="1800" b="1" dirty="0" err="1"/>
              <a:t>Employees.DeptID</a:t>
            </a:r>
            <a:r>
              <a:rPr lang="en-US" sz="1800" b="1" dirty="0"/>
              <a:t> =</a:t>
            </a:r>
            <a:r>
              <a:rPr lang="en-US" sz="1800" b="1" dirty="0" err="1"/>
              <a:t>Departments.DeptID</a:t>
            </a:r>
            <a:endParaRPr lang="en-US" sz="1800" b="1" dirty="0"/>
          </a:p>
          <a:p>
            <a:pPr marL="0" indent="0">
              <a:lnSpc>
                <a:spcPct val="110000"/>
              </a:lnSpc>
              <a:buNone/>
            </a:pPr>
            <a:endParaRPr lang="en-US" sz="2000" dirty="0">
              <a:ea typeface="Calibri" panose="020F0502020204030204" pitchFamily="34" charset="0"/>
              <a:cs typeface="Times New Roman" panose="02020603050405020304" pitchFamily="18" charset="0"/>
            </a:endParaRPr>
          </a:p>
          <a:p>
            <a:pPr marL="0" indent="0">
              <a:lnSpc>
                <a:spcPct val="110000"/>
              </a:lnSpc>
              <a:buNone/>
            </a:pPr>
            <a:endParaRPr lang="en-US" sz="2000" dirty="0">
              <a:ea typeface="Calibri" panose="020F0502020204030204" pitchFamily="34" charset="0"/>
              <a:cs typeface="Times New Roman" panose="02020603050405020304" pitchFamily="18" charset="0"/>
            </a:endParaRPr>
          </a:p>
          <a:p>
            <a:pPr>
              <a:lnSpc>
                <a:spcPct val="110000"/>
              </a:lnSpc>
            </a:pPr>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22</a:t>
            </a:fld>
            <a:endParaRPr lang="en-US"/>
          </a:p>
        </p:txBody>
      </p:sp>
      <p:graphicFrame>
        <p:nvGraphicFramePr>
          <p:cNvPr id="5" name="Table 4"/>
          <p:cNvGraphicFramePr>
            <a:graphicFrameLocks noGrp="1"/>
          </p:cNvGraphicFramePr>
          <p:nvPr/>
        </p:nvGraphicFramePr>
        <p:xfrm>
          <a:off x="1695531" y="1480764"/>
          <a:ext cx="8855675" cy="2316480"/>
        </p:xfrm>
        <a:graphic>
          <a:graphicData uri="http://schemas.openxmlformats.org/drawingml/2006/table">
            <a:tbl>
              <a:tblPr firstRow="1" bandRow="1">
                <a:tableStyleId>{5C22544A-7EE6-4342-B048-85BDC9FD1C3A}</a:tableStyleId>
              </a:tblPr>
              <a:tblGrid>
                <a:gridCol w="1087395">
                  <a:extLst>
                    <a:ext uri="{9D8B030D-6E8A-4147-A177-3AD203B41FA5}">
                      <a16:colId xmlns:a16="http://schemas.microsoft.com/office/drawing/2014/main" val="20000"/>
                    </a:ext>
                  </a:extLst>
                </a:gridCol>
                <a:gridCol w="1095632">
                  <a:extLst>
                    <a:ext uri="{9D8B030D-6E8A-4147-A177-3AD203B41FA5}">
                      <a16:colId xmlns:a16="http://schemas.microsoft.com/office/drawing/2014/main" val="20001"/>
                    </a:ext>
                  </a:extLst>
                </a:gridCol>
                <a:gridCol w="1136822">
                  <a:extLst>
                    <a:ext uri="{9D8B030D-6E8A-4147-A177-3AD203B41FA5}">
                      <a16:colId xmlns:a16="http://schemas.microsoft.com/office/drawing/2014/main" val="20002"/>
                    </a:ext>
                  </a:extLst>
                </a:gridCol>
                <a:gridCol w="980303">
                  <a:extLst>
                    <a:ext uri="{9D8B030D-6E8A-4147-A177-3AD203B41FA5}">
                      <a16:colId xmlns:a16="http://schemas.microsoft.com/office/drawing/2014/main" val="20003"/>
                    </a:ext>
                  </a:extLst>
                </a:gridCol>
                <a:gridCol w="1029729">
                  <a:extLst>
                    <a:ext uri="{9D8B030D-6E8A-4147-A177-3AD203B41FA5}">
                      <a16:colId xmlns:a16="http://schemas.microsoft.com/office/drawing/2014/main" val="20004"/>
                    </a:ext>
                  </a:extLst>
                </a:gridCol>
                <a:gridCol w="1161535">
                  <a:extLst>
                    <a:ext uri="{9D8B030D-6E8A-4147-A177-3AD203B41FA5}">
                      <a16:colId xmlns:a16="http://schemas.microsoft.com/office/drawing/2014/main" val="20005"/>
                    </a:ext>
                  </a:extLst>
                </a:gridCol>
                <a:gridCol w="1186249">
                  <a:extLst>
                    <a:ext uri="{9D8B030D-6E8A-4147-A177-3AD203B41FA5}">
                      <a16:colId xmlns:a16="http://schemas.microsoft.com/office/drawing/2014/main" val="20006"/>
                    </a:ext>
                  </a:extLst>
                </a:gridCol>
                <a:gridCol w="1178010">
                  <a:extLst>
                    <a:ext uri="{9D8B030D-6E8A-4147-A177-3AD203B41FA5}">
                      <a16:colId xmlns:a16="http://schemas.microsoft.com/office/drawing/2014/main" val="20007"/>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.ID</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FName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Employees</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a:t>.</a:t>
                      </a:r>
                      <a:r>
                        <a:rPr lang="en-US" sz="1600" u="none" dirty="0" err="1"/>
                        <a:t>LName</a:t>
                      </a:r>
                      <a:endParaRPr lang="en-US" sz="1600" u="none" dirty="0"/>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dirty="0" err="1"/>
                        <a:t>Employees.HireDate</a:t>
                      </a:r>
                      <a:endParaRPr lang="en-US" sz="1600" u="none" dirty="0"/>
                    </a:p>
                  </a:txBody>
                  <a:tcPr marL="45720" marR="45720"/>
                </a:tc>
                <a:tc>
                  <a:txBody>
                    <a:bodyPr/>
                    <a:lstStyle/>
                    <a:p>
                      <a:pPr>
                        <a:lnSpc>
                          <a:spcPct val="100000"/>
                        </a:lnSpc>
                      </a:pPr>
                      <a:r>
                        <a:rPr lang="en-US" sz="1600" u="none" dirty="0"/>
                        <a:t>Employees</a:t>
                      </a:r>
                    </a:p>
                    <a:p>
                      <a:pPr>
                        <a:lnSpc>
                          <a:spcPct val="100000"/>
                        </a:lnSpc>
                      </a:pPr>
                      <a:r>
                        <a:rPr lang="en-US" sz="1600" u="none" dirty="0"/>
                        <a:t>.</a:t>
                      </a:r>
                      <a:r>
                        <a:rPr lang="en-US" sz="1600" u="none" dirty="0" err="1"/>
                        <a:t>DeptID</a:t>
                      </a:r>
                      <a:endParaRPr lang="en-US" sz="1600" u="none" dirty="0"/>
                    </a:p>
                  </a:txBody>
                  <a:tcPr marL="45720" marR="45720"/>
                </a:tc>
                <a:tc>
                  <a:txBody>
                    <a:bodyPr/>
                    <a:lstStyle/>
                    <a:p>
                      <a:pPr>
                        <a:lnSpc>
                          <a:spcPct val="100000"/>
                        </a:lnSpc>
                      </a:pPr>
                      <a:r>
                        <a:rPr lang="en-US" sz="1600" u="none" dirty="0" err="1"/>
                        <a:t>Departments.DeptID</a:t>
                      </a:r>
                      <a:endParaRPr lang="en-US" sz="1600" u="none" dirty="0"/>
                    </a:p>
                  </a:txBody>
                  <a:tcPr marL="45720" marR="45720"/>
                </a:tc>
                <a:tc>
                  <a:txBody>
                    <a:bodyPr/>
                    <a:lstStyle/>
                    <a:p>
                      <a:pPr>
                        <a:lnSpc>
                          <a:spcPct val="100000"/>
                        </a:lnSpc>
                      </a:pPr>
                      <a:r>
                        <a:rPr lang="en-US" sz="1600" u="none" dirty="0" err="1"/>
                        <a:t>Departments.DeptName</a:t>
                      </a:r>
                      <a:endParaRPr lang="en-US" sz="1600" u="none" dirty="0"/>
                    </a:p>
                  </a:txBody>
                  <a:tcPr marL="45720" marR="45720"/>
                </a:tc>
                <a:tc>
                  <a:txBody>
                    <a:bodyPr/>
                    <a:lstStyle/>
                    <a:p>
                      <a:pPr>
                        <a:lnSpc>
                          <a:spcPct val="100000"/>
                        </a:lnSpc>
                      </a:pPr>
                      <a:r>
                        <a:rPr lang="en-US" sz="1600" u="none" dirty="0" err="1"/>
                        <a:t>Departments.Location</a:t>
                      </a:r>
                      <a:endParaRPr lang="en-US" sz="1600" u="none" dirty="0"/>
                    </a:p>
                  </a:txBody>
                  <a:tcPr marL="45720" marR="45720"/>
                </a:tc>
                <a:extLst>
                  <a:ext uri="{0D108BD9-81ED-4DB2-BD59-A6C34878D82A}">
                    <a16:rowId xmlns:a16="http://schemas.microsoft.com/office/drawing/2014/main" val="10000"/>
                  </a:ext>
                </a:extLst>
              </a:tr>
              <a:tr h="301752">
                <a:tc>
                  <a:txBody>
                    <a:bodyPr/>
                    <a:lstStyle/>
                    <a:p>
                      <a:pPr>
                        <a:lnSpc>
                          <a:spcPct val="100000"/>
                        </a:lnSpc>
                      </a:pPr>
                      <a:r>
                        <a:rPr lang="en-US" sz="1600" u="none" dirty="0">
                          <a:solidFill>
                            <a:schemeClr val="tx1"/>
                          </a:solidFill>
                          <a:latin typeface="+mn-lt"/>
                        </a:rPr>
                        <a:t>734</a:t>
                      </a:r>
                    </a:p>
                  </a:txBody>
                  <a:tcPr marL="45720" marR="45720"/>
                </a:tc>
                <a:tc>
                  <a:txBody>
                    <a:bodyPr/>
                    <a:lstStyle/>
                    <a:p>
                      <a:pPr>
                        <a:lnSpc>
                          <a:spcPct val="100000"/>
                        </a:lnSpc>
                      </a:pPr>
                      <a:r>
                        <a:rPr lang="en-US" sz="1600" u="none" dirty="0">
                          <a:solidFill>
                            <a:schemeClr val="tx1"/>
                          </a:solidFill>
                          <a:latin typeface="+mn-lt"/>
                        </a:rPr>
                        <a:t>Aaron</a:t>
                      </a:r>
                    </a:p>
                  </a:txBody>
                  <a:tcPr marL="45720" marR="45720"/>
                </a:tc>
                <a:tc>
                  <a:txBody>
                    <a:bodyPr/>
                    <a:lstStyle/>
                    <a:p>
                      <a:pPr>
                        <a:lnSpc>
                          <a:spcPct val="100000"/>
                        </a:lnSpc>
                      </a:pPr>
                      <a:r>
                        <a:rPr lang="en-US" sz="1600" u="none" dirty="0">
                          <a:solidFill>
                            <a:schemeClr val="tx1"/>
                          </a:solidFill>
                          <a:latin typeface="+mn-lt"/>
                        </a:rPr>
                        <a:t>Cooper</a:t>
                      </a:r>
                    </a:p>
                  </a:txBody>
                  <a:tcPr marL="45720" marR="45720"/>
                </a:tc>
                <a:tc>
                  <a:txBody>
                    <a:bodyPr/>
                    <a:lstStyle/>
                    <a:p>
                      <a:pPr>
                        <a:lnSpc>
                          <a:spcPct val="100000"/>
                        </a:lnSpc>
                      </a:pPr>
                      <a:r>
                        <a:rPr lang="en-US" sz="1600" u="none" dirty="0">
                          <a:solidFill>
                            <a:schemeClr val="tx1"/>
                          </a:solidFill>
                          <a:latin typeface="+mn-lt"/>
                        </a:rPr>
                        <a:t>4/17/99</a:t>
                      </a:r>
                    </a:p>
                  </a:txBody>
                  <a:tcPr marL="45720" marR="45720"/>
                </a:tc>
                <a:tc>
                  <a:txBody>
                    <a:bodyPr/>
                    <a:lstStyle/>
                    <a:p>
                      <a:pPr algn="ctr">
                        <a:lnSpc>
                          <a:spcPct val="100000"/>
                        </a:lnSpc>
                      </a:pPr>
                      <a:r>
                        <a:rPr lang="en-US" sz="1600" u="none" dirty="0">
                          <a:solidFill>
                            <a:schemeClr val="tx1"/>
                          </a:solidFill>
                        </a:rPr>
                        <a:t>2</a:t>
                      </a:r>
                    </a:p>
                  </a:txBody>
                  <a:tcPr marL="45720" marR="45720"/>
                </a:tc>
                <a:tc>
                  <a:txBody>
                    <a:bodyPr/>
                    <a:lstStyle/>
                    <a:p>
                      <a:pPr algn="ctr">
                        <a:lnSpc>
                          <a:spcPct val="100000"/>
                        </a:lnSpc>
                      </a:pPr>
                      <a:r>
                        <a:rPr lang="en-US" sz="1600" u="none" dirty="0"/>
                        <a:t>2</a:t>
                      </a:r>
                    </a:p>
                  </a:txBody>
                  <a:tcPr marL="45720" marR="45720"/>
                </a:tc>
                <a:tc>
                  <a:txBody>
                    <a:bodyPr/>
                    <a:lstStyle/>
                    <a:p>
                      <a:pPr>
                        <a:lnSpc>
                          <a:spcPct val="100000"/>
                        </a:lnSpc>
                      </a:pPr>
                      <a:r>
                        <a:rPr lang="en-US" sz="1600" u="none" dirty="0"/>
                        <a:t>Marketing</a:t>
                      </a:r>
                    </a:p>
                  </a:txBody>
                  <a:tcPr marL="45720" marR="45720"/>
                </a:tc>
                <a:tc>
                  <a:txBody>
                    <a:bodyPr/>
                    <a:lstStyle/>
                    <a:p>
                      <a:pPr>
                        <a:lnSpc>
                          <a:spcPct val="100000"/>
                        </a:lnSpc>
                      </a:pPr>
                      <a:r>
                        <a:rPr lang="en-US" sz="1600" u="none" dirty="0"/>
                        <a:t>CA</a:t>
                      </a:r>
                    </a:p>
                  </a:txBody>
                  <a:tcPr marL="45720" marR="45720"/>
                </a:tc>
                <a:extLst>
                  <a:ext uri="{0D108BD9-81ED-4DB2-BD59-A6C34878D82A}">
                    <a16:rowId xmlns:a16="http://schemas.microsoft.com/office/drawing/2014/main" val="10001"/>
                  </a:ext>
                </a:extLst>
              </a:tr>
              <a:tr h="301752">
                <a:tc>
                  <a:txBody>
                    <a:bodyPr/>
                    <a:lstStyle/>
                    <a:p>
                      <a:pPr>
                        <a:lnSpc>
                          <a:spcPct val="100000"/>
                        </a:lnSpc>
                      </a:pPr>
                      <a:r>
                        <a:rPr lang="en-US" sz="1600" u="none" dirty="0">
                          <a:solidFill>
                            <a:schemeClr val="tx1"/>
                          </a:solidFill>
                          <a:latin typeface="+mn-lt"/>
                        </a:rPr>
                        <a:t>735</a:t>
                      </a:r>
                    </a:p>
                  </a:txBody>
                  <a:tcPr marL="45720" marR="45720"/>
                </a:tc>
                <a:tc>
                  <a:txBody>
                    <a:bodyPr/>
                    <a:lstStyle/>
                    <a:p>
                      <a:pPr>
                        <a:lnSpc>
                          <a:spcPct val="100000"/>
                        </a:lnSpc>
                      </a:pPr>
                      <a:r>
                        <a:rPr lang="en-US" sz="1600" u="none" dirty="0">
                          <a:solidFill>
                            <a:schemeClr val="tx1"/>
                          </a:solidFill>
                          <a:latin typeface="+mn-lt"/>
                        </a:rPr>
                        <a:t>Lou</a:t>
                      </a:r>
                    </a:p>
                  </a:txBody>
                  <a:tcPr marL="45720" marR="45720"/>
                </a:tc>
                <a:tc>
                  <a:txBody>
                    <a:bodyPr/>
                    <a:lstStyle/>
                    <a:p>
                      <a:pPr>
                        <a:lnSpc>
                          <a:spcPct val="100000"/>
                        </a:lnSpc>
                      </a:pPr>
                      <a:r>
                        <a:rPr lang="en-US" sz="1600" u="none" dirty="0">
                          <a:solidFill>
                            <a:schemeClr val="tx1"/>
                          </a:solidFill>
                          <a:latin typeface="+mn-lt"/>
                        </a:rPr>
                        <a:t>Bono</a:t>
                      </a:r>
                    </a:p>
                  </a:txBody>
                  <a:tcPr marL="45720" marR="45720"/>
                </a:tc>
                <a:tc>
                  <a:txBody>
                    <a:bodyPr/>
                    <a:lstStyle/>
                    <a:p>
                      <a:pPr>
                        <a:lnSpc>
                          <a:spcPct val="100000"/>
                        </a:lnSpc>
                      </a:pPr>
                      <a:r>
                        <a:rPr lang="en-US" sz="1600" u="none" dirty="0">
                          <a:solidFill>
                            <a:schemeClr val="tx1"/>
                          </a:solidFill>
                          <a:latin typeface="+mn-lt"/>
                        </a:rPr>
                        <a:t>5/22/05</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2"/>
                  </a:ext>
                </a:extLst>
              </a:tr>
              <a:tr h="301752">
                <a:tc>
                  <a:txBody>
                    <a:bodyPr/>
                    <a:lstStyle/>
                    <a:p>
                      <a:pPr>
                        <a:lnSpc>
                          <a:spcPct val="100000"/>
                        </a:lnSpc>
                      </a:pPr>
                      <a:r>
                        <a:rPr lang="en-US" sz="1600" u="none" dirty="0">
                          <a:solidFill>
                            <a:schemeClr val="tx1"/>
                          </a:solidFill>
                          <a:latin typeface="+mn-lt"/>
                        </a:rPr>
                        <a:t>736</a:t>
                      </a:r>
                    </a:p>
                  </a:txBody>
                  <a:tcPr marL="45720" marR="45720"/>
                </a:tc>
                <a:tc>
                  <a:txBody>
                    <a:bodyPr/>
                    <a:lstStyle/>
                    <a:p>
                      <a:pPr>
                        <a:lnSpc>
                          <a:spcPct val="100000"/>
                        </a:lnSpc>
                      </a:pPr>
                      <a:r>
                        <a:rPr lang="en-US" sz="1600" u="none" dirty="0">
                          <a:solidFill>
                            <a:schemeClr val="tx1"/>
                          </a:solidFill>
                          <a:latin typeface="+mn-lt"/>
                        </a:rPr>
                        <a:t>Alice</a:t>
                      </a:r>
                    </a:p>
                  </a:txBody>
                  <a:tcPr marL="45720" marR="45720"/>
                </a:tc>
                <a:tc>
                  <a:txBody>
                    <a:bodyPr/>
                    <a:lstStyle/>
                    <a:p>
                      <a:pPr>
                        <a:lnSpc>
                          <a:spcPct val="100000"/>
                        </a:lnSpc>
                      </a:pPr>
                      <a:r>
                        <a:rPr lang="en-US" sz="1600" u="none" dirty="0">
                          <a:solidFill>
                            <a:schemeClr val="tx1"/>
                          </a:solidFill>
                          <a:latin typeface="+mn-lt"/>
                        </a:rPr>
                        <a:t>Bailey</a:t>
                      </a:r>
                    </a:p>
                  </a:txBody>
                  <a:tcPr marL="45720" marR="45720"/>
                </a:tc>
                <a:tc>
                  <a:txBody>
                    <a:bodyPr/>
                    <a:lstStyle/>
                    <a:p>
                      <a:pPr>
                        <a:lnSpc>
                          <a:spcPct val="100000"/>
                        </a:lnSpc>
                      </a:pPr>
                      <a:r>
                        <a:rPr lang="en-US" sz="1600" u="none" dirty="0">
                          <a:solidFill>
                            <a:schemeClr val="tx1"/>
                          </a:solidFill>
                          <a:latin typeface="+mn-lt"/>
                        </a:rPr>
                        <a:t>9/1/99</a:t>
                      </a:r>
                    </a:p>
                  </a:txBody>
                  <a:tcPr marL="45720" marR="45720"/>
                </a:tc>
                <a:tc>
                  <a:txBody>
                    <a:bodyPr/>
                    <a:lstStyle/>
                    <a:p>
                      <a:pPr algn="ctr">
                        <a:lnSpc>
                          <a:spcPct val="100000"/>
                        </a:lnSpc>
                      </a:pPr>
                      <a:r>
                        <a:rPr lang="en-US" sz="1600" u="none" dirty="0">
                          <a:solidFill>
                            <a:schemeClr val="tx1"/>
                          </a:solidFill>
                        </a:rPr>
                        <a:t>1</a:t>
                      </a:r>
                    </a:p>
                  </a:txBody>
                  <a:tcPr marL="45720" marR="45720"/>
                </a:tc>
                <a:tc>
                  <a:txBody>
                    <a:bodyPr/>
                    <a:lstStyle/>
                    <a:p>
                      <a:pPr algn="ctr">
                        <a:lnSpc>
                          <a:spcPct val="100000"/>
                        </a:lnSpc>
                      </a:pPr>
                      <a:r>
                        <a:rPr lang="en-US" sz="1600" u="none" dirty="0"/>
                        <a:t>1</a:t>
                      </a:r>
                    </a:p>
                  </a:txBody>
                  <a:tcPr marL="45720" marR="45720"/>
                </a:tc>
                <a:tc>
                  <a:txBody>
                    <a:bodyPr/>
                    <a:lstStyle/>
                    <a:p>
                      <a:pPr>
                        <a:lnSpc>
                          <a:spcPct val="100000"/>
                        </a:lnSpc>
                      </a:pPr>
                      <a:r>
                        <a:rPr lang="en-US" sz="1600" u="none" dirty="0"/>
                        <a:t>Production</a:t>
                      </a:r>
                    </a:p>
                  </a:txBody>
                  <a:tcPr marL="45720" marR="45720"/>
                </a:tc>
                <a:tc>
                  <a:txBody>
                    <a:bodyPr/>
                    <a:lstStyle/>
                    <a:p>
                      <a:pPr>
                        <a:lnSpc>
                          <a:spcPct val="100000"/>
                        </a:lnSpc>
                      </a:pPr>
                      <a:r>
                        <a:rPr lang="en-US" sz="1600" u="none" dirty="0"/>
                        <a:t>NJ</a:t>
                      </a:r>
                    </a:p>
                  </a:txBody>
                  <a:tcPr marL="45720" marR="45720"/>
                </a:tc>
                <a:extLst>
                  <a:ext uri="{0D108BD9-81ED-4DB2-BD59-A6C34878D82A}">
                    <a16:rowId xmlns:a16="http://schemas.microsoft.com/office/drawing/2014/main" val="10003"/>
                  </a:ext>
                </a:extLst>
              </a:tr>
              <a:tr h="301752">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pPr algn="ctr"/>
                      <a:endParaRPr lang="en-US" dirty="0"/>
                    </a:p>
                  </a:txBody>
                  <a:tcPr/>
                </a:tc>
                <a:tc>
                  <a:txBody>
                    <a:bodyPr/>
                    <a:lstStyle/>
                    <a:p>
                      <a:pPr algn="ctr"/>
                      <a:r>
                        <a:rPr lang="en-US" sz="1600" dirty="0">
                          <a:solidFill>
                            <a:srgbClr val="FF0000"/>
                          </a:solidFill>
                        </a:rPr>
                        <a:t>3</a:t>
                      </a:r>
                    </a:p>
                  </a:txBody>
                  <a:tcPr/>
                </a:tc>
                <a:tc>
                  <a:txBody>
                    <a:bodyPr/>
                    <a:lstStyle/>
                    <a:p>
                      <a:r>
                        <a:rPr lang="en-US" sz="1600" dirty="0">
                          <a:solidFill>
                            <a:srgbClr val="FF0000"/>
                          </a:solidFill>
                        </a:rPr>
                        <a:t>Sales</a:t>
                      </a:r>
                    </a:p>
                  </a:txBody>
                  <a:tcPr/>
                </a:tc>
                <a:tc>
                  <a:txBody>
                    <a:bodyPr/>
                    <a:lstStyle/>
                    <a:p>
                      <a:r>
                        <a:rPr lang="en-US" sz="1600" dirty="0">
                          <a:solidFill>
                            <a:srgbClr val="FF0000"/>
                          </a:solidFill>
                        </a:rPr>
                        <a:t>CA</a:t>
                      </a:r>
                    </a:p>
                  </a:txBody>
                  <a:tcPr/>
                </a:tc>
                <a:extLst>
                  <a:ext uri="{0D108BD9-81ED-4DB2-BD59-A6C34878D82A}">
                    <a16:rowId xmlns:a16="http://schemas.microsoft.com/office/drawing/2014/main" val="10004"/>
                  </a:ext>
                </a:extLst>
              </a:tr>
              <a:tr h="301752">
                <a:tc>
                  <a:txBody>
                    <a:bodyPr/>
                    <a:lstStyle/>
                    <a:p>
                      <a:r>
                        <a:rPr lang="en-US" sz="1600" dirty="0">
                          <a:solidFill>
                            <a:srgbClr val="FF0000"/>
                          </a:solidFill>
                          <a:latin typeface="+mn-lt"/>
                        </a:rPr>
                        <a:t>738</a:t>
                      </a:r>
                    </a:p>
                  </a:txBody>
                  <a:tcPr/>
                </a:tc>
                <a:tc>
                  <a:txBody>
                    <a:bodyPr/>
                    <a:lstStyle/>
                    <a:p>
                      <a:r>
                        <a:rPr lang="en-US" sz="1600" dirty="0">
                          <a:solidFill>
                            <a:srgbClr val="FF0000"/>
                          </a:solidFill>
                          <a:latin typeface="+mn-lt"/>
                        </a:rPr>
                        <a:t>John</a:t>
                      </a:r>
                    </a:p>
                  </a:txBody>
                  <a:tcPr/>
                </a:tc>
                <a:tc>
                  <a:txBody>
                    <a:bodyPr/>
                    <a:lstStyle/>
                    <a:p>
                      <a:r>
                        <a:rPr lang="en-US" sz="1600" dirty="0">
                          <a:solidFill>
                            <a:srgbClr val="FF0000"/>
                          </a:solidFill>
                          <a:latin typeface="+mn-lt"/>
                        </a:rPr>
                        <a:t>Cruz</a:t>
                      </a:r>
                    </a:p>
                  </a:txBody>
                  <a:tcPr/>
                </a:tc>
                <a:tc>
                  <a:txBody>
                    <a:bodyPr/>
                    <a:lstStyle/>
                    <a:p>
                      <a:r>
                        <a:rPr lang="en-US" sz="1600" dirty="0">
                          <a:solidFill>
                            <a:srgbClr val="FF0000"/>
                          </a:solidFill>
                          <a:latin typeface="+mn-lt"/>
                        </a:rPr>
                        <a:t>6/1/15</a:t>
                      </a:r>
                    </a:p>
                  </a:txBody>
                  <a:tcPr/>
                </a:tc>
                <a:tc>
                  <a:txBody>
                    <a:bodyPr/>
                    <a:lstStyle/>
                    <a:p>
                      <a:pPr algn="ctr"/>
                      <a:endParaRPr lang="en-US" dirty="0"/>
                    </a:p>
                  </a:txBody>
                  <a:tcPr/>
                </a:tc>
                <a:tc>
                  <a:txBody>
                    <a:bodyPr/>
                    <a:lstStyle/>
                    <a:p>
                      <a:pPr algn="ctr"/>
                      <a:endParaRPr lang="en-US" sz="1600" dirty="0">
                        <a:solidFill>
                          <a:srgbClr val="FF0000"/>
                        </a:solidFill>
                      </a:endParaRPr>
                    </a:p>
                  </a:txBody>
                  <a:tcPr/>
                </a:tc>
                <a:tc>
                  <a:txBody>
                    <a:bodyPr/>
                    <a:lstStyle/>
                    <a:p>
                      <a:endParaRPr lang="en-US" sz="1600" dirty="0">
                        <a:solidFill>
                          <a:srgbClr val="FF0000"/>
                        </a:solidFill>
                      </a:endParaRPr>
                    </a:p>
                  </a:txBody>
                  <a:tcPr/>
                </a:tc>
                <a:tc>
                  <a:txBody>
                    <a:bodyPr/>
                    <a:lstStyle/>
                    <a:p>
                      <a:endParaRPr lang="en-US" sz="1600" dirty="0">
                        <a:solidFill>
                          <a:srgbClr val="FF0000"/>
                        </a:solidFill>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33511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p:spPr>
        <p:txBody>
          <a:bodyPr/>
          <a:lstStyle/>
          <a:p>
            <a:r>
              <a:rPr lang="en-US" dirty="0"/>
              <a:t>Practice</a:t>
            </a:r>
          </a:p>
        </p:txBody>
      </p:sp>
      <p:sp>
        <p:nvSpPr>
          <p:cNvPr id="3" name="Text Placeholder 2"/>
          <p:cNvSpPr>
            <a:spLocks noGrp="1"/>
          </p:cNvSpPr>
          <p:nvPr>
            <p:ph type="body" idx="1"/>
          </p:nvPr>
        </p:nvSpPr>
        <p:spPr>
          <a:xfrm>
            <a:off x="2024634" y="4187275"/>
            <a:ext cx="8320093" cy="1645920"/>
          </a:xfrm>
        </p:spPr>
        <p:txBody>
          <a:bodyPr>
            <a:normAutofit/>
          </a:bodyPr>
          <a:lstStyle/>
          <a:p>
            <a:r>
              <a:rPr lang="en-US" sz="3600" dirty="0"/>
              <a:t>Back to </a:t>
            </a:r>
            <a:r>
              <a:rPr lang="en-US" sz="3600" dirty="0" err="1"/>
              <a:t>StaffAndOrders</a:t>
            </a:r>
            <a:r>
              <a:rPr lang="en-US" sz="3600" dirty="0"/>
              <a:t> from last class</a:t>
            </a:r>
          </a:p>
        </p:txBody>
      </p:sp>
      <p:sp>
        <p:nvSpPr>
          <p:cNvPr id="4" name="Slide Number Placeholder 3"/>
          <p:cNvSpPr>
            <a:spLocks noGrp="1"/>
          </p:cNvSpPr>
          <p:nvPr>
            <p:ph type="sldNum" sz="quarter" idx="12"/>
          </p:nvPr>
        </p:nvSpPr>
        <p:spPr/>
        <p:txBody>
          <a:bodyPr/>
          <a:lstStyle/>
          <a:p>
            <a:fld id="{87F3E754-1C97-4481-A18C-9D97ADBDF344}" type="slidenum">
              <a:rPr lang="en-US" smtClean="0"/>
              <a:t>23</a:t>
            </a:fld>
            <a:endParaRPr lang="en-US"/>
          </a:p>
        </p:txBody>
      </p:sp>
    </p:spTree>
    <p:extLst>
      <p:ext uri="{BB962C8B-B14F-4D97-AF65-F5344CB8AC3E}">
        <p14:creationId xmlns:p14="http://schemas.microsoft.com/office/powerpoint/2010/main" val="5661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4458" y="1039907"/>
            <a:ext cx="8550814" cy="5389028"/>
          </a:xfrm>
        </p:spPr>
        <p:txBody>
          <a:bodyPr>
            <a:noAutofit/>
          </a:bodyPr>
          <a:lstStyle/>
          <a:p>
            <a:pPr marL="457200" indent="-457200" algn="just">
              <a:lnSpc>
                <a:spcPct val="100000"/>
              </a:lnSpc>
              <a:buAutoNum type="arabicPeriod"/>
            </a:pPr>
            <a:r>
              <a:rPr lang="en-US" sz="2200" dirty="0"/>
              <a:t>Shows each employee’s first name and last name and the corresponding building name and address </a:t>
            </a:r>
          </a:p>
          <a:p>
            <a:pPr marL="457200" indent="-457200" algn="just">
              <a:lnSpc>
                <a:spcPct val="100000"/>
              </a:lnSpc>
              <a:buAutoNum type="alphaLcPeriod"/>
            </a:pPr>
            <a:r>
              <a:rPr lang="en-US" sz="2200" dirty="0"/>
              <a:t>Modify the query such that if some employees do not work in any building include them too</a:t>
            </a:r>
          </a:p>
          <a:p>
            <a:pPr marL="457200" indent="-457200" algn="just">
              <a:lnSpc>
                <a:spcPct val="100000"/>
              </a:lnSpc>
              <a:buAutoNum type="alphaLcPeriod"/>
            </a:pPr>
            <a:r>
              <a:rPr lang="en-US" sz="2200" dirty="0"/>
              <a:t>Modify the query such that buildings where no employee works at are included</a:t>
            </a:r>
          </a:p>
          <a:p>
            <a:pPr marL="457200" indent="-457200" algn="just">
              <a:lnSpc>
                <a:spcPct val="100000"/>
              </a:lnSpc>
              <a:buAutoNum type="alphaLcPeriod"/>
            </a:pPr>
            <a:endParaRPr lang="en-US" sz="2200" dirty="0"/>
          </a:p>
          <a:p>
            <a:pPr marL="0" indent="0" algn="just">
              <a:lnSpc>
                <a:spcPct val="100000"/>
              </a:lnSpc>
              <a:buNone/>
            </a:pPr>
            <a:r>
              <a:rPr lang="en-US" sz="2200" dirty="0"/>
              <a:t>2.  Shows the employees hired on the same day that an order was placed. Show the </a:t>
            </a:r>
            <a:r>
              <a:rPr lang="en-US" sz="2200" dirty="0" err="1"/>
              <a:t>employeeID</a:t>
            </a:r>
            <a:r>
              <a:rPr lang="en-US" sz="2200" dirty="0"/>
              <a:t> and </a:t>
            </a:r>
            <a:r>
              <a:rPr lang="en-US" sz="2200" dirty="0" err="1"/>
              <a:t>receiptID</a:t>
            </a:r>
            <a:r>
              <a:rPr lang="en-US" sz="2200" dirty="0"/>
              <a:t>.</a:t>
            </a:r>
          </a:p>
          <a:p>
            <a:pPr marL="0" indent="0" algn="just">
              <a:lnSpc>
                <a:spcPct val="100000"/>
              </a:lnSpc>
              <a:buNone/>
            </a:pPr>
            <a:endParaRPr lang="en-US" sz="2200" dirty="0"/>
          </a:p>
          <a:p>
            <a:pPr marL="0" indent="0" algn="just">
              <a:lnSpc>
                <a:spcPct val="100000"/>
              </a:lnSpc>
              <a:buNone/>
            </a:pPr>
            <a:r>
              <a:rPr lang="en-US" sz="2200" dirty="0"/>
              <a:t>3.   Shows the products each customer ever ordered (each customer is combined with all products he/she bought).</a:t>
            </a:r>
          </a:p>
          <a:p>
            <a:pPr marL="457200" indent="-457200" algn="just">
              <a:lnSpc>
                <a:spcPct val="100000"/>
              </a:lnSpc>
              <a:buAutoNum type="arabicPeriod"/>
            </a:pPr>
            <a:endParaRPr lang="en-US" sz="2200" dirty="0"/>
          </a:p>
        </p:txBody>
      </p:sp>
      <p:sp>
        <p:nvSpPr>
          <p:cNvPr id="4" name="Slide Number Placeholder 3"/>
          <p:cNvSpPr>
            <a:spLocks noGrp="1"/>
          </p:cNvSpPr>
          <p:nvPr>
            <p:ph type="sldNum" sz="quarter" idx="12"/>
          </p:nvPr>
        </p:nvSpPr>
        <p:spPr/>
        <p:txBody>
          <a:bodyPr/>
          <a:lstStyle/>
          <a:p>
            <a:fld id="{87F3E754-1C97-4481-A18C-9D97ADBDF344}" type="slidenum">
              <a:rPr lang="en-US" smtClean="0"/>
              <a:t>24</a:t>
            </a:fld>
            <a:endParaRPr lang="en-US"/>
          </a:p>
        </p:txBody>
      </p:sp>
      <p:sp>
        <p:nvSpPr>
          <p:cNvPr id="5" name="Title 1"/>
          <p:cNvSpPr>
            <a:spLocks noGrp="1"/>
          </p:cNvSpPr>
          <p:nvPr>
            <p:ph type="title"/>
          </p:nvPr>
        </p:nvSpPr>
        <p:spPr>
          <a:xfrm>
            <a:off x="1794458" y="155919"/>
            <a:ext cx="8079581" cy="757767"/>
          </a:xfrm>
        </p:spPr>
        <p:txBody>
          <a:bodyPr/>
          <a:lstStyle/>
          <a:p>
            <a:r>
              <a:rPr lang="en-US" dirty="0"/>
              <a:t>Let’s make a query that…</a:t>
            </a:r>
          </a:p>
        </p:txBody>
      </p:sp>
    </p:spTree>
    <p:extLst>
      <p:ext uri="{BB962C8B-B14F-4D97-AF65-F5344CB8AC3E}">
        <p14:creationId xmlns:p14="http://schemas.microsoft.com/office/powerpoint/2010/main" val="1202494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6358" y="1229409"/>
            <a:ext cx="8666073" cy="4267383"/>
          </a:xfrm>
        </p:spPr>
        <p:txBody>
          <a:bodyPr>
            <a:noAutofit/>
          </a:bodyPr>
          <a:lstStyle/>
          <a:p>
            <a:pPr marL="0" indent="0" algn="just">
              <a:lnSpc>
                <a:spcPct val="100000"/>
              </a:lnSpc>
              <a:buNone/>
            </a:pPr>
            <a:r>
              <a:rPr lang="en-US" sz="2200" dirty="0"/>
              <a:t>4.    Shows the customers (first name and last name) who have ordered the following product (“Recycled 60 oz. Glass Pitcher”).</a:t>
            </a:r>
          </a:p>
          <a:p>
            <a:pPr marL="457200" indent="-457200" algn="just">
              <a:lnSpc>
                <a:spcPct val="100000"/>
              </a:lnSpc>
              <a:buAutoNum type="alphaLcPeriod"/>
            </a:pPr>
            <a:r>
              <a:rPr lang="en-US" sz="2200" dirty="0"/>
              <a:t>How would the query change if instead of the product description, we had been given the product ID </a:t>
            </a:r>
            <a:r>
              <a:rPr lang="en-US" sz="2200" i="1" dirty="0"/>
              <a:t>240</a:t>
            </a:r>
            <a:r>
              <a:rPr lang="en-US" sz="2200" dirty="0"/>
              <a:t>?</a:t>
            </a:r>
          </a:p>
          <a:p>
            <a:pPr marL="0" indent="0" algn="just">
              <a:lnSpc>
                <a:spcPct val="100000"/>
              </a:lnSpc>
              <a:buNone/>
            </a:pPr>
            <a:endParaRPr lang="en-US" sz="2200" dirty="0"/>
          </a:p>
          <a:p>
            <a:pPr marL="0" indent="0" algn="just">
              <a:lnSpc>
                <a:spcPct val="100000"/>
              </a:lnSpc>
              <a:buNone/>
            </a:pPr>
            <a:r>
              <a:rPr lang="en-US" sz="2200" dirty="0"/>
              <a:t>5.    Shows the total revenue from orders placed in May 2012 </a:t>
            </a:r>
          </a:p>
          <a:p>
            <a:pPr marL="0" indent="0" algn="just">
              <a:lnSpc>
                <a:spcPct val="100000"/>
              </a:lnSpc>
              <a:buNone/>
            </a:pPr>
            <a:r>
              <a:rPr lang="en-US" sz="2200" dirty="0"/>
              <a:t>a.  Modify the query such that instead of a single grand total, it shows the total revenue for each day </a:t>
            </a:r>
          </a:p>
          <a:p>
            <a:pPr marL="0" indent="0" algn="just">
              <a:lnSpc>
                <a:spcPct val="100000"/>
              </a:lnSpc>
              <a:buNone/>
            </a:pPr>
            <a:endParaRPr lang="en-US" sz="2200" dirty="0"/>
          </a:p>
          <a:p>
            <a:pPr lvl="0" algn="just">
              <a:lnSpc>
                <a:spcPct val="100000"/>
              </a:lnSpc>
            </a:pPr>
            <a:endParaRPr lang="en-US" sz="2200" dirty="0"/>
          </a:p>
          <a:p>
            <a:pPr lvl="0" algn="just">
              <a:lnSpc>
                <a:spcPct val="100000"/>
              </a:lnSpc>
            </a:pPr>
            <a:endParaRPr lang="en-US" sz="2200" dirty="0"/>
          </a:p>
          <a:p>
            <a:pPr lvl="0" algn="just">
              <a:lnSpc>
                <a:spcPct val="100000"/>
              </a:lnSpc>
            </a:pPr>
            <a:endParaRPr lang="en-US" sz="2200" dirty="0"/>
          </a:p>
        </p:txBody>
      </p:sp>
      <p:sp>
        <p:nvSpPr>
          <p:cNvPr id="4" name="Slide Number Placeholder 3"/>
          <p:cNvSpPr>
            <a:spLocks noGrp="1"/>
          </p:cNvSpPr>
          <p:nvPr>
            <p:ph type="sldNum" sz="quarter" idx="12"/>
          </p:nvPr>
        </p:nvSpPr>
        <p:spPr/>
        <p:txBody>
          <a:bodyPr/>
          <a:lstStyle/>
          <a:p>
            <a:fld id="{87F3E754-1C97-4481-A18C-9D97ADBDF344}" type="slidenum">
              <a:rPr lang="en-US" smtClean="0"/>
              <a:t>25</a:t>
            </a:fld>
            <a:endParaRPr lang="en-US" dirty="0"/>
          </a:p>
        </p:txBody>
      </p:sp>
      <p:sp>
        <p:nvSpPr>
          <p:cNvPr id="5" name="Title 1"/>
          <p:cNvSpPr>
            <a:spLocks noGrp="1"/>
          </p:cNvSpPr>
          <p:nvPr>
            <p:ph type="title"/>
          </p:nvPr>
        </p:nvSpPr>
        <p:spPr>
          <a:xfrm>
            <a:off x="1794458" y="155919"/>
            <a:ext cx="8079581" cy="757767"/>
          </a:xfrm>
        </p:spPr>
        <p:txBody>
          <a:bodyPr/>
          <a:lstStyle/>
          <a:p>
            <a:r>
              <a:rPr lang="en-US" dirty="0"/>
              <a:t>Let’s make a query that…</a:t>
            </a:r>
          </a:p>
        </p:txBody>
      </p:sp>
    </p:spTree>
    <p:extLst>
      <p:ext uri="{BB962C8B-B14F-4D97-AF65-F5344CB8AC3E}">
        <p14:creationId xmlns:p14="http://schemas.microsoft.com/office/powerpoint/2010/main" val="2551960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2065</Words>
  <Application>Microsoft Office PowerPoint</Application>
  <PresentationFormat>Widescreen</PresentationFormat>
  <Paragraphs>1069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Avenir Black</vt:lpstr>
      <vt:lpstr>Calibri</vt:lpstr>
      <vt:lpstr>Calibri Light</vt:lpstr>
      <vt:lpstr>Wingdings</vt:lpstr>
      <vt:lpstr>Office Theme</vt:lpstr>
      <vt:lpstr>SQL III – multiple tables (joins)</vt:lpstr>
      <vt:lpstr>Outline</vt:lpstr>
      <vt:lpstr>SQL Joins</vt:lpstr>
      <vt:lpstr>Multiple table query</vt:lpstr>
      <vt:lpstr>1st attempt</vt:lpstr>
      <vt:lpstr>Step 1: FROM - The tables are joined together</vt:lpstr>
      <vt:lpstr>Step 2: SELECT</vt:lpstr>
      <vt:lpstr>Final result – </vt:lpstr>
      <vt:lpstr>2nd attempt -‘Regular join’</vt:lpstr>
      <vt:lpstr>Step 1: FROM - The tables are joined together</vt:lpstr>
      <vt:lpstr>Step 2: WHERE – The criterion is applied</vt:lpstr>
      <vt:lpstr>Step 2: WHERE – The criterion is applied</vt:lpstr>
      <vt:lpstr>Step 3: SELECT</vt:lpstr>
      <vt:lpstr>Final result – </vt:lpstr>
      <vt:lpstr>PowerPoint Presentation</vt:lpstr>
      <vt:lpstr>Step 1: FROM - The tables are joined together</vt:lpstr>
      <vt:lpstr>Step 2: SELECT</vt:lpstr>
      <vt:lpstr>Final result – </vt:lpstr>
      <vt:lpstr>What’s the difference between the regular join and INNER JOIN? </vt:lpstr>
      <vt:lpstr>LEFT (OUTER) JOIN</vt:lpstr>
      <vt:lpstr>RIGHT (OUTER) JOIN</vt:lpstr>
      <vt:lpstr>FYI: FULL OUTER JOIN – not supported by Ms Access</vt:lpstr>
      <vt:lpstr>Practice</vt:lpstr>
      <vt:lpstr>Let’s make a query that…</vt:lpstr>
      <vt:lpstr>Let’s make a query that…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III – multiple tables (joins)</dc:title>
  <dc:creator>Disha Parkhi</dc:creator>
  <cp:lastModifiedBy>Disha Parkhi</cp:lastModifiedBy>
  <cp:revision>1</cp:revision>
  <dcterms:created xsi:type="dcterms:W3CDTF">2020-08-22T21:46:35Z</dcterms:created>
  <dcterms:modified xsi:type="dcterms:W3CDTF">2022-03-31T14:47:56Z</dcterms:modified>
</cp:coreProperties>
</file>