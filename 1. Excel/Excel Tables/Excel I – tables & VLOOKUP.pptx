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69" r:id="rId2"/>
    <p:sldId id="270" r:id="rId3"/>
    <p:sldId id="288" r:id="rId4"/>
    <p:sldId id="289" r:id="rId5"/>
    <p:sldId id="290" r:id="rId6"/>
    <p:sldId id="316" r:id="rId7"/>
    <p:sldId id="282" r:id="rId8"/>
    <p:sldId id="271" r:id="rId9"/>
    <p:sldId id="272" r:id="rId10"/>
    <p:sldId id="274" r:id="rId11"/>
    <p:sldId id="273" r:id="rId12"/>
    <p:sldId id="286" r:id="rId13"/>
    <p:sldId id="257" r:id="rId14"/>
    <p:sldId id="258" r:id="rId15"/>
    <p:sldId id="259" r:id="rId16"/>
    <p:sldId id="260" r:id="rId17"/>
    <p:sldId id="261" r:id="rId18"/>
    <p:sldId id="262" r:id="rId19"/>
    <p:sldId id="263" r:id="rId20"/>
    <p:sldId id="264" r:id="rId21"/>
    <p:sldId id="310" r:id="rId22"/>
    <p:sldId id="311" r:id="rId23"/>
    <p:sldId id="287" r:id="rId24"/>
    <p:sldId id="275" r:id="rId25"/>
    <p:sldId id="291" r:id="rId26"/>
    <p:sldId id="292" r:id="rId27"/>
    <p:sldId id="293" r:id="rId28"/>
    <p:sldId id="294" r:id="rId29"/>
    <p:sldId id="298" r:id="rId30"/>
    <p:sldId id="317" r:id="rId31"/>
    <p:sldId id="297" r:id="rId32"/>
    <p:sldId id="318" r:id="rId33"/>
    <p:sldId id="284" r:id="rId34"/>
    <p:sldId id="295" r:id="rId35"/>
    <p:sldId id="299" r:id="rId36"/>
    <p:sldId id="300" r:id="rId37"/>
    <p:sldId id="301" r:id="rId38"/>
    <p:sldId id="302" r:id="rId39"/>
    <p:sldId id="303" r:id="rId40"/>
    <p:sldId id="304" r:id="rId41"/>
    <p:sldId id="305" r:id="rId42"/>
    <p:sldId id="312" r:id="rId43"/>
    <p:sldId id="313" r:id="rId44"/>
    <p:sldId id="314" r:id="rId45"/>
    <p:sldId id="306" r:id="rId46"/>
    <p:sldId id="309" r:id="rId47"/>
    <p:sldId id="307" r:id="rId48"/>
    <p:sldId id="308" r:id="rId49"/>
    <p:sldId id="31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CE6E838-9323-4736-8C94-591E026C0AA8}">
          <p14:sldIdLst/>
        </p14:section>
        <p14:section name="Default Section" id="{E79DBC47-CFA0-45AF-B25A-6E92D1096156}">
          <p14:sldIdLst>
            <p14:sldId id="269"/>
            <p14:sldId id="270"/>
            <p14:sldId id="288"/>
            <p14:sldId id="289"/>
            <p14:sldId id="290"/>
            <p14:sldId id="316"/>
          </p14:sldIdLst>
        </p14:section>
        <p14:section name="Tables" id="{A33947B6-792B-4DB9-94AF-2D6E2DCB2057}">
          <p14:sldIdLst>
            <p14:sldId id="282"/>
            <p14:sldId id="271"/>
            <p14:sldId id="272"/>
            <p14:sldId id="274"/>
            <p14:sldId id="273"/>
            <p14:sldId id="286"/>
            <p14:sldId id="257"/>
            <p14:sldId id="258"/>
            <p14:sldId id="259"/>
            <p14:sldId id="260"/>
            <p14:sldId id="261"/>
            <p14:sldId id="262"/>
            <p14:sldId id="263"/>
            <p14:sldId id="264"/>
            <p14:sldId id="310"/>
            <p14:sldId id="311"/>
          </p14:sldIdLst>
        </p14:section>
        <p14:section name="IF &amp; VLOOKUP" id="{995B1F5C-7F05-5A4E-B927-F1B43F30AEBF}">
          <p14:sldIdLst>
            <p14:sldId id="287"/>
            <p14:sldId id="275"/>
            <p14:sldId id="291"/>
            <p14:sldId id="292"/>
            <p14:sldId id="293"/>
            <p14:sldId id="294"/>
            <p14:sldId id="298"/>
            <p14:sldId id="317"/>
            <p14:sldId id="297"/>
            <p14:sldId id="318"/>
          </p14:sldIdLst>
        </p14:section>
        <p14:section name="Appendix I" id="{1A95D699-75A2-4F5A-926B-6C7DE581FB63}">
          <p14:sldIdLst>
            <p14:sldId id="284"/>
            <p14:sldId id="295"/>
            <p14:sldId id="299"/>
            <p14:sldId id="300"/>
            <p14:sldId id="301"/>
            <p14:sldId id="302"/>
            <p14:sldId id="303"/>
            <p14:sldId id="304"/>
            <p14:sldId id="305"/>
          </p14:sldIdLst>
        </p14:section>
        <p14:section name="Appendix II" id="{9A37C263-E0E5-714F-B136-00468CCC13C1}">
          <p14:sldIdLst>
            <p14:sldId id="312"/>
            <p14:sldId id="313"/>
            <p14:sldId id="314"/>
          </p14:sldIdLst>
        </p14:section>
        <p14:section name="Appendix III" id="{AA88221B-8C27-FA41-86AC-257A1A1BFBD5}">
          <p14:sldIdLst>
            <p14:sldId id="306"/>
            <p14:sldId id="309"/>
            <p14:sldId id="307"/>
            <p14:sldId id="308"/>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B7B542FF-F0B8-4575-B16B-5CD578D9F30F}"/>
    <pc:docChg chg="undo custSel addSld modSld modSection">
      <pc:chgData name="Disha Parkhi" userId="7ca7a02737f3c9a0" providerId="LiveId" clId="{B7B542FF-F0B8-4575-B16B-5CD578D9F30F}" dt="2020-09-09T18:45:08.047" v="28"/>
      <pc:docMkLst>
        <pc:docMk/>
      </pc:docMkLst>
      <pc:sldChg chg="modSp mod">
        <pc:chgData name="Disha Parkhi" userId="7ca7a02737f3c9a0" providerId="LiveId" clId="{B7B542FF-F0B8-4575-B16B-5CD578D9F30F}" dt="2020-09-09T12:17:34.451" v="22" actId="1036"/>
        <pc:sldMkLst>
          <pc:docMk/>
          <pc:sldMk cId="1371118243" sldId="297"/>
        </pc:sldMkLst>
        <pc:spChg chg="mod">
          <ac:chgData name="Disha Parkhi" userId="7ca7a02737f3c9a0" providerId="LiveId" clId="{B7B542FF-F0B8-4575-B16B-5CD578D9F30F}" dt="2020-09-09T12:17:29.329" v="13" actId="20577"/>
          <ac:spMkLst>
            <pc:docMk/>
            <pc:sldMk cId="1371118243" sldId="297"/>
            <ac:spMk id="21" creationId="{00000000-0000-0000-0000-000000000000}"/>
          </ac:spMkLst>
        </pc:spChg>
        <pc:picChg chg="mod">
          <ac:chgData name="Disha Parkhi" userId="7ca7a02737f3c9a0" providerId="LiveId" clId="{B7B542FF-F0B8-4575-B16B-5CD578D9F30F}" dt="2020-09-09T12:17:34.451" v="22" actId="1036"/>
          <ac:picMkLst>
            <pc:docMk/>
            <pc:sldMk cId="1371118243" sldId="297"/>
            <ac:picMk id="2" creationId="{00000000-0000-0000-0000-000000000000}"/>
          </ac:picMkLst>
        </pc:picChg>
      </pc:sldChg>
      <pc:sldChg chg="modSp mod">
        <pc:chgData name="Disha Parkhi" userId="7ca7a02737f3c9a0" providerId="LiveId" clId="{B7B542FF-F0B8-4575-B16B-5CD578D9F30F}" dt="2020-09-09T12:16:14.679" v="1" actId="20577"/>
        <pc:sldMkLst>
          <pc:docMk/>
          <pc:sldMk cId="154762930" sldId="298"/>
        </pc:sldMkLst>
        <pc:spChg chg="mod">
          <ac:chgData name="Disha Parkhi" userId="7ca7a02737f3c9a0" providerId="LiveId" clId="{B7B542FF-F0B8-4575-B16B-5CD578D9F30F}" dt="2020-09-09T12:16:14.679" v="1" actId="20577"/>
          <ac:spMkLst>
            <pc:docMk/>
            <pc:sldMk cId="154762930" sldId="298"/>
            <ac:spMk id="3" creationId="{00000000-0000-0000-0000-000000000000}"/>
          </ac:spMkLst>
        </pc:spChg>
      </pc:sldChg>
      <pc:sldChg chg="modSp mod">
        <pc:chgData name="Disha Parkhi" userId="7ca7a02737f3c9a0" providerId="LiveId" clId="{B7B542FF-F0B8-4575-B16B-5CD578D9F30F}" dt="2020-09-09T18:41:55.411" v="26" actId="14734"/>
        <pc:sldMkLst>
          <pc:docMk/>
          <pc:sldMk cId="2394341282" sldId="317"/>
        </pc:sldMkLst>
        <pc:graphicFrameChg chg="modGraphic">
          <ac:chgData name="Disha Parkhi" userId="7ca7a02737f3c9a0" providerId="LiveId" clId="{B7B542FF-F0B8-4575-B16B-5CD578D9F30F}" dt="2020-09-09T18:41:55.411" v="26" actId="14734"/>
          <ac:graphicFrameMkLst>
            <pc:docMk/>
            <pc:sldMk cId="2394341282" sldId="317"/>
            <ac:graphicFrameMk id="6" creationId="{00000000-0000-0000-0000-000000000000}"/>
          </ac:graphicFrameMkLst>
        </pc:graphicFrameChg>
      </pc:sldChg>
      <pc:sldChg chg="modSp new mod">
        <pc:chgData name="Disha Parkhi" userId="7ca7a02737f3c9a0" providerId="LiveId" clId="{B7B542FF-F0B8-4575-B16B-5CD578D9F30F}" dt="2020-09-09T18:45:08.047" v="28"/>
        <pc:sldMkLst>
          <pc:docMk/>
          <pc:sldMk cId="4051264047" sldId="319"/>
        </pc:sldMkLst>
        <pc:spChg chg="mod">
          <ac:chgData name="Disha Parkhi" userId="7ca7a02737f3c9a0" providerId="LiveId" clId="{B7B542FF-F0B8-4575-B16B-5CD578D9F30F}" dt="2020-09-09T18:45:08.047" v="28"/>
          <ac:spMkLst>
            <pc:docMk/>
            <pc:sldMk cId="4051264047" sldId="319"/>
            <ac:spMk id="3" creationId="{1F524A2C-5E7E-4FCF-A221-BDDDDA5A83A7}"/>
          </ac:spMkLst>
        </pc:spChg>
      </pc:sldChg>
    </pc:docChg>
  </pc:docChgLst>
  <pc:docChgLst>
    <pc:chgData name="Disha Parkhi" userId="7ca7a02737f3c9a0" providerId="LiveId" clId="{C381683C-A2DF-4FDB-AB1B-860A697A0B9C}"/>
    <pc:docChg chg="modSld">
      <pc:chgData name="Disha Parkhi" userId="7ca7a02737f3c9a0" providerId="LiveId" clId="{C381683C-A2DF-4FDB-AB1B-860A697A0B9C}" dt="2020-09-04T16:51:22.294" v="1" actId="20577"/>
      <pc:docMkLst>
        <pc:docMk/>
      </pc:docMkLst>
      <pc:sldChg chg="modSp mod">
        <pc:chgData name="Disha Parkhi" userId="7ca7a02737f3c9a0" providerId="LiveId" clId="{C381683C-A2DF-4FDB-AB1B-860A697A0B9C}" dt="2020-09-04T16:51:22.294" v="1" actId="20577"/>
        <pc:sldMkLst>
          <pc:docMk/>
          <pc:sldMk cId="2296691761" sldId="262"/>
        </pc:sldMkLst>
        <pc:spChg chg="mod">
          <ac:chgData name="Disha Parkhi" userId="7ca7a02737f3c9a0" providerId="LiveId" clId="{C381683C-A2DF-4FDB-AB1B-860A697A0B9C}" dt="2020-09-04T16:51:22.294" v="1" actId="20577"/>
          <ac:spMkLst>
            <pc:docMk/>
            <pc:sldMk cId="2296691761" sldId="262"/>
            <ac:spMk id="2" creationId="{00000000-0000-0000-0000-000000000000}"/>
          </ac:spMkLst>
        </pc:spChg>
      </pc:sldChg>
    </pc:docChg>
  </pc:docChgLst>
  <pc:docChgLst>
    <pc:chgData name="Disha Parkhi" userId="7ca7a02737f3c9a0" providerId="LiveId" clId="{66F39FE8-7F75-4730-83A2-94B4732CB4B2}"/>
    <pc:docChg chg="undo custSel modSld">
      <pc:chgData name="Disha Parkhi" userId="7ca7a02737f3c9a0" providerId="LiveId" clId="{66F39FE8-7F75-4730-83A2-94B4732CB4B2}" dt="2021-01-26T21:24:31.185" v="392"/>
      <pc:docMkLst>
        <pc:docMk/>
      </pc:docMkLst>
      <pc:sldChg chg="modSp">
        <pc:chgData name="Disha Parkhi" userId="7ca7a02737f3c9a0" providerId="LiveId" clId="{66F39FE8-7F75-4730-83A2-94B4732CB4B2}" dt="2021-01-19T20:56:46.204" v="35"/>
        <pc:sldMkLst>
          <pc:docMk/>
          <pc:sldMk cId="307855654" sldId="257"/>
        </pc:sldMkLst>
        <pc:spChg chg="mod">
          <ac:chgData name="Disha Parkhi" userId="7ca7a02737f3c9a0" providerId="LiveId" clId="{66F39FE8-7F75-4730-83A2-94B4732CB4B2}" dt="2021-01-19T20:56:46.204" v="35"/>
          <ac:spMkLst>
            <pc:docMk/>
            <pc:sldMk cId="307855654" sldId="257"/>
            <ac:spMk id="2" creationId="{00000000-0000-0000-0000-000000000000}"/>
          </ac:spMkLst>
        </pc:spChg>
      </pc:sldChg>
      <pc:sldChg chg="modSp mod">
        <pc:chgData name="Disha Parkhi" userId="7ca7a02737f3c9a0" providerId="LiveId" clId="{66F39FE8-7F75-4730-83A2-94B4732CB4B2}" dt="2021-01-19T20:56:46.398" v="43" actId="27636"/>
        <pc:sldMkLst>
          <pc:docMk/>
          <pc:sldMk cId="1705075934" sldId="258"/>
        </pc:sldMkLst>
        <pc:spChg chg="mod">
          <ac:chgData name="Disha Parkhi" userId="7ca7a02737f3c9a0" providerId="LiveId" clId="{66F39FE8-7F75-4730-83A2-94B4732CB4B2}" dt="2021-01-19T20:56:46.398" v="43" actId="27636"/>
          <ac:spMkLst>
            <pc:docMk/>
            <pc:sldMk cId="1705075934" sldId="258"/>
            <ac:spMk id="3" creationId="{00000000-0000-0000-0000-000000000000}"/>
          </ac:spMkLst>
        </pc:spChg>
        <pc:spChg chg="mod">
          <ac:chgData name="Disha Parkhi" userId="7ca7a02737f3c9a0" providerId="LiveId" clId="{66F39FE8-7F75-4730-83A2-94B4732CB4B2}" dt="2021-01-19T20:56:46.204" v="35"/>
          <ac:spMkLst>
            <pc:docMk/>
            <pc:sldMk cId="1705075934" sldId="258"/>
            <ac:spMk id="4" creationId="{00000000-0000-0000-0000-000000000000}"/>
          </ac:spMkLst>
        </pc:spChg>
      </pc:sldChg>
      <pc:sldChg chg="modSp">
        <pc:chgData name="Disha Parkhi" userId="7ca7a02737f3c9a0" providerId="LiveId" clId="{66F39FE8-7F75-4730-83A2-94B4732CB4B2}" dt="2021-01-19T20:56:46.204" v="35"/>
        <pc:sldMkLst>
          <pc:docMk/>
          <pc:sldMk cId="662460914" sldId="259"/>
        </pc:sldMkLst>
        <pc:spChg chg="mod">
          <ac:chgData name="Disha Parkhi" userId="7ca7a02737f3c9a0" providerId="LiveId" clId="{66F39FE8-7F75-4730-83A2-94B4732CB4B2}" dt="2021-01-19T20:56:46.204" v="35"/>
          <ac:spMkLst>
            <pc:docMk/>
            <pc:sldMk cId="662460914" sldId="259"/>
            <ac:spMk id="2" creationId="{00000000-0000-0000-0000-000000000000}"/>
          </ac:spMkLst>
        </pc:spChg>
      </pc:sldChg>
      <pc:sldChg chg="modSp">
        <pc:chgData name="Disha Parkhi" userId="7ca7a02737f3c9a0" providerId="LiveId" clId="{66F39FE8-7F75-4730-83A2-94B4732CB4B2}" dt="2021-01-19T20:56:46.204" v="35"/>
        <pc:sldMkLst>
          <pc:docMk/>
          <pc:sldMk cId="1455055721" sldId="260"/>
        </pc:sldMkLst>
        <pc:spChg chg="mod">
          <ac:chgData name="Disha Parkhi" userId="7ca7a02737f3c9a0" providerId="LiveId" clId="{66F39FE8-7F75-4730-83A2-94B4732CB4B2}" dt="2021-01-19T20:56:46.204" v="35"/>
          <ac:spMkLst>
            <pc:docMk/>
            <pc:sldMk cId="1455055721" sldId="260"/>
            <ac:spMk id="3" creationId="{00000000-0000-0000-0000-000000000000}"/>
          </ac:spMkLst>
        </pc:spChg>
      </pc:sldChg>
      <pc:sldChg chg="modSp">
        <pc:chgData name="Disha Parkhi" userId="7ca7a02737f3c9a0" providerId="LiveId" clId="{66F39FE8-7F75-4730-83A2-94B4732CB4B2}" dt="2021-01-19T20:56:46.204" v="35"/>
        <pc:sldMkLst>
          <pc:docMk/>
          <pc:sldMk cId="1478854546" sldId="261"/>
        </pc:sldMkLst>
        <pc:spChg chg="mod">
          <ac:chgData name="Disha Parkhi" userId="7ca7a02737f3c9a0" providerId="LiveId" clId="{66F39FE8-7F75-4730-83A2-94B4732CB4B2}" dt="2021-01-19T20:56:46.204" v="35"/>
          <ac:spMkLst>
            <pc:docMk/>
            <pc:sldMk cId="1478854546" sldId="261"/>
            <ac:spMk id="4" creationId="{00000000-0000-0000-0000-000000000000}"/>
          </ac:spMkLst>
        </pc:spChg>
      </pc:sldChg>
      <pc:sldChg chg="modSp">
        <pc:chgData name="Disha Parkhi" userId="7ca7a02737f3c9a0" providerId="LiveId" clId="{66F39FE8-7F75-4730-83A2-94B4732CB4B2}" dt="2021-01-19T20:56:46.204" v="35"/>
        <pc:sldMkLst>
          <pc:docMk/>
          <pc:sldMk cId="2296691761" sldId="262"/>
        </pc:sldMkLst>
        <pc:spChg chg="mod">
          <ac:chgData name="Disha Parkhi" userId="7ca7a02737f3c9a0" providerId="LiveId" clId="{66F39FE8-7F75-4730-83A2-94B4732CB4B2}" dt="2021-01-19T20:56:46.204" v="35"/>
          <ac:spMkLst>
            <pc:docMk/>
            <pc:sldMk cId="2296691761" sldId="262"/>
            <ac:spMk id="4" creationId="{00000000-0000-0000-0000-000000000000}"/>
          </ac:spMkLst>
        </pc:spChg>
      </pc:sldChg>
      <pc:sldChg chg="modSp mod">
        <pc:chgData name="Disha Parkhi" userId="7ca7a02737f3c9a0" providerId="LiveId" clId="{66F39FE8-7F75-4730-83A2-94B4732CB4B2}" dt="2021-01-19T20:56:46.419" v="44" actId="27636"/>
        <pc:sldMkLst>
          <pc:docMk/>
          <pc:sldMk cId="1941460077" sldId="263"/>
        </pc:sldMkLst>
        <pc:spChg chg="mod">
          <ac:chgData name="Disha Parkhi" userId="7ca7a02737f3c9a0" providerId="LiveId" clId="{66F39FE8-7F75-4730-83A2-94B4732CB4B2}" dt="2021-01-19T20:56:46.419" v="44" actId="27636"/>
          <ac:spMkLst>
            <pc:docMk/>
            <pc:sldMk cId="1941460077" sldId="263"/>
            <ac:spMk id="5" creationId="{00000000-0000-0000-0000-000000000000}"/>
          </ac:spMkLst>
        </pc:spChg>
        <pc:spChg chg="mod">
          <ac:chgData name="Disha Parkhi" userId="7ca7a02737f3c9a0" providerId="LiveId" clId="{66F39FE8-7F75-4730-83A2-94B4732CB4B2}" dt="2021-01-19T20:56:46.204" v="35"/>
          <ac:spMkLst>
            <pc:docMk/>
            <pc:sldMk cId="1941460077" sldId="263"/>
            <ac:spMk id="6" creationId="{00000000-0000-0000-0000-000000000000}"/>
          </ac:spMkLst>
        </pc:spChg>
      </pc:sldChg>
      <pc:sldChg chg="modSp mod">
        <pc:chgData name="Disha Parkhi" userId="7ca7a02737f3c9a0" providerId="LiveId" clId="{66F39FE8-7F75-4730-83A2-94B4732CB4B2}" dt="2021-01-20T00:08:23.851" v="231" actId="5793"/>
        <pc:sldMkLst>
          <pc:docMk/>
          <pc:sldMk cId="1093532113" sldId="264"/>
        </pc:sldMkLst>
        <pc:spChg chg="mod">
          <ac:chgData name="Disha Parkhi" userId="7ca7a02737f3c9a0" providerId="LiveId" clId="{66F39FE8-7F75-4730-83A2-94B4732CB4B2}" dt="2021-01-20T00:08:23.851" v="231" actId="5793"/>
          <ac:spMkLst>
            <pc:docMk/>
            <pc:sldMk cId="1093532113" sldId="264"/>
            <ac:spMk id="3" creationId="{00000000-0000-0000-0000-000000000000}"/>
          </ac:spMkLst>
        </pc:spChg>
        <pc:spChg chg="mod">
          <ac:chgData name="Disha Parkhi" userId="7ca7a02737f3c9a0" providerId="LiveId" clId="{66F39FE8-7F75-4730-83A2-94B4732CB4B2}" dt="2021-01-19T20:56:46.204" v="35"/>
          <ac:spMkLst>
            <pc:docMk/>
            <pc:sldMk cId="1093532113" sldId="264"/>
            <ac:spMk id="4" creationId="{00000000-0000-0000-0000-000000000000}"/>
          </ac:spMkLst>
        </pc:spChg>
      </pc:sldChg>
      <pc:sldChg chg="modSp mod">
        <pc:chgData name="Disha Parkhi" userId="7ca7a02737f3c9a0" providerId="LiveId" clId="{66F39FE8-7F75-4730-83A2-94B4732CB4B2}" dt="2021-01-19T20:56:46.505" v="51" actId="27636"/>
        <pc:sldMkLst>
          <pc:docMk/>
          <pc:sldMk cId="3239822908" sldId="269"/>
        </pc:sldMkLst>
        <pc:spChg chg="mod">
          <ac:chgData name="Disha Parkhi" userId="7ca7a02737f3c9a0" providerId="LiveId" clId="{66F39FE8-7F75-4730-83A2-94B4732CB4B2}" dt="2021-01-19T20:56:46.204" v="35"/>
          <ac:spMkLst>
            <pc:docMk/>
            <pc:sldMk cId="3239822908" sldId="269"/>
            <ac:spMk id="2" creationId="{00000000-0000-0000-0000-000000000000}"/>
          </ac:spMkLst>
        </pc:spChg>
        <pc:spChg chg="mod">
          <ac:chgData name="Disha Parkhi" userId="7ca7a02737f3c9a0" providerId="LiveId" clId="{66F39FE8-7F75-4730-83A2-94B4732CB4B2}" dt="2021-01-19T20:56:46.505" v="51" actId="27636"/>
          <ac:spMkLst>
            <pc:docMk/>
            <pc:sldMk cId="3239822908" sldId="269"/>
            <ac:spMk id="3" creationId="{00000000-0000-0000-0000-000000000000}"/>
          </ac:spMkLst>
        </pc:spChg>
        <pc:spChg chg="mod">
          <ac:chgData name="Disha Parkhi" userId="7ca7a02737f3c9a0" providerId="LiveId" clId="{66F39FE8-7F75-4730-83A2-94B4732CB4B2}" dt="2021-01-19T20:56:46.204" v="35"/>
          <ac:spMkLst>
            <pc:docMk/>
            <pc:sldMk cId="3239822908" sldId="269"/>
            <ac:spMk id="4" creationId="{00000000-0000-0000-0000-000000000000}"/>
          </ac:spMkLst>
        </pc:spChg>
      </pc:sldChg>
      <pc:sldChg chg="modSp">
        <pc:chgData name="Disha Parkhi" userId="7ca7a02737f3c9a0" providerId="LiveId" clId="{66F39FE8-7F75-4730-83A2-94B4732CB4B2}" dt="2021-01-19T20:56:46.204" v="35"/>
        <pc:sldMkLst>
          <pc:docMk/>
          <pc:sldMk cId="2779869971" sldId="270"/>
        </pc:sldMkLst>
        <pc:spChg chg="mod">
          <ac:chgData name="Disha Parkhi" userId="7ca7a02737f3c9a0" providerId="LiveId" clId="{66F39FE8-7F75-4730-83A2-94B4732CB4B2}" dt="2021-01-19T20:56:46.204" v="35"/>
          <ac:spMkLst>
            <pc:docMk/>
            <pc:sldMk cId="2779869971" sldId="270"/>
            <ac:spMk id="2" creationId="{00000000-0000-0000-0000-000000000000}"/>
          </ac:spMkLst>
        </pc:spChg>
        <pc:spChg chg="mod">
          <ac:chgData name="Disha Parkhi" userId="7ca7a02737f3c9a0" providerId="LiveId" clId="{66F39FE8-7F75-4730-83A2-94B4732CB4B2}" dt="2021-01-19T20:56:46.204" v="35"/>
          <ac:spMkLst>
            <pc:docMk/>
            <pc:sldMk cId="2779869971" sldId="270"/>
            <ac:spMk id="4" creationId="{00000000-0000-0000-0000-000000000000}"/>
          </ac:spMkLst>
        </pc:spChg>
      </pc:sldChg>
      <pc:sldChg chg="modSp">
        <pc:chgData name="Disha Parkhi" userId="7ca7a02737f3c9a0" providerId="LiveId" clId="{66F39FE8-7F75-4730-83A2-94B4732CB4B2}" dt="2021-01-19T20:56:46.204" v="35"/>
        <pc:sldMkLst>
          <pc:docMk/>
          <pc:sldMk cId="1036729178" sldId="271"/>
        </pc:sldMkLst>
        <pc:spChg chg="mod">
          <ac:chgData name="Disha Parkhi" userId="7ca7a02737f3c9a0" providerId="LiveId" clId="{66F39FE8-7F75-4730-83A2-94B4732CB4B2}" dt="2021-01-19T20:56:46.204" v="35"/>
          <ac:spMkLst>
            <pc:docMk/>
            <pc:sldMk cId="1036729178" sldId="271"/>
            <ac:spMk id="6" creationId="{00000000-0000-0000-0000-000000000000}"/>
          </ac:spMkLst>
        </pc:spChg>
      </pc:sldChg>
      <pc:sldChg chg="modSp">
        <pc:chgData name="Disha Parkhi" userId="7ca7a02737f3c9a0" providerId="LiveId" clId="{66F39FE8-7F75-4730-83A2-94B4732CB4B2}" dt="2021-01-19T20:56:46.204" v="35"/>
        <pc:sldMkLst>
          <pc:docMk/>
          <pc:sldMk cId="46729699" sldId="272"/>
        </pc:sldMkLst>
        <pc:spChg chg="mod">
          <ac:chgData name="Disha Parkhi" userId="7ca7a02737f3c9a0" providerId="LiveId" clId="{66F39FE8-7F75-4730-83A2-94B4732CB4B2}" dt="2021-01-19T20:56:46.204" v="35"/>
          <ac:spMkLst>
            <pc:docMk/>
            <pc:sldMk cId="46729699" sldId="272"/>
            <ac:spMk id="3" creationId="{00000000-0000-0000-0000-000000000000}"/>
          </ac:spMkLst>
        </pc:spChg>
      </pc:sldChg>
      <pc:sldChg chg="modSp mod">
        <pc:chgData name="Disha Parkhi" userId="7ca7a02737f3c9a0" providerId="LiveId" clId="{66F39FE8-7F75-4730-83A2-94B4732CB4B2}" dt="2021-01-22T01:59:42.313" v="232" actId="20577"/>
        <pc:sldMkLst>
          <pc:docMk/>
          <pc:sldMk cId="919352722" sldId="273"/>
        </pc:sldMkLst>
        <pc:spChg chg="mod">
          <ac:chgData name="Disha Parkhi" userId="7ca7a02737f3c9a0" providerId="LiveId" clId="{66F39FE8-7F75-4730-83A2-94B4732CB4B2}" dt="2021-01-22T01:59:42.313" v="232" actId="20577"/>
          <ac:spMkLst>
            <pc:docMk/>
            <pc:sldMk cId="919352722" sldId="273"/>
            <ac:spMk id="3" creationId="{00000000-0000-0000-0000-000000000000}"/>
          </ac:spMkLst>
        </pc:spChg>
        <pc:spChg chg="mod">
          <ac:chgData name="Disha Parkhi" userId="7ca7a02737f3c9a0" providerId="LiveId" clId="{66F39FE8-7F75-4730-83A2-94B4732CB4B2}" dt="2021-01-19T20:56:46.204" v="35"/>
          <ac:spMkLst>
            <pc:docMk/>
            <pc:sldMk cId="919352722" sldId="273"/>
            <ac:spMk id="4" creationId="{00000000-0000-0000-0000-000000000000}"/>
          </ac:spMkLst>
        </pc:spChg>
      </pc:sldChg>
      <pc:sldChg chg="modSp">
        <pc:chgData name="Disha Parkhi" userId="7ca7a02737f3c9a0" providerId="LiveId" clId="{66F39FE8-7F75-4730-83A2-94B4732CB4B2}" dt="2021-01-19T20:56:46.204" v="35"/>
        <pc:sldMkLst>
          <pc:docMk/>
          <pc:sldMk cId="2291030619" sldId="274"/>
        </pc:sldMkLst>
        <pc:spChg chg="mod">
          <ac:chgData name="Disha Parkhi" userId="7ca7a02737f3c9a0" providerId="LiveId" clId="{66F39FE8-7F75-4730-83A2-94B4732CB4B2}" dt="2021-01-19T20:56:46.204" v="35"/>
          <ac:spMkLst>
            <pc:docMk/>
            <pc:sldMk cId="2291030619" sldId="274"/>
            <ac:spMk id="3" creationId="{00000000-0000-0000-0000-000000000000}"/>
          </ac:spMkLst>
        </pc:spChg>
      </pc:sldChg>
      <pc:sldChg chg="modSp mod">
        <pc:chgData name="Disha Parkhi" userId="7ca7a02737f3c9a0" providerId="LiveId" clId="{66F39FE8-7F75-4730-83A2-94B4732CB4B2}" dt="2021-01-26T20:07:38.456" v="234" actId="403"/>
        <pc:sldMkLst>
          <pc:docMk/>
          <pc:sldMk cId="3062965713" sldId="275"/>
        </pc:sldMkLst>
        <pc:spChg chg="mod">
          <ac:chgData name="Disha Parkhi" userId="7ca7a02737f3c9a0" providerId="LiveId" clId="{66F39FE8-7F75-4730-83A2-94B4732CB4B2}" dt="2021-01-26T20:07:38.456" v="234" actId="403"/>
          <ac:spMkLst>
            <pc:docMk/>
            <pc:sldMk cId="3062965713" sldId="275"/>
            <ac:spMk id="3" creationId="{00000000-0000-0000-0000-000000000000}"/>
          </ac:spMkLst>
        </pc:spChg>
        <pc:spChg chg="mod">
          <ac:chgData name="Disha Parkhi" userId="7ca7a02737f3c9a0" providerId="LiveId" clId="{66F39FE8-7F75-4730-83A2-94B4732CB4B2}" dt="2021-01-19T20:56:46.204" v="35"/>
          <ac:spMkLst>
            <pc:docMk/>
            <pc:sldMk cId="3062965713" sldId="275"/>
            <ac:spMk id="4" creationId="{00000000-0000-0000-0000-000000000000}"/>
          </ac:spMkLst>
        </pc:spChg>
      </pc:sldChg>
      <pc:sldChg chg="modSp">
        <pc:chgData name="Disha Parkhi" userId="7ca7a02737f3c9a0" providerId="LiveId" clId="{66F39FE8-7F75-4730-83A2-94B4732CB4B2}" dt="2021-01-19T20:56:46.204" v="35"/>
        <pc:sldMkLst>
          <pc:docMk/>
          <pc:sldMk cId="1001366647" sldId="282"/>
        </pc:sldMkLst>
        <pc:spChg chg="mod">
          <ac:chgData name="Disha Parkhi" userId="7ca7a02737f3c9a0" providerId="LiveId" clId="{66F39FE8-7F75-4730-83A2-94B4732CB4B2}" dt="2021-01-19T20:56:46.204" v="35"/>
          <ac:spMkLst>
            <pc:docMk/>
            <pc:sldMk cId="1001366647" sldId="282"/>
            <ac:spMk id="2" creationId="{00000000-0000-0000-0000-000000000000}"/>
          </ac:spMkLst>
        </pc:spChg>
        <pc:spChg chg="mod">
          <ac:chgData name="Disha Parkhi" userId="7ca7a02737f3c9a0" providerId="LiveId" clId="{66F39FE8-7F75-4730-83A2-94B4732CB4B2}" dt="2021-01-19T20:56:46.204" v="35"/>
          <ac:spMkLst>
            <pc:docMk/>
            <pc:sldMk cId="1001366647" sldId="282"/>
            <ac:spMk id="3" creationId="{00000000-0000-0000-0000-000000000000}"/>
          </ac:spMkLst>
        </pc:spChg>
        <pc:spChg chg="mod">
          <ac:chgData name="Disha Parkhi" userId="7ca7a02737f3c9a0" providerId="LiveId" clId="{66F39FE8-7F75-4730-83A2-94B4732CB4B2}" dt="2021-01-19T20:56:46.204" v="35"/>
          <ac:spMkLst>
            <pc:docMk/>
            <pc:sldMk cId="1001366647" sldId="282"/>
            <ac:spMk id="4" creationId="{00000000-0000-0000-0000-000000000000}"/>
          </ac:spMkLst>
        </pc:spChg>
      </pc:sldChg>
      <pc:sldChg chg="modSp">
        <pc:chgData name="Disha Parkhi" userId="7ca7a02737f3c9a0" providerId="LiveId" clId="{66F39FE8-7F75-4730-83A2-94B4732CB4B2}" dt="2021-01-19T20:56:46.204" v="35"/>
        <pc:sldMkLst>
          <pc:docMk/>
          <pc:sldMk cId="3770503938" sldId="284"/>
        </pc:sldMkLst>
        <pc:spChg chg="mod">
          <ac:chgData name="Disha Parkhi" userId="7ca7a02737f3c9a0" providerId="LiveId" clId="{66F39FE8-7F75-4730-83A2-94B4732CB4B2}" dt="2021-01-19T20:56:46.204" v="35"/>
          <ac:spMkLst>
            <pc:docMk/>
            <pc:sldMk cId="3770503938" sldId="284"/>
            <ac:spMk id="4" creationId="{00000000-0000-0000-0000-000000000000}"/>
          </ac:spMkLst>
        </pc:spChg>
      </pc:sldChg>
      <pc:sldChg chg="modSp">
        <pc:chgData name="Disha Parkhi" userId="7ca7a02737f3c9a0" providerId="LiveId" clId="{66F39FE8-7F75-4730-83A2-94B4732CB4B2}" dt="2021-01-19T20:56:46.204" v="35"/>
        <pc:sldMkLst>
          <pc:docMk/>
          <pc:sldMk cId="3047266293" sldId="286"/>
        </pc:sldMkLst>
        <pc:spChg chg="mod">
          <ac:chgData name="Disha Parkhi" userId="7ca7a02737f3c9a0" providerId="LiveId" clId="{66F39FE8-7F75-4730-83A2-94B4732CB4B2}" dt="2021-01-19T20:56:46.204" v="35"/>
          <ac:spMkLst>
            <pc:docMk/>
            <pc:sldMk cId="3047266293" sldId="286"/>
            <ac:spMk id="4" creationId="{00000000-0000-0000-0000-000000000000}"/>
          </ac:spMkLst>
        </pc:spChg>
      </pc:sldChg>
      <pc:sldChg chg="modSp">
        <pc:chgData name="Disha Parkhi" userId="7ca7a02737f3c9a0" providerId="LiveId" clId="{66F39FE8-7F75-4730-83A2-94B4732CB4B2}" dt="2021-01-19T20:56:46.204" v="35"/>
        <pc:sldMkLst>
          <pc:docMk/>
          <pc:sldMk cId="1779072706" sldId="287"/>
        </pc:sldMkLst>
        <pc:spChg chg="mod">
          <ac:chgData name="Disha Parkhi" userId="7ca7a02737f3c9a0" providerId="LiveId" clId="{66F39FE8-7F75-4730-83A2-94B4732CB4B2}" dt="2021-01-19T20:56:46.204" v="35"/>
          <ac:spMkLst>
            <pc:docMk/>
            <pc:sldMk cId="1779072706" sldId="287"/>
            <ac:spMk id="4" creationId="{00000000-0000-0000-0000-000000000000}"/>
          </ac:spMkLst>
        </pc:spChg>
      </pc:sldChg>
      <pc:sldChg chg="modSp mod">
        <pc:chgData name="Disha Parkhi" userId="7ca7a02737f3c9a0" providerId="LiveId" clId="{66F39FE8-7F75-4730-83A2-94B4732CB4B2}" dt="2021-01-19T20:56:46.523" v="52" actId="27636"/>
        <pc:sldMkLst>
          <pc:docMk/>
          <pc:sldMk cId="3582193097" sldId="288"/>
        </pc:sldMkLst>
        <pc:spChg chg="mod">
          <ac:chgData name="Disha Parkhi" userId="7ca7a02737f3c9a0" providerId="LiveId" clId="{66F39FE8-7F75-4730-83A2-94B4732CB4B2}" dt="2021-01-19T20:56:46.523" v="52" actId="27636"/>
          <ac:spMkLst>
            <pc:docMk/>
            <pc:sldMk cId="3582193097" sldId="288"/>
            <ac:spMk id="3" creationId="{00000000-0000-0000-0000-000000000000}"/>
          </ac:spMkLst>
        </pc:spChg>
        <pc:spChg chg="mod">
          <ac:chgData name="Disha Parkhi" userId="7ca7a02737f3c9a0" providerId="LiveId" clId="{66F39FE8-7F75-4730-83A2-94B4732CB4B2}" dt="2021-01-19T20:56:46.204" v="35"/>
          <ac:spMkLst>
            <pc:docMk/>
            <pc:sldMk cId="3582193097" sldId="288"/>
            <ac:spMk id="19" creationId="{00000000-0000-0000-0000-000000000000}"/>
          </ac:spMkLst>
        </pc:spChg>
      </pc:sldChg>
      <pc:sldChg chg="modSp mod">
        <pc:chgData name="Disha Parkhi" userId="7ca7a02737f3c9a0" providerId="LiveId" clId="{66F39FE8-7F75-4730-83A2-94B4732CB4B2}" dt="2021-01-19T20:56:46.311" v="37" actId="27636"/>
        <pc:sldMkLst>
          <pc:docMk/>
          <pc:sldMk cId="3900120025" sldId="289"/>
        </pc:sldMkLst>
        <pc:spChg chg="mod">
          <ac:chgData name="Disha Parkhi" userId="7ca7a02737f3c9a0" providerId="LiveId" clId="{66F39FE8-7F75-4730-83A2-94B4732CB4B2}" dt="2021-01-19T20:56:46.311" v="37" actId="27636"/>
          <ac:spMkLst>
            <pc:docMk/>
            <pc:sldMk cId="3900120025" sldId="289"/>
            <ac:spMk id="2" creationId="{00000000-0000-0000-0000-000000000000}"/>
          </ac:spMkLst>
        </pc:spChg>
        <pc:spChg chg="mod">
          <ac:chgData name="Disha Parkhi" userId="7ca7a02737f3c9a0" providerId="LiveId" clId="{66F39FE8-7F75-4730-83A2-94B4732CB4B2}" dt="2021-01-19T20:56:46.309" v="36" actId="27636"/>
          <ac:spMkLst>
            <pc:docMk/>
            <pc:sldMk cId="3900120025" sldId="289"/>
            <ac:spMk id="3" creationId="{00000000-0000-0000-0000-000000000000}"/>
          </ac:spMkLst>
        </pc:spChg>
        <pc:spChg chg="mod">
          <ac:chgData name="Disha Parkhi" userId="7ca7a02737f3c9a0" providerId="LiveId" clId="{66F39FE8-7F75-4730-83A2-94B4732CB4B2}" dt="2021-01-19T20:56:46.204" v="35"/>
          <ac:spMkLst>
            <pc:docMk/>
            <pc:sldMk cId="3900120025" sldId="289"/>
            <ac:spMk id="4" creationId="{00000000-0000-0000-0000-000000000000}"/>
          </ac:spMkLst>
        </pc:spChg>
      </pc:sldChg>
      <pc:sldChg chg="modSp mod">
        <pc:chgData name="Disha Parkhi" userId="7ca7a02737f3c9a0" providerId="LiveId" clId="{66F39FE8-7F75-4730-83A2-94B4732CB4B2}" dt="2021-01-19T20:56:46.366" v="38" actId="27636"/>
        <pc:sldMkLst>
          <pc:docMk/>
          <pc:sldMk cId="489075467" sldId="290"/>
        </pc:sldMkLst>
        <pc:spChg chg="mod">
          <ac:chgData name="Disha Parkhi" userId="7ca7a02737f3c9a0" providerId="LiveId" clId="{66F39FE8-7F75-4730-83A2-94B4732CB4B2}" dt="2021-01-19T20:56:46.366" v="38" actId="27636"/>
          <ac:spMkLst>
            <pc:docMk/>
            <pc:sldMk cId="489075467" sldId="290"/>
            <ac:spMk id="3" creationId="{00000000-0000-0000-0000-000000000000}"/>
          </ac:spMkLst>
        </pc:spChg>
        <pc:spChg chg="mod">
          <ac:chgData name="Disha Parkhi" userId="7ca7a02737f3c9a0" providerId="LiveId" clId="{66F39FE8-7F75-4730-83A2-94B4732CB4B2}" dt="2021-01-19T20:56:46.204" v="35"/>
          <ac:spMkLst>
            <pc:docMk/>
            <pc:sldMk cId="489075467" sldId="290"/>
            <ac:spMk id="4" creationId="{00000000-0000-0000-0000-000000000000}"/>
          </ac:spMkLst>
        </pc:spChg>
      </pc:sldChg>
      <pc:sldChg chg="modSp">
        <pc:chgData name="Disha Parkhi" userId="7ca7a02737f3c9a0" providerId="LiveId" clId="{66F39FE8-7F75-4730-83A2-94B4732CB4B2}" dt="2021-01-19T20:56:46.204" v="35"/>
        <pc:sldMkLst>
          <pc:docMk/>
          <pc:sldMk cId="3825016986" sldId="291"/>
        </pc:sldMkLst>
        <pc:spChg chg="mod">
          <ac:chgData name="Disha Parkhi" userId="7ca7a02737f3c9a0" providerId="LiveId" clId="{66F39FE8-7F75-4730-83A2-94B4732CB4B2}" dt="2021-01-19T20:56:46.204" v="35"/>
          <ac:spMkLst>
            <pc:docMk/>
            <pc:sldMk cId="3825016986" sldId="291"/>
            <ac:spMk id="4" creationId="{00000000-0000-0000-0000-000000000000}"/>
          </ac:spMkLst>
        </pc:spChg>
      </pc:sldChg>
      <pc:sldChg chg="modSp">
        <pc:chgData name="Disha Parkhi" userId="7ca7a02737f3c9a0" providerId="LiveId" clId="{66F39FE8-7F75-4730-83A2-94B4732CB4B2}" dt="2021-01-19T20:56:46.204" v="35"/>
        <pc:sldMkLst>
          <pc:docMk/>
          <pc:sldMk cId="4237047863" sldId="292"/>
        </pc:sldMkLst>
        <pc:spChg chg="mod">
          <ac:chgData name="Disha Parkhi" userId="7ca7a02737f3c9a0" providerId="LiveId" clId="{66F39FE8-7F75-4730-83A2-94B4732CB4B2}" dt="2021-01-19T20:56:46.204" v="35"/>
          <ac:spMkLst>
            <pc:docMk/>
            <pc:sldMk cId="4237047863" sldId="292"/>
            <ac:spMk id="4" creationId="{00000000-0000-0000-0000-000000000000}"/>
          </ac:spMkLst>
        </pc:spChg>
      </pc:sldChg>
      <pc:sldChg chg="modSp">
        <pc:chgData name="Disha Parkhi" userId="7ca7a02737f3c9a0" providerId="LiveId" clId="{66F39FE8-7F75-4730-83A2-94B4732CB4B2}" dt="2021-01-19T20:56:46.204" v="35"/>
        <pc:sldMkLst>
          <pc:docMk/>
          <pc:sldMk cId="1840438320" sldId="293"/>
        </pc:sldMkLst>
        <pc:spChg chg="mod">
          <ac:chgData name="Disha Parkhi" userId="7ca7a02737f3c9a0" providerId="LiveId" clId="{66F39FE8-7F75-4730-83A2-94B4732CB4B2}" dt="2021-01-19T20:56:46.204" v="35"/>
          <ac:spMkLst>
            <pc:docMk/>
            <pc:sldMk cId="1840438320" sldId="293"/>
            <ac:spMk id="4" creationId="{00000000-0000-0000-0000-000000000000}"/>
          </ac:spMkLst>
        </pc:spChg>
      </pc:sldChg>
      <pc:sldChg chg="modSp mod">
        <pc:chgData name="Disha Parkhi" userId="7ca7a02737f3c9a0" providerId="LiveId" clId="{66F39FE8-7F75-4730-83A2-94B4732CB4B2}" dt="2021-01-26T21:24:31.185" v="392"/>
        <pc:sldMkLst>
          <pc:docMk/>
          <pc:sldMk cId="471977946" sldId="294"/>
        </pc:sldMkLst>
        <pc:spChg chg="mod">
          <ac:chgData name="Disha Parkhi" userId="7ca7a02737f3c9a0" providerId="LiveId" clId="{66F39FE8-7F75-4730-83A2-94B4732CB4B2}" dt="2021-01-26T21:24:31.185" v="392"/>
          <ac:spMkLst>
            <pc:docMk/>
            <pc:sldMk cId="471977946" sldId="294"/>
            <ac:spMk id="3" creationId="{00000000-0000-0000-0000-000000000000}"/>
          </ac:spMkLst>
        </pc:spChg>
        <pc:spChg chg="mod">
          <ac:chgData name="Disha Parkhi" userId="7ca7a02737f3c9a0" providerId="LiveId" clId="{66F39FE8-7F75-4730-83A2-94B4732CB4B2}" dt="2021-01-19T20:56:46.204" v="35"/>
          <ac:spMkLst>
            <pc:docMk/>
            <pc:sldMk cId="471977946" sldId="294"/>
            <ac:spMk id="4" creationId="{00000000-0000-0000-0000-000000000000}"/>
          </ac:spMkLst>
        </pc:spChg>
      </pc:sldChg>
      <pc:sldChg chg="modSp mod">
        <pc:chgData name="Disha Parkhi" userId="7ca7a02737f3c9a0" providerId="LiveId" clId="{66F39FE8-7F75-4730-83A2-94B4732CB4B2}" dt="2021-01-19T20:56:46.455" v="47" actId="27636"/>
        <pc:sldMkLst>
          <pc:docMk/>
          <pc:sldMk cId="1375081709" sldId="295"/>
        </pc:sldMkLst>
        <pc:spChg chg="mod">
          <ac:chgData name="Disha Parkhi" userId="7ca7a02737f3c9a0" providerId="LiveId" clId="{66F39FE8-7F75-4730-83A2-94B4732CB4B2}" dt="2021-01-19T20:56:46.455" v="47" actId="27636"/>
          <ac:spMkLst>
            <pc:docMk/>
            <pc:sldMk cId="1375081709" sldId="295"/>
            <ac:spMk id="3" creationId="{00000000-0000-0000-0000-000000000000}"/>
          </ac:spMkLst>
        </pc:spChg>
        <pc:spChg chg="mod">
          <ac:chgData name="Disha Parkhi" userId="7ca7a02737f3c9a0" providerId="LiveId" clId="{66F39FE8-7F75-4730-83A2-94B4732CB4B2}" dt="2021-01-19T20:56:46.204" v="35"/>
          <ac:spMkLst>
            <pc:docMk/>
            <pc:sldMk cId="1375081709" sldId="295"/>
            <ac:spMk id="4" creationId="{00000000-0000-0000-0000-000000000000}"/>
          </ac:spMkLst>
        </pc:spChg>
      </pc:sldChg>
      <pc:sldChg chg="modSp mod">
        <pc:chgData name="Disha Parkhi" userId="7ca7a02737f3c9a0" providerId="LiveId" clId="{66F39FE8-7F75-4730-83A2-94B4732CB4B2}" dt="2021-01-19T20:56:46.446" v="46" actId="27636"/>
        <pc:sldMkLst>
          <pc:docMk/>
          <pc:sldMk cId="1371118243" sldId="297"/>
        </pc:sldMkLst>
        <pc:spChg chg="mod">
          <ac:chgData name="Disha Parkhi" userId="7ca7a02737f3c9a0" providerId="LiveId" clId="{66F39FE8-7F75-4730-83A2-94B4732CB4B2}" dt="2021-01-19T20:56:46.204" v="35"/>
          <ac:spMkLst>
            <pc:docMk/>
            <pc:sldMk cId="1371118243" sldId="297"/>
            <ac:spMk id="5" creationId="{00000000-0000-0000-0000-000000000000}"/>
          </ac:spMkLst>
        </pc:spChg>
        <pc:spChg chg="mod">
          <ac:chgData name="Disha Parkhi" userId="7ca7a02737f3c9a0" providerId="LiveId" clId="{66F39FE8-7F75-4730-83A2-94B4732CB4B2}" dt="2021-01-19T20:56:46.446" v="46" actId="27636"/>
          <ac:spMkLst>
            <pc:docMk/>
            <pc:sldMk cId="1371118243" sldId="297"/>
            <ac:spMk id="20" creationId="{00000000-0000-0000-0000-000000000000}"/>
          </ac:spMkLst>
        </pc:spChg>
      </pc:sldChg>
      <pc:sldChg chg="modSp mod">
        <pc:chgData name="Disha Parkhi" userId="7ca7a02737f3c9a0" providerId="LiveId" clId="{66F39FE8-7F75-4730-83A2-94B4732CB4B2}" dt="2021-01-26T21:23:26.785" v="378" actId="13926"/>
        <pc:sldMkLst>
          <pc:docMk/>
          <pc:sldMk cId="154762930" sldId="298"/>
        </pc:sldMkLst>
        <pc:spChg chg="mod">
          <ac:chgData name="Disha Parkhi" userId="7ca7a02737f3c9a0" providerId="LiveId" clId="{66F39FE8-7F75-4730-83A2-94B4732CB4B2}" dt="2021-01-26T21:23:26.785" v="378" actId="13926"/>
          <ac:spMkLst>
            <pc:docMk/>
            <pc:sldMk cId="154762930" sldId="298"/>
            <ac:spMk id="3" creationId="{00000000-0000-0000-0000-000000000000}"/>
          </ac:spMkLst>
        </pc:spChg>
        <pc:spChg chg="mod">
          <ac:chgData name="Disha Parkhi" userId="7ca7a02737f3c9a0" providerId="LiveId" clId="{66F39FE8-7F75-4730-83A2-94B4732CB4B2}" dt="2021-01-19T20:56:46.204" v="35"/>
          <ac:spMkLst>
            <pc:docMk/>
            <pc:sldMk cId="154762930" sldId="298"/>
            <ac:spMk id="4" creationId="{00000000-0000-0000-0000-000000000000}"/>
          </ac:spMkLst>
        </pc:spChg>
      </pc:sldChg>
      <pc:sldChg chg="modSp">
        <pc:chgData name="Disha Parkhi" userId="7ca7a02737f3c9a0" providerId="LiveId" clId="{66F39FE8-7F75-4730-83A2-94B4732CB4B2}" dt="2021-01-19T20:56:46.204" v="35"/>
        <pc:sldMkLst>
          <pc:docMk/>
          <pc:sldMk cId="869929466" sldId="299"/>
        </pc:sldMkLst>
        <pc:spChg chg="mod">
          <ac:chgData name="Disha Parkhi" userId="7ca7a02737f3c9a0" providerId="LiveId" clId="{66F39FE8-7F75-4730-83A2-94B4732CB4B2}" dt="2021-01-19T20:56:46.204" v="35"/>
          <ac:spMkLst>
            <pc:docMk/>
            <pc:sldMk cId="869929466" sldId="299"/>
            <ac:spMk id="4" creationId="{00000000-0000-0000-0000-000000000000}"/>
          </ac:spMkLst>
        </pc:spChg>
      </pc:sldChg>
      <pc:sldChg chg="modSp">
        <pc:chgData name="Disha Parkhi" userId="7ca7a02737f3c9a0" providerId="LiveId" clId="{66F39FE8-7F75-4730-83A2-94B4732CB4B2}" dt="2021-01-19T20:56:46.204" v="35"/>
        <pc:sldMkLst>
          <pc:docMk/>
          <pc:sldMk cId="1312059222" sldId="300"/>
        </pc:sldMkLst>
        <pc:spChg chg="mod">
          <ac:chgData name="Disha Parkhi" userId="7ca7a02737f3c9a0" providerId="LiveId" clId="{66F39FE8-7F75-4730-83A2-94B4732CB4B2}" dt="2021-01-19T20:56:46.204" v="35"/>
          <ac:spMkLst>
            <pc:docMk/>
            <pc:sldMk cId="1312059222" sldId="300"/>
            <ac:spMk id="5" creationId="{00000000-0000-0000-0000-000000000000}"/>
          </ac:spMkLst>
        </pc:spChg>
      </pc:sldChg>
      <pc:sldChg chg="modSp mod">
        <pc:chgData name="Disha Parkhi" userId="7ca7a02737f3c9a0" providerId="LiveId" clId="{66F39FE8-7F75-4730-83A2-94B4732CB4B2}" dt="2021-01-19T20:56:46.469" v="48" actId="27636"/>
        <pc:sldMkLst>
          <pc:docMk/>
          <pc:sldMk cId="3705546745" sldId="301"/>
        </pc:sldMkLst>
        <pc:spChg chg="mod">
          <ac:chgData name="Disha Parkhi" userId="7ca7a02737f3c9a0" providerId="LiveId" clId="{66F39FE8-7F75-4730-83A2-94B4732CB4B2}" dt="2021-01-19T20:56:46.469" v="48" actId="27636"/>
          <ac:spMkLst>
            <pc:docMk/>
            <pc:sldMk cId="3705546745" sldId="301"/>
            <ac:spMk id="3" creationId="{00000000-0000-0000-0000-000000000000}"/>
          </ac:spMkLst>
        </pc:spChg>
        <pc:spChg chg="mod">
          <ac:chgData name="Disha Parkhi" userId="7ca7a02737f3c9a0" providerId="LiveId" clId="{66F39FE8-7F75-4730-83A2-94B4732CB4B2}" dt="2021-01-19T20:56:46.204" v="35"/>
          <ac:spMkLst>
            <pc:docMk/>
            <pc:sldMk cId="3705546745" sldId="301"/>
            <ac:spMk id="4" creationId="{00000000-0000-0000-0000-000000000000}"/>
          </ac:spMkLst>
        </pc:spChg>
      </pc:sldChg>
      <pc:sldChg chg="modSp">
        <pc:chgData name="Disha Parkhi" userId="7ca7a02737f3c9a0" providerId="LiveId" clId="{66F39FE8-7F75-4730-83A2-94B4732CB4B2}" dt="2021-01-19T20:56:46.204" v="35"/>
        <pc:sldMkLst>
          <pc:docMk/>
          <pc:sldMk cId="3329956083" sldId="302"/>
        </pc:sldMkLst>
        <pc:spChg chg="mod">
          <ac:chgData name="Disha Parkhi" userId="7ca7a02737f3c9a0" providerId="LiveId" clId="{66F39FE8-7F75-4730-83A2-94B4732CB4B2}" dt="2021-01-19T20:56:46.204" v="35"/>
          <ac:spMkLst>
            <pc:docMk/>
            <pc:sldMk cId="3329956083" sldId="302"/>
            <ac:spMk id="4" creationId="{00000000-0000-0000-0000-000000000000}"/>
          </ac:spMkLst>
        </pc:spChg>
      </pc:sldChg>
      <pc:sldChg chg="modSp">
        <pc:chgData name="Disha Parkhi" userId="7ca7a02737f3c9a0" providerId="LiveId" clId="{66F39FE8-7F75-4730-83A2-94B4732CB4B2}" dt="2021-01-19T20:56:46.204" v="35"/>
        <pc:sldMkLst>
          <pc:docMk/>
          <pc:sldMk cId="2556784314" sldId="303"/>
        </pc:sldMkLst>
        <pc:spChg chg="mod">
          <ac:chgData name="Disha Parkhi" userId="7ca7a02737f3c9a0" providerId="LiveId" clId="{66F39FE8-7F75-4730-83A2-94B4732CB4B2}" dt="2021-01-19T20:56:46.204" v="35"/>
          <ac:spMkLst>
            <pc:docMk/>
            <pc:sldMk cId="2556784314" sldId="303"/>
            <ac:spMk id="6" creationId="{00000000-0000-0000-0000-000000000000}"/>
          </ac:spMkLst>
        </pc:spChg>
      </pc:sldChg>
      <pc:sldChg chg="modSp">
        <pc:chgData name="Disha Parkhi" userId="7ca7a02737f3c9a0" providerId="LiveId" clId="{66F39FE8-7F75-4730-83A2-94B4732CB4B2}" dt="2021-01-19T20:56:46.204" v="35"/>
        <pc:sldMkLst>
          <pc:docMk/>
          <pc:sldMk cId="579831102" sldId="304"/>
        </pc:sldMkLst>
        <pc:spChg chg="mod">
          <ac:chgData name="Disha Parkhi" userId="7ca7a02737f3c9a0" providerId="LiveId" clId="{66F39FE8-7F75-4730-83A2-94B4732CB4B2}" dt="2021-01-19T20:56:46.204" v="35"/>
          <ac:spMkLst>
            <pc:docMk/>
            <pc:sldMk cId="579831102" sldId="304"/>
            <ac:spMk id="5" creationId="{00000000-0000-0000-0000-000000000000}"/>
          </ac:spMkLst>
        </pc:spChg>
      </pc:sldChg>
      <pc:sldChg chg="modSp mod">
        <pc:chgData name="Disha Parkhi" userId="7ca7a02737f3c9a0" providerId="LiveId" clId="{66F39FE8-7F75-4730-83A2-94B4732CB4B2}" dt="2021-01-19T20:56:46.204" v="35"/>
        <pc:sldMkLst>
          <pc:docMk/>
          <pc:sldMk cId="947612088" sldId="305"/>
        </pc:sldMkLst>
        <pc:spChg chg="mod">
          <ac:chgData name="Disha Parkhi" userId="7ca7a02737f3c9a0" providerId="LiveId" clId="{66F39FE8-7F75-4730-83A2-94B4732CB4B2}" dt="2021-01-19T20:56:38.354" v="32" actId="27636"/>
          <ac:spMkLst>
            <pc:docMk/>
            <pc:sldMk cId="947612088" sldId="305"/>
            <ac:spMk id="2" creationId="{00000000-0000-0000-0000-000000000000}"/>
          </ac:spMkLst>
        </pc:spChg>
        <pc:spChg chg="mod">
          <ac:chgData name="Disha Parkhi" userId="7ca7a02737f3c9a0" providerId="LiveId" clId="{66F39FE8-7F75-4730-83A2-94B4732CB4B2}" dt="2021-01-19T20:56:46.204" v="35"/>
          <ac:spMkLst>
            <pc:docMk/>
            <pc:sldMk cId="947612088" sldId="305"/>
            <ac:spMk id="4" creationId="{00000000-0000-0000-0000-000000000000}"/>
          </ac:spMkLst>
        </pc:spChg>
      </pc:sldChg>
      <pc:sldChg chg="modSp">
        <pc:chgData name="Disha Parkhi" userId="7ca7a02737f3c9a0" providerId="LiveId" clId="{66F39FE8-7F75-4730-83A2-94B4732CB4B2}" dt="2021-01-19T20:56:46.204" v="35"/>
        <pc:sldMkLst>
          <pc:docMk/>
          <pc:sldMk cId="3357383633" sldId="306"/>
        </pc:sldMkLst>
        <pc:spChg chg="mod">
          <ac:chgData name="Disha Parkhi" userId="7ca7a02737f3c9a0" providerId="LiveId" clId="{66F39FE8-7F75-4730-83A2-94B4732CB4B2}" dt="2021-01-19T20:56:46.204" v="35"/>
          <ac:spMkLst>
            <pc:docMk/>
            <pc:sldMk cId="3357383633" sldId="306"/>
            <ac:spMk id="2" creationId="{00000000-0000-0000-0000-000000000000}"/>
          </ac:spMkLst>
        </pc:spChg>
        <pc:spChg chg="mod">
          <ac:chgData name="Disha Parkhi" userId="7ca7a02737f3c9a0" providerId="LiveId" clId="{66F39FE8-7F75-4730-83A2-94B4732CB4B2}" dt="2021-01-19T20:56:46.204" v="35"/>
          <ac:spMkLst>
            <pc:docMk/>
            <pc:sldMk cId="3357383633" sldId="306"/>
            <ac:spMk id="3" creationId="{00000000-0000-0000-0000-000000000000}"/>
          </ac:spMkLst>
        </pc:spChg>
        <pc:spChg chg="mod">
          <ac:chgData name="Disha Parkhi" userId="7ca7a02737f3c9a0" providerId="LiveId" clId="{66F39FE8-7F75-4730-83A2-94B4732CB4B2}" dt="2021-01-19T20:56:46.204" v="35"/>
          <ac:spMkLst>
            <pc:docMk/>
            <pc:sldMk cId="3357383633" sldId="306"/>
            <ac:spMk id="4" creationId="{00000000-0000-0000-0000-000000000000}"/>
          </ac:spMkLst>
        </pc:spChg>
      </pc:sldChg>
      <pc:sldChg chg="modSp">
        <pc:chgData name="Disha Parkhi" userId="7ca7a02737f3c9a0" providerId="LiveId" clId="{66F39FE8-7F75-4730-83A2-94B4732CB4B2}" dt="2021-01-19T20:56:46.204" v="35"/>
        <pc:sldMkLst>
          <pc:docMk/>
          <pc:sldMk cId="1209510141" sldId="307"/>
        </pc:sldMkLst>
        <pc:spChg chg="mod">
          <ac:chgData name="Disha Parkhi" userId="7ca7a02737f3c9a0" providerId="LiveId" clId="{66F39FE8-7F75-4730-83A2-94B4732CB4B2}" dt="2021-01-19T20:56:46.204" v="35"/>
          <ac:spMkLst>
            <pc:docMk/>
            <pc:sldMk cId="1209510141" sldId="307"/>
            <ac:spMk id="3" creationId="{00000000-0000-0000-0000-000000000000}"/>
          </ac:spMkLst>
        </pc:spChg>
      </pc:sldChg>
      <pc:sldChg chg="modSp">
        <pc:chgData name="Disha Parkhi" userId="7ca7a02737f3c9a0" providerId="LiveId" clId="{66F39FE8-7F75-4730-83A2-94B4732CB4B2}" dt="2021-01-19T20:56:46.204" v="35"/>
        <pc:sldMkLst>
          <pc:docMk/>
          <pc:sldMk cId="706627286" sldId="308"/>
        </pc:sldMkLst>
        <pc:spChg chg="mod">
          <ac:chgData name="Disha Parkhi" userId="7ca7a02737f3c9a0" providerId="LiveId" clId="{66F39FE8-7F75-4730-83A2-94B4732CB4B2}" dt="2021-01-19T20:56:46.204" v="35"/>
          <ac:spMkLst>
            <pc:docMk/>
            <pc:sldMk cId="706627286" sldId="308"/>
            <ac:spMk id="3" creationId="{00000000-0000-0000-0000-000000000000}"/>
          </ac:spMkLst>
        </pc:spChg>
      </pc:sldChg>
      <pc:sldChg chg="modSp">
        <pc:chgData name="Disha Parkhi" userId="7ca7a02737f3c9a0" providerId="LiveId" clId="{66F39FE8-7F75-4730-83A2-94B4732CB4B2}" dt="2021-01-19T20:56:46.204" v="35"/>
        <pc:sldMkLst>
          <pc:docMk/>
          <pc:sldMk cId="3650057469" sldId="309"/>
        </pc:sldMkLst>
        <pc:spChg chg="mod">
          <ac:chgData name="Disha Parkhi" userId="7ca7a02737f3c9a0" providerId="LiveId" clId="{66F39FE8-7F75-4730-83A2-94B4732CB4B2}" dt="2021-01-19T20:56:46.204" v="35"/>
          <ac:spMkLst>
            <pc:docMk/>
            <pc:sldMk cId="3650057469" sldId="309"/>
            <ac:spMk id="3" creationId="{00000000-0000-0000-0000-000000000000}"/>
          </ac:spMkLst>
        </pc:spChg>
      </pc:sldChg>
      <pc:sldChg chg="modSp">
        <pc:chgData name="Disha Parkhi" userId="7ca7a02737f3c9a0" providerId="LiveId" clId="{66F39FE8-7F75-4730-83A2-94B4732CB4B2}" dt="2021-01-19T20:56:46.204" v="35"/>
        <pc:sldMkLst>
          <pc:docMk/>
          <pc:sldMk cId="2278358873" sldId="310"/>
        </pc:sldMkLst>
        <pc:spChg chg="mod">
          <ac:chgData name="Disha Parkhi" userId="7ca7a02737f3c9a0" providerId="LiveId" clId="{66F39FE8-7F75-4730-83A2-94B4732CB4B2}" dt="2021-01-19T20:56:46.204" v="35"/>
          <ac:spMkLst>
            <pc:docMk/>
            <pc:sldMk cId="2278358873" sldId="310"/>
            <ac:spMk id="4" creationId="{00000000-0000-0000-0000-000000000000}"/>
          </ac:spMkLst>
        </pc:spChg>
      </pc:sldChg>
      <pc:sldChg chg="modSp">
        <pc:chgData name="Disha Parkhi" userId="7ca7a02737f3c9a0" providerId="LiveId" clId="{66F39FE8-7F75-4730-83A2-94B4732CB4B2}" dt="2021-01-19T20:56:46.204" v="35"/>
        <pc:sldMkLst>
          <pc:docMk/>
          <pc:sldMk cId="4193493514" sldId="311"/>
        </pc:sldMkLst>
        <pc:spChg chg="mod">
          <ac:chgData name="Disha Parkhi" userId="7ca7a02737f3c9a0" providerId="LiveId" clId="{66F39FE8-7F75-4730-83A2-94B4732CB4B2}" dt="2021-01-19T20:56:46.204" v="35"/>
          <ac:spMkLst>
            <pc:docMk/>
            <pc:sldMk cId="4193493514" sldId="311"/>
            <ac:spMk id="4" creationId="{00000000-0000-0000-0000-000000000000}"/>
          </ac:spMkLst>
        </pc:spChg>
      </pc:sldChg>
      <pc:sldChg chg="modSp mod">
        <pc:chgData name="Disha Parkhi" userId="7ca7a02737f3c9a0" providerId="LiveId" clId="{66F39FE8-7F75-4730-83A2-94B4732CB4B2}" dt="2021-01-19T20:56:46.487" v="49" actId="27636"/>
        <pc:sldMkLst>
          <pc:docMk/>
          <pc:sldMk cId="592471338" sldId="312"/>
        </pc:sldMkLst>
        <pc:spChg chg="mod">
          <ac:chgData name="Disha Parkhi" userId="7ca7a02737f3c9a0" providerId="LiveId" clId="{66F39FE8-7F75-4730-83A2-94B4732CB4B2}" dt="2021-01-19T20:56:46.204" v="35"/>
          <ac:spMkLst>
            <pc:docMk/>
            <pc:sldMk cId="592471338" sldId="312"/>
            <ac:spMk id="2" creationId="{00000000-0000-0000-0000-000000000000}"/>
          </ac:spMkLst>
        </pc:spChg>
        <pc:spChg chg="mod">
          <ac:chgData name="Disha Parkhi" userId="7ca7a02737f3c9a0" providerId="LiveId" clId="{66F39FE8-7F75-4730-83A2-94B4732CB4B2}" dt="2021-01-19T20:56:46.487" v="49" actId="27636"/>
          <ac:spMkLst>
            <pc:docMk/>
            <pc:sldMk cId="592471338" sldId="312"/>
            <ac:spMk id="3" creationId="{00000000-0000-0000-0000-000000000000}"/>
          </ac:spMkLst>
        </pc:spChg>
        <pc:spChg chg="mod">
          <ac:chgData name="Disha Parkhi" userId="7ca7a02737f3c9a0" providerId="LiveId" clId="{66F39FE8-7F75-4730-83A2-94B4732CB4B2}" dt="2021-01-19T20:56:46.204" v="35"/>
          <ac:spMkLst>
            <pc:docMk/>
            <pc:sldMk cId="592471338" sldId="312"/>
            <ac:spMk id="4" creationId="{00000000-0000-0000-0000-000000000000}"/>
          </ac:spMkLst>
        </pc:spChg>
      </pc:sldChg>
      <pc:sldChg chg="modSp mod">
        <pc:chgData name="Disha Parkhi" userId="7ca7a02737f3c9a0" providerId="LiveId" clId="{66F39FE8-7F75-4730-83A2-94B4732CB4B2}" dt="2021-01-19T20:56:46.493" v="50" actId="27636"/>
        <pc:sldMkLst>
          <pc:docMk/>
          <pc:sldMk cId="4073625283" sldId="313"/>
        </pc:sldMkLst>
        <pc:spChg chg="mod">
          <ac:chgData name="Disha Parkhi" userId="7ca7a02737f3c9a0" providerId="LiveId" clId="{66F39FE8-7F75-4730-83A2-94B4732CB4B2}" dt="2021-01-19T20:56:46.493" v="50" actId="27636"/>
          <ac:spMkLst>
            <pc:docMk/>
            <pc:sldMk cId="4073625283" sldId="313"/>
            <ac:spMk id="3" creationId="{00000000-0000-0000-0000-000000000000}"/>
          </ac:spMkLst>
        </pc:spChg>
        <pc:spChg chg="mod">
          <ac:chgData name="Disha Parkhi" userId="7ca7a02737f3c9a0" providerId="LiveId" clId="{66F39FE8-7F75-4730-83A2-94B4732CB4B2}" dt="2021-01-19T20:56:46.204" v="35"/>
          <ac:spMkLst>
            <pc:docMk/>
            <pc:sldMk cId="4073625283" sldId="313"/>
            <ac:spMk id="5" creationId="{00000000-0000-0000-0000-000000000000}"/>
          </ac:spMkLst>
        </pc:spChg>
      </pc:sldChg>
      <pc:sldChg chg="modSp">
        <pc:chgData name="Disha Parkhi" userId="7ca7a02737f3c9a0" providerId="LiveId" clId="{66F39FE8-7F75-4730-83A2-94B4732CB4B2}" dt="2021-01-19T20:56:46.204" v="35"/>
        <pc:sldMkLst>
          <pc:docMk/>
          <pc:sldMk cId="516910711" sldId="314"/>
        </pc:sldMkLst>
        <pc:spChg chg="mod">
          <ac:chgData name="Disha Parkhi" userId="7ca7a02737f3c9a0" providerId="LiveId" clId="{66F39FE8-7F75-4730-83A2-94B4732CB4B2}" dt="2021-01-19T20:56:46.204" v="35"/>
          <ac:spMkLst>
            <pc:docMk/>
            <pc:sldMk cId="516910711" sldId="314"/>
            <ac:spMk id="4" creationId="{00000000-0000-0000-0000-000000000000}"/>
          </ac:spMkLst>
        </pc:spChg>
      </pc:sldChg>
      <pc:sldChg chg="modSp mod">
        <pc:chgData name="Disha Parkhi" userId="7ca7a02737f3c9a0" providerId="LiveId" clId="{66F39FE8-7F75-4730-83A2-94B4732CB4B2}" dt="2021-01-19T20:56:46.373" v="41" actId="27636"/>
        <pc:sldMkLst>
          <pc:docMk/>
          <pc:sldMk cId="3294701963" sldId="316"/>
        </pc:sldMkLst>
        <pc:spChg chg="mod">
          <ac:chgData name="Disha Parkhi" userId="7ca7a02737f3c9a0" providerId="LiveId" clId="{66F39FE8-7F75-4730-83A2-94B4732CB4B2}" dt="2021-01-19T20:56:46.373" v="41" actId="27636"/>
          <ac:spMkLst>
            <pc:docMk/>
            <pc:sldMk cId="3294701963" sldId="316"/>
            <ac:spMk id="3" creationId="{00000000-0000-0000-0000-000000000000}"/>
          </ac:spMkLst>
        </pc:spChg>
        <pc:spChg chg="mod">
          <ac:chgData name="Disha Parkhi" userId="7ca7a02737f3c9a0" providerId="LiveId" clId="{66F39FE8-7F75-4730-83A2-94B4732CB4B2}" dt="2021-01-19T20:56:38.291" v="30" actId="27636"/>
          <ac:spMkLst>
            <pc:docMk/>
            <pc:sldMk cId="3294701963" sldId="316"/>
            <ac:spMk id="4" creationId="{00000000-0000-0000-0000-000000000000}"/>
          </ac:spMkLst>
        </pc:spChg>
        <pc:spChg chg="mod">
          <ac:chgData name="Disha Parkhi" userId="7ca7a02737f3c9a0" providerId="LiveId" clId="{66F39FE8-7F75-4730-83A2-94B4732CB4B2}" dt="2021-01-19T20:56:46.373" v="40" actId="27636"/>
          <ac:spMkLst>
            <pc:docMk/>
            <pc:sldMk cId="3294701963" sldId="316"/>
            <ac:spMk id="5" creationId="{00000000-0000-0000-0000-000000000000}"/>
          </ac:spMkLst>
        </pc:spChg>
        <pc:spChg chg="mod">
          <ac:chgData name="Disha Parkhi" userId="7ca7a02737f3c9a0" providerId="LiveId" clId="{66F39FE8-7F75-4730-83A2-94B4732CB4B2}" dt="2021-01-19T20:56:38.288" v="29" actId="27636"/>
          <ac:spMkLst>
            <pc:docMk/>
            <pc:sldMk cId="3294701963" sldId="316"/>
            <ac:spMk id="6" creationId="{00000000-0000-0000-0000-000000000000}"/>
          </ac:spMkLst>
        </pc:spChg>
        <pc:spChg chg="mod">
          <ac:chgData name="Disha Parkhi" userId="7ca7a02737f3c9a0" providerId="LiveId" clId="{66F39FE8-7F75-4730-83A2-94B4732CB4B2}" dt="2021-01-19T20:56:46.204" v="35"/>
          <ac:spMkLst>
            <pc:docMk/>
            <pc:sldMk cId="3294701963" sldId="316"/>
            <ac:spMk id="7" creationId="{00000000-0000-0000-0000-000000000000}"/>
          </ac:spMkLst>
        </pc:spChg>
      </pc:sldChg>
      <pc:sldChg chg="modSp">
        <pc:chgData name="Disha Parkhi" userId="7ca7a02737f3c9a0" providerId="LiveId" clId="{66F39FE8-7F75-4730-83A2-94B4732CB4B2}" dt="2021-01-19T20:56:46.204" v="35"/>
        <pc:sldMkLst>
          <pc:docMk/>
          <pc:sldMk cId="2394341282" sldId="317"/>
        </pc:sldMkLst>
        <pc:spChg chg="mod">
          <ac:chgData name="Disha Parkhi" userId="7ca7a02737f3c9a0" providerId="LiveId" clId="{66F39FE8-7F75-4730-83A2-94B4732CB4B2}" dt="2021-01-19T20:56:46.204" v="35"/>
          <ac:spMkLst>
            <pc:docMk/>
            <pc:sldMk cId="2394341282" sldId="317"/>
            <ac:spMk id="4" creationId="{00000000-0000-0000-0000-000000000000}"/>
          </ac:spMkLst>
        </pc:spChg>
      </pc:sldChg>
      <pc:sldChg chg="modSp">
        <pc:chgData name="Disha Parkhi" userId="7ca7a02737f3c9a0" providerId="LiveId" clId="{66F39FE8-7F75-4730-83A2-94B4732CB4B2}" dt="2021-01-19T20:56:46.204" v="35"/>
        <pc:sldMkLst>
          <pc:docMk/>
          <pc:sldMk cId="1258510691" sldId="318"/>
        </pc:sldMkLst>
        <pc:spChg chg="mod">
          <ac:chgData name="Disha Parkhi" userId="7ca7a02737f3c9a0" providerId="LiveId" clId="{66F39FE8-7F75-4730-83A2-94B4732CB4B2}" dt="2021-01-19T20:56:46.204" v="35"/>
          <ac:spMkLst>
            <pc:docMk/>
            <pc:sldMk cId="1258510691" sldId="318"/>
            <ac:spMk id="2" creationId="{B1ED4D12-BA70-4330-9A8A-0B6D14150A8A}"/>
          </ac:spMkLst>
        </pc:spChg>
        <pc:spChg chg="mod">
          <ac:chgData name="Disha Parkhi" userId="7ca7a02737f3c9a0" providerId="LiveId" clId="{66F39FE8-7F75-4730-83A2-94B4732CB4B2}" dt="2021-01-19T20:56:46.204" v="35"/>
          <ac:spMkLst>
            <pc:docMk/>
            <pc:sldMk cId="1258510691" sldId="318"/>
            <ac:spMk id="3" creationId="{470518FC-3CE4-4D8C-9C3A-2926B55F6D4C}"/>
          </ac:spMkLst>
        </pc:spChg>
        <pc:spChg chg="mod">
          <ac:chgData name="Disha Parkhi" userId="7ca7a02737f3c9a0" providerId="LiveId" clId="{66F39FE8-7F75-4730-83A2-94B4732CB4B2}" dt="2021-01-19T20:56:46.204" v="35"/>
          <ac:spMkLst>
            <pc:docMk/>
            <pc:sldMk cId="1258510691" sldId="318"/>
            <ac:spMk id="4" creationId="{B9E3A029-E4A2-4159-9BA4-C225B2F685EB}"/>
          </ac:spMkLst>
        </pc:spChg>
      </pc:sldChg>
      <pc:sldChg chg="modSp">
        <pc:chgData name="Disha Parkhi" userId="7ca7a02737f3c9a0" providerId="LiveId" clId="{66F39FE8-7F75-4730-83A2-94B4732CB4B2}" dt="2021-01-19T20:56:46.204" v="35"/>
        <pc:sldMkLst>
          <pc:docMk/>
          <pc:sldMk cId="4051264047" sldId="319"/>
        </pc:sldMkLst>
        <pc:spChg chg="mod">
          <ac:chgData name="Disha Parkhi" userId="7ca7a02737f3c9a0" providerId="LiveId" clId="{66F39FE8-7F75-4730-83A2-94B4732CB4B2}" dt="2021-01-19T20:56:46.204" v="35"/>
          <ac:spMkLst>
            <pc:docMk/>
            <pc:sldMk cId="4051264047" sldId="319"/>
            <ac:spMk id="2" creationId="{BDE593AB-0674-4B14-8CC4-AFF269A6ECC8}"/>
          </ac:spMkLst>
        </pc:spChg>
        <pc:spChg chg="mod">
          <ac:chgData name="Disha Parkhi" userId="7ca7a02737f3c9a0" providerId="LiveId" clId="{66F39FE8-7F75-4730-83A2-94B4732CB4B2}" dt="2021-01-19T20:56:46.204" v="35"/>
          <ac:spMkLst>
            <pc:docMk/>
            <pc:sldMk cId="4051264047" sldId="319"/>
            <ac:spMk id="3" creationId="{1F524A2C-5E7E-4FCF-A221-BDDDDA5A83A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D6E63-2C5D-46ED-BD00-4BDEE796F8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9839D2-5DFF-4A04-9913-4A46896782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4FB51B-5BB9-46F9-96BE-78A014A356DB}"/>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5" name="Footer Placeholder 4">
            <a:extLst>
              <a:ext uri="{FF2B5EF4-FFF2-40B4-BE49-F238E27FC236}">
                <a16:creationId xmlns:a16="http://schemas.microsoft.com/office/drawing/2014/main" id="{107196C5-116A-40E3-96EB-33238DDE1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A5C9C-63CC-4C08-A6E5-F53C919245B1}"/>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1243889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CB1-5614-4667-A177-1600925D57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45E5D-8A91-448E-B4D6-C1F4C0DCA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910DF-C5E4-4840-A936-19E0F7E83A42}"/>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5" name="Footer Placeholder 4">
            <a:extLst>
              <a:ext uri="{FF2B5EF4-FFF2-40B4-BE49-F238E27FC236}">
                <a16:creationId xmlns:a16="http://schemas.microsoft.com/office/drawing/2014/main" id="{4595ADF2-AC83-4A80-AA2F-D7ACFFA0C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203278-A371-43BA-B8B7-6A41743A349A}"/>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1661998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4F414-D489-4D82-ADBD-2BB77009CA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9F22CE-FA27-4F95-8087-414881C85E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15E6E2-A98D-4A1C-8547-D5074AC2136F}"/>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5" name="Footer Placeholder 4">
            <a:extLst>
              <a:ext uri="{FF2B5EF4-FFF2-40B4-BE49-F238E27FC236}">
                <a16:creationId xmlns:a16="http://schemas.microsoft.com/office/drawing/2014/main" id="{1C0C2553-5382-467B-A63E-D46F480F7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36D73-7B1F-4CCF-9BB2-306AD6FD8499}"/>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4191373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AAD83-A383-44DA-AC14-CEA6A6E141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31BD79-57AA-42A0-AAEE-E502C844A4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9358EF-0FE9-46BC-B0E2-1F69E7625D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2EC130-10A9-49CA-8B66-723069C2F82C}"/>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6" name="Footer Placeholder 5">
            <a:extLst>
              <a:ext uri="{FF2B5EF4-FFF2-40B4-BE49-F238E27FC236}">
                <a16:creationId xmlns:a16="http://schemas.microsoft.com/office/drawing/2014/main" id="{4D175056-4344-42EE-8680-1C3D2E946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5CE064-01EA-41F6-BED9-3795C52F8001}"/>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3035258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58A66-4FFC-45AE-AEB0-D1BAD682FB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1AE7AD-D3A9-414E-978A-B1C06C21A8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0D4B6C-3952-444B-A5B1-A6595F13B5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17736E-BA5D-44B2-811F-84E93C8DE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A5D9C9-BE03-497A-919F-AB2BDFF424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F8C7D1-3B5D-4FEC-A2C1-747DA64A4ACB}"/>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8" name="Footer Placeholder 7">
            <a:extLst>
              <a:ext uri="{FF2B5EF4-FFF2-40B4-BE49-F238E27FC236}">
                <a16:creationId xmlns:a16="http://schemas.microsoft.com/office/drawing/2014/main" id="{52D79BEC-844A-4017-8255-215FCD32D4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5B7592-CF65-49A5-8B91-7695F864DB31}"/>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538963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5ABFC-7856-4071-BC18-A82A89397C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86B65-C692-4D60-BFD2-CEB6433B08B8}"/>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4" name="Footer Placeholder 3">
            <a:extLst>
              <a:ext uri="{FF2B5EF4-FFF2-40B4-BE49-F238E27FC236}">
                <a16:creationId xmlns:a16="http://schemas.microsoft.com/office/drawing/2014/main" id="{ECB2DD93-99B8-4B39-95AC-2B3948150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7FBBF0-954A-4DE4-BF58-E5C482EEC172}"/>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46937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B43943-9BDD-477A-8CA2-60713A4D5BF4}"/>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3" name="Footer Placeholder 2">
            <a:extLst>
              <a:ext uri="{FF2B5EF4-FFF2-40B4-BE49-F238E27FC236}">
                <a16:creationId xmlns:a16="http://schemas.microsoft.com/office/drawing/2014/main" id="{69A0EB6E-1D39-48F0-96FA-82DC5D4B77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B5DB8D-D5F9-4B22-BD7B-FB9026B6F274}"/>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16785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A533-7AB4-4503-92DF-573790774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062CD6-77E1-43E4-9586-72F85264F1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C4AE24-0A43-40A9-8AF9-7F9D6FB881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D57B1A-D672-4631-AB6C-E0B767F7A69B}"/>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6" name="Footer Placeholder 5">
            <a:extLst>
              <a:ext uri="{FF2B5EF4-FFF2-40B4-BE49-F238E27FC236}">
                <a16:creationId xmlns:a16="http://schemas.microsoft.com/office/drawing/2014/main" id="{ED390D33-4A1C-4B8F-91D3-FB8182B9D0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BB62-375D-4A15-BA0F-376236C87C33}"/>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148997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87CF-E897-40EF-8F73-36AE662F67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4B2990-B82B-48AA-B1AA-B7FD94E3CA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8F5DF4-FD4C-4638-B3A2-4A198C9E53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BA9E65-5D33-4ED4-8D3C-6146414D11DB}"/>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6" name="Footer Placeholder 5">
            <a:extLst>
              <a:ext uri="{FF2B5EF4-FFF2-40B4-BE49-F238E27FC236}">
                <a16:creationId xmlns:a16="http://schemas.microsoft.com/office/drawing/2014/main" id="{239A8495-7669-4758-8687-8ED88DF658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8266C3-9193-42AA-82D2-15E29C211DEA}"/>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1161337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ADA04-BC14-4DC5-8555-8ECA989ED2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AB35B5-F3F5-443B-82D1-531560613A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BC4D5-40E6-449B-BC21-0AE7A631AAB4}"/>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5" name="Footer Placeholder 4">
            <a:extLst>
              <a:ext uri="{FF2B5EF4-FFF2-40B4-BE49-F238E27FC236}">
                <a16:creationId xmlns:a16="http://schemas.microsoft.com/office/drawing/2014/main" id="{905A2D2B-06DE-428C-B6F5-788EDC461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B00574-B4B1-4A89-819A-53B27585EA63}"/>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2300254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926278-E3B1-448D-B5E6-58DF13DAA0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431B3C-5D1B-46C6-A22F-36F742CCC1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7C395-5ABA-446B-9849-3C4FED485598}"/>
              </a:ext>
            </a:extLst>
          </p:cNvPr>
          <p:cNvSpPr>
            <a:spLocks noGrp="1"/>
          </p:cNvSpPr>
          <p:nvPr>
            <p:ph type="dt" sz="half" idx="10"/>
          </p:nvPr>
        </p:nvSpPr>
        <p:spPr/>
        <p:txBody>
          <a:bodyPr/>
          <a:lstStyle/>
          <a:p>
            <a:fld id="{BA198CBC-E004-4883-9FE1-3E99552D8AA4}" type="datetimeFigureOut">
              <a:rPr lang="en-US" smtClean="0"/>
              <a:t>1/25/2021</a:t>
            </a:fld>
            <a:endParaRPr lang="en-US"/>
          </a:p>
        </p:txBody>
      </p:sp>
      <p:sp>
        <p:nvSpPr>
          <p:cNvPr id="5" name="Footer Placeholder 4">
            <a:extLst>
              <a:ext uri="{FF2B5EF4-FFF2-40B4-BE49-F238E27FC236}">
                <a16:creationId xmlns:a16="http://schemas.microsoft.com/office/drawing/2014/main" id="{2D30D43B-AEA3-4784-8E1B-EBA45D715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20BC0-FB9F-4161-8DB4-7703E2E0657E}"/>
              </a:ext>
            </a:extLst>
          </p:cNvPr>
          <p:cNvSpPr>
            <a:spLocks noGrp="1"/>
          </p:cNvSpPr>
          <p:nvPr>
            <p:ph type="sldNum" sz="quarter" idx="12"/>
          </p:nvPr>
        </p:nvSpPr>
        <p:spPr/>
        <p:txBody>
          <a:bodyPr/>
          <a:lstStyle/>
          <a:p>
            <a:fld id="{BA75BD20-7F9A-4433-981B-0E5481A5B7E5}" type="slidenum">
              <a:rPr lang="en-US" smtClean="0"/>
              <a:t>‹#›</a:t>
            </a:fld>
            <a:endParaRPr lang="en-US"/>
          </a:p>
        </p:txBody>
      </p:sp>
    </p:spTree>
    <p:extLst>
      <p:ext uri="{BB962C8B-B14F-4D97-AF65-F5344CB8AC3E}">
        <p14:creationId xmlns:p14="http://schemas.microsoft.com/office/powerpoint/2010/main" val="130927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6483F1-69AA-4A55-B6E4-B23FB9819B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C496BD-B843-4705-BC98-912886C713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187637-2483-4FD6-9251-3E8C7D458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198CBC-E004-4883-9FE1-3E99552D8AA4}" type="datetimeFigureOut">
              <a:rPr lang="en-US" smtClean="0"/>
              <a:t>1/25/2021</a:t>
            </a:fld>
            <a:endParaRPr lang="en-US"/>
          </a:p>
        </p:txBody>
      </p:sp>
      <p:sp>
        <p:nvSpPr>
          <p:cNvPr id="5" name="Footer Placeholder 4">
            <a:extLst>
              <a:ext uri="{FF2B5EF4-FFF2-40B4-BE49-F238E27FC236}">
                <a16:creationId xmlns:a16="http://schemas.microsoft.com/office/drawing/2014/main" id="{6C995B5B-0102-42A7-A246-99F622DBF2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871B8C-D918-4DCB-94D3-E12A98A886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75BD20-7F9A-4433-981B-0E5481A5B7E5}" type="slidenum">
              <a:rPr lang="en-US" smtClean="0"/>
              <a:t>‹#›</a:t>
            </a:fld>
            <a:endParaRPr lang="en-US"/>
          </a:p>
        </p:txBody>
      </p:sp>
    </p:spTree>
    <p:extLst>
      <p:ext uri="{BB962C8B-B14F-4D97-AF65-F5344CB8AC3E}">
        <p14:creationId xmlns:p14="http://schemas.microsoft.com/office/powerpoint/2010/main" val="51389567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Excel I – tables &amp; VLOOKUP</a:t>
            </a:r>
          </a:p>
        </p:txBody>
      </p:sp>
      <p:sp>
        <p:nvSpPr>
          <p:cNvPr id="3" name="Subtitle 2"/>
          <p:cNvSpPr>
            <a:spLocks noGrp="1"/>
          </p:cNvSpPr>
          <p:nvPr>
            <p:ph type="subTitle" idx="1"/>
          </p:nvPr>
        </p:nvSpPr>
        <p:spPr/>
        <p:txBody>
          <a:bodyPr>
            <a:normAutofit/>
          </a:bodyPr>
          <a:lstStyle/>
          <a:p>
            <a:endParaRPr lang="en-US" b="1" dirty="0">
              <a:solidFill>
                <a:schemeClr val="accent1">
                  <a:lumMod val="50000"/>
                </a:schemeClr>
              </a:solidFill>
            </a:endParaRPr>
          </a:p>
          <a:p>
            <a:r>
              <a:rPr lang="en-US" sz="2200" b="1" dirty="0"/>
              <a:t>Management Information Systems</a:t>
            </a:r>
          </a:p>
          <a:p>
            <a:r>
              <a:rPr lang="en-US" sz="1900" dirty="0"/>
              <a:t>Disha Parkhi</a:t>
            </a:r>
          </a:p>
          <a:p>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1</a:t>
            </a:fld>
            <a:endParaRPr lang="en-US"/>
          </a:p>
        </p:txBody>
      </p:sp>
    </p:spTree>
    <p:extLst>
      <p:ext uri="{BB962C8B-B14F-4D97-AF65-F5344CB8AC3E}">
        <p14:creationId xmlns:p14="http://schemas.microsoft.com/office/powerpoint/2010/main" val="3239822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31206" y="2022419"/>
            <a:ext cx="8065294" cy="4337284"/>
          </a:xfrm>
        </p:spPr>
        <p:txBody>
          <a:bodyPr>
            <a:normAutofit/>
          </a:bodyPr>
          <a:lstStyle/>
          <a:p>
            <a:pPr marL="514350" indent="-514350">
              <a:lnSpc>
                <a:spcPct val="100000"/>
              </a:lnSpc>
              <a:buFont typeface="+mj-lt"/>
              <a:buAutoNum type="romanUcPeriod"/>
            </a:pPr>
            <a:r>
              <a:rPr lang="en-US" dirty="0"/>
              <a:t>Tables: total row, sorting, applying filters and structured references</a:t>
            </a:r>
          </a:p>
          <a:p>
            <a:pPr marL="514350" indent="-514350">
              <a:lnSpc>
                <a:spcPct val="100000"/>
              </a:lnSpc>
              <a:buFont typeface="+mj-lt"/>
              <a:buAutoNum type="romanUcPeriod"/>
            </a:pPr>
            <a:r>
              <a:rPr lang="en-US" dirty="0"/>
              <a:t>The IF and VLOOKUP functions</a:t>
            </a:r>
          </a:p>
          <a:p>
            <a:pPr marL="514350" indent="-514350">
              <a:lnSpc>
                <a:spcPct val="100000"/>
              </a:lnSpc>
              <a:buFont typeface="+mj-lt"/>
              <a:buAutoNum type="romanUcPeriod"/>
            </a:pPr>
            <a:r>
              <a:rPr lang="en-US" dirty="0"/>
              <a:t>Appendix I: nested MATCH and INDEX </a:t>
            </a:r>
          </a:p>
          <a:p>
            <a:pPr marL="514350" indent="-514350">
              <a:lnSpc>
                <a:spcPct val="100000"/>
              </a:lnSpc>
              <a:buFont typeface="+mj-lt"/>
              <a:buAutoNum type="romanUcPeriod"/>
            </a:pPr>
            <a:r>
              <a:rPr lang="en-US" dirty="0"/>
              <a:t>Appendix II: data validation</a:t>
            </a:r>
          </a:p>
          <a:p>
            <a:pPr marL="514350" indent="-514350">
              <a:lnSpc>
                <a:spcPct val="100000"/>
              </a:lnSpc>
              <a:buFont typeface="+mj-lt"/>
              <a:buAutoNum type="romanUcPeriod"/>
            </a:pPr>
            <a:r>
              <a:rPr lang="en-US" dirty="0"/>
              <a:t>Appendix III: error codes list and useful text and date functions</a:t>
            </a:r>
          </a:p>
        </p:txBody>
      </p:sp>
      <p:sp>
        <p:nvSpPr>
          <p:cNvPr id="4" name="Slide Number Placeholder 3"/>
          <p:cNvSpPr>
            <a:spLocks noGrp="1"/>
          </p:cNvSpPr>
          <p:nvPr>
            <p:ph type="sldNum" sz="quarter" idx="12"/>
          </p:nvPr>
        </p:nvSpPr>
        <p:spPr/>
        <p:txBody>
          <a:bodyPr/>
          <a:lstStyle/>
          <a:p>
            <a:fld id="{1ADF169C-3A13-4720-8652-1240B672470F}" type="slidenum">
              <a:rPr lang="en-US" smtClean="0"/>
              <a:t>2</a:t>
            </a:fld>
            <a:endParaRPr lang="en-US"/>
          </a:p>
        </p:txBody>
      </p:sp>
    </p:spTree>
    <p:extLst>
      <p:ext uri="{BB962C8B-B14F-4D97-AF65-F5344CB8AC3E}">
        <p14:creationId xmlns:p14="http://schemas.microsoft.com/office/powerpoint/2010/main" val="2779869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4"/>
            <a:ext cx="8079581" cy="900899"/>
          </a:xfrm>
        </p:spPr>
        <p:txBody>
          <a:bodyPr/>
          <a:lstStyle/>
          <a:p>
            <a:r>
              <a:rPr lang="en-US" dirty="0" err="1"/>
              <a:t>Ms</a:t>
            </a:r>
            <a:r>
              <a:rPr lang="en-US" dirty="0"/>
              <a:t> Excel</a:t>
            </a:r>
          </a:p>
        </p:txBody>
      </p:sp>
      <p:sp>
        <p:nvSpPr>
          <p:cNvPr id="3" name="Content Placeholder 2"/>
          <p:cNvSpPr>
            <a:spLocks noGrp="1"/>
          </p:cNvSpPr>
          <p:nvPr>
            <p:ph idx="1"/>
          </p:nvPr>
        </p:nvSpPr>
        <p:spPr>
          <a:xfrm>
            <a:off x="2016919" y="1555531"/>
            <a:ext cx="8065294" cy="4803228"/>
          </a:xfrm>
        </p:spPr>
        <p:txBody>
          <a:bodyPr>
            <a:normAutofit fontScale="92500" lnSpcReduction="20000"/>
          </a:bodyPr>
          <a:lstStyle/>
          <a:p>
            <a:pPr marL="0" indent="0">
              <a:buNone/>
            </a:pPr>
            <a:r>
              <a:rPr lang="en-US" sz="2600" dirty="0">
                <a:latin typeface="+mj-lt"/>
              </a:rPr>
              <a:t>Main purpose is to organize, calculate and evaluate quantitative data.</a:t>
            </a:r>
          </a:p>
          <a:p>
            <a:pPr marL="0" indent="0">
              <a:buNone/>
            </a:pPr>
            <a:endParaRPr lang="en-US" sz="2600" b="1" dirty="0">
              <a:latin typeface="+mj-lt"/>
            </a:endParaRPr>
          </a:p>
          <a:p>
            <a:pPr marL="0" indent="0">
              <a:buNone/>
            </a:pPr>
            <a:r>
              <a:rPr lang="en-US" sz="2600" b="1" i="1" dirty="0">
                <a:solidFill>
                  <a:schemeClr val="accent1">
                    <a:lumMod val="75000"/>
                  </a:schemeClr>
                </a:solidFill>
                <a:latin typeface="+mj-lt"/>
              </a:rPr>
              <a:t>Some features:</a:t>
            </a:r>
          </a:p>
          <a:p>
            <a:pPr>
              <a:buFont typeface="Wingdings" panose="05000000000000000000" pitchFamily="2" charset="2"/>
              <a:buChar char="§"/>
            </a:pPr>
            <a:r>
              <a:rPr lang="en-US" sz="2600" b="1" dirty="0">
                <a:latin typeface="+mj-lt"/>
              </a:rPr>
              <a:t> Easy to enter and format data</a:t>
            </a:r>
          </a:p>
          <a:p>
            <a:pPr>
              <a:buFont typeface="Wingdings" panose="05000000000000000000" pitchFamily="2" charset="2"/>
              <a:buChar char="§"/>
            </a:pPr>
            <a:endParaRPr lang="en-US" sz="1100" dirty="0">
              <a:latin typeface="+mj-lt"/>
            </a:endParaRPr>
          </a:p>
          <a:p>
            <a:pPr>
              <a:buFont typeface="Wingdings" panose="05000000000000000000" pitchFamily="2" charset="2"/>
              <a:buChar char="§"/>
            </a:pPr>
            <a:r>
              <a:rPr lang="en-US" sz="2600" b="1" dirty="0">
                <a:latin typeface="+mj-lt"/>
              </a:rPr>
              <a:t> Ability to create graphical or visual representations of your data</a:t>
            </a:r>
          </a:p>
          <a:p>
            <a:pPr>
              <a:buFont typeface="Wingdings" panose="05000000000000000000" pitchFamily="2" charset="2"/>
              <a:buChar char="§"/>
            </a:pPr>
            <a:endParaRPr lang="en-US" sz="1100" dirty="0">
              <a:latin typeface="+mj-lt"/>
            </a:endParaRPr>
          </a:p>
          <a:p>
            <a:pPr>
              <a:buFont typeface="Wingdings" panose="05000000000000000000" pitchFamily="2" charset="2"/>
              <a:buChar char="§"/>
            </a:pPr>
            <a:r>
              <a:rPr lang="en-US" sz="2600" b="1" dirty="0">
                <a:latin typeface="+mj-lt"/>
              </a:rPr>
              <a:t> Can work quickly in analyzing large amounts of data</a:t>
            </a:r>
          </a:p>
          <a:p>
            <a:pPr>
              <a:buFont typeface="Wingdings" panose="05000000000000000000" pitchFamily="2" charset="2"/>
              <a:buChar char="§"/>
            </a:pPr>
            <a:endParaRPr lang="en-US" sz="1100" dirty="0">
              <a:latin typeface="+mj-lt"/>
            </a:endParaRPr>
          </a:p>
          <a:p>
            <a:pPr>
              <a:buFont typeface="Wingdings" panose="05000000000000000000" pitchFamily="2" charset="2"/>
              <a:buChar char="§"/>
            </a:pPr>
            <a:r>
              <a:rPr lang="en-US" sz="2600" b="1" dirty="0">
                <a:latin typeface="+mj-lt"/>
              </a:rPr>
              <a:t> Can be used for what if analysis and decision making based on several features </a:t>
            </a:r>
            <a:r>
              <a:rPr lang="en-US" sz="2600" dirty="0">
                <a:latin typeface="+mj-lt"/>
              </a:rPr>
              <a:t>(one of those features we are going to study are PivotTables)</a:t>
            </a:r>
          </a:p>
          <a:p>
            <a:pPr>
              <a:buFont typeface="Wingdings" panose="05000000000000000000" pitchFamily="2" charset="2"/>
              <a:buChar char="§"/>
            </a:pPr>
            <a:endParaRPr lang="en-US" dirty="0"/>
          </a:p>
        </p:txBody>
      </p:sp>
      <p:sp>
        <p:nvSpPr>
          <p:cNvPr id="19" name="Slide Number Placeholder 18"/>
          <p:cNvSpPr>
            <a:spLocks noGrp="1"/>
          </p:cNvSpPr>
          <p:nvPr>
            <p:ph type="sldNum" sz="quarter" idx="12"/>
          </p:nvPr>
        </p:nvSpPr>
        <p:spPr/>
        <p:txBody>
          <a:bodyPr/>
          <a:lstStyle/>
          <a:p>
            <a:fld id="{FC6D7323-3F06-479E-ADC8-7BC729C5AF45}" type="slidenum">
              <a:rPr lang="en-US" smtClean="0"/>
              <a:t>3</a:t>
            </a:fld>
            <a:endParaRPr lang="en-US"/>
          </a:p>
        </p:txBody>
      </p:sp>
    </p:spTree>
    <p:extLst>
      <p:ext uri="{BB962C8B-B14F-4D97-AF65-F5344CB8AC3E}">
        <p14:creationId xmlns:p14="http://schemas.microsoft.com/office/powerpoint/2010/main" val="3582193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19" y="499534"/>
            <a:ext cx="8451384" cy="1203143"/>
          </a:xfrm>
        </p:spPr>
        <p:txBody>
          <a:bodyPr>
            <a:normAutofit fontScale="90000"/>
          </a:bodyPr>
          <a:lstStyle/>
          <a:p>
            <a:r>
              <a:rPr lang="en-US" dirty="0"/>
              <a:t>Planning for effective worksheet design</a:t>
            </a:r>
          </a:p>
        </p:txBody>
      </p:sp>
      <p:sp>
        <p:nvSpPr>
          <p:cNvPr id="3" name="Content Placeholder 2"/>
          <p:cNvSpPr>
            <a:spLocks noGrp="1"/>
          </p:cNvSpPr>
          <p:nvPr>
            <p:ph idx="1"/>
          </p:nvPr>
        </p:nvSpPr>
        <p:spPr>
          <a:xfrm>
            <a:off x="2016919" y="1867269"/>
            <a:ext cx="8242834" cy="4628125"/>
          </a:xfrm>
        </p:spPr>
        <p:txBody>
          <a:bodyPr>
            <a:normAutofit fontScale="92500" lnSpcReduction="20000"/>
          </a:bodyPr>
          <a:lstStyle/>
          <a:p>
            <a:r>
              <a:rPr lang="en-US" dirty="0"/>
              <a:t>It is a good idea to plan the structure of the spreadsheet before starting entering the data.</a:t>
            </a:r>
          </a:p>
          <a:p>
            <a:endParaRPr lang="en-US" sz="800" dirty="0"/>
          </a:p>
          <a:p>
            <a:pPr marL="457200" indent="-457200">
              <a:buFont typeface="+mj-lt"/>
              <a:buAutoNum type="arabicPeriod"/>
            </a:pPr>
            <a:r>
              <a:rPr lang="en-US" dirty="0"/>
              <a:t>State the purpose of the worksheet.</a:t>
            </a:r>
          </a:p>
          <a:p>
            <a:pPr marL="457200" indent="-457200">
              <a:buFont typeface="+mj-lt"/>
              <a:buAutoNum type="arabicPeriod"/>
            </a:pPr>
            <a:r>
              <a:rPr lang="en-US" dirty="0"/>
              <a:t>Decide what input values are needed: create a range of cells to enter values for your data and use clear labels. This is the </a:t>
            </a:r>
            <a:r>
              <a:rPr lang="en-US" i="1" dirty="0"/>
              <a:t>input area</a:t>
            </a:r>
            <a:r>
              <a:rPr lang="en-US" dirty="0"/>
              <a:t>.</a:t>
            </a:r>
          </a:p>
          <a:p>
            <a:pPr marL="457200" indent="-457200">
              <a:buFont typeface="+mj-lt"/>
              <a:buAutoNum type="arabicPeriod"/>
            </a:pPr>
            <a:r>
              <a:rPr lang="en-US" dirty="0"/>
              <a:t>Decide what outputs are needed to achieve the purpose of the worksheet: create an </a:t>
            </a:r>
            <a:r>
              <a:rPr lang="en-US" i="1" dirty="0"/>
              <a:t>output area</a:t>
            </a:r>
            <a:r>
              <a:rPr lang="en-US" dirty="0"/>
              <a:t>, a range of cells that contains the results of manipulating values in the input area.</a:t>
            </a:r>
          </a:p>
          <a:p>
            <a:pPr marL="457200" indent="-457200">
              <a:buFont typeface="+mj-lt"/>
              <a:buAutoNum type="arabicPeriod"/>
            </a:pPr>
            <a:endParaRPr lang="en-US" sz="1100" dirty="0"/>
          </a:p>
          <a:p>
            <a:pPr marL="0" indent="0">
              <a:buNone/>
            </a:pPr>
            <a:r>
              <a:rPr lang="en-US" dirty="0">
                <a:sym typeface="Wingdings" panose="05000000000000000000" pitchFamily="2" charset="2"/>
              </a:rPr>
              <a:t></a:t>
            </a:r>
            <a:r>
              <a:rPr lang="en-US" sz="2000" dirty="0"/>
              <a:t>A good practice is to avoid constants (raw numbers) in formulas and instead use references to cells containing those numbers.</a:t>
            </a: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FC6D7323-3F06-479E-ADC8-7BC729C5AF45}" type="slidenum">
              <a:rPr lang="en-US" smtClean="0"/>
              <a:t>4</a:t>
            </a:fld>
            <a:endParaRPr lang="en-US"/>
          </a:p>
        </p:txBody>
      </p:sp>
    </p:spTree>
    <p:extLst>
      <p:ext uri="{BB962C8B-B14F-4D97-AF65-F5344CB8AC3E}">
        <p14:creationId xmlns:p14="http://schemas.microsoft.com/office/powerpoint/2010/main" val="3900120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19" y="499534"/>
            <a:ext cx="8451384" cy="1203143"/>
          </a:xfrm>
        </p:spPr>
        <p:txBody>
          <a:bodyPr>
            <a:normAutofit/>
          </a:bodyPr>
          <a:lstStyle/>
          <a:p>
            <a:r>
              <a:rPr lang="en-US" dirty="0"/>
              <a:t>Entering the data</a:t>
            </a:r>
          </a:p>
        </p:txBody>
      </p:sp>
      <p:sp>
        <p:nvSpPr>
          <p:cNvPr id="3" name="Content Placeholder 2"/>
          <p:cNvSpPr>
            <a:spLocks noGrp="1"/>
          </p:cNvSpPr>
          <p:nvPr>
            <p:ph idx="1"/>
          </p:nvPr>
        </p:nvSpPr>
        <p:spPr>
          <a:xfrm>
            <a:off x="2016919" y="1867269"/>
            <a:ext cx="8065294" cy="4628125"/>
          </a:xfrm>
        </p:spPr>
        <p:txBody>
          <a:bodyPr>
            <a:normAutofit fontScale="92500"/>
          </a:bodyPr>
          <a:lstStyle/>
          <a:p>
            <a:r>
              <a:rPr lang="en-US" dirty="0"/>
              <a:t>After planning and building the structure of the worksheet, it is time to enter the data.</a:t>
            </a:r>
          </a:p>
          <a:p>
            <a:endParaRPr lang="en-US" sz="800" dirty="0"/>
          </a:p>
          <a:p>
            <a:pPr marL="457200" indent="-457200">
              <a:buFont typeface="+mj-lt"/>
              <a:buAutoNum type="arabicPeriod"/>
            </a:pPr>
            <a:r>
              <a:rPr lang="en-US" dirty="0"/>
              <a:t>Enter the labels, values and formulas: change the input values to test that your formulas produce correct results.</a:t>
            </a:r>
          </a:p>
          <a:p>
            <a:pPr marL="457200" indent="-457200">
              <a:buFont typeface="+mj-lt"/>
              <a:buAutoNum type="arabicPeriod"/>
            </a:pPr>
            <a:r>
              <a:rPr lang="en-US" dirty="0"/>
              <a:t>Format the numerical values in the worksheet: adjust the number of decimal places as needed, use the </a:t>
            </a:r>
            <a:r>
              <a:rPr lang="en-US" i="1" dirty="0"/>
              <a:t>Accounting Number Format</a:t>
            </a:r>
            <a:r>
              <a:rPr lang="en-US" dirty="0"/>
              <a:t> and </a:t>
            </a:r>
            <a:r>
              <a:rPr lang="en-US" i="1" dirty="0"/>
              <a:t>Percent Style</a:t>
            </a:r>
            <a:r>
              <a:rPr lang="en-US" dirty="0"/>
              <a:t>.</a:t>
            </a:r>
          </a:p>
          <a:p>
            <a:pPr marL="457200" indent="-457200">
              <a:buFont typeface="+mj-lt"/>
              <a:buAutoNum type="arabicPeriod"/>
            </a:pPr>
            <a:r>
              <a:rPr lang="en-US" dirty="0"/>
              <a:t>Format the descriptive titles and labels attractively but so as not to distract your audience from the purpose of the worksheet. Include a descriptive title.</a:t>
            </a:r>
          </a:p>
          <a:p>
            <a:pPr marL="457200" indent="-457200">
              <a:buFont typeface="+mj-lt"/>
              <a:buAutoNum type="arabicPeriod"/>
            </a:pPr>
            <a:endParaRPr lang="en-US" dirty="0"/>
          </a:p>
          <a:p>
            <a:pPr marL="457200" indent="-45720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FC6D7323-3F06-479E-ADC8-7BC729C5AF45}" type="slidenum">
              <a:rPr lang="en-US" smtClean="0"/>
              <a:t>5</a:t>
            </a:fld>
            <a:endParaRPr lang="en-US"/>
          </a:p>
        </p:txBody>
      </p:sp>
    </p:spTree>
    <p:extLst>
      <p:ext uri="{BB962C8B-B14F-4D97-AF65-F5344CB8AC3E}">
        <p14:creationId xmlns:p14="http://schemas.microsoft.com/office/powerpoint/2010/main" val="489075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781912"/>
          </a:xfrm>
        </p:spPr>
        <p:txBody>
          <a:bodyPr/>
          <a:lstStyle/>
          <a:p>
            <a:r>
              <a:rPr lang="en-US" dirty="0"/>
              <a:t>Excel </a:t>
            </a:r>
            <a:r>
              <a:rPr lang="en-US" dirty="0" err="1"/>
              <a:t>vs</a:t>
            </a:r>
            <a:r>
              <a:rPr lang="en-US" dirty="0"/>
              <a:t> Access</a:t>
            </a:r>
          </a:p>
        </p:txBody>
      </p:sp>
      <p:sp>
        <p:nvSpPr>
          <p:cNvPr id="3" name="Text Placeholder 2"/>
          <p:cNvSpPr>
            <a:spLocks noGrp="1"/>
          </p:cNvSpPr>
          <p:nvPr>
            <p:ph type="body" idx="1"/>
          </p:nvPr>
        </p:nvSpPr>
        <p:spPr>
          <a:xfrm>
            <a:off x="2008813" y="1374267"/>
            <a:ext cx="3806190" cy="723400"/>
          </a:xfrm>
        </p:spPr>
        <p:txBody>
          <a:bodyPr>
            <a:normAutofit lnSpcReduction="10000"/>
          </a:bodyPr>
          <a:lstStyle/>
          <a:p>
            <a:r>
              <a:rPr lang="en-US" dirty="0">
                <a:solidFill>
                  <a:schemeClr val="accent1"/>
                </a:solidFill>
              </a:rPr>
              <a:t>Excel is for data analysis</a:t>
            </a:r>
          </a:p>
        </p:txBody>
      </p:sp>
      <p:sp>
        <p:nvSpPr>
          <p:cNvPr id="4" name="Content Placeholder 3"/>
          <p:cNvSpPr>
            <a:spLocks noGrp="1"/>
          </p:cNvSpPr>
          <p:nvPr>
            <p:ph sz="half" idx="2"/>
          </p:nvPr>
        </p:nvSpPr>
        <p:spPr>
          <a:xfrm>
            <a:off x="2031492" y="2188663"/>
            <a:ext cx="3806190" cy="4184542"/>
          </a:xfrm>
        </p:spPr>
        <p:txBody>
          <a:bodyPr>
            <a:normAutofit/>
          </a:bodyPr>
          <a:lstStyle/>
          <a:p>
            <a:pPr>
              <a:buFont typeface="Arial"/>
              <a:buChar char="•"/>
            </a:pPr>
            <a:r>
              <a:rPr lang="en-US" dirty="0"/>
              <a:t>Targets numerical data</a:t>
            </a:r>
          </a:p>
          <a:p>
            <a:pPr>
              <a:buFont typeface="Arial"/>
              <a:buChar char="•"/>
            </a:pPr>
            <a:r>
              <a:rPr lang="en-US" dirty="0"/>
              <a:t>Charts</a:t>
            </a:r>
          </a:p>
          <a:p>
            <a:pPr>
              <a:buFont typeface="Arial"/>
              <a:buChar char="•"/>
            </a:pPr>
            <a:r>
              <a:rPr lang="en-US" dirty="0"/>
              <a:t>Summaries with pivot tables</a:t>
            </a:r>
          </a:p>
          <a:p>
            <a:pPr>
              <a:buFont typeface="Arial"/>
              <a:buChar char="•"/>
            </a:pPr>
            <a:r>
              <a:rPr lang="en-US" dirty="0"/>
              <a:t>Short learning curve</a:t>
            </a:r>
          </a:p>
          <a:p>
            <a:pPr>
              <a:buFont typeface="Arial"/>
              <a:buChar char="•"/>
            </a:pPr>
            <a:r>
              <a:rPr lang="en-US" sz="2000" dirty="0"/>
              <a:t>Maintaining a massive Excel spreadsheet with thousands of entries becomes increasingly difficult and as your data evolves the need to update your formulas, summary ranges </a:t>
            </a:r>
          </a:p>
        </p:txBody>
      </p:sp>
      <p:sp>
        <p:nvSpPr>
          <p:cNvPr id="5" name="Text Placeholder 4"/>
          <p:cNvSpPr>
            <a:spLocks noGrp="1"/>
          </p:cNvSpPr>
          <p:nvPr>
            <p:ph type="body" sz="quarter" idx="3"/>
          </p:nvPr>
        </p:nvSpPr>
        <p:spPr>
          <a:xfrm>
            <a:off x="6199593" y="1372236"/>
            <a:ext cx="3806190" cy="722376"/>
          </a:xfrm>
        </p:spPr>
        <p:txBody>
          <a:bodyPr>
            <a:normAutofit lnSpcReduction="10000"/>
          </a:bodyPr>
          <a:lstStyle/>
          <a:p>
            <a:r>
              <a:rPr lang="en-US" dirty="0">
                <a:solidFill>
                  <a:schemeClr val="accent1"/>
                </a:solidFill>
              </a:rPr>
              <a:t>Access is for data management</a:t>
            </a:r>
          </a:p>
        </p:txBody>
      </p:sp>
      <p:sp>
        <p:nvSpPr>
          <p:cNvPr id="6" name="Content Placeholder 5"/>
          <p:cNvSpPr>
            <a:spLocks noGrp="1"/>
          </p:cNvSpPr>
          <p:nvPr>
            <p:ph sz="quarter" idx="4"/>
          </p:nvPr>
        </p:nvSpPr>
        <p:spPr>
          <a:xfrm>
            <a:off x="6290310" y="2200003"/>
            <a:ext cx="3806190" cy="4150522"/>
          </a:xfrm>
        </p:spPr>
        <p:txBody>
          <a:bodyPr>
            <a:normAutofit/>
          </a:bodyPr>
          <a:lstStyle/>
          <a:p>
            <a:pPr>
              <a:buFont typeface="Arial"/>
              <a:buChar char="•"/>
            </a:pPr>
            <a:r>
              <a:rPr lang="en-US" dirty="0"/>
              <a:t>Database structure</a:t>
            </a:r>
          </a:p>
          <a:p>
            <a:pPr>
              <a:buFont typeface="Arial"/>
              <a:buChar char="•"/>
            </a:pPr>
            <a:r>
              <a:rPr lang="en-US" dirty="0"/>
              <a:t>Data organization and storage</a:t>
            </a:r>
          </a:p>
          <a:p>
            <a:pPr>
              <a:buFont typeface="Arial"/>
              <a:buChar char="•"/>
            </a:pPr>
            <a:r>
              <a:rPr lang="en-US" dirty="0"/>
              <a:t>Data consistency and redundancy control</a:t>
            </a:r>
          </a:p>
          <a:p>
            <a:pPr>
              <a:buFont typeface="Arial"/>
              <a:buChar char="•"/>
            </a:pPr>
            <a:r>
              <a:rPr lang="en-US" dirty="0"/>
              <a:t>Complex queries</a:t>
            </a:r>
          </a:p>
          <a:p>
            <a:pPr>
              <a:buFont typeface="Arial"/>
              <a:buChar char="•"/>
            </a:pPr>
            <a:r>
              <a:rPr lang="en-US" dirty="0"/>
              <a:t>Can deal with a large amount of data</a:t>
            </a:r>
          </a:p>
          <a:p>
            <a:pPr marL="0" indent="0">
              <a:buNone/>
            </a:pPr>
            <a:endParaRPr lang="en-US" dirty="0"/>
          </a:p>
        </p:txBody>
      </p:sp>
      <p:sp>
        <p:nvSpPr>
          <p:cNvPr id="7" name="Slide Number Placeholder 6"/>
          <p:cNvSpPr>
            <a:spLocks noGrp="1"/>
          </p:cNvSpPr>
          <p:nvPr>
            <p:ph type="sldNum" sz="quarter" idx="12"/>
          </p:nvPr>
        </p:nvSpPr>
        <p:spPr/>
        <p:txBody>
          <a:bodyPr/>
          <a:lstStyle/>
          <a:p>
            <a:fld id="{1ADF169C-3A13-4720-8652-1240B672470F}" type="slidenum">
              <a:rPr lang="en-US" smtClean="0"/>
              <a:t>6</a:t>
            </a:fld>
            <a:endParaRPr lang="en-US"/>
          </a:p>
        </p:txBody>
      </p:sp>
    </p:spTree>
    <p:extLst>
      <p:ext uri="{BB962C8B-B14F-4D97-AF65-F5344CB8AC3E}">
        <p14:creationId xmlns:p14="http://schemas.microsoft.com/office/powerpoint/2010/main" val="3294701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tables</a:t>
            </a:r>
          </a:p>
        </p:txBody>
      </p:sp>
      <p:sp>
        <p:nvSpPr>
          <p:cNvPr id="3" name="Text Placeholder 2"/>
          <p:cNvSpPr>
            <a:spLocks noGrp="1"/>
          </p:cNvSpPr>
          <p:nvPr>
            <p:ph type="body" idx="1"/>
          </p:nvPr>
        </p:nvSpPr>
        <p:spPr/>
        <p:txBody>
          <a:bodyPr/>
          <a:lstStyle/>
          <a:p>
            <a:r>
              <a:rPr lang="en-US" i="1" dirty="0">
                <a:solidFill>
                  <a:srgbClr val="0000FF"/>
                </a:solidFill>
              </a:rPr>
              <a:t>Staff.xlsx and Staff_solutions.xlsx</a:t>
            </a:r>
          </a:p>
        </p:txBody>
      </p:sp>
      <p:sp>
        <p:nvSpPr>
          <p:cNvPr id="4" name="Slide Number Placeholder 3"/>
          <p:cNvSpPr>
            <a:spLocks noGrp="1"/>
          </p:cNvSpPr>
          <p:nvPr>
            <p:ph type="sldNum" sz="quarter" idx="12"/>
          </p:nvPr>
        </p:nvSpPr>
        <p:spPr/>
        <p:txBody>
          <a:bodyPr/>
          <a:lstStyle/>
          <a:p>
            <a:fld id="{1ADF169C-3A13-4720-8652-1240B672470F}" type="slidenum">
              <a:rPr lang="en-US" smtClean="0"/>
              <a:t>7</a:t>
            </a:fld>
            <a:endParaRPr lang="en-US"/>
          </a:p>
        </p:txBody>
      </p:sp>
    </p:spTree>
    <p:extLst>
      <p:ext uri="{BB962C8B-B14F-4D97-AF65-F5344CB8AC3E}">
        <p14:creationId xmlns:p14="http://schemas.microsoft.com/office/powerpoint/2010/main" val="100136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4"/>
            <a:ext cx="8079581" cy="900899"/>
          </a:xfrm>
        </p:spPr>
        <p:txBody>
          <a:bodyPr/>
          <a:lstStyle/>
          <a:p>
            <a:r>
              <a:rPr lang="en-US" dirty="0"/>
              <a:t>The Staff data</a:t>
            </a:r>
          </a:p>
        </p:txBody>
      </p:sp>
      <p:sp>
        <p:nvSpPr>
          <p:cNvPr id="6" name="Slide Number Placeholder 5"/>
          <p:cNvSpPr>
            <a:spLocks noGrp="1"/>
          </p:cNvSpPr>
          <p:nvPr>
            <p:ph type="sldNum" sz="quarter" idx="12"/>
          </p:nvPr>
        </p:nvSpPr>
        <p:spPr/>
        <p:txBody>
          <a:bodyPr/>
          <a:lstStyle/>
          <a:p>
            <a:fld id="{1ADF169C-3A13-4720-8652-1240B672470F}" type="slidenum">
              <a:rPr lang="en-US" smtClean="0"/>
              <a:t>8</a:t>
            </a:fld>
            <a:endParaRPr lang="en-US"/>
          </a:p>
        </p:txBody>
      </p:sp>
      <p:pic>
        <p:nvPicPr>
          <p:cNvPr id="4" name="Picture 3"/>
          <p:cNvPicPr>
            <a:picLocks noChangeAspect="1"/>
          </p:cNvPicPr>
          <p:nvPr/>
        </p:nvPicPr>
        <p:blipFill>
          <a:blip r:embed="rId2"/>
          <a:stretch>
            <a:fillRect/>
          </a:stretch>
        </p:blipFill>
        <p:spPr>
          <a:xfrm>
            <a:off x="1928375" y="2486390"/>
            <a:ext cx="8546985" cy="2310525"/>
          </a:xfrm>
          <a:prstGeom prst="rect">
            <a:avLst/>
          </a:prstGeom>
        </p:spPr>
      </p:pic>
      <p:sp>
        <p:nvSpPr>
          <p:cNvPr id="5" name="Line Callout 1 4"/>
          <p:cNvSpPr/>
          <p:nvPr/>
        </p:nvSpPr>
        <p:spPr>
          <a:xfrm>
            <a:off x="8063978" y="1372168"/>
            <a:ext cx="2305389" cy="960748"/>
          </a:xfrm>
          <a:prstGeom prst="borderCallout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Technically, this is a range, not a </a:t>
            </a:r>
            <a:r>
              <a:rPr lang="en-US" i="1" dirty="0"/>
              <a:t>table</a:t>
            </a:r>
            <a:r>
              <a:rPr lang="en-US" dirty="0"/>
              <a:t> yet</a:t>
            </a:r>
          </a:p>
        </p:txBody>
      </p:sp>
    </p:spTree>
    <p:extLst>
      <p:ext uri="{BB962C8B-B14F-4D97-AF65-F5344CB8AC3E}">
        <p14:creationId xmlns:p14="http://schemas.microsoft.com/office/powerpoint/2010/main" val="1036729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38339" y="2273804"/>
            <a:ext cx="7858125" cy="3336131"/>
          </a:xfrm>
          <a:prstGeom prst="rect">
            <a:avLst/>
          </a:prstGeom>
        </p:spPr>
      </p:pic>
      <p:sp>
        <p:nvSpPr>
          <p:cNvPr id="2" name="Title 1"/>
          <p:cNvSpPr>
            <a:spLocks noGrp="1"/>
          </p:cNvSpPr>
          <p:nvPr>
            <p:ph type="title"/>
          </p:nvPr>
        </p:nvSpPr>
        <p:spPr>
          <a:xfrm>
            <a:off x="2000444" y="186462"/>
            <a:ext cx="8079581" cy="900899"/>
          </a:xfrm>
        </p:spPr>
        <p:txBody>
          <a:bodyPr/>
          <a:lstStyle/>
          <a:p>
            <a:r>
              <a:rPr lang="en-US" dirty="0"/>
              <a:t>Format as an Excel table</a:t>
            </a:r>
          </a:p>
        </p:txBody>
      </p:sp>
      <p:sp>
        <p:nvSpPr>
          <p:cNvPr id="3" name="Slide Number Placeholder 2"/>
          <p:cNvSpPr>
            <a:spLocks noGrp="1"/>
          </p:cNvSpPr>
          <p:nvPr>
            <p:ph type="sldNum" sz="quarter" idx="12"/>
          </p:nvPr>
        </p:nvSpPr>
        <p:spPr/>
        <p:txBody>
          <a:bodyPr/>
          <a:lstStyle/>
          <a:p>
            <a:fld id="{1ADF169C-3A13-4720-8652-1240B672470F}" type="slidenum">
              <a:rPr lang="en-US" smtClean="0"/>
              <a:t>9</a:t>
            </a:fld>
            <a:endParaRPr lang="en-US"/>
          </a:p>
        </p:txBody>
      </p:sp>
      <p:sp>
        <p:nvSpPr>
          <p:cNvPr id="5" name="Line Callout 1 4"/>
          <p:cNvSpPr/>
          <p:nvPr/>
        </p:nvSpPr>
        <p:spPr>
          <a:xfrm>
            <a:off x="8097794" y="1400433"/>
            <a:ext cx="2405448" cy="634313"/>
          </a:xfrm>
          <a:prstGeom prst="borderCallout1">
            <a:avLst>
              <a:gd name="adj1" fmla="val 64205"/>
              <a:gd name="adj2" fmla="val -3539"/>
              <a:gd name="adj3" fmla="val 118993"/>
              <a:gd name="adj4" fmla="val -23265"/>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t>Columns correspond to fields (similar to databases)</a:t>
            </a:r>
          </a:p>
        </p:txBody>
      </p:sp>
      <p:sp>
        <p:nvSpPr>
          <p:cNvPr id="6" name="Line Callout 1 5"/>
          <p:cNvSpPr/>
          <p:nvPr/>
        </p:nvSpPr>
        <p:spPr>
          <a:xfrm>
            <a:off x="8452023" y="5988909"/>
            <a:ext cx="1828800" cy="494397"/>
          </a:xfrm>
          <a:prstGeom prst="borderCallout1">
            <a:avLst>
              <a:gd name="adj1" fmla="val 18750"/>
              <a:gd name="adj2" fmla="val -8333"/>
              <a:gd name="adj3" fmla="val -110370"/>
              <a:gd name="adj4" fmla="val -27718"/>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t>Rows correspond to different records</a:t>
            </a:r>
          </a:p>
        </p:txBody>
      </p:sp>
      <p:sp>
        <p:nvSpPr>
          <p:cNvPr id="8" name="Line Callout 1 7"/>
          <p:cNvSpPr/>
          <p:nvPr/>
        </p:nvSpPr>
        <p:spPr>
          <a:xfrm>
            <a:off x="1600201" y="1165735"/>
            <a:ext cx="4125097" cy="869011"/>
          </a:xfrm>
          <a:prstGeom prst="borderCallout1">
            <a:avLst>
              <a:gd name="adj1" fmla="val 58564"/>
              <a:gd name="adj2" fmla="val 102084"/>
              <a:gd name="adj3" fmla="val 163690"/>
              <a:gd name="adj4" fmla="val 12023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Usually the small buttons on the cells of the first row mean that you have a table </a:t>
            </a:r>
            <a:r>
              <a:rPr lang="en-US" sz="1600" i="1" dirty="0"/>
              <a:t>(there is an option to hide the buttons too).</a:t>
            </a:r>
          </a:p>
        </p:txBody>
      </p:sp>
      <p:cxnSp>
        <p:nvCxnSpPr>
          <p:cNvPr id="12" name="Straight Arrow Connector 11"/>
          <p:cNvCxnSpPr/>
          <p:nvPr/>
        </p:nvCxnSpPr>
        <p:spPr>
          <a:xfrm>
            <a:off x="5799438" y="1655806"/>
            <a:ext cx="683740" cy="98030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2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806808" y="3264100"/>
            <a:ext cx="8599541" cy="2354106"/>
          </a:xfrm>
          <a:prstGeom prst="rect">
            <a:avLst/>
          </a:prstGeom>
        </p:spPr>
      </p:pic>
      <p:sp>
        <p:nvSpPr>
          <p:cNvPr id="7" name="TextBox 6"/>
          <p:cNvSpPr txBox="1"/>
          <p:nvPr/>
        </p:nvSpPr>
        <p:spPr>
          <a:xfrm>
            <a:off x="1924197" y="1610643"/>
            <a:ext cx="1683514" cy="113107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350" dirty="0"/>
              <a:t>A duplicate row in a table is a row that has exactly the same information in one or more columns.</a:t>
            </a:r>
          </a:p>
        </p:txBody>
      </p:sp>
      <p:sp>
        <p:nvSpPr>
          <p:cNvPr id="8" name="TextBox 7"/>
          <p:cNvSpPr txBox="1"/>
          <p:nvPr/>
        </p:nvSpPr>
        <p:spPr>
          <a:xfrm>
            <a:off x="4215434" y="1786016"/>
            <a:ext cx="1347449" cy="71558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350" dirty="0"/>
              <a:t>Convert back to normal range in Excel</a:t>
            </a:r>
          </a:p>
        </p:txBody>
      </p:sp>
      <p:sp>
        <p:nvSpPr>
          <p:cNvPr id="9" name="TextBox 8"/>
          <p:cNvSpPr txBox="1"/>
          <p:nvPr/>
        </p:nvSpPr>
        <p:spPr>
          <a:xfrm>
            <a:off x="8875709" y="2187616"/>
            <a:ext cx="1125026" cy="5078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350" dirty="0"/>
              <a:t>Changes the appearance</a:t>
            </a:r>
          </a:p>
        </p:txBody>
      </p:sp>
      <p:sp>
        <p:nvSpPr>
          <p:cNvPr id="2" name="Title 1"/>
          <p:cNvSpPr>
            <a:spLocks noGrp="1"/>
          </p:cNvSpPr>
          <p:nvPr>
            <p:ph type="title"/>
          </p:nvPr>
        </p:nvSpPr>
        <p:spPr>
          <a:xfrm>
            <a:off x="2031207" y="359752"/>
            <a:ext cx="8079581" cy="1057156"/>
          </a:xfrm>
        </p:spPr>
        <p:txBody>
          <a:bodyPr/>
          <a:lstStyle/>
          <a:p>
            <a:r>
              <a:rPr lang="en-US" dirty="0"/>
              <a:t>Table tools</a:t>
            </a:r>
          </a:p>
        </p:txBody>
      </p:sp>
      <p:sp>
        <p:nvSpPr>
          <p:cNvPr id="3" name="Slide Number Placeholder 2"/>
          <p:cNvSpPr>
            <a:spLocks noGrp="1"/>
          </p:cNvSpPr>
          <p:nvPr>
            <p:ph type="sldNum" sz="quarter" idx="12"/>
          </p:nvPr>
        </p:nvSpPr>
        <p:spPr/>
        <p:txBody>
          <a:bodyPr/>
          <a:lstStyle/>
          <a:p>
            <a:fld id="{1ADF169C-3A13-4720-8652-1240B672470F}" type="slidenum">
              <a:rPr lang="en-US" smtClean="0"/>
              <a:t>10</a:t>
            </a:fld>
            <a:endParaRPr lang="en-US"/>
          </a:p>
        </p:txBody>
      </p:sp>
      <p:cxnSp>
        <p:nvCxnSpPr>
          <p:cNvPr id="5" name="Straight Arrow Connector 4"/>
          <p:cNvCxnSpPr/>
          <p:nvPr/>
        </p:nvCxnSpPr>
        <p:spPr>
          <a:xfrm flipH="1">
            <a:off x="9415849" y="2695439"/>
            <a:ext cx="271848" cy="85507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2"/>
          </p:cNvCxnSpPr>
          <p:nvPr/>
        </p:nvCxnSpPr>
        <p:spPr>
          <a:xfrm flipH="1">
            <a:off x="3484606" y="2501597"/>
            <a:ext cx="1404553" cy="15514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092412" y="2741721"/>
            <a:ext cx="490151" cy="11053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947166" y="1822343"/>
            <a:ext cx="1134152" cy="5078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350" dirty="0"/>
              <a:t>Creates a total row</a:t>
            </a:r>
          </a:p>
        </p:txBody>
      </p:sp>
      <p:cxnSp>
        <p:nvCxnSpPr>
          <p:cNvPr id="25" name="Straight Arrow Connector 24"/>
          <p:cNvCxnSpPr>
            <a:stCxn id="24" idx="2"/>
          </p:cNvCxnSpPr>
          <p:nvPr/>
        </p:nvCxnSpPr>
        <p:spPr>
          <a:xfrm flipH="1">
            <a:off x="6252520" y="2330173"/>
            <a:ext cx="261723" cy="151689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6481291" y="3155094"/>
            <a:ext cx="660915" cy="5354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6051608" y="5886779"/>
            <a:ext cx="1667131" cy="71558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350" i="1" dirty="0" err="1"/>
              <a:t>Autofilter</a:t>
            </a:r>
            <a:r>
              <a:rPr lang="en-US" sz="1350" dirty="0"/>
              <a:t> buttons (they are not printed)</a:t>
            </a:r>
          </a:p>
        </p:txBody>
      </p:sp>
      <p:cxnSp>
        <p:nvCxnSpPr>
          <p:cNvPr id="31" name="Straight Arrow Connector 30"/>
          <p:cNvCxnSpPr>
            <a:stCxn id="30" idx="0"/>
          </p:cNvCxnSpPr>
          <p:nvPr/>
        </p:nvCxnSpPr>
        <p:spPr>
          <a:xfrm flipH="1" flipV="1">
            <a:off x="6656175" y="5165126"/>
            <a:ext cx="228998" cy="72165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1030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063" y="280088"/>
            <a:ext cx="8079581" cy="971482"/>
          </a:xfrm>
        </p:spPr>
        <p:txBody>
          <a:bodyPr>
            <a:normAutofit fontScale="90000"/>
          </a:bodyPr>
          <a:lstStyle/>
          <a:p>
            <a:r>
              <a:rPr lang="en-US" dirty="0"/>
              <a:t>What is the difference between a normal range and a table?</a:t>
            </a:r>
          </a:p>
        </p:txBody>
      </p:sp>
      <p:sp>
        <p:nvSpPr>
          <p:cNvPr id="3" name="Content Placeholder 2"/>
          <p:cNvSpPr>
            <a:spLocks noGrp="1"/>
          </p:cNvSpPr>
          <p:nvPr>
            <p:ph idx="1"/>
          </p:nvPr>
        </p:nvSpPr>
        <p:spPr>
          <a:xfrm>
            <a:off x="2038349" y="1663881"/>
            <a:ext cx="8341327" cy="4572163"/>
          </a:xfrm>
        </p:spPr>
        <p:txBody>
          <a:bodyPr>
            <a:normAutofit/>
          </a:bodyPr>
          <a:lstStyle/>
          <a:p>
            <a:pPr marL="0" indent="0">
              <a:lnSpc>
                <a:spcPct val="110000"/>
              </a:lnSpc>
              <a:buNone/>
            </a:pPr>
            <a:r>
              <a:rPr lang="en-US" sz="2500" dirty="0"/>
              <a:t>When you create a table in Excel you are activating features that </a:t>
            </a:r>
            <a:r>
              <a:rPr lang="en-US" sz="2500" b="1" dirty="0">
                <a:solidFill>
                  <a:schemeClr val="accent1">
                    <a:lumMod val="75000"/>
                  </a:schemeClr>
                </a:solidFill>
              </a:rPr>
              <a:t>facilitate dealing with a lot of data </a:t>
            </a:r>
            <a:r>
              <a:rPr lang="en-US" sz="2500" dirty="0"/>
              <a:t>and that do not exist for a regular range:</a:t>
            </a:r>
          </a:p>
          <a:p>
            <a:pPr>
              <a:lnSpc>
                <a:spcPct val="110000"/>
              </a:lnSpc>
              <a:buFont typeface="Wingdings" panose="05000000000000000000" pitchFamily="2" charset="2"/>
              <a:buChar char="§"/>
            </a:pPr>
            <a:r>
              <a:rPr lang="en-US" sz="2500" dirty="0"/>
              <a:t> Column headings remain onscreen when you scroll down;</a:t>
            </a:r>
          </a:p>
          <a:p>
            <a:pPr>
              <a:lnSpc>
                <a:spcPct val="110000"/>
              </a:lnSpc>
              <a:buFont typeface="Wingdings" panose="05000000000000000000" pitchFamily="2" charset="2"/>
              <a:buChar char="§"/>
            </a:pPr>
            <a:r>
              <a:rPr lang="en-US" sz="2500" dirty="0"/>
              <a:t> Efficient sorting and filtering</a:t>
            </a:r>
          </a:p>
          <a:p>
            <a:pPr>
              <a:lnSpc>
                <a:spcPct val="110000"/>
              </a:lnSpc>
              <a:buFont typeface="Wingdings" panose="05000000000000000000" pitchFamily="2" charset="2"/>
              <a:buChar char="§"/>
            </a:pPr>
            <a:r>
              <a:rPr lang="en-US" sz="2500" dirty="0"/>
              <a:t>Ability to create and edit calculated columns where the formulas copy down to rows automatically due to the use of structured references instead of cell references</a:t>
            </a:r>
          </a:p>
          <a:p>
            <a:pPr>
              <a:lnSpc>
                <a:spcPct val="110000"/>
              </a:lnSpc>
              <a:buFont typeface="Wingdings" panose="05000000000000000000" pitchFamily="2" charset="2"/>
              <a:buChar char="§"/>
            </a:pPr>
            <a:r>
              <a:rPr lang="en-US" sz="2500" dirty="0"/>
              <a:t> Calculated total row with several possible functions</a:t>
            </a:r>
          </a:p>
        </p:txBody>
      </p:sp>
      <p:sp>
        <p:nvSpPr>
          <p:cNvPr id="4" name="Slide Number Placeholder 3"/>
          <p:cNvSpPr>
            <a:spLocks noGrp="1"/>
          </p:cNvSpPr>
          <p:nvPr>
            <p:ph type="sldNum" sz="quarter" idx="12"/>
          </p:nvPr>
        </p:nvSpPr>
        <p:spPr/>
        <p:txBody>
          <a:bodyPr/>
          <a:lstStyle/>
          <a:p>
            <a:fld id="{1ADF169C-3A13-4720-8652-1240B672470F}" type="slidenum">
              <a:rPr lang="en-US" smtClean="0"/>
              <a:t>11</a:t>
            </a:fld>
            <a:endParaRPr lang="en-US"/>
          </a:p>
        </p:txBody>
      </p:sp>
    </p:spTree>
    <p:extLst>
      <p:ext uri="{BB962C8B-B14F-4D97-AF65-F5344CB8AC3E}">
        <p14:creationId xmlns:p14="http://schemas.microsoft.com/office/powerpoint/2010/main" val="919352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300" y="254835"/>
            <a:ext cx="8392463" cy="932103"/>
          </a:xfrm>
        </p:spPr>
        <p:txBody>
          <a:bodyPr>
            <a:normAutofit/>
          </a:bodyPr>
          <a:lstStyle/>
          <a:p>
            <a:r>
              <a:rPr lang="en-US" dirty="0"/>
              <a:t>Total row</a:t>
            </a:r>
          </a:p>
        </p:txBody>
      </p:sp>
      <p:sp>
        <p:nvSpPr>
          <p:cNvPr id="3" name="Content Placeholder 2"/>
          <p:cNvSpPr>
            <a:spLocks noGrp="1"/>
          </p:cNvSpPr>
          <p:nvPr>
            <p:ph idx="1"/>
          </p:nvPr>
        </p:nvSpPr>
        <p:spPr>
          <a:xfrm>
            <a:off x="1862300" y="1370100"/>
            <a:ext cx="8392463" cy="5043579"/>
          </a:xfrm>
        </p:spPr>
        <p:txBody>
          <a:bodyPr>
            <a:noAutofit/>
          </a:bodyPr>
          <a:lstStyle/>
          <a:p>
            <a:pPr>
              <a:lnSpc>
                <a:spcPct val="100000"/>
              </a:lnSpc>
            </a:pPr>
            <a:endParaRPr lang="en-US" sz="1400" dirty="0"/>
          </a:p>
          <a:p>
            <a:pPr marL="0" indent="0">
              <a:lnSpc>
                <a:spcPct val="100000"/>
              </a:lnSpc>
              <a:buNone/>
            </a:pPr>
            <a:r>
              <a:rPr lang="en-US" sz="2300" dirty="0"/>
              <a:t>Create a total row that: </a:t>
            </a:r>
          </a:p>
          <a:p>
            <a:pPr lvl="1">
              <a:lnSpc>
                <a:spcPct val="100000"/>
              </a:lnSpc>
              <a:buFont typeface="Arial" panose="020B0604020202020204" pitchFamily="34" charset="0"/>
              <a:buChar char="•"/>
            </a:pPr>
            <a:r>
              <a:rPr lang="en-US" sz="2300" dirty="0"/>
              <a:t>counts the number of employees</a:t>
            </a:r>
          </a:p>
          <a:p>
            <a:pPr lvl="1">
              <a:lnSpc>
                <a:spcPct val="100000"/>
              </a:lnSpc>
              <a:buFont typeface="Arial" panose="020B0604020202020204" pitchFamily="34" charset="0"/>
              <a:buChar char="•"/>
            </a:pPr>
            <a:r>
              <a:rPr lang="en-US" sz="2300" dirty="0"/>
              <a:t>displays the average gross salary</a:t>
            </a:r>
          </a:p>
        </p:txBody>
      </p:sp>
      <p:sp>
        <p:nvSpPr>
          <p:cNvPr id="4" name="Slide Number Placeholder 3"/>
          <p:cNvSpPr>
            <a:spLocks noGrp="1"/>
          </p:cNvSpPr>
          <p:nvPr>
            <p:ph type="sldNum" sz="quarter" idx="12"/>
          </p:nvPr>
        </p:nvSpPr>
        <p:spPr/>
        <p:txBody>
          <a:bodyPr/>
          <a:lstStyle/>
          <a:p>
            <a:fld id="{1ADF169C-3A13-4720-8652-1240B672470F}" type="slidenum">
              <a:rPr lang="en-US" smtClean="0"/>
              <a:t>12</a:t>
            </a:fld>
            <a:endParaRPr lang="en-US"/>
          </a:p>
        </p:txBody>
      </p:sp>
    </p:spTree>
    <p:extLst>
      <p:ext uri="{BB962C8B-B14F-4D97-AF65-F5344CB8AC3E}">
        <p14:creationId xmlns:p14="http://schemas.microsoft.com/office/powerpoint/2010/main" val="3047266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527370" y="2513326"/>
            <a:ext cx="5172075" cy="4210050"/>
          </a:xfrm>
          <a:prstGeom prst="rect">
            <a:avLst/>
          </a:prstGeom>
        </p:spPr>
      </p:pic>
      <p:sp>
        <p:nvSpPr>
          <p:cNvPr id="3" name="Title 2"/>
          <p:cNvSpPr>
            <a:spLocks noGrp="1"/>
          </p:cNvSpPr>
          <p:nvPr>
            <p:ph type="title"/>
          </p:nvPr>
        </p:nvSpPr>
        <p:spPr>
          <a:xfrm>
            <a:off x="2016920" y="172996"/>
            <a:ext cx="8079581" cy="1013255"/>
          </a:xfrm>
        </p:spPr>
        <p:txBody>
          <a:bodyPr>
            <a:normAutofit/>
          </a:bodyPr>
          <a:lstStyle/>
          <a:p>
            <a:r>
              <a:rPr lang="en-US" dirty="0"/>
              <a:t>Sorting a table</a:t>
            </a:r>
          </a:p>
        </p:txBody>
      </p:sp>
      <p:sp>
        <p:nvSpPr>
          <p:cNvPr id="5" name="Content Placeholder 4"/>
          <p:cNvSpPr>
            <a:spLocks noGrp="1"/>
          </p:cNvSpPr>
          <p:nvPr>
            <p:ph idx="1"/>
          </p:nvPr>
        </p:nvSpPr>
        <p:spPr>
          <a:xfrm>
            <a:off x="2067697" y="1186251"/>
            <a:ext cx="8328454" cy="3766185"/>
          </a:xfrm>
        </p:spPr>
        <p:txBody>
          <a:bodyPr/>
          <a:lstStyle/>
          <a:p>
            <a:pPr marL="0" indent="0">
              <a:buNone/>
            </a:pPr>
            <a:r>
              <a:rPr lang="en-US" sz="2600" dirty="0"/>
              <a:t>When we want to sort with respect to only one field we can easily use the </a:t>
            </a:r>
            <a:r>
              <a:rPr lang="en-US" sz="2600" i="1" dirty="0" err="1"/>
              <a:t>Autofilter</a:t>
            </a:r>
            <a:r>
              <a:rPr lang="en-US" sz="2600" dirty="0"/>
              <a:t> button of the corresponding field.</a:t>
            </a:r>
          </a:p>
          <a:p>
            <a:pPr marL="0" indent="0">
              <a:buNone/>
            </a:pPr>
            <a:r>
              <a:rPr lang="en-US" b="1" dirty="0"/>
              <a:t>Sort by salary (descending):</a:t>
            </a:r>
          </a:p>
        </p:txBody>
      </p:sp>
      <p:sp>
        <p:nvSpPr>
          <p:cNvPr id="2" name="Slide Number Placeholder 1"/>
          <p:cNvSpPr>
            <a:spLocks noGrp="1"/>
          </p:cNvSpPr>
          <p:nvPr>
            <p:ph type="sldNum" sz="quarter" idx="12"/>
          </p:nvPr>
        </p:nvSpPr>
        <p:spPr/>
        <p:txBody>
          <a:bodyPr/>
          <a:lstStyle/>
          <a:p>
            <a:fld id="{1ADF169C-3A13-4720-8652-1240B672470F}" type="slidenum">
              <a:rPr lang="en-US" smtClean="0"/>
              <a:t>13</a:t>
            </a:fld>
            <a:endParaRPr lang="en-US"/>
          </a:p>
        </p:txBody>
      </p:sp>
      <p:sp>
        <p:nvSpPr>
          <p:cNvPr id="7" name="Rectangle 6"/>
          <p:cNvSpPr/>
          <p:nvPr/>
        </p:nvSpPr>
        <p:spPr>
          <a:xfrm>
            <a:off x="7232822" y="2493749"/>
            <a:ext cx="296563" cy="2800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85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87762" y="2324322"/>
            <a:ext cx="8147222" cy="4441605"/>
          </a:xfrm>
          <a:prstGeom prst="rect">
            <a:avLst/>
          </a:prstGeom>
        </p:spPr>
      </p:pic>
      <p:sp>
        <p:nvSpPr>
          <p:cNvPr id="3" name="Title 2"/>
          <p:cNvSpPr>
            <a:spLocks noGrp="1"/>
          </p:cNvSpPr>
          <p:nvPr>
            <p:ph type="title"/>
          </p:nvPr>
        </p:nvSpPr>
        <p:spPr>
          <a:xfrm>
            <a:off x="2016920" y="172996"/>
            <a:ext cx="8079581" cy="657515"/>
          </a:xfrm>
        </p:spPr>
        <p:txBody>
          <a:bodyPr>
            <a:normAutofit fontScale="90000"/>
          </a:bodyPr>
          <a:lstStyle/>
          <a:p>
            <a:r>
              <a:rPr lang="en-US" dirty="0"/>
              <a:t>Sorting a table</a:t>
            </a:r>
          </a:p>
        </p:txBody>
      </p:sp>
      <p:sp>
        <p:nvSpPr>
          <p:cNvPr id="4" name="Slide Number Placeholder 3"/>
          <p:cNvSpPr>
            <a:spLocks noGrp="1"/>
          </p:cNvSpPr>
          <p:nvPr>
            <p:ph type="sldNum" sz="quarter" idx="12"/>
          </p:nvPr>
        </p:nvSpPr>
        <p:spPr/>
        <p:txBody>
          <a:bodyPr/>
          <a:lstStyle/>
          <a:p>
            <a:fld id="{1ADF169C-3A13-4720-8652-1240B672470F}" type="slidenum">
              <a:rPr lang="en-US" smtClean="0"/>
              <a:t>14</a:t>
            </a:fld>
            <a:endParaRPr lang="en-US"/>
          </a:p>
        </p:txBody>
      </p:sp>
      <p:sp>
        <p:nvSpPr>
          <p:cNvPr id="6" name="Content Placeholder 4"/>
          <p:cNvSpPr txBox="1">
            <a:spLocks/>
          </p:cNvSpPr>
          <p:nvPr/>
        </p:nvSpPr>
        <p:spPr>
          <a:xfrm>
            <a:off x="2008530" y="729844"/>
            <a:ext cx="8395708" cy="3707933"/>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buNone/>
            </a:pPr>
            <a:r>
              <a:rPr lang="en-US" sz="2600" dirty="0"/>
              <a:t>When we want to sort with respect to more than one field:</a:t>
            </a:r>
          </a:p>
          <a:p>
            <a:pPr marL="0" indent="0">
              <a:buNone/>
            </a:pPr>
            <a:r>
              <a:rPr lang="en-US" b="1" dirty="0"/>
              <a:t>Sort by Building, then by Department and then by Salary (descending):</a:t>
            </a:r>
          </a:p>
        </p:txBody>
      </p:sp>
    </p:spTree>
    <p:extLst>
      <p:ext uri="{BB962C8B-B14F-4D97-AF65-F5344CB8AC3E}">
        <p14:creationId xmlns:p14="http://schemas.microsoft.com/office/powerpoint/2010/main" val="1705075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16920" y="499533"/>
            <a:ext cx="8079581" cy="851472"/>
          </a:xfrm>
        </p:spPr>
        <p:txBody>
          <a:bodyPr/>
          <a:lstStyle/>
          <a:p>
            <a:r>
              <a:rPr lang="en-US" dirty="0"/>
              <a:t>Filters</a:t>
            </a:r>
          </a:p>
        </p:txBody>
      </p:sp>
      <p:sp>
        <p:nvSpPr>
          <p:cNvPr id="4" name="Content Placeholder 3"/>
          <p:cNvSpPr>
            <a:spLocks noGrp="1"/>
          </p:cNvSpPr>
          <p:nvPr>
            <p:ph idx="1"/>
          </p:nvPr>
        </p:nvSpPr>
        <p:spPr>
          <a:xfrm>
            <a:off x="2031206" y="1647405"/>
            <a:ext cx="8065294" cy="3766185"/>
          </a:xfrm>
        </p:spPr>
        <p:txBody>
          <a:bodyPr>
            <a:normAutofit/>
          </a:bodyPr>
          <a:lstStyle/>
          <a:p>
            <a:pPr algn="just"/>
            <a:r>
              <a:rPr lang="en-US" sz="2500" dirty="0"/>
              <a:t>When we have large tables it is not practical to display thousands of rows of data on screen at once. It is easier to work if you see just the data you currently need. </a:t>
            </a:r>
          </a:p>
          <a:p>
            <a:pPr algn="just"/>
            <a:r>
              <a:rPr lang="en-US" sz="2500" dirty="0"/>
              <a:t>Filters specify which data is shown and which data is hidden based on the specified criteria.</a:t>
            </a:r>
          </a:p>
          <a:p>
            <a:pPr algn="just"/>
            <a:endParaRPr lang="en-US" sz="2500" dirty="0"/>
          </a:p>
          <a:p>
            <a:pPr algn="just"/>
            <a:r>
              <a:rPr lang="en-US" b="1" dirty="0"/>
              <a:t>To filter we use the </a:t>
            </a:r>
            <a:r>
              <a:rPr lang="en-US" b="1" i="1" dirty="0" err="1"/>
              <a:t>Autofilter</a:t>
            </a:r>
            <a:r>
              <a:rPr lang="en-US" b="1" dirty="0"/>
              <a:t> buttons.</a:t>
            </a:r>
          </a:p>
        </p:txBody>
      </p:sp>
      <p:sp>
        <p:nvSpPr>
          <p:cNvPr id="2" name="Slide Number Placeholder 1"/>
          <p:cNvSpPr>
            <a:spLocks noGrp="1"/>
          </p:cNvSpPr>
          <p:nvPr>
            <p:ph type="sldNum" sz="quarter" idx="12"/>
          </p:nvPr>
        </p:nvSpPr>
        <p:spPr/>
        <p:txBody>
          <a:bodyPr/>
          <a:lstStyle/>
          <a:p>
            <a:fld id="{1ADF169C-3A13-4720-8652-1240B672470F}" type="slidenum">
              <a:rPr lang="en-US" smtClean="0"/>
              <a:t>15</a:t>
            </a:fld>
            <a:endParaRPr lang="en-US"/>
          </a:p>
        </p:txBody>
      </p:sp>
    </p:spTree>
    <p:extLst>
      <p:ext uri="{BB962C8B-B14F-4D97-AF65-F5344CB8AC3E}">
        <p14:creationId xmlns:p14="http://schemas.microsoft.com/office/powerpoint/2010/main" val="662460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18" y="384204"/>
            <a:ext cx="8079581" cy="1071830"/>
          </a:xfrm>
        </p:spPr>
        <p:txBody>
          <a:bodyPr>
            <a:normAutofit fontScale="90000"/>
          </a:bodyPr>
          <a:lstStyle/>
          <a:p>
            <a:r>
              <a:rPr lang="en-US" dirty="0"/>
              <a:t>Text filters – options</a:t>
            </a:r>
            <a:br>
              <a:rPr lang="en-US" dirty="0"/>
            </a:br>
            <a:endParaRPr lang="en-US" dirty="0"/>
          </a:p>
        </p:txBody>
      </p:sp>
      <p:sp>
        <p:nvSpPr>
          <p:cNvPr id="3" name="Slide Number Placeholder 2"/>
          <p:cNvSpPr>
            <a:spLocks noGrp="1"/>
          </p:cNvSpPr>
          <p:nvPr>
            <p:ph type="sldNum" sz="quarter" idx="12"/>
          </p:nvPr>
        </p:nvSpPr>
        <p:spPr/>
        <p:txBody>
          <a:bodyPr/>
          <a:lstStyle/>
          <a:p>
            <a:fld id="{1ADF169C-3A13-4720-8652-1240B672470F}" type="slidenum">
              <a:rPr lang="en-US" smtClean="0"/>
              <a:t>16</a:t>
            </a:fld>
            <a:endParaRPr lang="en-US"/>
          </a:p>
        </p:txBody>
      </p:sp>
      <p:pic>
        <p:nvPicPr>
          <p:cNvPr id="5" name="Picture 4"/>
          <p:cNvPicPr>
            <a:picLocks noChangeAspect="1"/>
          </p:cNvPicPr>
          <p:nvPr/>
        </p:nvPicPr>
        <p:blipFill rotWithShape="1">
          <a:blip r:embed="rId2"/>
          <a:srcRect l="-1" r="45043"/>
          <a:stretch/>
        </p:blipFill>
        <p:spPr>
          <a:xfrm>
            <a:off x="2897766" y="1088571"/>
            <a:ext cx="6763664" cy="5315630"/>
          </a:xfrm>
          <a:prstGeom prst="rect">
            <a:avLst/>
          </a:prstGeom>
        </p:spPr>
      </p:pic>
    </p:spTree>
    <p:extLst>
      <p:ext uri="{BB962C8B-B14F-4D97-AF65-F5344CB8AC3E}">
        <p14:creationId xmlns:p14="http://schemas.microsoft.com/office/powerpoint/2010/main" val="1455055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6207" y="287022"/>
            <a:ext cx="8079581" cy="1040943"/>
          </a:xfrm>
        </p:spPr>
        <p:txBody>
          <a:bodyPr>
            <a:normAutofit fontScale="90000"/>
          </a:bodyPr>
          <a:lstStyle/>
          <a:p>
            <a:r>
              <a:rPr lang="en-US" dirty="0"/>
              <a:t>Number filters – options</a:t>
            </a:r>
            <a:br>
              <a:rPr lang="en-US" dirty="0"/>
            </a:b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17</a:t>
            </a:fld>
            <a:endParaRPr lang="en-US"/>
          </a:p>
        </p:txBody>
      </p:sp>
      <p:pic>
        <p:nvPicPr>
          <p:cNvPr id="3" name="Picture 2"/>
          <p:cNvPicPr>
            <a:picLocks noChangeAspect="1"/>
          </p:cNvPicPr>
          <p:nvPr/>
        </p:nvPicPr>
        <p:blipFill>
          <a:blip r:embed="rId2"/>
          <a:stretch>
            <a:fillRect/>
          </a:stretch>
        </p:blipFill>
        <p:spPr>
          <a:xfrm>
            <a:off x="2910363" y="1136953"/>
            <a:ext cx="6252003" cy="5225104"/>
          </a:xfrm>
          <a:prstGeom prst="rect">
            <a:avLst/>
          </a:prstGeom>
        </p:spPr>
      </p:pic>
    </p:spTree>
    <p:extLst>
      <p:ext uri="{BB962C8B-B14F-4D97-AF65-F5344CB8AC3E}">
        <p14:creationId xmlns:p14="http://schemas.microsoft.com/office/powerpoint/2010/main" val="1478854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770" y="268874"/>
            <a:ext cx="8079581" cy="793808"/>
          </a:xfrm>
        </p:spPr>
        <p:txBody>
          <a:bodyPr>
            <a:normAutofit fontScale="90000"/>
          </a:bodyPr>
          <a:lstStyle/>
          <a:p>
            <a:r>
              <a:rPr lang="en-US"/>
              <a:t>Date </a:t>
            </a:r>
            <a:r>
              <a:rPr lang="en-US" dirty="0"/>
              <a:t>filters – options</a:t>
            </a:r>
            <a:br>
              <a:rPr lang="en-US" dirty="0"/>
            </a:b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18</a:t>
            </a:fld>
            <a:endParaRPr lang="en-US"/>
          </a:p>
        </p:txBody>
      </p:sp>
      <p:pic>
        <p:nvPicPr>
          <p:cNvPr id="3" name="Picture 2"/>
          <p:cNvPicPr>
            <a:picLocks noChangeAspect="1"/>
          </p:cNvPicPr>
          <p:nvPr/>
        </p:nvPicPr>
        <p:blipFill>
          <a:blip r:embed="rId2"/>
          <a:stretch>
            <a:fillRect/>
          </a:stretch>
        </p:blipFill>
        <p:spPr>
          <a:xfrm>
            <a:off x="3549446" y="736382"/>
            <a:ext cx="5231697" cy="6133714"/>
          </a:xfrm>
          <a:prstGeom prst="rect">
            <a:avLst/>
          </a:prstGeom>
        </p:spPr>
      </p:pic>
    </p:spTree>
    <p:extLst>
      <p:ext uri="{BB962C8B-B14F-4D97-AF65-F5344CB8AC3E}">
        <p14:creationId xmlns:p14="http://schemas.microsoft.com/office/powerpoint/2010/main" val="229669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99533"/>
            <a:ext cx="8079581" cy="884424"/>
          </a:xfrm>
        </p:spPr>
        <p:txBody>
          <a:bodyPr/>
          <a:lstStyle/>
          <a:p>
            <a:r>
              <a:rPr lang="en-US" dirty="0"/>
              <a:t>Multiple filters</a:t>
            </a:r>
          </a:p>
        </p:txBody>
      </p:sp>
      <p:sp>
        <p:nvSpPr>
          <p:cNvPr id="5" name="Content Placeholder 4"/>
          <p:cNvSpPr>
            <a:spLocks noGrp="1"/>
          </p:cNvSpPr>
          <p:nvPr>
            <p:ph sz="half" idx="1"/>
          </p:nvPr>
        </p:nvSpPr>
        <p:spPr>
          <a:xfrm>
            <a:off x="2016919" y="1482646"/>
            <a:ext cx="8391203" cy="5157051"/>
          </a:xfrm>
        </p:spPr>
        <p:txBody>
          <a:bodyPr>
            <a:normAutofit lnSpcReduction="10000"/>
          </a:bodyPr>
          <a:lstStyle/>
          <a:p>
            <a:pPr>
              <a:lnSpc>
                <a:spcPct val="100000"/>
              </a:lnSpc>
            </a:pPr>
            <a:r>
              <a:rPr lang="en-US" sz="2500" dirty="0"/>
              <a:t>Show the employees hired between 2010 and 2012, from the IT department and whose salary is larger than $50,000.</a:t>
            </a:r>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r>
              <a:rPr lang="en-US" sz="2400" dirty="0"/>
              <a:t>If I select this filtered table and copy it, it only copies the filtered rows.</a:t>
            </a:r>
          </a:p>
        </p:txBody>
      </p:sp>
      <p:sp>
        <p:nvSpPr>
          <p:cNvPr id="6" name="Slide Number Placeholder 5"/>
          <p:cNvSpPr>
            <a:spLocks noGrp="1"/>
          </p:cNvSpPr>
          <p:nvPr>
            <p:ph type="sldNum" sz="quarter" idx="12"/>
          </p:nvPr>
        </p:nvSpPr>
        <p:spPr/>
        <p:txBody>
          <a:bodyPr/>
          <a:lstStyle/>
          <a:p>
            <a:fld id="{1ADF169C-3A13-4720-8652-1240B672470F}" type="slidenum">
              <a:rPr lang="en-US" smtClean="0"/>
              <a:t>19</a:t>
            </a:fld>
            <a:endParaRPr lang="en-US"/>
          </a:p>
        </p:txBody>
      </p:sp>
      <p:grpSp>
        <p:nvGrpSpPr>
          <p:cNvPr id="19" name="Group 18"/>
          <p:cNvGrpSpPr/>
          <p:nvPr/>
        </p:nvGrpSpPr>
        <p:grpSpPr>
          <a:xfrm>
            <a:off x="1524000" y="2165049"/>
            <a:ext cx="9144000" cy="3315294"/>
            <a:chOff x="322366" y="2545485"/>
            <a:chExt cx="8664021" cy="2943157"/>
          </a:xfrm>
        </p:grpSpPr>
        <p:grpSp>
          <p:nvGrpSpPr>
            <p:cNvPr id="17" name="Group 16"/>
            <p:cNvGrpSpPr/>
            <p:nvPr/>
          </p:nvGrpSpPr>
          <p:grpSpPr>
            <a:xfrm>
              <a:off x="322366" y="2545485"/>
              <a:ext cx="8664021" cy="2943157"/>
              <a:chOff x="322366" y="3566984"/>
              <a:chExt cx="8664021" cy="2943157"/>
            </a:xfrm>
          </p:grpSpPr>
          <p:sp>
            <p:nvSpPr>
              <p:cNvPr id="4" name="TextBox 3"/>
              <p:cNvSpPr txBox="1"/>
              <p:nvPr/>
            </p:nvSpPr>
            <p:spPr>
              <a:xfrm>
                <a:off x="5333998" y="5991006"/>
                <a:ext cx="1869989" cy="51913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1600" dirty="0"/>
                  <a:t>The total row was updated to this view</a:t>
                </a:r>
              </a:p>
            </p:txBody>
          </p:sp>
          <p:grpSp>
            <p:nvGrpSpPr>
              <p:cNvPr id="10" name="Group 9"/>
              <p:cNvGrpSpPr/>
              <p:nvPr/>
            </p:nvGrpSpPr>
            <p:grpSpPr>
              <a:xfrm>
                <a:off x="322366" y="3566984"/>
                <a:ext cx="8664021" cy="2382022"/>
                <a:chOff x="322366" y="3566984"/>
                <a:chExt cx="8664021" cy="2382022"/>
              </a:xfrm>
            </p:grpSpPr>
            <p:pic>
              <p:nvPicPr>
                <p:cNvPr id="3" name="Picture 2"/>
                <p:cNvPicPr>
                  <a:picLocks noChangeAspect="1"/>
                </p:cNvPicPr>
                <p:nvPr/>
              </p:nvPicPr>
              <p:blipFill>
                <a:blip r:embed="rId2"/>
                <a:stretch>
                  <a:fillRect/>
                </a:stretch>
              </p:blipFill>
              <p:spPr>
                <a:xfrm>
                  <a:off x="322366" y="3566984"/>
                  <a:ext cx="8664021" cy="2382022"/>
                </a:xfrm>
                <a:prstGeom prst="rect">
                  <a:avLst/>
                </a:prstGeom>
              </p:spPr>
            </p:pic>
            <p:sp>
              <p:nvSpPr>
                <p:cNvPr id="7" name="Rectangle 6"/>
                <p:cNvSpPr/>
                <p:nvPr/>
              </p:nvSpPr>
              <p:spPr>
                <a:xfrm>
                  <a:off x="4433146" y="3888259"/>
                  <a:ext cx="255373" cy="2224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821826" y="3888259"/>
                  <a:ext cx="255373" cy="2224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268993" y="3888259"/>
                  <a:ext cx="255373" cy="2224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 name="Straight Arrow Connector 13"/>
              <p:cNvCxnSpPr>
                <a:stCxn id="4" idx="3"/>
              </p:cNvCxnSpPr>
              <p:nvPr/>
            </p:nvCxnSpPr>
            <p:spPr>
              <a:xfrm flipV="1">
                <a:off x="7203987" y="5991006"/>
                <a:ext cx="531343" cy="25956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3"/>
              </p:cNvCxnSpPr>
              <p:nvPr/>
            </p:nvCxnSpPr>
            <p:spPr>
              <a:xfrm flipV="1">
                <a:off x="7203987" y="5865341"/>
                <a:ext cx="1368513" cy="3852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Rectangle 17"/>
            <p:cNvSpPr/>
            <p:nvPr/>
          </p:nvSpPr>
          <p:spPr>
            <a:xfrm>
              <a:off x="322366" y="3064468"/>
              <a:ext cx="262520" cy="16722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41460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1"/>
            <a:ext cx="8079581" cy="1252151"/>
          </a:xfrm>
        </p:spPr>
        <p:txBody>
          <a:bodyPr/>
          <a:lstStyle/>
          <a:p>
            <a:r>
              <a:rPr lang="en-US" dirty="0"/>
              <a:t>Exercises – using filters</a:t>
            </a:r>
          </a:p>
        </p:txBody>
      </p:sp>
      <p:sp>
        <p:nvSpPr>
          <p:cNvPr id="3" name="Content Placeholder 2"/>
          <p:cNvSpPr>
            <a:spLocks noGrp="1"/>
          </p:cNvSpPr>
          <p:nvPr>
            <p:ph idx="1"/>
          </p:nvPr>
        </p:nvSpPr>
        <p:spPr>
          <a:xfrm>
            <a:off x="2031206" y="1532239"/>
            <a:ext cx="8381421" cy="4917989"/>
          </a:xfrm>
        </p:spPr>
        <p:txBody>
          <a:bodyPr>
            <a:noAutofit/>
          </a:bodyPr>
          <a:lstStyle/>
          <a:p>
            <a:pPr marL="457200" indent="-457200">
              <a:lnSpc>
                <a:spcPct val="100000"/>
              </a:lnSpc>
              <a:buFont typeface="+mj-lt"/>
              <a:buAutoNum type="arabicPeriod"/>
            </a:pPr>
            <a:r>
              <a:rPr lang="en-US" sz="2500" dirty="0"/>
              <a:t>How many people are there in the Sales department that work by the hour?</a:t>
            </a:r>
          </a:p>
          <a:p>
            <a:pPr marL="457200" indent="-457200">
              <a:lnSpc>
                <a:spcPct val="100000"/>
              </a:lnSpc>
              <a:buFont typeface="+mj-lt"/>
              <a:buAutoNum type="arabicPeriod"/>
            </a:pPr>
            <a:r>
              <a:rPr lang="en-US" sz="2500" dirty="0"/>
              <a:t>How much does the company spend in salaries of the Marketing department? And what is the average salary of a Marketing person?</a:t>
            </a:r>
          </a:p>
          <a:p>
            <a:pPr marL="457200" indent="-457200">
              <a:lnSpc>
                <a:spcPct val="100000"/>
              </a:lnSpc>
              <a:buFont typeface="+mj-lt"/>
              <a:buAutoNum type="arabicPeriod"/>
            </a:pPr>
            <a:r>
              <a:rPr lang="en-US" sz="2500" dirty="0"/>
              <a:t>How many people do not have Medical (M) benefits that do not work by the hour?</a:t>
            </a:r>
          </a:p>
          <a:p>
            <a:pPr marL="457200" indent="-457200">
              <a:lnSpc>
                <a:spcPct val="100000"/>
              </a:lnSpc>
              <a:buFont typeface="+mj-lt"/>
              <a:buAutoNum type="arabicPeriod"/>
            </a:pPr>
            <a:r>
              <a:rPr lang="en-US" sz="2500" dirty="0"/>
              <a:t>What is the highest salary of a sales person?</a:t>
            </a:r>
          </a:p>
          <a:p>
            <a:pPr marL="457200" indent="-457200">
              <a:lnSpc>
                <a:spcPct val="100000"/>
              </a:lnSpc>
              <a:buFont typeface="+mj-lt"/>
              <a:buAutoNum type="arabicPeriod"/>
            </a:pPr>
            <a:r>
              <a:rPr lang="en-US" sz="2500" dirty="0"/>
              <a:t>How many marketing people are on contract?</a:t>
            </a:r>
          </a:p>
          <a:p>
            <a:pPr marL="457200" indent="-457200">
              <a:lnSpc>
                <a:spcPct val="100000"/>
              </a:lnSpc>
              <a:buFont typeface="+mj-lt"/>
              <a:buAutoNum type="arabicPeriod"/>
            </a:pPr>
            <a:r>
              <a:rPr lang="en-US" sz="2500" dirty="0"/>
              <a:t>How many people do not have any benefit?</a:t>
            </a:r>
          </a:p>
          <a:p>
            <a:pPr marL="0" indent="0">
              <a:lnSpc>
                <a:spcPct val="100000"/>
              </a:lnSpc>
              <a:buNone/>
            </a:pPr>
            <a:endParaRPr lang="en-US" sz="2500" dirty="0"/>
          </a:p>
          <a:p>
            <a:pPr marL="457200" indent="-457200">
              <a:lnSpc>
                <a:spcPct val="100000"/>
              </a:lnSpc>
              <a:buFont typeface="+mj-lt"/>
              <a:buAutoNum type="arabicPeriod"/>
            </a:pPr>
            <a:endParaRPr lang="en-US" sz="2500" dirty="0"/>
          </a:p>
        </p:txBody>
      </p:sp>
      <p:sp>
        <p:nvSpPr>
          <p:cNvPr id="4" name="Slide Number Placeholder 3"/>
          <p:cNvSpPr>
            <a:spLocks noGrp="1"/>
          </p:cNvSpPr>
          <p:nvPr>
            <p:ph type="sldNum" sz="quarter" idx="12"/>
          </p:nvPr>
        </p:nvSpPr>
        <p:spPr/>
        <p:txBody>
          <a:bodyPr/>
          <a:lstStyle/>
          <a:p>
            <a:fld id="{1ADF169C-3A13-4720-8652-1240B672470F}" type="slidenum">
              <a:rPr lang="en-US" smtClean="0"/>
              <a:t>20</a:t>
            </a:fld>
            <a:endParaRPr lang="en-US"/>
          </a:p>
        </p:txBody>
      </p:sp>
    </p:spTree>
    <p:extLst>
      <p:ext uri="{BB962C8B-B14F-4D97-AF65-F5344CB8AC3E}">
        <p14:creationId xmlns:p14="http://schemas.microsoft.com/office/powerpoint/2010/main" val="1093532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300" y="254835"/>
            <a:ext cx="8392463" cy="932103"/>
          </a:xfrm>
        </p:spPr>
        <p:txBody>
          <a:bodyPr>
            <a:normAutofit/>
          </a:bodyPr>
          <a:lstStyle/>
          <a:p>
            <a:r>
              <a:rPr lang="en-US" dirty="0"/>
              <a:t>Structured references</a:t>
            </a:r>
          </a:p>
        </p:txBody>
      </p:sp>
      <p:sp>
        <p:nvSpPr>
          <p:cNvPr id="3" name="Content Placeholder 2"/>
          <p:cNvSpPr>
            <a:spLocks noGrp="1"/>
          </p:cNvSpPr>
          <p:nvPr>
            <p:ph idx="1"/>
          </p:nvPr>
        </p:nvSpPr>
        <p:spPr>
          <a:xfrm>
            <a:off x="1852058" y="1345764"/>
            <a:ext cx="8392463" cy="4883567"/>
          </a:xfrm>
        </p:spPr>
        <p:txBody>
          <a:bodyPr>
            <a:noAutofit/>
          </a:bodyPr>
          <a:lstStyle/>
          <a:p>
            <a:pPr algn="just">
              <a:lnSpc>
                <a:spcPct val="100000"/>
              </a:lnSpc>
            </a:pPr>
            <a:r>
              <a:rPr lang="en-US" sz="1900" dirty="0"/>
              <a:t>When working with tables in Excel, you can use structured references to make your formulas easier to understand. When you create an Excel table, Excel assigns a name to the table, and to each column header. When you add formulas to an Excel table, those names can appear automatically as you enter the formula and </a:t>
            </a:r>
            <a:r>
              <a:rPr lang="en-US" sz="1900" b="1" dirty="0"/>
              <a:t>select the cell references in the table instead of manually entering them</a:t>
            </a:r>
            <a:r>
              <a:rPr lang="en-US" sz="1900" dirty="0"/>
              <a:t>. </a:t>
            </a:r>
          </a:p>
          <a:p>
            <a:pPr algn="just">
              <a:lnSpc>
                <a:spcPct val="100000"/>
              </a:lnSpc>
            </a:pPr>
            <a:r>
              <a:rPr lang="en-US" sz="2000" b="1" dirty="0">
                <a:solidFill>
                  <a:srgbClr val="3366FF"/>
                </a:solidFill>
              </a:rPr>
              <a:t>Formula using explicit cell references:</a:t>
            </a:r>
          </a:p>
          <a:p>
            <a:pPr algn="ctr">
              <a:lnSpc>
                <a:spcPct val="100000"/>
              </a:lnSpc>
            </a:pPr>
            <a:r>
              <a:rPr lang="en-US" sz="2000" i="1" dirty="0"/>
              <a:t>=IF(OR(H2=4,H2=5), 0.05*G2,0)</a:t>
            </a:r>
          </a:p>
          <a:p>
            <a:pPr algn="just">
              <a:lnSpc>
                <a:spcPct val="100000"/>
              </a:lnSpc>
            </a:pPr>
            <a:r>
              <a:rPr lang="en-US" sz="2000" b="1" dirty="0">
                <a:solidFill>
                  <a:srgbClr val="3366FF"/>
                </a:solidFill>
              </a:rPr>
              <a:t>Formula using structured references:</a:t>
            </a:r>
          </a:p>
          <a:p>
            <a:pPr algn="ctr">
              <a:lnSpc>
                <a:spcPct val="100000"/>
              </a:lnSpc>
            </a:pPr>
            <a:r>
              <a:rPr lang="en-US" sz="2000" i="1" dirty="0"/>
              <a:t>=IF(OR([@Rating]=4,[@Rating]=5), 0.05*[@Salary],0) </a:t>
            </a:r>
          </a:p>
          <a:p>
            <a:pPr marL="0" indent="0" algn="just">
              <a:lnSpc>
                <a:spcPct val="100000"/>
              </a:lnSpc>
              <a:buNone/>
            </a:pPr>
            <a:endParaRPr lang="en-US" sz="900" i="1" dirty="0"/>
          </a:p>
          <a:p>
            <a:pPr marL="0" indent="0" algn="just">
              <a:lnSpc>
                <a:spcPct val="100000"/>
              </a:lnSpc>
              <a:buNone/>
            </a:pPr>
            <a:r>
              <a:rPr lang="en-US" sz="1900" i="1" dirty="0"/>
              <a:t>To include structured references in your formula, click the table cells you want to reference instead of typing their cell reference in the formula.</a:t>
            </a:r>
          </a:p>
        </p:txBody>
      </p:sp>
      <p:sp>
        <p:nvSpPr>
          <p:cNvPr id="4" name="Slide Number Placeholder 3"/>
          <p:cNvSpPr>
            <a:spLocks noGrp="1"/>
          </p:cNvSpPr>
          <p:nvPr>
            <p:ph type="sldNum" sz="quarter" idx="12"/>
          </p:nvPr>
        </p:nvSpPr>
        <p:spPr/>
        <p:txBody>
          <a:bodyPr/>
          <a:lstStyle/>
          <a:p>
            <a:fld id="{1ADF169C-3A13-4720-8652-1240B672470F}" type="slidenum">
              <a:rPr lang="en-US" smtClean="0"/>
              <a:t>21</a:t>
            </a:fld>
            <a:endParaRPr lang="en-US"/>
          </a:p>
        </p:txBody>
      </p:sp>
    </p:spTree>
    <p:extLst>
      <p:ext uri="{BB962C8B-B14F-4D97-AF65-F5344CB8AC3E}">
        <p14:creationId xmlns:p14="http://schemas.microsoft.com/office/powerpoint/2010/main" val="2278358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300" y="254835"/>
            <a:ext cx="8392463" cy="932103"/>
          </a:xfrm>
        </p:spPr>
        <p:txBody>
          <a:bodyPr>
            <a:normAutofit/>
          </a:bodyPr>
          <a:lstStyle/>
          <a:p>
            <a:r>
              <a:rPr lang="en-US" dirty="0"/>
              <a:t>Structured references</a:t>
            </a:r>
          </a:p>
        </p:txBody>
      </p:sp>
      <p:sp>
        <p:nvSpPr>
          <p:cNvPr id="3" name="Content Placeholder 2"/>
          <p:cNvSpPr>
            <a:spLocks noGrp="1"/>
          </p:cNvSpPr>
          <p:nvPr>
            <p:ph idx="1"/>
          </p:nvPr>
        </p:nvSpPr>
        <p:spPr>
          <a:xfrm>
            <a:off x="1852058" y="1417455"/>
            <a:ext cx="8392463" cy="4883567"/>
          </a:xfrm>
        </p:spPr>
        <p:txBody>
          <a:bodyPr>
            <a:noAutofit/>
          </a:bodyPr>
          <a:lstStyle/>
          <a:p>
            <a:pPr>
              <a:lnSpc>
                <a:spcPct val="100000"/>
              </a:lnSpc>
            </a:pPr>
            <a:r>
              <a:rPr lang="en-US" sz="2000" dirty="0"/>
              <a:t>The names in structured references adjust whenever you add or remove data from the table, add or remove columns, or edit the column names. </a:t>
            </a:r>
          </a:p>
          <a:p>
            <a:pPr>
              <a:lnSpc>
                <a:spcPct val="100000"/>
              </a:lnSpc>
            </a:pPr>
            <a:endParaRPr lang="en-US" sz="2000" dirty="0"/>
          </a:p>
          <a:p>
            <a:pPr>
              <a:lnSpc>
                <a:spcPct val="100000"/>
              </a:lnSpc>
            </a:pPr>
            <a:r>
              <a:rPr lang="en-US" sz="2000" b="1" dirty="0">
                <a:solidFill>
                  <a:srgbClr val="FF0000"/>
                </a:solidFill>
              </a:rPr>
              <a:t>What happens when I use explicit cell references in a table instead of structured cell references?</a:t>
            </a:r>
          </a:p>
          <a:p>
            <a:pPr>
              <a:lnSpc>
                <a:spcPct val="100000"/>
              </a:lnSpc>
            </a:pPr>
            <a:r>
              <a:rPr lang="en-US" sz="2000" dirty="0"/>
              <a:t>If you enter explicit cell references in a table, you cannot guarantee that the formula will be updated when you add columns, rows, or even when you sort or filter the table. </a:t>
            </a:r>
          </a:p>
        </p:txBody>
      </p:sp>
      <p:sp>
        <p:nvSpPr>
          <p:cNvPr id="4" name="Slide Number Placeholder 3"/>
          <p:cNvSpPr>
            <a:spLocks noGrp="1"/>
          </p:cNvSpPr>
          <p:nvPr>
            <p:ph type="sldNum" sz="quarter" idx="12"/>
          </p:nvPr>
        </p:nvSpPr>
        <p:spPr/>
        <p:txBody>
          <a:bodyPr/>
          <a:lstStyle/>
          <a:p>
            <a:fld id="{1ADF169C-3A13-4720-8652-1240B672470F}" type="slidenum">
              <a:rPr lang="en-US" smtClean="0"/>
              <a:t>22</a:t>
            </a:fld>
            <a:endParaRPr lang="en-US"/>
          </a:p>
        </p:txBody>
      </p:sp>
    </p:spTree>
    <p:extLst>
      <p:ext uri="{BB962C8B-B14F-4D97-AF65-F5344CB8AC3E}">
        <p14:creationId xmlns:p14="http://schemas.microsoft.com/office/powerpoint/2010/main" val="4193493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6628" y="447396"/>
            <a:ext cx="8085582" cy="3355848"/>
          </a:xfrm>
        </p:spPr>
        <p:txBody>
          <a:bodyPr/>
          <a:lstStyle/>
          <a:p>
            <a:r>
              <a:rPr lang="en-US" dirty="0"/>
              <a:t>IF and VLOOKUP functions</a:t>
            </a:r>
          </a:p>
        </p:txBody>
      </p:sp>
      <p:sp>
        <p:nvSpPr>
          <p:cNvPr id="3" name="Text Placeholder 2"/>
          <p:cNvSpPr>
            <a:spLocks noGrp="1"/>
          </p:cNvSpPr>
          <p:nvPr>
            <p:ph type="body" idx="1"/>
          </p:nvPr>
        </p:nvSpPr>
        <p:spPr>
          <a:xfrm>
            <a:off x="2024634" y="4187275"/>
            <a:ext cx="7849594" cy="1783160"/>
          </a:xfrm>
        </p:spPr>
        <p:txBody>
          <a:bodyPr>
            <a:normAutofit/>
          </a:bodyPr>
          <a:lstStyle/>
          <a:p>
            <a:r>
              <a:rPr lang="en-US" i="1" dirty="0">
                <a:solidFill>
                  <a:srgbClr val="0000FF"/>
                </a:solidFill>
              </a:rPr>
              <a:t>Staff.xlsx and Staff_solutions.xlsx</a:t>
            </a:r>
          </a:p>
          <a:p>
            <a:pPr>
              <a:lnSpc>
                <a:spcPct val="110000"/>
              </a:lnSpc>
            </a:pPr>
            <a:endParaRPr lang="en-US" i="1" dirty="0"/>
          </a:p>
        </p:txBody>
      </p:sp>
      <p:sp>
        <p:nvSpPr>
          <p:cNvPr id="4" name="Slide Number Placeholder 3"/>
          <p:cNvSpPr>
            <a:spLocks noGrp="1"/>
          </p:cNvSpPr>
          <p:nvPr>
            <p:ph type="sldNum" sz="quarter" idx="12"/>
          </p:nvPr>
        </p:nvSpPr>
        <p:spPr/>
        <p:txBody>
          <a:bodyPr/>
          <a:lstStyle/>
          <a:p>
            <a:fld id="{1ADF169C-3A13-4720-8652-1240B672470F}" type="slidenum">
              <a:rPr lang="en-US" smtClean="0"/>
              <a:t>23</a:t>
            </a:fld>
            <a:endParaRPr lang="en-US"/>
          </a:p>
        </p:txBody>
      </p:sp>
    </p:spTree>
    <p:extLst>
      <p:ext uri="{BB962C8B-B14F-4D97-AF65-F5344CB8AC3E}">
        <p14:creationId xmlns:p14="http://schemas.microsoft.com/office/powerpoint/2010/main" val="1779072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300" y="254835"/>
            <a:ext cx="8392463" cy="932103"/>
          </a:xfrm>
        </p:spPr>
        <p:txBody>
          <a:bodyPr>
            <a:normAutofit/>
          </a:bodyPr>
          <a:lstStyle/>
          <a:p>
            <a:r>
              <a:rPr lang="en-US" dirty="0"/>
              <a:t>Structured references</a:t>
            </a:r>
          </a:p>
        </p:txBody>
      </p:sp>
      <p:sp>
        <p:nvSpPr>
          <p:cNvPr id="3" name="Content Placeholder 2"/>
          <p:cNvSpPr>
            <a:spLocks noGrp="1"/>
          </p:cNvSpPr>
          <p:nvPr>
            <p:ph idx="1"/>
          </p:nvPr>
        </p:nvSpPr>
        <p:spPr>
          <a:xfrm>
            <a:off x="1919714" y="1945124"/>
            <a:ext cx="8217982" cy="3336986"/>
          </a:xfrm>
        </p:spPr>
        <p:txBody>
          <a:bodyPr>
            <a:noAutofit/>
          </a:bodyPr>
          <a:lstStyle/>
          <a:p>
            <a:pPr marL="457200" indent="-457200">
              <a:lnSpc>
                <a:spcPct val="100000"/>
              </a:lnSpc>
              <a:buFont typeface="+mj-lt"/>
              <a:buAutoNum type="arabicPeriod"/>
            </a:pPr>
            <a:r>
              <a:rPr lang="en-US" sz="2000" dirty="0"/>
              <a:t>The company rewards the employees who have a job rating of 4 or 5 with a bonus of 5% of their salaries. Calculate the bonus and the final annual salary of each employee.</a:t>
            </a:r>
          </a:p>
          <a:p>
            <a:pPr marL="0" indent="0">
              <a:lnSpc>
                <a:spcPct val="100000"/>
              </a:lnSpc>
              <a:buNone/>
            </a:pPr>
            <a:endParaRPr lang="en-US" sz="2000" dirty="0"/>
          </a:p>
          <a:p>
            <a:pPr marL="0" indent="0">
              <a:lnSpc>
                <a:spcPct val="100000"/>
              </a:lnSpc>
              <a:buNone/>
            </a:pPr>
            <a:endParaRPr lang="en-US" sz="2000" dirty="0"/>
          </a:p>
          <a:p>
            <a:pPr marL="0" indent="0" algn="just">
              <a:lnSpc>
                <a:spcPct val="100000"/>
              </a:lnSpc>
              <a:buNone/>
            </a:pPr>
            <a:endParaRPr lang="en-US" sz="2000" i="1" dirty="0"/>
          </a:p>
          <a:p>
            <a:pPr marL="0" indent="0" algn="just">
              <a:lnSpc>
                <a:spcPct val="100000"/>
              </a:lnSpc>
              <a:buNone/>
            </a:pPr>
            <a:r>
              <a:rPr lang="en-US" sz="2000" i="1" dirty="0"/>
              <a:t>We are going to use the IF using structured references. The next slides explain the IF in general using explicit cell references, which is similar. </a:t>
            </a:r>
          </a:p>
          <a:p>
            <a:pPr marL="0" indent="0">
              <a:lnSpc>
                <a:spcPct val="100000"/>
              </a:lnSpc>
              <a:buNone/>
            </a:pPr>
            <a:endParaRPr lang="en-US" sz="2000" dirty="0"/>
          </a:p>
        </p:txBody>
      </p:sp>
      <p:sp>
        <p:nvSpPr>
          <p:cNvPr id="4" name="Slide Number Placeholder 3"/>
          <p:cNvSpPr>
            <a:spLocks noGrp="1"/>
          </p:cNvSpPr>
          <p:nvPr>
            <p:ph type="sldNum" sz="quarter" idx="12"/>
          </p:nvPr>
        </p:nvSpPr>
        <p:spPr/>
        <p:txBody>
          <a:bodyPr/>
          <a:lstStyle/>
          <a:p>
            <a:fld id="{1ADF169C-3A13-4720-8652-1240B672470F}" type="slidenum">
              <a:rPr lang="en-US" smtClean="0"/>
              <a:t>24</a:t>
            </a:fld>
            <a:endParaRPr lang="en-US"/>
          </a:p>
        </p:txBody>
      </p:sp>
    </p:spTree>
    <p:extLst>
      <p:ext uri="{BB962C8B-B14F-4D97-AF65-F5344CB8AC3E}">
        <p14:creationId xmlns:p14="http://schemas.microsoft.com/office/powerpoint/2010/main" val="3062965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35117"/>
            <a:ext cx="8079581" cy="793808"/>
          </a:xfrm>
        </p:spPr>
        <p:txBody>
          <a:bodyPr/>
          <a:lstStyle/>
          <a:p>
            <a:r>
              <a:rPr lang="en-US" dirty="0"/>
              <a:t>IF function</a:t>
            </a:r>
          </a:p>
        </p:txBody>
      </p:sp>
      <p:sp>
        <p:nvSpPr>
          <p:cNvPr id="3" name="Content Placeholder 2"/>
          <p:cNvSpPr>
            <a:spLocks noGrp="1"/>
          </p:cNvSpPr>
          <p:nvPr>
            <p:ph idx="1"/>
          </p:nvPr>
        </p:nvSpPr>
        <p:spPr>
          <a:xfrm>
            <a:off x="2041448" y="1244581"/>
            <a:ext cx="8065294" cy="4095535"/>
          </a:xfrm>
        </p:spPr>
        <p:txBody>
          <a:bodyPr>
            <a:normAutofit/>
          </a:bodyPr>
          <a:lstStyle/>
          <a:p>
            <a:r>
              <a:rPr lang="en-US" sz="2100" b="1" dirty="0"/>
              <a:t>“The 5% bonus is given to employees who have a job rating of either 4 or 5 instead.”</a:t>
            </a:r>
          </a:p>
          <a:p>
            <a:pPr algn="ctr">
              <a:lnSpc>
                <a:spcPct val="100000"/>
              </a:lnSpc>
            </a:pPr>
            <a:r>
              <a:rPr lang="en-US" sz="2100" u="sng" dirty="0"/>
              <a:t>=IF (I3&gt;=4, H3*0.05, 0)</a:t>
            </a:r>
          </a:p>
          <a:p>
            <a:pPr>
              <a:lnSpc>
                <a:spcPct val="100000"/>
              </a:lnSpc>
            </a:pPr>
            <a:r>
              <a:rPr lang="en-US" sz="2100" dirty="0"/>
              <a:t>The IF function evaluates a specified condition (does I3&gt;=4?) and returns one value if the condition is true (H3*0.05) and another if the condition is false (0).</a:t>
            </a:r>
          </a:p>
          <a:p>
            <a:pPr>
              <a:lnSpc>
                <a:spcPct val="100000"/>
              </a:lnSpc>
            </a:pPr>
            <a:r>
              <a:rPr lang="en-US" sz="2100" dirty="0"/>
              <a:t>In general:</a:t>
            </a:r>
          </a:p>
          <a:p>
            <a:pPr algn="ctr">
              <a:lnSpc>
                <a:spcPct val="100000"/>
              </a:lnSpc>
            </a:pPr>
            <a:r>
              <a:rPr lang="en-US" sz="2100" i="1" dirty="0"/>
              <a:t>=IF(</a:t>
            </a:r>
            <a:r>
              <a:rPr lang="en-US" sz="2100" i="1" dirty="0" err="1"/>
              <a:t>logical_test</a:t>
            </a:r>
            <a:r>
              <a:rPr lang="en-US" sz="2100" i="1" dirty="0"/>
              <a:t>, </a:t>
            </a:r>
            <a:r>
              <a:rPr lang="en-US" sz="2100" i="1" dirty="0" err="1"/>
              <a:t>value_if_true</a:t>
            </a:r>
            <a:r>
              <a:rPr lang="en-US" sz="2100" i="1" dirty="0"/>
              <a:t>, </a:t>
            </a:r>
            <a:r>
              <a:rPr lang="en-US" sz="2100" i="1" dirty="0" err="1"/>
              <a:t>value_if_false</a:t>
            </a:r>
            <a:r>
              <a:rPr lang="en-US" sz="2100" i="1" dirty="0"/>
              <a:t>)</a:t>
            </a:r>
          </a:p>
          <a:p>
            <a:pPr>
              <a:lnSpc>
                <a:spcPct val="100000"/>
              </a:lnSpc>
            </a:pPr>
            <a:r>
              <a:rPr lang="en-US" sz="2100" dirty="0"/>
              <a:t>To evaluate the condition we use comparison operators:</a:t>
            </a:r>
          </a:p>
          <a:p>
            <a:pPr>
              <a:lnSpc>
                <a:spcPct val="100000"/>
              </a:lnSpc>
            </a:pPr>
            <a:endParaRPr lang="en-US" sz="2100" dirty="0"/>
          </a:p>
        </p:txBody>
      </p:sp>
      <p:sp>
        <p:nvSpPr>
          <p:cNvPr id="4" name="Slide Number Placeholder 3"/>
          <p:cNvSpPr>
            <a:spLocks noGrp="1"/>
          </p:cNvSpPr>
          <p:nvPr>
            <p:ph type="sldNum" sz="quarter" idx="12"/>
          </p:nvPr>
        </p:nvSpPr>
        <p:spPr/>
        <p:txBody>
          <a:bodyPr/>
          <a:lstStyle/>
          <a:p>
            <a:fld id="{FC6D7323-3F06-479E-ADC8-7BC729C5AF45}" type="slidenum">
              <a:rPr lang="en-US" smtClean="0"/>
              <a:t>25</a:t>
            </a:fld>
            <a:endParaRPr lang="en-US"/>
          </a:p>
        </p:txBody>
      </p:sp>
      <p:graphicFrame>
        <p:nvGraphicFramePr>
          <p:cNvPr id="5" name="Table 4"/>
          <p:cNvGraphicFramePr>
            <a:graphicFrameLocks noGrp="1"/>
          </p:cNvGraphicFramePr>
          <p:nvPr/>
        </p:nvGraphicFramePr>
        <p:xfrm>
          <a:off x="4024989" y="5219357"/>
          <a:ext cx="4077729" cy="1112520"/>
        </p:xfrm>
        <a:graphic>
          <a:graphicData uri="http://schemas.openxmlformats.org/drawingml/2006/table">
            <a:tbl>
              <a:tblPr bandRow="1">
                <a:tableStyleId>{69CF1AB2-1976-4502-BF36-3FF5EA218861}</a:tableStyleId>
              </a:tblPr>
              <a:tblGrid>
                <a:gridCol w="520972">
                  <a:extLst>
                    <a:ext uri="{9D8B030D-6E8A-4147-A177-3AD203B41FA5}">
                      <a16:colId xmlns:a16="http://schemas.microsoft.com/office/drawing/2014/main" val="20000"/>
                    </a:ext>
                  </a:extLst>
                </a:gridCol>
                <a:gridCol w="1505536">
                  <a:extLst>
                    <a:ext uri="{9D8B030D-6E8A-4147-A177-3AD203B41FA5}">
                      <a16:colId xmlns:a16="http://schemas.microsoft.com/office/drawing/2014/main" val="20001"/>
                    </a:ext>
                  </a:extLst>
                </a:gridCol>
                <a:gridCol w="527221">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sz="1600" dirty="0"/>
                        <a:t>=</a:t>
                      </a:r>
                    </a:p>
                  </a:txBody>
                  <a:tcPr anchor="ctr">
                    <a:solidFill>
                      <a:schemeClr val="accent1">
                        <a:lumMod val="40000"/>
                        <a:lumOff val="60000"/>
                      </a:schemeClr>
                    </a:solidFill>
                  </a:tcPr>
                </a:tc>
                <a:tc>
                  <a:txBody>
                    <a:bodyPr/>
                    <a:lstStyle/>
                    <a:p>
                      <a:r>
                        <a:rPr lang="en-US" sz="1200" dirty="0"/>
                        <a:t>Equal to</a:t>
                      </a:r>
                    </a:p>
                  </a:txBody>
                  <a:tcPr anchor="ctr">
                    <a:solidFill>
                      <a:schemeClr val="accent1">
                        <a:lumMod val="20000"/>
                        <a:lumOff val="80000"/>
                      </a:schemeClr>
                    </a:solidFill>
                  </a:tcPr>
                </a:tc>
                <a:tc>
                  <a:txBody>
                    <a:bodyPr/>
                    <a:lstStyle/>
                    <a:p>
                      <a:pPr algn="ctr"/>
                      <a:r>
                        <a:rPr lang="en-US" sz="1600" dirty="0"/>
                        <a:t>&lt;&gt;</a:t>
                      </a:r>
                    </a:p>
                  </a:txBody>
                  <a:tcPr anchor="ctr">
                    <a:solidFill>
                      <a:schemeClr val="accent1">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Not equal to</a:t>
                      </a:r>
                    </a:p>
                  </a:txBody>
                  <a:tcPr anchor="ct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pPr algn="ctr"/>
                      <a:r>
                        <a:rPr lang="en-US" sz="1600" dirty="0"/>
                        <a:t>&lt;=</a:t>
                      </a:r>
                    </a:p>
                  </a:txBody>
                  <a:tcPr anchor="ctr">
                    <a:solidFill>
                      <a:schemeClr val="accent1">
                        <a:lumMod val="40000"/>
                        <a:lumOff val="60000"/>
                      </a:schemeClr>
                    </a:solidFill>
                  </a:tcPr>
                </a:tc>
                <a:tc>
                  <a:txBody>
                    <a:bodyPr/>
                    <a:lstStyle/>
                    <a:p>
                      <a:r>
                        <a:rPr lang="en-US" sz="1200" dirty="0"/>
                        <a:t>Less or</a:t>
                      </a:r>
                      <a:r>
                        <a:rPr lang="en-US" sz="1200" baseline="0" dirty="0"/>
                        <a:t> equal than</a:t>
                      </a:r>
                      <a:endParaRPr lang="en-US" sz="1200" dirty="0"/>
                    </a:p>
                  </a:txBody>
                  <a:tcPr anchor="ctr">
                    <a:solidFill>
                      <a:schemeClr val="accent1">
                        <a:lumMod val="20000"/>
                        <a:lumOff val="80000"/>
                      </a:schemeClr>
                    </a:solidFill>
                  </a:tcPr>
                </a:tc>
                <a:tc>
                  <a:txBody>
                    <a:bodyPr/>
                    <a:lstStyle/>
                    <a:p>
                      <a:pPr algn="ctr"/>
                      <a:r>
                        <a:rPr lang="en-US" sz="1600" dirty="0"/>
                        <a:t>&gt;=</a:t>
                      </a:r>
                    </a:p>
                  </a:txBody>
                  <a:tcPr anchor="ctr">
                    <a:solidFill>
                      <a:schemeClr val="accent1">
                        <a:lumMod val="40000"/>
                        <a:lumOff val="60000"/>
                      </a:schemeClr>
                    </a:solidFill>
                  </a:tcPr>
                </a:tc>
                <a:tc>
                  <a:txBody>
                    <a:bodyPr/>
                    <a:lstStyle/>
                    <a:p>
                      <a:r>
                        <a:rPr lang="en-US" sz="1200" dirty="0"/>
                        <a:t>Greater</a:t>
                      </a:r>
                      <a:r>
                        <a:rPr lang="en-US" sz="1200" baseline="0" dirty="0"/>
                        <a:t> or equal than</a:t>
                      </a:r>
                      <a:endParaRPr lang="en-US" sz="1200" dirty="0"/>
                    </a:p>
                  </a:txBody>
                  <a:tcPr anchor="ctr">
                    <a:solidFill>
                      <a:schemeClr val="accent1">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1600" dirty="0"/>
                        <a:t>&lt;</a:t>
                      </a:r>
                    </a:p>
                  </a:txBody>
                  <a:tcPr anchor="ctr">
                    <a:solidFill>
                      <a:schemeClr val="accent1">
                        <a:lumMod val="40000"/>
                        <a:lumOff val="60000"/>
                      </a:schemeClr>
                    </a:solidFill>
                  </a:tcPr>
                </a:tc>
                <a:tc>
                  <a:txBody>
                    <a:bodyPr/>
                    <a:lstStyle/>
                    <a:p>
                      <a:r>
                        <a:rPr lang="en-US" sz="1200" dirty="0"/>
                        <a:t>Less than</a:t>
                      </a:r>
                    </a:p>
                  </a:txBody>
                  <a:tcPr anchor="ctr">
                    <a:solidFill>
                      <a:schemeClr val="accent1">
                        <a:lumMod val="20000"/>
                        <a:lumOff val="80000"/>
                      </a:schemeClr>
                    </a:solidFill>
                  </a:tcPr>
                </a:tc>
                <a:tc>
                  <a:txBody>
                    <a:bodyPr/>
                    <a:lstStyle/>
                    <a:p>
                      <a:pPr algn="ctr"/>
                      <a:r>
                        <a:rPr lang="en-US" sz="1600" dirty="0"/>
                        <a:t>&gt;</a:t>
                      </a:r>
                    </a:p>
                  </a:txBody>
                  <a:tcPr anchor="ctr">
                    <a:solidFill>
                      <a:schemeClr val="accent1">
                        <a:lumMod val="40000"/>
                        <a:lumOff val="60000"/>
                      </a:schemeClr>
                    </a:solidFill>
                  </a:tcPr>
                </a:tc>
                <a:tc>
                  <a:txBody>
                    <a:bodyPr/>
                    <a:lstStyle/>
                    <a:p>
                      <a:r>
                        <a:rPr lang="en-US" sz="1200" dirty="0"/>
                        <a:t>Less than</a:t>
                      </a:r>
                    </a:p>
                  </a:txBody>
                  <a:tcPr anchor="ctr">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25016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35117"/>
            <a:ext cx="8079581" cy="793808"/>
          </a:xfrm>
        </p:spPr>
        <p:txBody>
          <a:bodyPr>
            <a:normAutofit/>
          </a:bodyPr>
          <a:lstStyle/>
          <a:p>
            <a:r>
              <a:rPr lang="en-US" dirty="0"/>
              <a:t>AND nested in IF</a:t>
            </a:r>
          </a:p>
        </p:txBody>
      </p:sp>
      <p:sp>
        <p:nvSpPr>
          <p:cNvPr id="3" name="Content Placeholder 2"/>
          <p:cNvSpPr>
            <a:spLocks noGrp="1"/>
          </p:cNvSpPr>
          <p:nvPr>
            <p:ph idx="1"/>
          </p:nvPr>
        </p:nvSpPr>
        <p:spPr>
          <a:xfrm>
            <a:off x="1911179" y="1392196"/>
            <a:ext cx="8600303" cy="5465805"/>
          </a:xfrm>
        </p:spPr>
        <p:txBody>
          <a:bodyPr>
            <a:normAutofit/>
          </a:bodyPr>
          <a:lstStyle/>
          <a:p>
            <a:endParaRPr lang="en-US" sz="2100" b="1" dirty="0"/>
          </a:p>
          <a:p>
            <a:pPr marL="0" indent="0">
              <a:buNone/>
            </a:pPr>
            <a:r>
              <a:rPr lang="en-US" sz="2100" dirty="0"/>
              <a:t>We can also use AND nested in the IF function</a:t>
            </a:r>
            <a:r>
              <a:rPr lang="is-IS" sz="2100" dirty="0"/>
              <a:t>…</a:t>
            </a:r>
            <a:endParaRPr lang="en-US" sz="2100" dirty="0"/>
          </a:p>
          <a:p>
            <a:pPr marL="0" indent="0">
              <a:buNone/>
            </a:pPr>
            <a:r>
              <a:rPr lang="en-US" sz="2100" dirty="0"/>
              <a:t>The logical test can be: if “the job rating is greater or equal than 4 </a:t>
            </a:r>
            <a:r>
              <a:rPr lang="en-US" sz="2100" u="sng" dirty="0"/>
              <a:t>and</a:t>
            </a:r>
            <a:r>
              <a:rPr lang="en-US" sz="2100" dirty="0"/>
              <a:t> smaller or equal than 5”:</a:t>
            </a:r>
          </a:p>
          <a:p>
            <a:pPr marL="0" indent="0">
              <a:buNone/>
            </a:pPr>
            <a:endParaRPr lang="en-US" sz="2100" dirty="0"/>
          </a:p>
          <a:p>
            <a:pPr algn="ctr"/>
            <a:r>
              <a:rPr lang="en-US" sz="2100" u="sng" dirty="0"/>
              <a:t>= IF( </a:t>
            </a:r>
            <a:r>
              <a:rPr lang="en-US" sz="2100" u="sng" dirty="0">
                <a:solidFill>
                  <a:srgbClr val="FF0000"/>
                </a:solidFill>
              </a:rPr>
              <a:t>AND (I3&gt;= 4, I3&lt;= 5)</a:t>
            </a:r>
            <a:r>
              <a:rPr lang="en-US" sz="2100" u="sng" dirty="0"/>
              <a:t>, H3*0.05, 0)</a:t>
            </a:r>
          </a:p>
          <a:p>
            <a:endParaRPr lang="en-US" sz="2100" dirty="0"/>
          </a:p>
          <a:p>
            <a:r>
              <a:rPr lang="en-US" sz="2100" dirty="0"/>
              <a:t>The AND function accepts two or more logical tests and returns TRUE if all conditions are true, and FALSE if at least one is false:</a:t>
            </a:r>
          </a:p>
          <a:p>
            <a:pPr algn="ctr"/>
            <a:r>
              <a:rPr lang="en-US" sz="2100" i="1" dirty="0"/>
              <a:t>AND (logical_test1, logical_test2, logical_test3, …)</a:t>
            </a:r>
            <a:endParaRPr lang="en-US" sz="2100" dirty="0"/>
          </a:p>
          <a:p>
            <a:pPr marL="0" indent="0">
              <a:buNone/>
            </a:pPr>
            <a:endParaRPr lang="en-US" sz="2100" dirty="0"/>
          </a:p>
        </p:txBody>
      </p:sp>
      <p:sp>
        <p:nvSpPr>
          <p:cNvPr id="4" name="Slide Number Placeholder 3"/>
          <p:cNvSpPr>
            <a:spLocks noGrp="1"/>
          </p:cNvSpPr>
          <p:nvPr>
            <p:ph type="sldNum" sz="quarter" idx="12"/>
          </p:nvPr>
        </p:nvSpPr>
        <p:spPr/>
        <p:txBody>
          <a:bodyPr/>
          <a:lstStyle/>
          <a:p>
            <a:fld id="{FC6D7323-3F06-479E-ADC8-7BC729C5AF45}" type="slidenum">
              <a:rPr lang="en-US" smtClean="0"/>
              <a:t>26</a:t>
            </a:fld>
            <a:endParaRPr lang="en-US"/>
          </a:p>
        </p:txBody>
      </p:sp>
    </p:spTree>
    <p:extLst>
      <p:ext uri="{BB962C8B-B14F-4D97-AF65-F5344CB8AC3E}">
        <p14:creationId xmlns:p14="http://schemas.microsoft.com/office/powerpoint/2010/main" val="423704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435117"/>
            <a:ext cx="8079581" cy="370226"/>
          </a:xfrm>
        </p:spPr>
        <p:txBody>
          <a:bodyPr>
            <a:normAutofit fontScale="90000"/>
          </a:bodyPr>
          <a:lstStyle/>
          <a:p>
            <a:r>
              <a:rPr lang="en-US" dirty="0"/>
              <a:t>OR and NOT nested in IF</a:t>
            </a:r>
          </a:p>
        </p:txBody>
      </p:sp>
      <p:sp>
        <p:nvSpPr>
          <p:cNvPr id="3" name="Content Placeholder 2"/>
          <p:cNvSpPr>
            <a:spLocks noGrp="1"/>
          </p:cNvSpPr>
          <p:nvPr>
            <p:ph idx="1"/>
          </p:nvPr>
        </p:nvSpPr>
        <p:spPr>
          <a:xfrm>
            <a:off x="1882489" y="947957"/>
            <a:ext cx="8388615" cy="5717121"/>
          </a:xfrm>
        </p:spPr>
        <p:txBody>
          <a:bodyPr>
            <a:noAutofit/>
          </a:bodyPr>
          <a:lstStyle/>
          <a:p>
            <a:pPr marL="0" indent="0">
              <a:lnSpc>
                <a:spcPct val="110000"/>
              </a:lnSpc>
              <a:buNone/>
            </a:pPr>
            <a:r>
              <a:rPr lang="en-US" sz="2100" dirty="0"/>
              <a:t>The logical test can also be: if “the job rating is either 4 </a:t>
            </a:r>
            <a:r>
              <a:rPr lang="en-US" sz="2100" u="sng" dirty="0"/>
              <a:t>or</a:t>
            </a:r>
            <a:r>
              <a:rPr lang="en-US" sz="2100" dirty="0"/>
              <a:t> 5”:</a:t>
            </a:r>
          </a:p>
          <a:p>
            <a:pPr algn="ctr">
              <a:lnSpc>
                <a:spcPct val="110000"/>
              </a:lnSpc>
            </a:pPr>
            <a:r>
              <a:rPr lang="en-US" sz="2100" u="sng" dirty="0"/>
              <a:t>=IF (</a:t>
            </a:r>
            <a:r>
              <a:rPr lang="en-US" sz="2100" u="sng" dirty="0">
                <a:solidFill>
                  <a:srgbClr val="FF0000"/>
                </a:solidFill>
              </a:rPr>
              <a:t>OR (I3 = 4, I3 = 5)</a:t>
            </a:r>
            <a:r>
              <a:rPr lang="en-US" sz="2100" u="sng" dirty="0"/>
              <a:t>, H3*0.05, 0)</a:t>
            </a:r>
            <a:endParaRPr lang="en-US" sz="2100" dirty="0"/>
          </a:p>
          <a:p>
            <a:pPr>
              <a:lnSpc>
                <a:spcPct val="110000"/>
              </a:lnSpc>
            </a:pPr>
            <a:r>
              <a:rPr lang="en-US" sz="2100" dirty="0"/>
              <a:t>The OR function accepts two or more logical tests and returns TRUE if at least one of the conditions is true, and FALSE if all are false.</a:t>
            </a:r>
          </a:p>
          <a:p>
            <a:pPr algn="ctr">
              <a:lnSpc>
                <a:spcPct val="110000"/>
              </a:lnSpc>
            </a:pPr>
            <a:r>
              <a:rPr lang="en-US" sz="2100" i="1" dirty="0"/>
              <a:t>OR (logical_test1, logical_test2, logical_test3, …)</a:t>
            </a:r>
          </a:p>
          <a:p>
            <a:pPr>
              <a:lnSpc>
                <a:spcPct val="110000"/>
              </a:lnSpc>
            </a:pPr>
            <a:r>
              <a:rPr lang="en-US" sz="2000" dirty="0"/>
              <a:t>The NOT function reverses the truth value of its argument (it returns true if the condition is false, and vice-versa).</a:t>
            </a:r>
          </a:p>
          <a:p>
            <a:pPr algn="ctr">
              <a:lnSpc>
                <a:spcPct val="110000"/>
              </a:lnSpc>
            </a:pPr>
            <a:r>
              <a:rPr lang="en-US" sz="2000" i="1" dirty="0"/>
              <a:t>NOT (</a:t>
            </a:r>
            <a:r>
              <a:rPr lang="en-US" sz="2000" i="1" dirty="0" err="1"/>
              <a:t>logical_test</a:t>
            </a:r>
            <a:r>
              <a:rPr lang="en-US" sz="2000" i="1" dirty="0"/>
              <a:t>)</a:t>
            </a:r>
            <a:endParaRPr lang="en-US" sz="2000" i="1" u="sng" dirty="0"/>
          </a:p>
          <a:p>
            <a:pPr>
              <a:lnSpc>
                <a:spcPct val="110000"/>
              </a:lnSpc>
              <a:buFont typeface="Wingdings" charset="0"/>
              <a:buChar char="F"/>
            </a:pPr>
            <a:r>
              <a:rPr lang="en-US" sz="2000" i="1" dirty="0"/>
              <a:t>AND, OR, and NOT, may also be used alone when you want a true or false answer, and need not necessarily be nested in the IF function.</a:t>
            </a:r>
          </a:p>
        </p:txBody>
      </p:sp>
      <p:sp>
        <p:nvSpPr>
          <p:cNvPr id="4" name="Slide Number Placeholder 3"/>
          <p:cNvSpPr>
            <a:spLocks noGrp="1"/>
          </p:cNvSpPr>
          <p:nvPr>
            <p:ph type="sldNum" sz="quarter" idx="12"/>
          </p:nvPr>
        </p:nvSpPr>
        <p:spPr/>
        <p:txBody>
          <a:bodyPr/>
          <a:lstStyle/>
          <a:p>
            <a:fld id="{FC6D7323-3F06-479E-ADC8-7BC729C5AF45}" type="slidenum">
              <a:rPr lang="en-US" smtClean="0"/>
              <a:t>27</a:t>
            </a:fld>
            <a:endParaRPr lang="en-US"/>
          </a:p>
        </p:txBody>
      </p:sp>
    </p:spTree>
    <p:extLst>
      <p:ext uri="{BB962C8B-B14F-4D97-AF65-F5344CB8AC3E}">
        <p14:creationId xmlns:p14="http://schemas.microsoft.com/office/powerpoint/2010/main" val="1840438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508" y="224123"/>
            <a:ext cx="8079581" cy="530887"/>
          </a:xfrm>
        </p:spPr>
        <p:txBody>
          <a:bodyPr>
            <a:normAutofit fontScale="90000"/>
          </a:bodyPr>
          <a:lstStyle/>
          <a:p>
            <a:r>
              <a:rPr lang="en-US" dirty="0"/>
              <a:t>(V/H)LOOKUP functions</a:t>
            </a:r>
          </a:p>
        </p:txBody>
      </p:sp>
      <p:sp>
        <p:nvSpPr>
          <p:cNvPr id="3" name="Content Placeholder 2"/>
          <p:cNvSpPr>
            <a:spLocks noGrp="1"/>
          </p:cNvSpPr>
          <p:nvPr>
            <p:ph idx="1"/>
          </p:nvPr>
        </p:nvSpPr>
        <p:spPr>
          <a:xfrm>
            <a:off x="1749336" y="755009"/>
            <a:ext cx="8726617" cy="5871276"/>
          </a:xfrm>
        </p:spPr>
        <p:txBody>
          <a:bodyPr>
            <a:noAutofit/>
          </a:bodyPr>
          <a:lstStyle/>
          <a:p>
            <a:pPr marL="0" indent="0" algn="just">
              <a:lnSpc>
                <a:spcPct val="110000"/>
              </a:lnSpc>
              <a:buNone/>
            </a:pPr>
            <a:r>
              <a:rPr lang="en-US" sz="1900" b="1" dirty="0"/>
              <a:t>(V/H)LOOKUP functions retrieve a value from a range or table located in another area of the worksheet or workbook. </a:t>
            </a:r>
          </a:p>
          <a:p>
            <a:pPr marL="0" indent="0" algn="just">
              <a:lnSpc>
                <a:spcPct val="110000"/>
              </a:lnSpc>
              <a:buNone/>
            </a:pPr>
            <a:r>
              <a:rPr lang="en-US" sz="1900" dirty="0"/>
              <a:t>VLOOKUP finds a value in the </a:t>
            </a:r>
            <a:r>
              <a:rPr lang="en-US" sz="1900" u="sng" dirty="0">
                <a:solidFill>
                  <a:srgbClr val="FF0000"/>
                </a:solidFill>
              </a:rPr>
              <a:t>first column </a:t>
            </a:r>
            <a:r>
              <a:rPr lang="en-US" sz="1900" dirty="0"/>
              <a:t>of the range or table given (the lookup table) and </a:t>
            </a:r>
            <a:r>
              <a:rPr lang="en-US" sz="1900" u="sng" dirty="0">
                <a:solidFill>
                  <a:srgbClr val="FF0000"/>
                </a:solidFill>
              </a:rPr>
              <a:t>returns a value from the cell on the same row </a:t>
            </a:r>
            <a:r>
              <a:rPr lang="en-US" sz="1900" dirty="0"/>
              <a:t>in another column. In order for VLOOKUP to work properly each cell of that first column must contain a unique value.</a:t>
            </a:r>
            <a:endParaRPr lang="en-US" sz="100" dirty="0"/>
          </a:p>
          <a:p>
            <a:pPr algn="ctr">
              <a:lnSpc>
                <a:spcPct val="100000"/>
              </a:lnSpc>
            </a:pPr>
            <a:r>
              <a:rPr lang="en-US" sz="2000" i="1" dirty="0"/>
              <a:t>=VLOOKUP (</a:t>
            </a:r>
            <a:r>
              <a:rPr lang="en-US" sz="2000" i="1" dirty="0" err="1"/>
              <a:t>lookup_value</a:t>
            </a:r>
            <a:r>
              <a:rPr lang="en-US" sz="2000" i="1" dirty="0"/>
              <a:t>, </a:t>
            </a:r>
            <a:r>
              <a:rPr lang="en-US" sz="2000" i="1" dirty="0" err="1"/>
              <a:t>table_array</a:t>
            </a:r>
            <a:r>
              <a:rPr lang="en-US" sz="2000" i="1" dirty="0"/>
              <a:t>, </a:t>
            </a:r>
            <a:r>
              <a:rPr lang="en-US" sz="2000" i="1" dirty="0" err="1"/>
              <a:t>col_index_num</a:t>
            </a:r>
            <a:r>
              <a:rPr lang="en-US" sz="2000" i="1" dirty="0"/>
              <a:t>, [</a:t>
            </a:r>
            <a:r>
              <a:rPr lang="en-US" sz="2000" i="1" dirty="0" err="1"/>
              <a:t>range_lookup</a:t>
            </a:r>
            <a:r>
              <a:rPr lang="en-US" sz="2000" i="1" dirty="0"/>
              <a:t>])</a:t>
            </a:r>
          </a:p>
          <a:p>
            <a:pPr algn="just">
              <a:lnSpc>
                <a:spcPct val="100000"/>
              </a:lnSpc>
              <a:spcBef>
                <a:spcPts val="700"/>
              </a:spcBef>
              <a:buFont typeface="Wingdings" panose="05000000000000000000" pitchFamily="2" charset="2"/>
              <a:buChar char="§"/>
            </a:pPr>
            <a:r>
              <a:rPr lang="en-US" sz="1800" dirty="0"/>
              <a:t> </a:t>
            </a:r>
            <a:r>
              <a:rPr lang="en-US" sz="1600" b="1" i="1" dirty="0" err="1"/>
              <a:t>lookup_value</a:t>
            </a:r>
            <a:r>
              <a:rPr lang="en-US" sz="1600" dirty="0"/>
              <a:t> is the value that you want to look up in the </a:t>
            </a:r>
            <a:r>
              <a:rPr lang="en-US" sz="1600" u="sng" dirty="0"/>
              <a:t>first</a:t>
            </a:r>
            <a:r>
              <a:rPr lang="en-US" sz="1600" dirty="0"/>
              <a:t> column of the lookup table </a:t>
            </a:r>
            <a:r>
              <a:rPr lang="en-US" sz="1600" dirty="0">
                <a:highlight>
                  <a:srgbClr val="FFFF00"/>
                </a:highlight>
              </a:rPr>
              <a:t>(value to look for)</a:t>
            </a:r>
          </a:p>
          <a:p>
            <a:pPr algn="just">
              <a:lnSpc>
                <a:spcPct val="100000"/>
              </a:lnSpc>
              <a:spcBef>
                <a:spcPts val="700"/>
              </a:spcBef>
              <a:buFont typeface="Wingdings" panose="05000000000000000000" pitchFamily="2" charset="2"/>
              <a:buChar char="§"/>
            </a:pPr>
            <a:r>
              <a:rPr lang="en-US" sz="1600" b="1" i="1" dirty="0"/>
              <a:t> </a:t>
            </a:r>
            <a:r>
              <a:rPr lang="en-US" sz="1600" b="1" i="1" dirty="0" err="1"/>
              <a:t>table_array</a:t>
            </a:r>
            <a:r>
              <a:rPr lang="en-US" sz="1600" dirty="0"/>
              <a:t> is the set of cells (range) that contains the lookup table </a:t>
            </a:r>
            <a:r>
              <a:rPr lang="en-US" sz="1600" dirty="0">
                <a:highlight>
                  <a:srgbClr val="FFFF00"/>
                </a:highlight>
              </a:rPr>
              <a:t>(range to look in)</a:t>
            </a:r>
            <a:endParaRPr lang="en-US" sz="1600" dirty="0"/>
          </a:p>
          <a:p>
            <a:pPr algn="just">
              <a:lnSpc>
                <a:spcPct val="100000"/>
              </a:lnSpc>
              <a:spcBef>
                <a:spcPts val="700"/>
              </a:spcBef>
              <a:buFont typeface="Wingdings" panose="05000000000000000000" pitchFamily="2" charset="2"/>
              <a:buChar char="§"/>
            </a:pPr>
            <a:r>
              <a:rPr lang="en-US" sz="1600" dirty="0"/>
              <a:t> </a:t>
            </a:r>
            <a:r>
              <a:rPr lang="en-US" sz="1600" b="1" i="1" dirty="0" err="1"/>
              <a:t>col_index_num</a:t>
            </a:r>
            <a:r>
              <a:rPr lang="en-US" sz="1600" dirty="0"/>
              <a:t> is the column number in the lookup table that contains the information you want to retrieve </a:t>
            </a:r>
            <a:r>
              <a:rPr lang="en-US" sz="1600" dirty="0">
                <a:highlight>
                  <a:srgbClr val="FFFF00"/>
                </a:highlight>
              </a:rPr>
              <a:t>(column number of the value to return)</a:t>
            </a:r>
          </a:p>
          <a:p>
            <a:pPr algn="just">
              <a:lnSpc>
                <a:spcPct val="100000"/>
              </a:lnSpc>
              <a:spcBef>
                <a:spcPts val="700"/>
              </a:spcBef>
              <a:buFont typeface="Wingdings" panose="05000000000000000000" pitchFamily="2" charset="2"/>
              <a:buChar char="§"/>
            </a:pPr>
            <a:r>
              <a:rPr lang="en-US" sz="1600" dirty="0"/>
              <a:t> </a:t>
            </a:r>
            <a:r>
              <a:rPr lang="en-US" sz="1600" b="1" i="1" dirty="0"/>
              <a:t>[</a:t>
            </a:r>
            <a:r>
              <a:rPr lang="en-US" sz="1600" b="1" i="1" dirty="0" err="1"/>
              <a:t>range_lookup</a:t>
            </a:r>
            <a:r>
              <a:rPr lang="en-US" sz="1600" b="1" i="1" dirty="0"/>
              <a:t>] </a:t>
            </a:r>
            <a:r>
              <a:rPr lang="en-US" sz="1600" dirty="0"/>
              <a:t>is an optional argument. The default is set to TRUE, and that means that it looks for an approximate match. For this to work the first column of the lookup table must be in ascending numerical order. If set to FALSE, it looks only for an exact match. </a:t>
            </a:r>
            <a:r>
              <a:rPr lang="en-US" sz="1600">
                <a:highlight>
                  <a:srgbClr val="FFFF00"/>
                </a:highlight>
              </a:rPr>
              <a:t>(approximate or exact match [TRUE/FALSE])</a:t>
            </a:r>
            <a:endParaRPr lang="en-US" sz="1600" dirty="0"/>
          </a:p>
          <a:p>
            <a:pPr marL="0" indent="0" algn="just">
              <a:lnSpc>
                <a:spcPct val="100000"/>
              </a:lnSpc>
              <a:spcBef>
                <a:spcPts val="700"/>
              </a:spcBef>
              <a:buNone/>
            </a:pPr>
            <a:r>
              <a:rPr lang="en-US" sz="1600" dirty="0">
                <a:sym typeface="Wingdings" panose="05000000000000000000" pitchFamily="2" charset="2"/>
              </a:rPr>
              <a:t> </a:t>
            </a:r>
            <a:r>
              <a:rPr lang="en-US" sz="1600" dirty="0"/>
              <a:t>If VLOOKUP finds no match it returns #N/A (Not Available) </a:t>
            </a:r>
          </a:p>
        </p:txBody>
      </p:sp>
      <p:sp>
        <p:nvSpPr>
          <p:cNvPr id="4" name="Slide Number Placeholder 3"/>
          <p:cNvSpPr>
            <a:spLocks noGrp="1"/>
          </p:cNvSpPr>
          <p:nvPr>
            <p:ph type="sldNum" sz="quarter" idx="12"/>
          </p:nvPr>
        </p:nvSpPr>
        <p:spPr/>
        <p:txBody>
          <a:bodyPr/>
          <a:lstStyle/>
          <a:p>
            <a:r>
              <a:rPr lang="en-US" dirty="0"/>
              <a:t> </a:t>
            </a:r>
            <a:fld id="{FC6D7323-3F06-479E-ADC8-7BC729C5AF45}" type="slidenum">
              <a:rPr lang="en-US" smtClean="0"/>
              <a:t>28</a:t>
            </a:fld>
            <a:endParaRPr lang="en-US" dirty="0"/>
          </a:p>
        </p:txBody>
      </p:sp>
    </p:spTree>
    <p:extLst>
      <p:ext uri="{BB962C8B-B14F-4D97-AF65-F5344CB8AC3E}">
        <p14:creationId xmlns:p14="http://schemas.microsoft.com/office/powerpoint/2010/main" val="471977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375966"/>
            <a:ext cx="8079581" cy="793808"/>
          </a:xfrm>
        </p:spPr>
        <p:txBody>
          <a:bodyPr/>
          <a:lstStyle/>
          <a:p>
            <a:r>
              <a:rPr lang="en-US" dirty="0"/>
              <a:t>(V/H)LOOKUP functions</a:t>
            </a:r>
          </a:p>
        </p:txBody>
      </p:sp>
      <p:sp>
        <p:nvSpPr>
          <p:cNvPr id="3" name="Content Placeholder 2"/>
          <p:cNvSpPr>
            <a:spLocks noGrp="1"/>
          </p:cNvSpPr>
          <p:nvPr>
            <p:ph idx="1"/>
          </p:nvPr>
        </p:nvSpPr>
        <p:spPr>
          <a:xfrm>
            <a:off x="1810791" y="1383954"/>
            <a:ext cx="8675405" cy="5321646"/>
          </a:xfrm>
        </p:spPr>
        <p:txBody>
          <a:bodyPr>
            <a:normAutofit/>
          </a:bodyPr>
          <a:lstStyle/>
          <a:p>
            <a:pPr marL="0" indent="0">
              <a:lnSpc>
                <a:spcPct val="100000"/>
              </a:lnSpc>
              <a:buNone/>
            </a:pPr>
            <a:r>
              <a:rPr lang="en-US" sz="2100" dirty="0"/>
              <a:t>HLOOKUP does the same as VLOOKUP for the case when we have a ‘horizontal’ lookup table or range, that is, it looks for values in the first row of the lookup table instead of the first column.</a:t>
            </a:r>
          </a:p>
          <a:p>
            <a:pPr marL="0" indent="0" algn="ctr">
              <a:lnSpc>
                <a:spcPct val="100000"/>
              </a:lnSpc>
              <a:buNone/>
            </a:pPr>
            <a:endParaRPr lang="en-US" sz="900" dirty="0"/>
          </a:p>
          <a:p>
            <a:pPr marL="0" indent="0" algn="ctr">
              <a:lnSpc>
                <a:spcPct val="100000"/>
              </a:lnSpc>
              <a:buNone/>
            </a:pPr>
            <a:r>
              <a:rPr lang="en-US" sz="2200" i="1" dirty="0"/>
              <a:t>=HLOOKUP(</a:t>
            </a:r>
            <a:r>
              <a:rPr lang="en-US" sz="2200" i="1" dirty="0" err="1"/>
              <a:t>lookup_value</a:t>
            </a:r>
            <a:r>
              <a:rPr lang="en-US" sz="2200" i="1" dirty="0"/>
              <a:t>, </a:t>
            </a:r>
            <a:r>
              <a:rPr lang="en-US" sz="2200" i="1" dirty="0" err="1"/>
              <a:t>table_array</a:t>
            </a:r>
            <a:r>
              <a:rPr lang="en-US" sz="2200" i="1" dirty="0"/>
              <a:t>, </a:t>
            </a:r>
            <a:r>
              <a:rPr lang="en-US" sz="2200" i="1" dirty="0" err="1"/>
              <a:t>row_index_num</a:t>
            </a:r>
            <a:r>
              <a:rPr lang="en-US" sz="2200" i="1" dirty="0"/>
              <a:t>, [</a:t>
            </a:r>
            <a:r>
              <a:rPr lang="en-US" sz="2200" i="1" dirty="0" err="1"/>
              <a:t>range_lookup</a:t>
            </a:r>
            <a:r>
              <a:rPr lang="en-US" sz="2200" i="1" dirty="0"/>
              <a:t>])</a:t>
            </a:r>
          </a:p>
          <a:p>
            <a:pPr algn="ctr">
              <a:lnSpc>
                <a:spcPct val="100000"/>
              </a:lnSpc>
            </a:pPr>
            <a:endParaRPr lang="en-US" sz="900" i="1" u="sng" dirty="0"/>
          </a:p>
          <a:p>
            <a:pPr>
              <a:lnSpc>
                <a:spcPct val="100000"/>
              </a:lnSpc>
              <a:buFont typeface="Wingdings" panose="05000000000000000000" pitchFamily="2" charset="2"/>
              <a:buChar char="§"/>
            </a:pPr>
            <a:r>
              <a:rPr lang="en-US" sz="1900" dirty="0"/>
              <a:t> </a:t>
            </a:r>
            <a:r>
              <a:rPr lang="en-US" sz="1800" b="1" i="1" dirty="0" err="1"/>
              <a:t>lookup_value</a:t>
            </a:r>
            <a:r>
              <a:rPr lang="en-US" sz="1800" dirty="0"/>
              <a:t> is the value that you want to look up in the first row of the lookup table or range </a:t>
            </a:r>
            <a:r>
              <a:rPr lang="en-US" sz="1800" dirty="0">
                <a:highlight>
                  <a:srgbClr val="FFFF00"/>
                </a:highlight>
              </a:rPr>
              <a:t>(value to look for)</a:t>
            </a:r>
          </a:p>
          <a:p>
            <a:pPr>
              <a:lnSpc>
                <a:spcPct val="100000"/>
              </a:lnSpc>
              <a:buFont typeface="Wingdings" panose="05000000000000000000" pitchFamily="2" charset="2"/>
              <a:buChar char="§"/>
            </a:pPr>
            <a:r>
              <a:rPr lang="en-US" sz="1800" dirty="0"/>
              <a:t> </a:t>
            </a:r>
            <a:r>
              <a:rPr lang="en-US" sz="1800" b="1" i="1" dirty="0" err="1"/>
              <a:t>table_array</a:t>
            </a:r>
            <a:r>
              <a:rPr lang="en-US" sz="1800" dirty="0"/>
              <a:t> is the set of cells (range) that contains the entire lookup table </a:t>
            </a:r>
            <a:r>
              <a:rPr lang="en-US" sz="1800" dirty="0">
                <a:highlight>
                  <a:srgbClr val="FFFF00"/>
                </a:highlight>
              </a:rPr>
              <a:t>(range to look in)</a:t>
            </a:r>
          </a:p>
          <a:p>
            <a:pPr>
              <a:lnSpc>
                <a:spcPct val="100000"/>
              </a:lnSpc>
              <a:buFont typeface="Wingdings" panose="05000000000000000000" pitchFamily="2" charset="2"/>
              <a:buChar char="§"/>
            </a:pPr>
            <a:r>
              <a:rPr lang="en-US" sz="1800" dirty="0"/>
              <a:t> </a:t>
            </a:r>
            <a:r>
              <a:rPr lang="en-US" sz="1800" b="1" i="1" dirty="0" err="1"/>
              <a:t>row_index_num</a:t>
            </a:r>
            <a:r>
              <a:rPr lang="en-US" sz="1800" dirty="0"/>
              <a:t> is the row number in the lookup table that contains the information you want to get </a:t>
            </a:r>
            <a:r>
              <a:rPr lang="en-US" sz="1800" dirty="0">
                <a:highlight>
                  <a:srgbClr val="FFFF00"/>
                </a:highlight>
              </a:rPr>
              <a:t>(column number of the value to return)</a:t>
            </a:r>
          </a:p>
          <a:p>
            <a:pPr>
              <a:lnSpc>
                <a:spcPct val="100000"/>
              </a:lnSpc>
              <a:buFont typeface="Wingdings" panose="05000000000000000000" pitchFamily="2" charset="2"/>
              <a:buChar char="§"/>
            </a:pPr>
            <a:r>
              <a:rPr lang="en-US" sz="1800" dirty="0"/>
              <a:t> </a:t>
            </a:r>
            <a:r>
              <a:rPr lang="en-US" sz="1800" b="1" i="1" dirty="0"/>
              <a:t>[</a:t>
            </a:r>
            <a:r>
              <a:rPr lang="en-US" sz="1800" b="1" i="1" dirty="0" err="1"/>
              <a:t>range_lookup</a:t>
            </a:r>
            <a:r>
              <a:rPr lang="en-US" sz="1800" b="1" i="1" dirty="0"/>
              <a:t>] </a:t>
            </a:r>
            <a:r>
              <a:rPr lang="en-US" sz="1800" dirty="0"/>
              <a:t>is an optional argument and it works the same way as for VLOOKUP </a:t>
            </a:r>
            <a:r>
              <a:rPr lang="en-US" sz="1800" dirty="0">
                <a:highlight>
                  <a:srgbClr val="FFFF00"/>
                </a:highlight>
              </a:rPr>
              <a:t>(approximate or exact match [TRUE/FALSE])</a:t>
            </a:r>
          </a:p>
        </p:txBody>
      </p:sp>
      <p:sp>
        <p:nvSpPr>
          <p:cNvPr id="4" name="Slide Number Placeholder 3"/>
          <p:cNvSpPr>
            <a:spLocks noGrp="1"/>
          </p:cNvSpPr>
          <p:nvPr>
            <p:ph type="sldNum" sz="quarter" idx="12"/>
          </p:nvPr>
        </p:nvSpPr>
        <p:spPr/>
        <p:txBody>
          <a:bodyPr/>
          <a:lstStyle/>
          <a:p>
            <a:fld id="{FC6D7323-3F06-479E-ADC8-7BC729C5AF45}" type="slidenum">
              <a:rPr lang="en-US" smtClean="0"/>
              <a:t>29</a:t>
            </a:fld>
            <a:endParaRPr lang="en-US"/>
          </a:p>
        </p:txBody>
      </p:sp>
    </p:spTree>
    <p:extLst>
      <p:ext uri="{BB962C8B-B14F-4D97-AF65-F5344CB8AC3E}">
        <p14:creationId xmlns:p14="http://schemas.microsoft.com/office/powerpoint/2010/main" val="154762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300" y="254835"/>
            <a:ext cx="8392463" cy="932103"/>
          </a:xfrm>
        </p:spPr>
        <p:txBody>
          <a:bodyPr>
            <a:normAutofit/>
          </a:bodyPr>
          <a:lstStyle/>
          <a:p>
            <a:r>
              <a:rPr lang="en-US" dirty="0"/>
              <a:t>Structured references</a:t>
            </a:r>
          </a:p>
        </p:txBody>
      </p:sp>
      <p:sp>
        <p:nvSpPr>
          <p:cNvPr id="3" name="Content Placeholder 2"/>
          <p:cNvSpPr>
            <a:spLocks noGrp="1"/>
          </p:cNvSpPr>
          <p:nvPr>
            <p:ph idx="1"/>
          </p:nvPr>
        </p:nvSpPr>
        <p:spPr>
          <a:xfrm>
            <a:off x="1524000" y="1288319"/>
            <a:ext cx="9144000" cy="5391072"/>
          </a:xfrm>
        </p:spPr>
        <p:txBody>
          <a:bodyPr>
            <a:noAutofit/>
          </a:bodyPr>
          <a:lstStyle/>
          <a:p>
            <a:pPr marL="457200" indent="-457200">
              <a:lnSpc>
                <a:spcPct val="100000"/>
              </a:lnSpc>
              <a:buFont typeface="+mj-lt"/>
              <a:buAutoNum type="arabicPeriod"/>
            </a:pPr>
            <a:r>
              <a:rPr lang="en-US" sz="2000" dirty="0"/>
              <a:t>Calculate the salary after tax of each employee according to the tax rates:</a:t>
            </a:r>
          </a:p>
          <a:p>
            <a:pPr marL="457200" indent="-457200">
              <a:lnSpc>
                <a:spcPct val="100000"/>
              </a:lnSpc>
              <a:buFont typeface="+mj-lt"/>
              <a:buAutoNum type="arabicPeriod"/>
            </a:pPr>
            <a:endParaRPr lang="en-US" sz="2000" dirty="0"/>
          </a:p>
          <a:p>
            <a:pPr marL="0" indent="0">
              <a:lnSpc>
                <a:spcPct val="100000"/>
              </a:lnSpc>
              <a:buNone/>
            </a:pPr>
            <a:endParaRPr lang="en-US" sz="2000" dirty="0"/>
          </a:p>
          <a:p>
            <a:pPr marL="0" indent="0">
              <a:lnSpc>
                <a:spcPct val="100000"/>
              </a:lnSpc>
              <a:buNone/>
            </a:pPr>
            <a:endParaRPr lang="en-US" sz="2000" dirty="0"/>
          </a:p>
          <a:p>
            <a:pPr marL="0" indent="0">
              <a:lnSpc>
                <a:spcPct val="100000"/>
              </a:lnSpc>
              <a:buNone/>
            </a:pPr>
            <a:endParaRPr lang="en-US" sz="2000" dirty="0"/>
          </a:p>
          <a:p>
            <a:pPr marL="457200" indent="-457200">
              <a:lnSpc>
                <a:spcPct val="100000"/>
              </a:lnSpc>
              <a:buFont typeface="+mj-lt"/>
              <a:buAutoNum type="arabicPeriod"/>
            </a:pPr>
            <a:endParaRPr lang="en-US" sz="2000" dirty="0"/>
          </a:p>
          <a:p>
            <a:pPr marL="457200" indent="-457200">
              <a:lnSpc>
                <a:spcPct val="100000"/>
              </a:lnSpc>
              <a:buFont typeface="+mj-lt"/>
              <a:buAutoNum type="arabicPeriod"/>
            </a:pPr>
            <a:endParaRPr lang="en-US" sz="2000" dirty="0"/>
          </a:p>
          <a:p>
            <a:pPr marL="457200" indent="-457200">
              <a:lnSpc>
                <a:spcPct val="100000"/>
              </a:lnSpc>
              <a:buFont typeface="+mj-lt"/>
              <a:buAutoNum type="arabicPeriod"/>
            </a:pPr>
            <a:endParaRPr lang="en-US" sz="2000" dirty="0"/>
          </a:p>
          <a:p>
            <a:pPr marL="0" indent="0" algn="just">
              <a:lnSpc>
                <a:spcPct val="100000"/>
              </a:lnSpc>
              <a:buNone/>
            </a:pPr>
            <a:endParaRPr lang="en-US" sz="2000" i="1" dirty="0"/>
          </a:p>
          <a:p>
            <a:pPr marL="0" indent="0" algn="just">
              <a:lnSpc>
                <a:spcPct val="100000"/>
              </a:lnSpc>
              <a:buNone/>
            </a:pPr>
            <a:r>
              <a:rPr lang="en-US" sz="1600" i="1" dirty="0"/>
              <a:t>We are going use VLOOKUP using structured references, but its use is similar with cell references.</a:t>
            </a:r>
            <a:endParaRPr lang="en-US" sz="2000" dirty="0"/>
          </a:p>
        </p:txBody>
      </p:sp>
      <p:sp>
        <p:nvSpPr>
          <p:cNvPr id="4" name="Slide Number Placeholder 3"/>
          <p:cNvSpPr>
            <a:spLocks noGrp="1"/>
          </p:cNvSpPr>
          <p:nvPr>
            <p:ph type="sldNum" sz="quarter" idx="12"/>
          </p:nvPr>
        </p:nvSpPr>
        <p:spPr/>
        <p:txBody>
          <a:bodyPr/>
          <a:lstStyle/>
          <a:p>
            <a:fld id="{1ADF169C-3A13-4720-8652-1240B672470F}" type="slidenum">
              <a:rPr lang="en-US" smtClean="0"/>
              <a:t>30</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660234456"/>
              </p:ext>
            </p:extLst>
          </p:nvPr>
        </p:nvGraphicFramePr>
        <p:xfrm>
          <a:off x="1626885" y="1933583"/>
          <a:ext cx="8844917" cy="3159760"/>
        </p:xfrm>
        <a:graphic>
          <a:graphicData uri="http://schemas.openxmlformats.org/drawingml/2006/table">
            <a:tbl>
              <a:tblPr firstRow="1" bandRow="1">
                <a:tableStyleId>{B301B821-A1FF-4177-AEE7-76D212191A09}</a:tableStyleId>
              </a:tblPr>
              <a:tblGrid>
                <a:gridCol w="3876293">
                  <a:extLst>
                    <a:ext uri="{9D8B030D-6E8A-4147-A177-3AD203B41FA5}">
                      <a16:colId xmlns:a16="http://schemas.microsoft.com/office/drawing/2014/main" val="20000"/>
                    </a:ext>
                  </a:extLst>
                </a:gridCol>
                <a:gridCol w="4968624">
                  <a:extLst>
                    <a:ext uri="{9D8B030D-6E8A-4147-A177-3AD203B41FA5}">
                      <a16:colId xmlns:a16="http://schemas.microsoft.com/office/drawing/2014/main" val="20001"/>
                    </a:ext>
                  </a:extLst>
                </a:gridCol>
              </a:tblGrid>
              <a:tr h="304033">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t>2018-2025 Tax Brackets for Single Filing Individuals</a:t>
                      </a:r>
                    </a:p>
                  </a:txBody>
                  <a:tcPr/>
                </a:tc>
                <a:tc hMerge="1">
                  <a:txBody>
                    <a:bodyPr/>
                    <a:lstStyle/>
                    <a:p>
                      <a:endParaRPr lang="en-US" dirty="0"/>
                    </a:p>
                  </a:txBody>
                  <a:tcPr/>
                </a:tc>
                <a:extLst>
                  <a:ext uri="{0D108BD9-81ED-4DB2-BD59-A6C34878D82A}">
                    <a16:rowId xmlns:a16="http://schemas.microsoft.com/office/drawing/2014/main" val="10000"/>
                  </a:ext>
                </a:extLst>
              </a:tr>
              <a:tr h="206897">
                <a:tc>
                  <a:txBody>
                    <a:bodyPr/>
                    <a:lstStyle/>
                    <a:p>
                      <a:pPr algn="l"/>
                      <a:r>
                        <a:rPr lang="en-US" sz="1600" b="1" dirty="0"/>
                        <a:t>If taxable income is:	</a:t>
                      </a:r>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t>Then the income tax equals:	</a:t>
                      </a:r>
                    </a:p>
                  </a:txBody>
                  <a:tcPr>
                    <a:solidFill>
                      <a:schemeClr val="accent1"/>
                    </a:solidFill>
                  </a:tcPr>
                </a:tc>
                <a:extLst>
                  <a:ext uri="{0D108BD9-81ED-4DB2-BD59-A6C34878D82A}">
                    <a16:rowId xmlns:a16="http://schemas.microsoft.com/office/drawing/2014/main" val="10001"/>
                  </a:ext>
                </a:extLst>
              </a:tr>
              <a:tr h="355600">
                <a:tc>
                  <a:txBody>
                    <a:bodyPr/>
                    <a:lstStyle/>
                    <a:p>
                      <a:r>
                        <a:rPr lang="en-US" sz="1600" dirty="0"/>
                        <a:t>Not over $9,525</a:t>
                      </a:r>
                    </a:p>
                  </a:txBody>
                  <a:tcPr/>
                </a:tc>
                <a:tc>
                  <a:txBody>
                    <a:bodyPr/>
                    <a:lstStyle/>
                    <a:p>
                      <a:r>
                        <a:rPr lang="en-US" sz="1600" dirty="0"/>
                        <a:t>10% of taxable income</a:t>
                      </a:r>
                    </a:p>
                  </a:txBody>
                  <a:tcPr/>
                </a:tc>
                <a:extLst>
                  <a:ext uri="{0D108BD9-81ED-4DB2-BD59-A6C34878D82A}">
                    <a16:rowId xmlns:a16="http://schemas.microsoft.com/office/drawing/2014/main" val="10002"/>
                  </a:ext>
                </a:extLst>
              </a:tr>
              <a:tr h="355600">
                <a:tc>
                  <a:txBody>
                    <a:bodyPr/>
                    <a:lstStyle/>
                    <a:p>
                      <a:r>
                        <a:rPr lang="en-US" sz="1600" dirty="0"/>
                        <a:t>Over $9,525 but not over $38,700</a:t>
                      </a:r>
                    </a:p>
                  </a:txBody>
                  <a:tcPr/>
                </a:tc>
                <a:tc>
                  <a:txBody>
                    <a:bodyPr/>
                    <a:lstStyle/>
                    <a:p>
                      <a:r>
                        <a:rPr lang="en-US" sz="1600" dirty="0"/>
                        <a:t>$952.50 plus 12% of the excess over $9,525</a:t>
                      </a:r>
                    </a:p>
                  </a:txBody>
                  <a:tcPr/>
                </a:tc>
                <a:extLst>
                  <a:ext uri="{0D108BD9-81ED-4DB2-BD59-A6C34878D82A}">
                    <a16:rowId xmlns:a16="http://schemas.microsoft.com/office/drawing/2014/main" val="10003"/>
                  </a:ext>
                </a:extLst>
              </a:tr>
              <a:tr h="355600">
                <a:tc>
                  <a:txBody>
                    <a:bodyPr/>
                    <a:lstStyle/>
                    <a:p>
                      <a:r>
                        <a:rPr lang="en-US" sz="1600" dirty="0"/>
                        <a:t>Over $38,700 but not over $82,500</a:t>
                      </a:r>
                    </a:p>
                  </a:txBody>
                  <a:tcPr/>
                </a:tc>
                <a:tc>
                  <a:txBody>
                    <a:bodyPr/>
                    <a:lstStyle/>
                    <a:p>
                      <a:r>
                        <a:rPr lang="en-US" sz="1600" dirty="0"/>
                        <a:t>$4,453.50 plus 22% of the excess over $38,700	</a:t>
                      </a:r>
                    </a:p>
                  </a:txBody>
                  <a:tcPr/>
                </a:tc>
                <a:extLst>
                  <a:ext uri="{0D108BD9-81ED-4DB2-BD59-A6C34878D82A}">
                    <a16:rowId xmlns:a16="http://schemas.microsoft.com/office/drawing/2014/main" val="10004"/>
                  </a:ext>
                </a:extLst>
              </a:tr>
              <a:tr h="355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Over $82,500 but not over $157,500</a:t>
                      </a:r>
                    </a:p>
                  </a:txBody>
                  <a:tcPr/>
                </a:tc>
                <a:tc>
                  <a:txBody>
                    <a:bodyPr/>
                    <a:lstStyle/>
                    <a:p>
                      <a:r>
                        <a:rPr lang="en-US" sz="1600" dirty="0"/>
                        <a:t>$14,089.50 plus 24% of the excess over $82,500</a:t>
                      </a:r>
                    </a:p>
                  </a:txBody>
                  <a:tcPr/>
                </a:tc>
                <a:extLst>
                  <a:ext uri="{0D108BD9-81ED-4DB2-BD59-A6C34878D82A}">
                    <a16:rowId xmlns:a16="http://schemas.microsoft.com/office/drawing/2014/main" val="10005"/>
                  </a:ext>
                </a:extLst>
              </a:tr>
              <a:tr h="355600">
                <a:tc>
                  <a:txBody>
                    <a:bodyPr/>
                    <a:lstStyle/>
                    <a:p>
                      <a:r>
                        <a:rPr lang="en-US" sz="1600" dirty="0"/>
                        <a:t>Over $157,500 but not over $200,000</a:t>
                      </a:r>
                    </a:p>
                  </a:txBody>
                  <a:tcPr/>
                </a:tc>
                <a:tc>
                  <a:txBody>
                    <a:bodyPr/>
                    <a:lstStyle/>
                    <a:p>
                      <a:r>
                        <a:rPr lang="en-US" sz="1600" dirty="0"/>
                        <a:t>$32,089.50 plus 32% of the excess over $157,500</a:t>
                      </a:r>
                    </a:p>
                  </a:txBody>
                  <a:tcPr/>
                </a:tc>
                <a:extLst>
                  <a:ext uri="{0D108BD9-81ED-4DB2-BD59-A6C34878D82A}">
                    <a16:rowId xmlns:a16="http://schemas.microsoft.com/office/drawing/2014/main" val="10006"/>
                  </a:ext>
                </a:extLst>
              </a:tr>
              <a:tr h="355600">
                <a:tc>
                  <a:txBody>
                    <a:bodyPr/>
                    <a:lstStyle/>
                    <a:p>
                      <a:r>
                        <a:rPr lang="en-US" sz="1600" dirty="0"/>
                        <a:t>Over $200,000 but not over $500,000</a:t>
                      </a:r>
                    </a:p>
                  </a:txBody>
                  <a:tcPr/>
                </a:tc>
                <a:tc>
                  <a:txBody>
                    <a:bodyPr/>
                    <a:lstStyle/>
                    <a:p>
                      <a:r>
                        <a:rPr lang="en-US" sz="1600" dirty="0"/>
                        <a:t>$45,689.50 plus 35% of the excess over $200,000</a:t>
                      </a:r>
                    </a:p>
                  </a:txBody>
                  <a:tcPr/>
                </a:tc>
                <a:extLst>
                  <a:ext uri="{0D108BD9-81ED-4DB2-BD59-A6C34878D82A}">
                    <a16:rowId xmlns:a16="http://schemas.microsoft.com/office/drawing/2014/main" val="10007"/>
                  </a:ext>
                </a:extLst>
              </a:tr>
              <a:tr h="355600">
                <a:tc>
                  <a:txBody>
                    <a:bodyPr/>
                    <a:lstStyle/>
                    <a:p>
                      <a:r>
                        <a:rPr lang="en-US" sz="1600" dirty="0"/>
                        <a:t>Over $500,000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$150,689.50 plus 37% of the excess over $500,000</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94341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2"/>
          <p:cNvSpPr>
            <a:spLocks noGrp="1"/>
          </p:cNvSpPr>
          <p:nvPr>
            <p:ph idx="1"/>
          </p:nvPr>
        </p:nvSpPr>
        <p:spPr>
          <a:xfrm>
            <a:off x="1915887" y="1117183"/>
            <a:ext cx="8343866" cy="3867139"/>
          </a:xfrm>
        </p:spPr>
        <p:txBody>
          <a:bodyPr>
            <a:noAutofit/>
          </a:bodyPr>
          <a:lstStyle/>
          <a:p>
            <a:pPr marL="0" indent="0">
              <a:buNone/>
            </a:pPr>
            <a:r>
              <a:rPr lang="en-US" sz="2000" dirty="0"/>
              <a:t>To calculate the income taxes we first need to create the following table:</a:t>
            </a:r>
          </a:p>
          <a:p>
            <a:endParaRPr lang="en-US" sz="1200" dirty="0"/>
          </a:p>
          <a:p>
            <a:endParaRPr lang="en-US" sz="2000" dirty="0"/>
          </a:p>
          <a:p>
            <a:endParaRPr lang="en-US" sz="2000" dirty="0"/>
          </a:p>
          <a:p>
            <a:endParaRPr lang="en-US" sz="2000" dirty="0"/>
          </a:p>
          <a:p>
            <a:pPr marL="0" indent="0">
              <a:buNone/>
            </a:pPr>
            <a:endParaRPr lang="en-US" sz="2000" dirty="0"/>
          </a:p>
          <a:p>
            <a:pPr marL="0" indent="0">
              <a:buNone/>
            </a:pPr>
            <a:endParaRPr lang="en-US" sz="100" dirty="0"/>
          </a:p>
          <a:p>
            <a:pPr marL="0" indent="0">
              <a:buNone/>
            </a:pPr>
            <a:endParaRPr lang="en-US" sz="1800" dirty="0"/>
          </a:p>
          <a:p>
            <a:pPr marL="0" indent="0">
              <a:buNone/>
            </a:pPr>
            <a:r>
              <a:rPr lang="en-US" sz="1800" dirty="0"/>
              <a:t>We can either create it in the same sheet or in a separate one.</a:t>
            </a:r>
          </a:p>
          <a:p>
            <a:pPr lvl="8"/>
            <a:endParaRPr lang="en-US" sz="1400" dirty="0"/>
          </a:p>
        </p:txBody>
      </p:sp>
      <p:sp>
        <p:nvSpPr>
          <p:cNvPr id="5" name="Slide Number Placeholder 4"/>
          <p:cNvSpPr>
            <a:spLocks noGrp="1"/>
          </p:cNvSpPr>
          <p:nvPr>
            <p:ph type="sldNum" sz="quarter" idx="12"/>
          </p:nvPr>
        </p:nvSpPr>
        <p:spPr/>
        <p:txBody>
          <a:bodyPr/>
          <a:lstStyle/>
          <a:p>
            <a:fld id="{FC6D7323-3F06-479E-ADC8-7BC729C5AF45}" type="slidenum">
              <a:rPr lang="en-US" smtClean="0"/>
              <a:t>31</a:t>
            </a:fld>
            <a:endParaRPr lang="en-US" dirty="0"/>
          </a:p>
        </p:txBody>
      </p:sp>
      <p:sp>
        <p:nvSpPr>
          <p:cNvPr id="20" name="Title 1"/>
          <p:cNvSpPr txBox="1">
            <a:spLocks/>
          </p:cNvSpPr>
          <p:nvPr/>
        </p:nvSpPr>
        <p:spPr>
          <a:xfrm>
            <a:off x="2031206" y="219448"/>
            <a:ext cx="8079581" cy="10162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dirty="0"/>
              <a:t>VLOOKUP – Approximate match</a:t>
            </a:r>
          </a:p>
        </p:txBody>
      </p:sp>
      <p:pic>
        <p:nvPicPr>
          <p:cNvPr id="2" name="Picture 1"/>
          <p:cNvPicPr>
            <a:picLocks noChangeAspect="1"/>
          </p:cNvPicPr>
          <p:nvPr/>
        </p:nvPicPr>
        <p:blipFill rotWithShape="1">
          <a:blip r:embed="rId2"/>
          <a:srcRect l="4856" t="6642" r="1383"/>
          <a:stretch/>
        </p:blipFill>
        <p:spPr>
          <a:xfrm>
            <a:off x="3565141" y="1570856"/>
            <a:ext cx="6656368" cy="2157892"/>
          </a:xfrm>
          <a:prstGeom prst="rect">
            <a:avLst/>
          </a:prstGeom>
        </p:spPr>
      </p:pic>
      <p:cxnSp>
        <p:nvCxnSpPr>
          <p:cNvPr id="19" name="Straight Arrow Connector 18"/>
          <p:cNvCxnSpPr/>
          <p:nvPr/>
        </p:nvCxnSpPr>
        <p:spPr>
          <a:xfrm flipV="1">
            <a:off x="3678279" y="2551550"/>
            <a:ext cx="760008" cy="1882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728114" y="2086603"/>
            <a:ext cx="2018203" cy="132680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b="1" dirty="0">
                <a:solidFill>
                  <a:schemeClr val="accent1">
                    <a:lumMod val="75000"/>
                  </a:schemeClr>
                </a:solidFill>
              </a:rPr>
              <a:t>1</a:t>
            </a:r>
            <a:r>
              <a:rPr lang="en-US" sz="1400" b="1" baseline="30000" dirty="0">
                <a:solidFill>
                  <a:schemeClr val="accent1">
                    <a:lumMod val="75000"/>
                  </a:schemeClr>
                </a:solidFill>
              </a:rPr>
              <a:t>st</a:t>
            </a:r>
            <a:r>
              <a:rPr lang="en-US" sz="1400" b="1" dirty="0">
                <a:solidFill>
                  <a:schemeClr val="accent1">
                    <a:lumMod val="75000"/>
                  </a:schemeClr>
                </a:solidFill>
              </a:rPr>
              <a:t> COLUMN MUST BE IN ASCENDING ORDER (when we are using approximate VLOOKUP)</a:t>
            </a:r>
          </a:p>
        </p:txBody>
      </p:sp>
    </p:spTree>
    <p:extLst>
      <p:ext uri="{BB962C8B-B14F-4D97-AF65-F5344CB8AC3E}">
        <p14:creationId xmlns:p14="http://schemas.microsoft.com/office/powerpoint/2010/main" val="1371118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D4D12-BA70-4330-9A8A-0B6D14150A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0518FC-3CE4-4D8C-9C3A-2926B55F6D4C}"/>
              </a:ext>
            </a:extLst>
          </p:cNvPr>
          <p:cNvSpPr>
            <a:spLocks noGrp="1"/>
          </p:cNvSpPr>
          <p:nvPr>
            <p:ph idx="1"/>
          </p:nvPr>
        </p:nvSpPr>
        <p:spPr/>
        <p:txBody>
          <a:bodyPr/>
          <a:lstStyle/>
          <a:p>
            <a:r>
              <a:rPr lang="en-US" sz="1800" dirty="0"/>
              <a:t>VLOOKUP goes through the first column and stops when it finds a value that is higher than the salary it is looking up. Then it returns the tax rate corresponding to that row.</a:t>
            </a:r>
          </a:p>
          <a:p>
            <a:endParaRPr lang="en-US" dirty="0"/>
          </a:p>
        </p:txBody>
      </p:sp>
      <p:sp>
        <p:nvSpPr>
          <p:cNvPr id="4" name="Slide Number Placeholder 3">
            <a:extLst>
              <a:ext uri="{FF2B5EF4-FFF2-40B4-BE49-F238E27FC236}">
                <a16:creationId xmlns:a16="http://schemas.microsoft.com/office/drawing/2014/main" id="{B9E3A029-E4A2-4159-9BA4-C225B2F685EB}"/>
              </a:ext>
            </a:extLst>
          </p:cNvPr>
          <p:cNvSpPr>
            <a:spLocks noGrp="1"/>
          </p:cNvSpPr>
          <p:nvPr>
            <p:ph type="sldNum" sz="quarter" idx="12"/>
          </p:nvPr>
        </p:nvSpPr>
        <p:spPr/>
        <p:txBody>
          <a:bodyPr/>
          <a:lstStyle/>
          <a:p>
            <a:fld id="{1ADF169C-3A13-4720-8652-1240B672470F}" type="slidenum">
              <a:rPr lang="en-US" smtClean="0"/>
              <a:t>32</a:t>
            </a:fld>
            <a:endParaRPr lang="en-US"/>
          </a:p>
        </p:txBody>
      </p:sp>
      <p:grpSp>
        <p:nvGrpSpPr>
          <p:cNvPr id="7" name="Group 6">
            <a:extLst>
              <a:ext uri="{FF2B5EF4-FFF2-40B4-BE49-F238E27FC236}">
                <a16:creationId xmlns:a16="http://schemas.microsoft.com/office/drawing/2014/main" id="{EF028BA7-7901-4B72-9C6F-2BD679D43C3B}"/>
              </a:ext>
            </a:extLst>
          </p:cNvPr>
          <p:cNvGrpSpPr/>
          <p:nvPr/>
        </p:nvGrpSpPr>
        <p:grpSpPr>
          <a:xfrm>
            <a:off x="2273548" y="3561631"/>
            <a:ext cx="7573747" cy="1422100"/>
            <a:chOff x="749547" y="5029706"/>
            <a:chExt cx="7573747" cy="1422100"/>
          </a:xfrm>
        </p:grpSpPr>
        <p:sp>
          <p:nvSpPr>
            <p:cNvPr id="8" name="Rectangle 7">
              <a:extLst>
                <a:ext uri="{FF2B5EF4-FFF2-40B4-BE49-F238E27FC236}">
                  <a16:creationId xmlns:a16="http://schemas.microsoft.com/office/drawing/2014/main" id="{F5272428-B92B-4291-B3EE-9B691EFEFFA2}"/>
                </a:ext>
              </a:extLst>
            </p:cNvPr>
            <p:cNvSpPr/>
            <p:nvPr/>
          </p:nvSpPr>
          <p:spPr>
            <a:xfrm>
              <a:off x="1280351" y="5029706"/>
              <a:ext cx="5976995" cy="46670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 VLOOKUP (H3, 'tax rates'!A$2:D$8, 3)</a:t>
              </a:r>
            </a:p>
          </p:txBody>
        </p:sp>
        <p:sp>
          <p:nvSpPr>
            <p:cNvPr id="9" name="Rectangle 8">
              <a:extLst>
                <a:ext uri="{FF2B5EF4-FFF2-40B4-BE49-F238E27FC236}">
                  <a16:creationId xmlns:a16="http://schemas.microsoft.com/office/drawing/2014/main" id="{5F75DE22-55AC-4ECD-8E63-FB11DED31B34}"/>
                </a:ext>
              </a:extLst>
            </p:cNvPr>
            <p:cNvSpPr/>
            <p:nvPr/>
          </p:nvSpPr>
          <p:spPr>
            <a:xfrm>
              <a:off x="749547" y="5721550"/>
              <a:ext cx="2221438" cy="72493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We want to look up the salary of each employee</a:t>
              </a:r>
            </a:p>
          </p:txBody>
        </p:sp>
        <p:sp>
          <p:nvSpPr>
            <p:cNvPr id="10" name="Rectangle 9">
              <a:extLst>
                <a:ext uri="{FF2B5EF4-FFF2-40B4-BE49-F238E27FC236}">
                  <a16:creationId xmlns:a16="http://schemas.microsoft.com/office/drawing/2014/main" id="{AD0F9E00-1327-4015-987C-33E0E75852A0}"/>
                </a:ext>
              </a:extLst>
            </p:cNvPr>
            <p:cNvSpPr/>
            <p:nvPr/>
          </p:nvSpPr>
          <p:spPr>
            <a:xfrm>
              <a:off x="3351233" y="5780422"/>
              <a:ext cx="2431982" cy="67138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This is the lookup range (located in the sheet named ‘tax rates’)</a:t>
              </a:r>
            </a:p>
          </p:txBody>
        </p:sp>
        <p:sp>
          <p:nvSpPr>
            <p:cNvPr id="11" name="Rectangle 10">
              <a:extLst>
                <a:ext uri="{FF2B5EF4-FFF2-40B4-BE49-F238E27FC236}">
                  <a16:creationId xmlns:a16="http://schemas.microsoft.com/office/drawing/2014/main" id="{4FA03750-9725-4C7A-975B-A8DF835AC6AF}"/>
                </a:ext>
              </a:extLst>
            </p:cNvPr>
            <p:cNvSpPr/>
            <p:nvPr/>
          </p:nvSpPr>
          <p:spPr>
            <a:xfrm>
              <a:off x="5919520" y="5807087"/>
              <a:ext cx="2403774" cy="64128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We want a value from the </a:t>
              </a:r>
              <a:r>
                <a:rPr lang="en-US" sz="1600" b="1" dirty="0"/>
                <a:t>3rd</a:t>
              </a:r>
              <a:r>
                <a:rPr lang="en-US" sz="1400" dirty="0"/>
                <a:t> column of the range</a:t>
              </a:r>
            </a:p>
          </p:txBody>
        </p:sp>
        <p:cxnSp>
          <p:nvCxnSpPr>
            <p:cNvPr id="12" name="Straight Arrow Connector 11">
              <a:extLst>
                <a:ext uri="{FF2B5EF4-FFF2-40B4-BE49-F238E27FC236}">
                  <a16:creationId xmlns:a16="http://schemas.microsoft.com/office/drawing/2014/main" id="{233AAA8E-D84D-47C4-A48E-8855BB70F4EA}"/>
                </a:ext>
              </a:extLst>
            </p:cNvPr>
            <p:cNvCxnSpPr/>
            <p:nvPr/>
          </p:nvCxnSpPr>
          <p:spPr>
            <a:xfrm flipV="1">
              <a:off x="1602162" y="5465988"/>
              <a:ext cx="2049201" cy="2509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CFC774F-F893-4532-A38F-A9B7A486ACA4}"/>
                </a:ext>
              </a:extLst>
            </p:cNvPr>
            <p:cNvCxnSpPr>
              <a:stCxn id="11" idx="0"/>
            </p:cNvCxnSpPr>
            <p:nvPr/>
          </p:nvCxnSpPr>
          <p:spPr>
            <a:xfrm flipH="1" flipV="1">
              <a:off x="6726829" y="5435115"/>
              <a:ext cx="394578" cy="3719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ight Bracket 13">
              <a:extLst>
                <a:ext uri="{FF2B5EF4-FFF2-40B4-BE49-F238E27FC236}">
                  <a16:creationId xmlns:a16="http://schemas.microsoft.com/office/drawing/2014/main" id="{050EB6B8-5005-4791-BBC5-EC742D355A16}"/>
                </a:ext>
              </a:extLst>
            </p:cNvPr>
            <p:cNvSpPr/>
            <p:nvPr/>
          </p:nvSpPr>
          <p:spPr>
            <a:xfrm rot="5400000">
              <a:off x="5319728" y="4313721"/>
              <a:ext cx="45719" cy="2232768"/>
            </a:xfrm>
            <a:prstGeom prst="rightBracket">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A9EDFD3-83E4-428A-9E5F-764C59690DBB}"/>
                </a:ext>
              </a:extLst>
            </p:cNvPr>
            <p:cNvCxnSpPr/>
            <p:nvPr/>
          </p:nvCxnSpPr>
          <p:spPr>
            <a:xfrm flipV="1">
              <a:off x="4679961" y="5447907"/>
              <a:ext cx="493787" cy="3325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8510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6628" y="767420"/>
            <a:ext cx="8085582" cy="2301183"/>
          </a:xfrm>
        </p:spPr>
        <p:txBody>
          <a:bodyPr/>
          <a:lstStyle/>
          <a:p>
            <a:r>
              <a:rPr lang="en-US" dirty="0"/>
              <a:t>Appendix I</a:t>
            </a:r>
          </a:p>
        </p:txBody>
      </p:sp>
      <p:sp>
        <p:nvSpPr>
          <p:cNvPr id="3" name="Text Placeholder 2"/>
          <p:cNvSpPr>
            <a:spLocks noGrp="1"/>
          </p:cNvSpPr>
          <p:nvPr>
            <p:ph type="body" idx="1"/>
          </p:nvPr>
        </p:nvSpPr>
        <p:spPr>
          <a:xfrm>
            <a:off x="2024634" y="3114955"/>
            <a:ext cx="7709590" cy="2718240"/>
          </a:xfrm>
        </p:spPr>
        <p:txBody>
          <a:bodyPr>
            <a:normAutofit/>
          </a:bodyPr>
          <a:lstStyle/>
          <a:p>
            <a:pPr>
              <a:lnSpc>
                <a:spcPct val="110000"/>
              </a:lnSpc>
            </a:pPr>
            <a:r>
              <a:rPr lang="en-US" b="1" dirty="0"/>
              <a:t>Look up with nested MATCH and INDEX functions: a more general tool than VLOOKUP/HLOOKUP</a:t>
            </a:r>
          </a:p>
          <a:p>
            <a:pPr>
              <a:lnSpc>
                <a:spcPct val="110000"/>
              </a:lnSpc>
            </a:pPr>
            <a:endParaRPr lang="en-US" dirty="0"/>
          </a:p>
          <a:p>
            <a:pPr>
              <a:lnSpc>
                <a:spcPct val="110000"/>
              </a:lnSpc>
            </a:pPr>
            <a:r>
              <a:rPr lang="en-US" i="1" dirty="0">
                <a:solidFill>
                  <a:srgbClr val="0000FF"/>
                </a:solidFill>
              </a:rPr>
              <a:t>Sales_Staff.xlsx</a:t>
            </a:r>
          </a:p>
          <a:p>
            <a:pPr>
              <a:lnSpc>
                <a:spcPct val="110000"/>
              </a:lnSpc>
            </a:pP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33</a:t>
            </a:fld>
            <a:endParaRPr lang="en-US"/>
          </a:p>
        </p:txBody>
      </p:sp>
    </p:spTree>
    <p:extLst>
      <p:ext uri="{BB962C8B-B14F-4D97-AF65-F5344CB8AC3E}">
        <p14:creationId xmlns:p14="http://schemas.microsoft.com/office/powerpoint/2010/main" val="3770503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375966"/>
            <a:ext cx="8079581" cy="793808"/>
          </a:xfrm>
        </p:spPr>
        <p:txBody>
          <a:bodyPr/>
          <a:lstStyle/>
          <a:p>
            <a:r>
              <a:rPr lang="en-US" dirty="0"/>
              <a:t>VLOOKUP – exact match</a:t>
            </a:r>
          </a:p>
        </p:txBody>
      </p:sp>
      <p:sp>
        <p:nvSpPr>
          <p:cNvPr id="3" name="Content Placeholder 2"/>
          <p:cNvSpPr>
            <a:spLocks noGrp="1"/>
          </p:cNvSpPr>
          <p:nvPr>
            <p:ph idx="1"/>
          </p:nvPr>
        </p:nvSpPr>
        <p:spPr>
          <a:xfrm>
            <a:off x="1878696" y="1373321"/>
            <a:ext cx="8544756" cy="5321646"/>
          </a:xfrm>
        </p:spPr>
        <p:txBody>
          <a:bodyPr>
            <a:normAutofit lnSpcReduction="10000"/>
          </a:bodyPr>
          <a:lstStyle/>
          <a:p>
            <a:pPr marL="0" indent="0">
              <a:buNone/>
            </a:pPr>
            <a:r>
              <a:rPr lang="en-US" b="1" dirty="0"/>
              <a:t>When was hired the person with telephone number (171)672-0656?</a:t>
            </a:r>
          </a:p>
          <a:p>
            <a:pPr marL="0" indent="0">
              <a:buNone/>
            </a:pPr>
            <a:endParaRPr lang="en-US" sz="1000" dirty="0"/>
          </a:p>
          <a:p>
            <a:pPr marL="0" indent="0">
              <a:buNone/>
            </a:pPr>
            <a:r>
              <a:rPr lang="en-US" dirty="0"/>
              <a:t>I can use VLOOKUP to answer this question:</a:t>
            </a:r>
          </a:p>
          <a:p>
            <a:pPr marL="0" indent="0">
              <a:buNone/>
            </a:pPr>
            <a:endParaRPr lang="en-US" sz="1050" dirty="0"/>
          </a:p>
          <a:p>
            <a:pPr marL="0" indent="0" algn="ctr">
              <a:buNone/>
            </a:pPr>
            <a:r>
              <a:rPr lang="en-US" u="sng" dirty="0"/>
              <a:t>=VLOOKUP (B27, D3:I23, 3, FALSE)</a:t>
            </a:r>
          </a:p>
          <a:p>
            <a:pPr marL="0" indent="0">
              <a:buNone/>
            </a:pPr>
            <a:endParaRPr lang="en-US" sz="4000" dirty="0"/>
          </a:p>
          <a:p>
            <a:pPr marL="0" indent="0">
              <a:buNone/>
            </a:pPr>
            <a:r>
              <a:rPr lang="en-US" dirty="0">
                <a:solidFill>
                  <a:schemeClr val="accent1">
                    <a:lumMod val="75000"/>
                  </a:schemeClr>
                </a:solidFill>
              </a:rPr>
              <a:t>However if the question is: </a:t>
            </a:r>
          </a:p>
          <a:p>
            <a:pPr marL="0" indent="0">
              <a:buNone/>
            </a:pPr>
            <a:r>
              <a:rPr lang="en-US" i="1" dirty="0">
                <a:solidFill>
                  <a:schemeClr val="accent1">
                    <a:lumMod val="75000"/>
                  </a:schemeClr>
                </a:solidFill>
              </a:rPr>
              <a:t>What is the name of the person with telephone number (171)672-0656?</a:t>
            </a:r>
          </a:p>
          <a:p>
            <a:pPr marL="0" indent="0">
              <a:buNone/>
            </a:pPr>
            <a:r>
              <a:rPr lang="en-US" dirty="0">
                <a:solidFill>
                  <a:schemeClr val="accent1">
                    <a:lumMod val="75000"/>
                  </a:schemeClr>
                </a:solidFill>
              </a:rPr>
              <a:t>I </a:t>
            </a:r>
            <a:r>
              <a:rPr lang="en-US" b="1" dirty="0">
                <a:solidFill>
                  <a:schemeClr val="accent1">
                    <a:lumMod val="75000"/>
                  </a:schemeClr>
                </a:solidFill>
              </a:rPr>
              <a:t>cannot</a:t>
            </a:r>
            <a:r>
              <a:rPr lang="en-US" dirty="0">
                <a:solidFill>
                  <a:schemeClr val="accent1">
                    <a:lumMod val="75000"/>
                  </a:schemeClr>
                </a:solidFill>
              </a:rPr>
              <a:t> use VLOOKUP in this case, because the name’s column is on the left side of the telephone number column.</a:t>
            </a:r>
          </a:p>
        </p:txBody>
      </p:sp>
      <p:sp>
        <p:nvSpPr>
          <p:cNvPr id="4" name="Slide Number Placeholder 3"/>
          <p:cNvSpPr>
            <a:spLocks noGrp="1"/>
          </p:cNvSpPr>
          <p:nvPr>
            <p:ph type="sldNum" sz="quarter" idx="12"/>
          </p:nvPr>
        </p:nvSpPr>
        <p:spPr/>
        <p:txBody>
          <a:bodyPr/>
          <a:lstStyle/>
          <a:p>
            <a:fld id="{FC6D7323-3F06-479E-ADC8-7BC729C5AF45}" type="slidenum">
              <a:rPr lang="en-US" smtClean="0"/>
              <a:t>34</a:t>
            </a:fld>
            <a:endParaRPr lang="en-US"/>
          </a:p>
        </p:txBody>
      </p:sp>
    </p:spTree>
    <p:extLst>
      <p:ext uri="{BB962C8B-B14F-4D97-AF65-F5344CB8AC3E}">
        <p14:creationId xmlns:p14="http://schemas.microsoft.com/office/powerpoint/2010/main" val="137508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0450" y="569149"/>
            <a:ext cx="8507246" cy="793808"/>
          </a:xfrm>
        </p:spPr>
        <p:txBody>
          <a:bodyPr>
            <a:noAutofit/>
          </a:bodyPr>
          <a:lstStyle/>
          <a:p>
            <a:r>
              <a:rPr lang="en-US" sz="5400" dirty="0"/>
              <a:t>Look up with Match and Index</a:t>
            </a:r>
          </a:p>
        </p:txBody>
      </p:sp>
      <p:sp>
        <p:nvSpPr>
          <p:cNvPr id="3" name="Content Placeholder 2"/>
          <p:cNvSpPr>
            <a:spLocks noGrp="1"/>
          </p:cNvSpPr>
          <p:nvPr>
            <p:ph idx="1"/>
          </p:nvPr>
        </p:nvSpPr>
        <p:spPr>
          <a:xfrm>
            <a:off x="1980451" y="2047741"/>
            <a:ext cx="8006647" cy="4810259"/>
          </a:xfrm>
        </p:spPr>
        <p:txBody>
          <a:bodyPr>
            <a:normAutofit/>
          </a:bodyPr>
          <a:lstStyle/>
          <a:p>
            <a:pPr marL="0" indent="0">
              <a:buNone/>
            </a:pPr>
            <a:r>
              <a:rPr lang="en-US" b="1" dirty="0"/>
              <a:t>What is the name of the person with telephone number (171) 672-0656?</a:t>
            </a:r>
          </a:p>
          <a:p>
            <a:pPr marL="0" indent="0">
              <a:buNone/>
            </a:pPr>
            <a:endParaRPr lang="en-US" b="1" dirty="0"/>
          </a:p>
          <a:p>
            <a:pPr marL="0" indent="0">
              <a:buNone/>
            </a:pPr>
            <a:r>
              <a:rPr lang="en-US" dirty="0"/>
              <a:t>To answer this question we split it in two separate ones:</a:t>
            </a:r>
          </a:p>
          <a:p>
            <a:pPr marL="0" indent="0">
              <a:buNone/>
            </a:pPr>
            <a:endParaRPr lang="en-US" sz="300" dirty="0"/>
          </a:p>
          <a:p>
            <a:pPr marL="457200" indent="-457200">
              <a:buFont typeface="+mj-lt"/>
              <a:buAutoNum type="arabicPeriod"/>
            </a:pPr>
            <a:r>
              <a:rPr lang="en-US" dirty="0"/>
              <a:t>What is the position (row) of the phone number (171) 672-0656?</a:t>
            </a:r>
          </a:p>
          <a:p>
            <a:pPr marL="457200" indent="-457200">
              <a:buFont typeface="+mj-lt"/>
              <a:buAutoNum type="arabicPeriod"/>
            </a:pPr>
            <a:endParaRPr lang="en-US" sz="600" dirty="0"/>
          </a:p>
          <a:p>
            <a:pPr marL="457200" indent="-457200">
              <a:buFont typeface="+mj-lt"/>
              <a:buAutoNum type="arabicPeriod"/>
            </a:pPr>
            <a:r>
              <a:rPr lang="en-US" dirty="0"/>
              <a:t>What is the Employee Name in that row?</a:t>
            </a:r>
          </a:p>
          <a:p>
            <a:pPr marL="0" indent="0">
              <a:buNone/>
            </a:pPr>
            <a:endParaRPr lang="en-US" b="1" dirty="0"/>
          </a:p>
          <a:p>
            <a:pPr marL="0" indent="0">
              <a:buNone/>
            </a:pPr>
            <a:endParaRPr lang="en-US" b="1" dirty="0"/>
          </a:p>
          <a:p>
            <a:pPr marL="0" indent="0">
              <a:buNone/>
            </a:pPr>
            <a:endParaRPr lang="en-US" sz="1000" dirty="0"/>
          </a:p>
        </p:txBody>
      </p:sp>
      <p:sp>
        <p:nvSpPr>
          <p:cNvPr id="4" name="Slide Number Placeholder 3"/>
          <p:cNvSpPr>
            <a:spLocks noGrp="1"/>
          </p:cNvSpPr>
          <p:nvPr>
            <p:ph type="sldNum" sz="quarter" idx="12"/>
          </p:nvPr>
        </p:nvSpPr>
        <p:spPr/>
        <p:txBody>
          <a:bodyPr/>
          <a:lstStyle/>
          <a:p>
            <a:fld id="{FC6D7323-3F06-479E-ADC8-7BC729C5AF45}" type="slidenum">
              <a:rPr lang="en-US" smtClean="0"/>
              <a:t>35</a:t>
            </a:fld>
            <a:endParaRPr lang="en-US"/>
          </a:p>
        </p:txBody>
      </p:sp>
    </p:spTree>
    <p:extLst>
      <p:ext uri="{BB962C8B-B14F-4D97-AF65-F5344CB8AC3E}">
        <p14:creationId xmlns:p14="http://schemas.microsoft.com/office/powerpoint/2010/main" val="869929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375966"/>
            <a:ext cx="8079581" cy="793808"/>
          </a:xfrm>
        </p:spPr>
        <p:txBody>
          <a:bodyPr/>
          <a:lstStyle/>
          <a:p>
            <a:r>
              <a:rPr lang="en-US" dirty="0"/>
              <a:t>MATCH</a:t>
            </a:r>
          </a:p>
        </p:txBody>
      </p:sp>
      <p:sp>
        <p:nvSpPr>
          <p:cNvPr id="3" name="Content Placeholder 2"/>
          <p:cNvSpPr>
            <a:spLocks noGrp="1"/>
          </p:cNvSpPr>
          <p:nvPr>
            <p:ph idx="1"/>
          </p:nvPr>
        </p:nvSpPr>
        <p:spPr>
          <a:xfrm>
            <a:off x="2016919" y="1383954"/>
            <a:ext cx="8356710" cy="5321646"/>
          </a:xfrm>
        </p:spPr>
        <p:txBody>
          <a:bodyPr>
            <a:normAutofit/>
          </a:bodyPr>
          <a:lstStyle/>
          <a:p>
            <a:pPr marL="0" indent="0">
              <a:buNone/>
            </a:pPr>
            <a:r>
              <a:rPr lang="en-US" sz="2100" dirty="0"/>
              <a:t>The MATCH function locates a value in an array and returns its </a:t>
            </a:r>
            <a:r>
              <a:rPr lang="en-US" sz="2100" b="1" u="sng" dirty="0"/>
              <a:t>relative</a:t>
            </a:r>
            <a:r>
              <a:rPr lang="en-US" sz="2100" dirty="0"/>
              <a:t> position.</a:t>
            </a:r>
          </a:p>
          <a:p>
            <a:pPr marL="0" indent="0">
              <a:buNone/>
            </a:pPr>
            <a:endParaRPr lang="en-US" sz="900" dirty="0"/>
          </a:p>
          <a:p>
            <a:pPr marL="0" indent="0" algn="ctr">
              <a:buNone/>
            </a:pPr>
            <a:r>
              <a:rPr lang="en-US" sz="2200" i="1" dirty="0"/>
              <a:t>=MATCH (</a:t>
            </a:r>
            <a:r>
              <a:rPr lang="en-US" sz="2200" i="1" dirty="0" err="1"/>
              <a:t>lookup_value</a:t>
            </a:r>
            <a:r>
              <a:rPr lang="en-US" sz="2200" i="1" dirty="0"/>
              <a:t>, </a:t>
            </a:r>
            <a:r>
              <a:rPr lang="en-US" sz="2200" i="1" dirty="0" err="1"/>
              <a:t>lookup_array</a:t>
            </a:r>
            <a:r>
              <a:rPr lang="en-US" sz="2200" i="1" dirty="0"/>
              <a:t>, [</a:t>
            </a:r>
            <a:r>
              <a:rPr lang="en-US" sz="2200" i="1" dirty="0" err="1"/>
              <a:t>match_type</a:t>
            </a:r>
            <a:r>
              <a:rPr lang="en-US" sz="2200" i="1" dirty="0"/>
              <a:t>])</a:t>
            </a:r>
          </a:p>
          <a:p>
            <a:pPr algn="ctr"/>
            <a:endParaRPr lang="en-US" sz="900" i="1" u="sng" dirty="0"/>
          </a:p>
          <a:p>
            <a:pPr>
              <a:buFont typeface="Wingdings" panose="05000000000000000000" pitchFamily="2" charset="2"/>
              <a:buChar char="§"/>
            </a:pPr>
            <a:r>
              <a:rPr lang="en-US" sz="1900" dirty="0"/>
              <a:t> </a:t>
            </a:r>
            <a:r>
              <a:rPr lang="en-US" sz="1800" b="1" i="1" dirty="0" err="1"/>
              <a:t>lookup_value</a:t>
            </a:r>
            <a:r>
              <a:rPr lang="en-US" sz="1800" dirty="0"/>
              <a:t> is the value that you want to locate in the array or list (it can be a value or a reference to a cell that contains a value)</a:t>
            </a:r>
          </a:p>
          <a:p>
            <a:pPr>
              <a:buFont typeface="Wingdings" panose="05000000000000000000" pitchFamily="2" charset="2"/>
              <a:buChar char="§"/>
            </a:pPr>
            <a:r>
              <a:rPr lang="en-US" sz="1800" dirty="0"/>
              <a:t> </a:t>
            </a:r>
            <a:r>
              <a:rPr lang="en-US" sz="1800" b="1" i="1" dirty="0" err="1"/>
              <a:t>lookup_array</a:t>
            </a:r>
            <a:r>
              <a:rPr lang="en-US" sz="1800" dirty="0"/>
              <a:t> is the cell range that contains the values (either a </a:t>
            </a:r>
            <a:r>
              <a:rPr lang="en-US" sz="1800" u="sng" dirty="0"/>
              <a:t>single</a:t>
            </a:r>
            <a:r>
              <a:rPr lang="en-US" sz="1800" dirty="0"/>
              <a:t> row or column)</a:t>
            </a:r>
          </a:p>
          <a:p>
            <a:pPr>
              <a:buFont typeface="Wingdings" panose="05000000000000000000" pitchFamily="2" charset="2"/>
              <a:buChar char="§"/>
            </a:pPr>
            <a:r>
              <a:rPr lang="en-US" sz="1800" dirty="0"/>
              <a:t> </a:t>
            </a:r>
            <a:r>
              <a:rPr lang="en-US" sz="1800" b="1" i="1" dirty="0"/>
              <a:t>[</a:t>
            </a:r>
            <a:r>
              <a:rPr lang="en-US" sz="1800" b="1" i="1" dirty="0" err="1"/>
              <a:t>match_type</a:t>
            </a:r>
            <a:r>
              <a:rPr lang="en-US" sz="1800" b="1" i="1" dirty="0"/>
              <a:t>] </a:t>
            </a:r>
            <a:r>
              <a:rPr lang="en-US" sz="1800" dirty="0"/>
              <a:t>is an optional argument that can take 1, 0 or -1 values. </a:t>
            </a:r>
          </a:p>
        </p:txBody>
      </p:sp>
      <p:sp>
        <p:nvSpPr>
          <p:cNvPr id="5" name="Slide Number Placeholder 4"/>
          <p:cNvSpPr>
            <a:spLocks noGrp="1"/>
          </p:cNvSpPr>
          <p:nvPr>
            <p:ph type="sldNum" sz="quarter" idx="12"/>
          </p:nvPr>
        </p:nvSpPr>
        <p:spPr/>
        <p:txBody>
          <a:bodyPr/>
          <a:lstStyle/>
          <a:p>
            <a:fld id="{FC6D7323-3F06-479E-ADC8-7BC729C5AF45}" type="slidenum">
              <a:rPr lang="en-US" smtClean="0"/>
              <a:t>36</a:t>
            </a:fld>
            <a:endParaRPr lang="en-US"/>
          </a:p>
        </p:txBody>
      </p:sp>
      <p:graphicFrame>
        <p:nvGraphicFramePr>
          <p:cNvPr id="4" name="Table 3"/>
          <p:cNvGraphicFramePr>
            <a:graphicFrameLocks noGrp="1"/>
          </p:cNvGraphicFramePr>
          <p:nvPr/>
        </p:nvGraphicFramePr>
        <p:xfrm>
          <a:off x="2322601" y="4832889"/>
          <a:ext cx="7274010" cy="1554480"/>
        </p:xfrm>
        <a:graphic>
          <a:graphicData uri="http://schemas.openxmlformats.org/drawingml/2006/table">
            <a:tbl>
              <a:tblPr bandRow="1">
                <a:tableStyleId>{69CF1AB2-1976-4502-BF36-3FF5EA218861}</a:tableStyleId>
              </a:tblPr>
              <a:tblGrid>
                <a:gridCol w="999224">
                  <a:extLst>
                    <a:ext uri="{9D8B030D-6E8A-4147-A177-3AD203B41FA5}">
                      <a16:colId xmlns:a16="http://schemas.microsoft.com/office/drawing/2014/main" val="20000"/>
                    </a:ext>
                  </a:extLst>
                </a:gridCol>
                <a:gridCol w="6274786">
                  <a:extLst>
                    <a:ext uri="{9D8B030D-6E8A-4147-A177-3AD203B41FA5}">
                      <a16:colId xmlns:a16="http://schemas.microsoft.com/office/drawing/2014/main" val="20001"/>
                    </a:ext>
                  </a:extLst>
                </a:gridCol>
              </a:tblGrid>
              <a:tr h="370840">
                <a:tc>
                  <a:txBody>
                    <a:bodyPr/>
                    <a:lstStyle/>
                    <a:p>
                      <a:pPr algn="ctr"/>
                      <a:r>
                        <a:rPr lang="en-US" sz="1400" dirty="0"/>
                        <a:t>1 (default)</a:t>
                      </a:r>
                    </a:p>
                  </a:txBody>
                  <a:tcPr anchor="ctr">
                    <a:solidFill>
                      <a:schemeClr val="accent1">
                        <a:lumMod val="40000"/>
                        <a:lumOff val="60000"/>
                      </a:schemeClr>
                    </a:solidFill>
                  </a:tcPr>
                </a:tc>
                <a:tc>
                  <a:txBody>
                    <a:bodyPr/>
                    <a:lstStyle/>
                    <a:p>
                      <a:r>
                        <a:rPr lang="en-US" sz="1400" dirty="0"/>
                        <a:t>The function finds the largest value that is less or equal to the </a:t>
                      </a:r>
                      <a:r>
                        <a:rPr lang="en-US" sz="1400" dirty="0" err="1"/>
                        <a:t>lookup_value</a:t>
                      </a:r>
                      <a:r>
                        <a:rPr lang="en-US" sz="1400" dirty="0"/>
                        <a:t>. The </a:t>
                      </a:r>
                      <a:r>
                        <a:rPr lang="en-US" sz="1400" dirty="0" err="1"/>
                        <a:t>lookup_array</a:t>
                      </a:r>
                      <a:r>
                        <a:rPr lang="en-US" sz="1400" baseline="0" dirty="0"/>
                        <a:t> must be sorted in ascending order.</a:t>
                      </a:r>
                      <a:endParaRPr lang="en-US" sz="1400" dirty="0"/>
                    </a:p>
                  </a:txBody>
                  <a:tcPr anchor="ct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pPr algn="ctr"/>
                      <a:r>
                        <a:rPr lang="en-US" sz="1400" dirty="0"/>
                        <a:t>-1</a:t>
                      </a:r>
                    </a:p>
                  </a:txBody>
                  <a:tcPr anchor="ctr">
                    <a:solidFill>
                      <a:schemeClr val="accent1">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The function finds the smallest value that is greater or equal to the </a:t>
                      </a:r>
                      <a:r>
                        <a:rPr lang="en-US" sz="1400" dirty="0" err="1"/>
                        <a:t>lookup_value</a:t>
                      </a:r>
                      <a:r>
                        <a:rPr lang="en-US" sz="1400" dirty="0"/>
                        <a:t>. The </a:t>
                      </a:r>
                      <a:r>
                        <a:rPr lang="en-US" sz="1400" dirty="0" err="1"/>
                        <a:t>lookup_array</a:t>
                      </a:r>
                      <a:r>
                        <a:rPr lang="en-US" sz="1400" baseline="0" dirty="0"/>
                        <a:t> must be sorted in descending order.</a:t>
                      </a:r>
                      <a:endParaRPr lang="en-US" sz="1400" dirty="0"/>
                    </a:p>
                  </a:txBody>
                  <a:tcPr anchor="ctr">
                    <a:solidFill>
                      <a:schemeClr val="accent1">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1400" dirty="0"/>
                        <a:t>0</a:t>
                      </a:r>
                    </a:p>
                  </a:txBody>
                  <a:tcPr anchor="ctr">
                    <a:solidFill>
                      <a:schemeClr val="accent1">
                        <a:lumMod val="40000"/>
                        <a:lumOff val="60000"/>
                      </a:schemeClr>
                    </a:solidFill>
                  </a:tcPr>
                </a:tc>
                <a:tc>
                  <a:txBody>
                    <a:bodyPr/>
                    <a:lstStyle/>
                    <a:p>
                      <a:r>
                        <a:rPr lang="en-US" sz="1400" dirty="0"/>
                        <a:t>The function finds the first value that exactly matches the </a:t>
                      </a:r>
                      <a:r>
                        <a:rPr lang="en-US" sz="1400" dirty="0" err="1"/>
                        <a:t>lookup_value</a:t>
                      </a:r>
                      <a:r>
                        <a:rPr lang="en-US" sz="1400" dirty="0"/>
                        <a:t>. The </a:t>
                      </a:r>
                      <a:r>
                        <a:rPr lang="en-US" sz="1400" dirty="0" err="1"/>
                        <a:t>lookup_array</a:t>
                      </a:r>
                      <a:r>
                        <a:rPr lang="en-US" sz="1400" dirty="0"/>
                        <a:t> can be in any order.</a:t>
                      </a:r>
                    </a:p>
                  </a:txBody>
                  <a:tcPr anchor="ctr">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120592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MATCH</a:t>
            </a:r>
          </a:p>
        </p:txBody>
      </p:sp>
      <p:sp>
        <p:nvSpPr>
          <p:cNvPr id="3" name="Content Placeholder 2"/>
          <p:cNvSpPr>
            <a:spLocks noGrp="1"/>
          </p:cNvSpPr>
          <p:nvPr>
            <p:ph idx="1"/>
          </p:nvPr>
        </p:nvSpPr>
        <p:spPr>
          <a:xfrm>
            <a:off x="2045493" y="1428207"/>
            <a:ext cx="8065294" cy="4921793"/>
          </a:xfrm>
        </p:spPr>
        <p:txBody>
          <a:bodyPr>
            <a:normAutofit lnSpcReduction="10000"/>
          </a:bodyPr>
          <a:lstStyle/>
          <a:p>
            <a:pPr marL="0" indent="0">
              <a:buNone/>
            </a:pPr>
            <a:r>
              <a:rPr lang="en-US" b="1" dirty="0"/>
              <a:t>What is the position (row) of the phone number (171) 672-0656?</a:t>
            </a:r>
            <a:r>
              <a:rPr lang="en-US" dirty="0"/>
              <a:t> </a:t>
            </a:r>
          </a:p>
          <a:p>
            <a:pPr marL="0" indent="0">
              <a:buNone/>
            </a:pPr>
            <a:endParaRPr lang="en-US" sz="1050" dirty="0"/>
          </a:p>
          <a:p>
            <a:pPr marL="0" indent="0">
              <a:buNone/>
            </a:pPr>
            <a:r>
              <a:rPr lang="en-US" dirty="0"/>
              <a:t>When we locate certain information in a single column or row we use the MATCH function.</a:t>
            </a:r>
          </a:p>
          <a:p>
            <a:pPr marL="0" indent="0">
              <a:buNone/>
            </a:pPr>
            <a:endParaRPr lang="en-US" sz="1400" b="1" dirty="0"/>
          </a:p>
          <a:p>
            <a:pPr marL="0" indent="0" algn="ctr">
              <a:buNone/>
            </a:pPr>
            <a:r>
              <a:rPr lang="en-US" u="sng" dirty="0"/>
              <a:t>=MATCH (1716720656, D3:D23, 0)</a:t>
            </a:r>
          </a:p>
          <a:p>
            <a:pPr marL="0" indent="0">
              <a:buNone/>
            </a:pPr>
            <a:endParaRPr lang="en-US" dirty="0"/>
          </a:p>
          <a:p>
            <a:pPr marL="0" indent="0">
              <a:buNone/>
            </a:pPr>
            <a:r>
              <a:rPr lang="en-US" dirty="0">
                <a:solidFill>
                  <a:schemeClr val="accent1">
                    <a:lumMod val="75000"/>
                  </a:schemeClr>
                </a:solidFill>
              </a:rPr>
              <a:t>This formula returns 11, since 1716720656 is in the </a:t>
            </a:r>
            <a:r>
              <a:rPr lang="en-US" b="1" u="sng" dirty="0">
                <a:solidFill>
                  <a:schemeClr val="accent1">
                    <a:lumMod val="75000"/>
                  </a:schemeClr>
                </a:solidFill>
              </a:rPr>
              <a:t>11</a:t>
            </a:r>
            <a:r>
              <a:rPr lang="en-US" b="1" u="sng" baseline="30000" dirty="0">
                <a:solidFill>
                  <a:schemeClr val="accent1">
                    <a:lumMod val="75000"/>
                  </a:schemeClr>
                </a:solidFill>
              </a:rPr>
              <a:t>th</a:t>
            </a:r>
            <a:r>
              <a:rPr lang="en-US" b="1" u="sng" dirty="0">
                <a:solidFill>
                  <a:schemeClr val="accent1">
                    <a:lumMod val="75000"/>
                  </a:schemeClr>
                </a:solidFill>
              </a:rPr>
              <a:t> row of the range D3:D23</a:t>
            </a:r>
            <a:r>
              <a:rPr lang="en-US" dirty="0">
                <a:solidFill>
                  <a:schemeClr val="accent1">
                    <a:lumMod val="75000"/>
                  </a:schemeClr>
                </a:solidFill>
              </a:rPr>
              <a:t>. </a:t>
            </a:r>
          </a:p>
          <a:p>
            <a:pPr marL="0" indent="0">
              <a:buNone/>
            </a:pPr>
            <a:endParaRPr lang="en-US" sz="1200" dirty="0">
              <a:solidFill>
                <a:schemeClr val="accent1">
                  <a:lumMod val="75000"/>
                </a:schemeClr>
              </a:solidFill>
            </a:endParaRPr>
          </a:p>
          <a:p>
            <a:pPr marL="0" indent="0">
              <a:buNone/>
            </a:pPr>
            <a:r>
              <a:rPr lang="en-US" sz="2000" dirty="0">
                <a:solidFill>
                  <a:srgbClr val="FF0000"/>
                </a:solidFill>
              </a:rPr>
              <a:t>Note: it does NOT return the spreadsheet row number of the cell containing 1716720656 (which is 13)!</a:t>
            </a:r>
          </a:p>
          <a:p>
            <a:pPr marL="0" indent="0">
              <a:buNone/>
            </a:pPr>
            <a:endParaRPr lang="en-US" dirty="0"/>
          </a:p>
        </p:txBody>
      </p:sp>
      <p:sp>
        <p:nvSpPr>
          <p:cNvPr id="4" name="Slide Number Placeholder 3"/>
          <p:cNvSpPr>
            <a:spLocks noGrp="1"/>
          </p:cNvSpPr>
          <p:nvPr>
            <p:ph type="sldNum" sz="quarter" idx="12"/>
          </p:nvPr>
        </p:nvSpPr>
        <p:spPr/>
        <p:txBody>
          <a:bodyPr/>
          <a:lstStyle/>
          <a:p>
            <a:fld id="{FC6D7323-3F06-479E-ADC8-7BC729C5AF45}" type="slidenum">
              <a:rPr lang="en-US" smtClean="0"/>
              <a:t>37</a:t>
            </a:fld>
            <a:endParaRPr lang="en-US"/>
          </a:p>
        </p:txBody>
      </p:sp>
    </p:spTree>
    <p:extLst>
      <p:ext uri="{BB962C8B-B14F-4D97-AF65-F5344CB8AC3E}">
        <p14:creationId xmlns:p14="http://schemas.microsoft.com/office/powerpoint/2010/main" val="3705546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375966"/>
            <a:ext cx="8079581" cy="793808"/>
          </a:xfrm>
        </p:spPr>
        <p:txBody>
          <a:bodyPr/>
          <a:lstStyle/>
          <a:p>
            <a:r>
              <a:rPr lang="en-US" dirty="0"/>
              <a:t>INDEX</a:t>
            </a:r>
          </a:p>
        </p:txBody>
      </p:sp>
      <p:sp>
        <p:nvSpPr>
          <p:cNvPr id="3" name="Content Placeholder 2"/>
          <p:cNvSpPr>
            <a:spLocks noGrp="1"/>
          </p:cNvSpPr>
          <p:nvPr>
            <p:ph idx="1"/>
          </p:nvPr>
        </p:nvSpPr>
        <p:spPr>
          <a:xfrm>
            <a:off x="2016919" y="1383954"/>
            <a:ext cx="8356710" cy="5321646"/>
          </a:xfrm>
        </p:spPr>
        <p:txBody>
          <a:bodyPr>
            <a:normAutofit/>
          </a:bodyPr>
          <a:lstStyle/>
          <a:p>
            <a:pPr marL="0" indent="0">
              <a:buNone/>
            </a:pPr>
            <a:r>
              <a:rPr lang="en-US" sz="2200" dirty="0"/>
              <a:t>The INDEX function can work in two different ways:</a:t>
            </a:r>
          </a:p>
          <a:p>
            <a:pPr marL="0" indent="0">
              <a:buNone/>
            </a:pPr>
            <a:endParaRPr lang="en-US" sz="800" dirty="0"/>
          </a:p>
          <a:p>
            <a:pPr marL="457200" indent="-457200">
              <a:buFont typeface="+mj-lt"/>
              <a:buAutoNum type="arabicPeriod"/>
            </a:pPr>
            <a:r>
              <a:rPr lang="en-US" sz="2100" dirty="0"/>
              <a:t>It returns the content of a cell given its position on a array:</a:t>
            </a:r>
          </a:p>
          <a:p>
            <a:pPr marL="0" indent="0" algn="ctr">
              <a:buNone/>
            </a:pPr>
            <a:r>
              <a:rPr lang="en-US" sz="2100" i="1" dirty="0"/>
              <a:t>=INDEX (array, </a:t>
            </a:r>
            <a:r>
              <a:rPr lang="en-US" sz="2100" i="1" dirty="0" err="1"/>
              <a:t>row_num</a:t>
            </a:r>
            <a:r>
              <a:rPr lang="en-US" sz="2100" i="1" dirty="0"/>
              <a:t>, [</a:t>
            </a:r>
            <a:r>
              <a:rPr lang="en-US" sz="2100" i="1" dirty="0" err="1"/>
              <a:t>column_num</a:t>
            </a:r>
            <a:r>
              <a:rPr lang="en-US" sz="2100" i="1" dirty="0"/>
              <a:t>])</a:t>
            </a:r>
          </a:p>
          <a:p>
            <a:pPr marL="0" indent="0" algn="ctr">
              <a:buNone/>
            </a:pPr>
            <a:endParaRPr lang="en-US" sz="900" i="1" u="sng" dirty="0"/>
          </a:p>
          <a:p>
            <a:pPr>
              <a:buFont typeface="Wingdings" panose="05000000000000000000" pitchFamily="2" charset="2"/>
              <a:buChar char="§"/>
            </a:pPr>
            <a:r>
              <a:rPr lang="en-US" sz="1900" dirty="0"/>
              <a:t> </a:t>
            </a:r>
            <a:r>
              <a:rPr lang="en-US" sz="1900" b="1" i="1" dirty="0"/>
              <a:t>array</a:t>
            </a:r>
            <a:r>
              <a:rPr lang="en-US" sz="1900" dirty="0"/>
              <a:t> is the array that contains the information you want.</a:t>
            </a:r>
          </a:p>
          <a:p>
            <a:pPr>
              <a:buFont typeface="Wingdings" panose="05000000000000000000" pitchFamily="2" charset="2"/>
              <a:buChar char="§"/>
            </a:pPr>
            <a:r>
              <a:rPr lang="en-US" sz="1900" dirty="0"/>
              <a:t> </a:t>
            </a:r>
            <a:r>
              <a:rPr lang="en-US" sz="1900" b="1" i="1" dirty="0" err="1"/>
              <a:t>row_num</a:t>
            </a:r>
            <a:r>
              <a:rPr lang="en-US" sz="1900" dirty="0"/>
              <a:t> is the row number (with respect to the array, so row 1 is the first row of the array and not the first row of the worksheet) of the cell you want to get the value of.</a:t>
            </a:r>
          </a:p>
          <a:p>
            <a:pPr>
              <a:buFont typeface="Wingdings" panose="05000000000000000000" pitchFamily="2" charset="2"/>
              <a:buChar char="§"/>
            </a:pPr>
            <a:r>
              <a:rPr lang="en-US" sz="1900" dirty="0"/>
              <a:t> </a:t>
            </a:r>
            <a:r>
              <a:rPr lang="en-US" sz="1900" b="1" i="1" dirty="0" err="1"/>
              <a:t>column_num</a:t>
            </a:r>
            <a:r>
              <a:rPr lang="en-US" sz="1900" b="1" i="1" dirty="0"/>
              <a:t> </a:t>
            </a:r>
            <a:r>
              <a:rPr lang="en-US" sz="1900" dirty="0"/>
              <a:t>is the same as </a:t>
            </a:r>
            <a:r>
              <a:rPr lang="en-US" sz="1900" dirty="0" err="1"/>
              <a:t>row_num</a:t>
            </a:r>
            <a:r>
              <a:rPr lang="en-US" sz="1900" dirty="0"/>
              <a:t> but for the column</a:t>
            </a:r>
          </a:p>
          <a:p>
            <a:pPr marL="0" indent="0">
              <a:buNone/>
            </a:pPr>
            <a:endParaRPr lang="en-US" sz="1800" dirty="0"/>
          </a:p>
          <a:p>
            <a:pPr marL="342900" indent="-342900">
              <a:buFont typeface="+mj-lt"/>
              <a:buAutoNum type="arabicPeriod" startAt="2"/>
            </a:pPr>
            <a:r>
              <a:rPr lang="en-US" sz="1700" dirty="0"/>
              <a:t>It returns a cell reference of a row and column intersection:</a:t>
            </a:r>
          </a:p>
          <a:p>
            <a:pPr marL="0" indent="0" algn="ctr">
              <a:buNone/>
            </a:pPr>
            <a:r>
              <a:rPr lang="en-US" sz="1700" i="1" u="sng" dirty="0"/>
              <a:t>=INDEX (reference, </a:t>
            </a:r>
            <a:r>
              <a:rPr lang="en-US" sz="1700" i="1" u="sng" dirty="0" err="1"/>
              <a:t>row_num</a:t>
            </a:r>
            <a:r>
              <a:rPr lang="en-US" sz="1700" i="1" u="sng" dirty="0"/>
              <a:t>, [</a:t>
            </a:r>
            <a:r>
              <a:rPr lang="en-US" sz="1700" i="1" u="sng" dirty="0" err="1"/>
              <a:t>column_num</a:t>
            </a:r>
            <a:r>
              <a:rPr lang="en-US" sz="1700" i="1" u="sng" dirty="0"/>
              <a:t>], [</a:t>
            </a:r>
            <a:r>
              <a:rPr lang="en-US" sz="1700" i="1" u="sng" dirty="0" err="1"/>
              <a:t>area_list</a:t>
            </a:r>
            <a:r>
              <a:rPr lang="en-US" sz="1700" i="1" u="sng" dirty="0"/>
              <a:t>])</a:t>
            </a:r>
            <a:endParaRPr lang="en-US" sz="1700" dirty="0"/>
          </a:p>
          <a:p>
            <a:pPr marL="0" indent="0">
              <a:buNone/>
            </a:pPr>
            <a:r>
              <a:rPr lang="en-US" sz="1700" dirty="0"/>
              <a:t>We are not going to use this version in this class though.</a:t>
            </a:r>
          </a:p>
        </p:txBody>
      </p:sp>
      <p:sp>
        <p:nvSpPr>
          <p:cNvPr id="4" name="Slide Number Placeholder 3"/>
          <p:cNvSpPr>
            <a:spLocks noGrp="1"/>
          </p:cNvSpPr>
          <p:nvPr>
            <p:ph type="sldNum" sz="quarter" idx="12"/>
          </p:nvPr>
        </p:nvSpPr>
        <p:spPr/>
        <p:txBody>
          <a:bodyPr/>
          <a:lstStyle/>
          <a:p>
            <a:fld id="{FC6D7323-3F06-479E-ADC8-7BC729C5AF45}" type="slidenum">
              <a:rPr lang="en-US" smtClean="0"/>
              <a:t>38</a:t>
            </a:fld>
            <a:endParaRPr lang="en-US"/>
          </a:p>
        </p:txBody>
      </p:sp>
    </p:spTree>
    <p:extLst>
      <p:ext uri="{BB962C8B-B14F-4D97-AF65-F5344CB8AC3E}">
        <p14:creationId xmlns:p14="http://schemas.microsoft.com/office/powerpoint/2010/main" val="33299560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INDEX</a:t>
            </a:r>
          </a:p>
        </p:txBody>
      </p:sp>
      <p:sp>
        <p:nvSpPr>
          <p:cNvPr id="3" name="Content Placeholder 2"/>
          <p:cNvSpPr>
            <a:spLocks noGrp="1"/>
          </p:cNvSpPr>
          <p:nvPr>
            <p:ph idx="1"/>
          </p:nvPr>
        </p:nvSpPr>
        <p:spPr>
          <a:xfrm>
            <a:off x="2031206" y="1524001"/>
            <a:ext cx="8065294" cy="4876799"/>
          </a:xfrm>
        </p:spPr>
        <p:txBody>
          <a:bodyPr>
            <a:normAutofit/>
          </a:bodyPr>
          <a:lstStyle/>
          <a:p>
            <a:pPr marL="0" indent="0">
              <a:buNone/>
            </a:pPr>
            <a:r>
              <a:rPr lang="en-US" b="1" dirty="0"/>
              <a:t>What is the Employee Name in that row (11)?</a:t>
            </a:r>
          </a:p>
          <a:p>
            <a:pPr marL="0" indent="0">
              <a:buNone/>
            </a:pPr>
            <a:r>
              <a:rPr lang="en-US" b="1" dirty="0"/>
              <a:t>Equivalently, what is the information that shows up on the 11</a:t>
            </a:r>
            <a:r>
              <a:rPr lang="en-US" b="1" baseline="30000" dirty="0"/>
              <a:t>th</a:t>
            </a:r>
            <a:r>
              <a:rPr lang="en-US" b="1" dirty="0"/>
              <a:t> row and 1</a:t>
            </a:r>
            <a:r>
              <a:rPr lang="en-US" b="1" baseline="30000" dirty="0"/>
              <a:t>st</a:t>
            </a:r>
            <a:r>
              <a:rPr lang="en-US" b="1" dirty="0"/>
              <a:t> column of our range?</a:t>
            </a:r>
          </a:p>
          <a:p>
            <a:pPr marL="0" indent="0">
              <a:buNone/>
            </a:pPr>
            <a:endParaRPr lang="en-US" sz="1200" b="1" dirty="0"/>
          </a:p>
          <a:p>
            <a:pPr marL="0" indent="0">
              <a:buNone/>
            </a:pPr>
            <a:r>
              <a:rPr lang="en-US" dirty="0"/>
              <a:t>When we want to know the information of a certain location, we use the INDEX function.</a:t>
            </a:r>
            <a:endParaRPr lang="en-US" b="1" dirty="0"/>
          </a:p>
          <a:p>
            <a:pPr marL="0" indent="0">
              <a:buNone/>
            </a:pPr>
            <a:endParaRPr lang="en-US" sz="800" dirty="0"/>
          </a:p>
          <a:p>
            <a:pPr marL="0" indent="0" algn="ctr">
              <a:buNone/>
            </a:pPr>
            <a:r>
              <a:rPr lang="en-US" u="sng" dirty="0"/>
              <a:t>= INDEX(A3:I23, 11, 1)</a:t>
            </a:r>
          </a:p>
          <a:p>
            <a:pPr marL="0" indent="0">
              <a:buNone/>
            </a:pPr>
            <a:endParaRPr lang="en-US" dirty="0"/>
          </a:p>
        </p:txBody>
      </p:sp>
      <p:sp>
        <p:nvSpPr>
          <p:cNvPr id="6" name="Slide Number Placeholder 5"/>
          <p:cNvSpPr>
            <a:spLocks noGrp="1"/>
          </p:cNvSpPr>
          <p:nvPr>
            <p:ph type="sldNum" sz="quarter" idx="12"/>
          </p:nvPr>
        </p:nvSpPr>
        <p:spPr/>
        <p:txBody>
          <a:bodyPr/>
          <a:lstStyle/>
          <a:p>
            <a:fld id="{FC6D7323-3F06-479E-ADC8-7BC729C5AF45}" type="slidenum">
              <a:rPr lang="en-US" smtClean="0"/>
              <a:t>39</a:t>
            </a:fld>
            <a:endParaRPr lang="en-US"/>
          </a:p>
        </p:txBody>
      </p:sp>
      <p:sp>
        <p:nvSpPr>
          <p:cNvPr id="4" name="Rectangle 3"/>
          <p:cNvSpPr/>
          <p:nvPr/>
        </p:nvSpPr>
        <p:spPr>
          <a:xfrm>
            <a:off x="5748454" y="5003760"/>
            <a:ext cx="2596566" cy="72493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t>Relative position of the cell with respect to the range A3:M23!</a:t>
            </a:r>
          </a:p>
        </p:txBody>
      </p:sp>
      <p:cxnSp>
        <p:nvCxnSpPr>
          <p:cNvPr id="5" name="Straight Arrow Connector 4"/>
          <p:cNvCxnSpPr>
            <a:stCxn id="4" idx="0"/>
          </p:cNvCxnSpPr>
          <p:nvPr/>
        </p:nvCxnSpPr>
        <p:spPr>
          <a:xfrm flipH="1" flipV="1">
            <a:off x="6983581" y="4569458"/>
            <a:ext cx="63156" cy="4343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6784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MATCH and INDEX nested</a:t>
            </a:r>
          </a:p>
        </p:txBody>
      </p:sp>
      <p:sp>
        <p:nvSpPr>
          <p:cNvPr id="3" name="Content Placeholder 2"/>
          <p:cNvSpPr>
            <a:spLocks noGrp="1"/>
          </p:cNvSpPr>
          <p:nvPr>
            <p:ph idx="1"/>
          </p:nvPr>
        </p:nvSpPr>
        <p:spPr>
          <a:xfrm>
            <a:off x="2031205" y="1400962"/>
            <a:ext cx="8427070" cy="5117283"/>
          </a:xfrm>
        </p:spPr>
        <p:txBody>
          <a:bodyPr>
            <a:normAutofit/>
          </a:bodyPr>
          <a:lstStyle/>
          <a:p>
            <a:pPr marL="0" indent="0">
              <a:buNone/>
            </a:pPr>
            <a:r>
              <a:rPr lang="en-US" sz="2200" dirty="0"/>
              <a:t>The true power behind the MATCH and INDEX functions lies when they are used nested: first we locate the position of a certain information with MATCH and then we return related information with INDEX. </a:t>
            </a:r>
          </a:p>
          <a:p>
            <a:pPr marL="0" indent="0">
              <a:buNone/>
            </a:pPr>
            <a:endParaRPr lang="en-US" sz="900" b="1" dirty="0"/>
          </a:p>
          <a:p>
            <a:pPr marL="0" indent="0">
              <a:buNone/>
            </a:pPr>
            <a:r>
              <a:rPr lang="en-US" b="1" dirty="0"/>
              <a:t>What is the salary of the person whose phone number is (671)-601-8444?</a:t>
            </a:r>
          </a:p>
          <a:p>
            <a:pPr marL="0" indent="0">
              <a:buNone/>
            </a:pPr>
            <a:endParaRPr lang="en-US" sz="2200" b="1" dirty="0"/>
          </a:p>
          <a:p>
            <a:pPr marL="0" indent="0">
              <a:buNone/>
            </a:pPr>
            <a:r>
              <a:rPr lang="en-US" sz="2200" dirty="0"/>
              <a:t>The formula that gives the answer is:</a:t>
            </a:r>
          </a:p>
          <a:p>
            <a:pPr marL="0" indent="0" algn="ctr">
              <a:buNone/>
            </a:pPr>
            <a:r>
              <a:rPr lang="en-US" b="1" u="sng" dirty="0">
                <a:solidFill>
                  <a:schemeClr val="accent1">
                    <a:lumMod val="75000"/>
                  </a:schemeClr>
                </a:solidFill>
              </a:rPr>
              <a:t>= INDEX (A3:I23,  MATCH (1716720656, D3:D23, 0), 1)</a:t>
            </a:r>
          </a:p>
          <a:p>
            <a:pPr marL="0" indent="0" algn="ctr">
              <a:buNone/>
            </a:pPr>
            <a:endParaRPr lang="en-US" sz="2200" u="sng" dirty="0"/>
          </a:p>
          <a:p>
            <a:pPr marL="0" indent="0">
              <a:buNone/>
            </a:pPr>
            <a:endParaRPr lang="en-US" dirty="0"/>
          </a:p>
          <a:p>
            <a:pPr marL="0" indent="0">
              <a:buNone/>
            </a:pPr>
            <a:endParaRPr lang="en-US" dirty="0"/>
          </a:p>
          <a:p>
            <a:pPr marL="0" indent="0">
              <a:buNone/>
            </a:pPr>
            <a:endParaRPr lang="en-US" dirty="0"/>
          </a:p>
        </p:txBody>
      </p:sp>
      <p:sp>
        <p:nvSpPr>
          <p:cNvPr id="5" name="Slide Number Placeholder 4"/>
          <p:cNvSpPr>
            <a:spLocks noGrp="1"/>
          </p:cNvSpPr>
          <p:nvPr>
            <p:ph type="sldNum" sz="quarter" idx="12"/>
          </p:nvPr>
        </p:nvSpPr>
        <p:spPr/>
        <p:txBody>
          <a:bodyPr/>
          <a:lstStyle/>
          <a:p>
            <a:fld id="{FC6D7323-3F06-479E-ADC8-7BC729C5AF45}" type="slidenum">
              <a:rPr lang="en-US" smtClean="0"/>
              <a:t>40</a:t>
            </a:fld>
            <a:endParaRPr lang="en-US" dirty="0"/>
          </a:p>
        </p:txBody>
      </p:sp>
      <p:sp>
        <p:nvSpPr>
          <p:cNvPr id="4" name="Rectangle 3"/>
          <p:cNvSpPr/>
          <p:nvPr/>
        </p:nvSpPr>
        <p:spPr>
          <a:xfrm>
            <a:off x="6070996" y="4973393"/>
            <a:ext cx="4269996" cy="11539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en-US" sz="1600" dirty="0"/>
              <a:t>Note that the ranges have to be consistent! If in MATCH we started from the 3</a:t>
            </a:r>
            <a:r>
              <a:rPr lang="en-US" sz="1600" baseline="30000" dirty="0"/>
              <a:t>rd</a:t>
            </a:r>
            <a:r>
              <a:rPr lang="en-US" sz="1600" dirty="0"/>
              <a:t> row of the Excel sheet (D3:D23), in INDEX we also have to start from the 3</a:t>
            </a:r>
            <a:r>
              <a:rPr lang="en-US" sz="1600" baseline="30000" dirty="0"/>
              <a:t>rd</a:t>
            </a:r>
            <a:r>
              <a:rPr lang="en-US" sz="1600" dirty="0"/>
              <a:t> row (A3:M23)!</a:t>
            </a:r>
          </a:p>
        </p:txBody>
      </p:sp>
    </p:spTree>
    <p:extLst>
      <p:ext uri="{BB962C8B-B14F-4D97-AF65-F5344CB8AC3E}">
        <p14:creationId xmlns:p14="http://schemas.microsoft.com/office/powerpoint/2010/main" val="579831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7594" y="205990"/>
            <a:ext cx="8636795" cy="1016229"/>
          </a:xfrm>
        </p:spPr>
        <p:txBody>
          <a:bodyPr>
            <a:normAutofit/>
          </a:bodyPr>
          <a:lstStyle/>
          <a:p>
            <a:r>
              <a:rPr lang="en-US" dirty="0"/>
              <a:t>INDEX and MATCH another question</a:t>
            </a:r>
          </a:p>
        </p:txBody>
      </p:sp>
      <p:sp>
        <p:nvSpPr>
          <p:cNvPr id="3" name="Content Placeholder 2"/>
          <p:cNvSpPr>
            <a:spLocks noGrp="1"/>
          </p:cNvSpPr>
          <p:nvPr>
            <p:ph idx="1"/>
          </p:nvPr>
        </p:nvSpPr>
        <p:spPr>
          <a:xfrm>
            <a:off x="1871731" y="1222219"/>
            <a:ext cx="8532658" cy="5375134"/>
          </a:xfrm>
        </p:spPr>
        <p:txBody>
          <a:bodyPr>
            <a:noAutofit/>
          </a:bodyPr>
          <a:lstStyle/>
          <a:p>
            <a:pPr marL="0" indent="0">
              <a:buNone/>
            </a:pPr>
            <a:r>
              <a:rPr lang="en-US" b="1" dirty="0"/>
              <a:t>What is the job rating of the person with highest salary?</a:t>
            </a:r>
          </a:p>
          <a:p>
            <a:pPr marL="0" indent="0">
              <a:buNone/>
            </a:pPr>
            <a:r>
              <a:rPr lang="en-US" sz="2000" dirty="0"/>
              <a:t>First, we calculate the highest salary with MAX:</a:t>
            </a:r>
          </a:p>
          <a:p>
            <a:pPr marL="0" indent="0" algn="ctr">
              <a:buNone/>
            </a:pPr>
            <a:r>
              <a:rPr lang="en-US" sz="2000" u="sng" dirty="0"/>
              <a:t>= MAX (H3:H23)</a:t>
            </a:r>
          </a:p>
          <a:p>
            <a:pPr marL="0" indent="0">
              <a:buNone/>
            </a:pPr>
            <a:r>
              <a:rPr lang="en-US" sz="2000" dirty="0"/>
              <a:t>Then we locate it in the table with MATCH:</a:t>
            </a:r>
          </a:p>
          <a:p>
            <a:pPr marL="0" indent="0" algn="ctr">
              <a:buNone/>
            </a:pPr>
            <a:r>
              <a:rPr lang="en-US" sz="2000" u="sng" dirty="0"/>
              <a:t>= MATCH (</a:t>
            </a:r>
            <a:r>
              <a:rPr lang="en-US" sz="2000" u="sng" dirty="0">
                <a:solidFill>
                  <a:schemeClr val="accent1">
                    <a:lumMod val="75000"/>
                  </a:schemeClr>
                </a:solidFill>
              </a:rPr>
              <a:t>MAX (H2:H23)</a:t>
            </a:r>
            <a:r>
              <a:rPr lang="en-US" sz="2000" u="sng" dirty="0"/>
              <a:t>, H3:H23, 0)</a:t>
            </a:r>
          </a:p>
          <a:p>
            <a:pPr marL="0" indent="0">
              <a:buNone/>
            </a:pPr>
            <a:r>
              <a:rPr lang="en-US" sz="2000" dirty="0"/>
              <a:t>Then we return the employee’s job rating with INDEX:</a:t>
            </a:r>
          </a:p>
          <a:p>
            <a:pPr marL="0" indent="0" algn="ctr">
              <a:buNone/>
            </a:pPr>
            <a:r>
              <a:rPr lang="en-US" sz="2000" u="sng" dirty="0"/>
              <a:t>= INDEX (A2:I22, </a:t>
            </a:r>
            <a:r>
              <a:rPr lang="en-US" sz="2000" u="sng" dirty="0">
                <a:solidFill>
                  <a:schemeClr val="accent1">
                    <a:lumMod val="75000"/>
                  </a:schemeClr>
                </a:solidFill>
              </a:rPr>
              <a:t>MATCH (MAX (H3:H23), H3:H23, 0)</a:t>
            </a:r>
            <a:r>
              <a:rPr lang="en-US" sz="2000" u="sng" dirty="0"/>
              <a:t>,</a:t>
            </a:r>
            <a:r>
              <a:rPr lang="en-US" sz="2000" u="sng" dirty="0">
                <a:solidFill>
                  <a:schemeClr val="accent1">
                    <a:lumMod val="75000"/>
                  </a:schemeClr>
                </a:solidFill>
              </a:rPr>
              <a:t> </a:t>
            </a:r>
            <a:r>
              <a:rPr lang="en-US" sz="2000" u="sng" dirty="0"/>
              <a:t>9)</a:t>
            </a:r>
          </a:p>
          <a:p>
            <a:pPr marL="0" indent="0" algn="ctr">
              <a:buNone/>
            </a:pPr>
            <a:endParaRPr lang="en-US" sz="3600" dirty="0"/>
          </a:p>
          <a:p>
            <a:pPr marL="0" indent="0">
              <a:buNone/>
            </a:pPr>
            <a:r>
              <a:rPr lang="en-US" sz="1800" dirty="0"/>
              <a:t>Note: since the job rating is to the left of the salaries column, we can use VLOOKUP instead of MATCH and INDEX:</a:t>
            </a:r>
          </a:p>
          <a:p>
            <a:pPr marL="0" indent="0" algn="ctr">
              <a:buNone/>
            </a:pPr>
            <a:r>
              <a:rPr lang="en-US" sz="1800" u="sng" dirty="0"/>
              <a:t>=VLOOKUP (</a:t>
            </a:r>
            <a:r>
              <a:rPr lang="en-US" sz="1800" u="sng" dirty="0">
                <a:solidFill>
                  <a:schemeClr val="accent1">
                    <a:lumMod val="75000"/>
                  </a:schemeClr>
                </a:solidFill>
              </a:rPr>
              <a:t>MAX (H3:H23)</a:t>
            </a:r>
            <a:r>
              <a:rPr lang="en-US" sz="1800" u="sng" dirty="0"/>
              <a:t>, H3:I23, 2, FALSE)</a:t>
            </a:r>
          </a:p>
          <a:p>
            <a:pPr marL="0" indent="0">
              <a:buNone/>
            </a:pPr>
            <a:r>
              <a:rPr lang="en-US" sz="1800" dirty="0"/>
              <a:t>If, instead of the job rating, we wanted the name or the building or the hire date, could we have used VLOOKUP?</a:t>
            </a:r>
          </a:p>
        </p:txBody>
      </p:sp>
      <p:sp>
        <p:nvSpPr>
          <p:cNvPr id="4" name="Slide Number Placeholder 3"/>
          <p:cNvSpPr>
            <a:spLocks noGrp="1"/>
          </p:cNvSpPr>
          <p:nvPr>
            <p:ph type="sldNum" sz="quarter" idx="12"/>
          </p:nvPr>
        </p:nvSpPr>
        <p:spPr/>
        <p:txBody>
          <a:bodyPr/>
          <a:lstStyle/>
          <a:p>
            <a:fld id="{FC6D7323-3F06-479E-ADC8-7BC729C5AF45}" type="slidenum">
              <a:rPr lang="en-US" smtClean="0"/>
              <a:t>41</a:t>
            </a:fld>
            <a:endParaRPr lang="en-US"/>
          </a:p>
        </p:txBody>
      </p:sp>
    </p:spTree>
    <p:extLst>
      <p:ext uri="{BB962C8B-B14F-4D97-AF65-F5344CB8AC3E}">
        <p14:creationId xmlns:p14="http://schemas.microsoft.com/office/powerpoint/2010/main" val="94761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II</a:t>
            </a:r>
          </a:p>
        </p:txBody>
      </p:sp>
      <p:sp>
        <p:nvSpPr>
          <p:cNvPr id="3" name="Text Placeholder 2"/>
          <p:cNvSpPr>
            <a:spLocks noGrp="1"/>
          </p:cNvSpPr>
          <p:nvPr>
            <p:ph type="body" idx="1"/>
          </p:nvPr>
        </p:nvSpPr>
        <p:spPr/>
        <p:txBody>
          <a:bodyPr>
            <a:normAutofit/>
          </a:bodyPr>
          <a:lstStyle/>
          <a:p>
            <a:r>
              <a:rPr lang="en-US" dirty="0"/>
              <a:t>Data validation</a:t>
            </a:r>
          </a:p>
          <a:p>
            <a:endParaRPr lang="en-US" dirty="0"/>
          </a:p>
          <a:p>
            <a:r>
              <a:rPr lang="en-US" i="1" dirty="0">
                <a:solidFill>
                  <a:srgbClr val="0000FF"/>
                </a:solidFill>
              </a:rPr>
              <a:t>Staff.xlsx and Staff_solutions.xlsx</a:t>
            </a: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1ADF169C-3A13-4720-8652-1240B672470F}" type="slidenum">
              <a:rPr lang="en-US" smtClean="0"/>
              <a:t>42</a:t>
            </a:fld>
            <a:endParaRPr lang="en-US"/>
          </a:p>
        </p:txBody>
      </p:sp>
    </p:spTree>
    <p:extLst>
      <p:ext uri="{BB962C8B-B14F-4D97-AF65-F5344CB8AC3E}">
        <p14:creationId xmlns:p14="http://schemas.microsoft.com/office/powerpoint/2010/main" val="592471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19" y="400142"/>
            <a:ext cx="8079581" cy="1016229"/>
          </a:xfrm>
        </p:spPr>
        <p:txBody>
          <a:bodyPr/>
          <a:lstStyle/>
          <a:p>
            <a:r>
              <a:rPr lang="en-US" dirty="0"/>
              <a:t>Data Validation</a:t>
            </a:r>
          </a:p>
        </p:txBody>
      </p:sp>
      <p:sp>
        <p:nvSpPr>
          <p:cNvPr id="3" name="Content Placeholder 2"/>
          <p:cNvSpPr>
            <a:spLocks noGrp="1"/>
          </p:cNvSpPr>
          <p:nvPr>
            <p:ph idx="1"/>
          </p:nvPr>
        </p:nvSpPr>
        <p:spPr>
          <a:xfrm>
            <a:off x="2016919" y="1416371"/>
            <a:ext cx="8388191" cy="5155880"/>
          </a:xfrm>
        </p:spPr>
        <p:txBody>
          <a:bodyPr>
            <a:normAutofit lnSpcReduction="10000"/>
          </a:bodyPr>
          <a:lstStyle/>
          <a:p>
            <a:pPr marL="0" indent="0">
              <a:lnSpc>
                <a:spcPct val="100000"/>
              </a:lnSpc>
              <a:buNone/>
            </a:pPr>
            <a:r>
              <a:rPr lang="en-US" dirty="0"/>
              <a:t>Data validation allows you to control the data that can be entered into a cell.</a:t>
            </a:r>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r>
              <a:rPr lang="en-US" dirty="0"/>
              <a:t>For instance, the company only has 6 buildings, so when one is entering new data about an employee, only one of these 6 buildings should be allowed on the Building column. The same applies to other fields.</a:t>
            </a:r>
          </a:p>
        </p:txBody>
      </p:sp>
      <p:sp>
        <p:nvSpPr>
          <p:cNvPr id="5" name="Slide Number Placeholder 4"/>
          <p:cNvSpPr>
            <a:spLocks noGrp="1"/>
          </p:cNvSpPr>
          <p:nvPr>
            <p:ph type="sldNum" sz="quarter" idx="12"/>
          </p:nvPr>
        </p:nvSpPr>
        <p:spPr/>
        <p:txBody>
          <a:bodyPr/>
          <a:lstStyle/>
          <a:p>
            <a:fld id="{1ADF169C-3A13-4720-8652-1240B672470F}" type="slidenum">
              <a:rPr lang="en-US" smtClean="0"/>
              <a:t>43</a:t>
            </a:fld>
            <a:endParaRPr lang="en-US"/>
          </a:p>
        </p:txBody>
      </p:sp>
      <p:pic>
        <p:nvPicPr>
          <p:cNvPr id="4" name="Picture 3"/>
          <p:cNvPicPr>
            <a:picLocks noChangeAspect="1"/>
          </p:cNvPicPr>
          <p:nvPr/>
        </p:nvPicPr>
        <p:blipFill>
          <a:blip r:embed="rId2"/>
          <a:stretch>
            <a:fillRect/>
          </a:stretch>
        </p:blipFill>
        <p:spPr>
          <a:xfrm>
            <a:off x="2403872" y="2686050"/>
            <a:ext cx="7305675" cy="1714500"/>
          </a:xfrm>
          <a:prstGeom prst="rect">
            <a:avLst/>
          </a:prstGeom>
        </p:spPr>
      </p:pic>
    </p:spTree>
    <p:extLst>
      <p:ext uri="{BB962C8B-B14F-4D97-AF65-F5344CB8AC3E}">
        <p14:creationId xmlns:p14="http://schemas.microsoft.com/office/powerpoint/2010/main" val="40736252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18" y="410082"/>
            <a:ext cx="8079581" cy="1016229"/>
          </a:xfrm>
        </p:spPr>
        <p:txBody>
          <a:bodyPr/>
          <a:lstStyle/>
          <a:p>
            <a:r>
              <a:rPr lang="en-US" dirty="0"/>
              <a:t>Data Validation</a:t>
            </a:r>
          </a:p>
        </p:txBody>
      </p:sp>
      <p:sp>
        <p:nvSpPr>
          <p:cNvPr id="3" name="Content Placeholder 2"/>
          <p:cNvSpPr>
            <a:spLocks noGrp="1"/>
          </p:cNvSpPr>
          <p:nvPr>
            <p:ph idx="1"/>
          </p:nvPr>
        </p:nvSpPr>
        <p:spPr>
          <a:xfrm>
            <a:off x="2016919" y="1610140"/>
            <a:ext cx="8388191" cy="4962111"/>
          </a:xfrm>
        </p:spPr>
        <p:txBody>
          <a:bodyPr>
            <a:normAutofit/>
          </a:bodyPr>
          <a:lstStyle/>
          <a:p>
            <a:pPr marL="0" indent="0">
              <a:lnSpc>
                <a:spcPct val="100000"/>
              </a:lnSpc>
              <a:buNone/>
            </a:pPr>
            <a:r>
              <a:rPr lang="en-US" dirty="0"/>
              <a:t>Create data validation rules to the following:</a:t>
            </a:r>
          </a:p>
          <a:p>
            <a:pPr marL="0" indent="0">
              <a:lnSpc>
                <a:spcPct val="100000"/>
              </a:lnSpc>
              <a:buNone/>
            </a:pPr>
            <a:endParaRPr lang="en-US" dirty="0"/>
          </a:p>
          <a:p>
            <a:pPr>
              <a:lnSpc>
                <a:spcPct val="100000"/>
              </a:lnSpc>
              <a:buFont typeface="Wingdings" panose="05000000000000000000" pitchFamily="2" charset="2"/>
              <a:buChar char="§"/>
            </a:pPr>
            <a:r>
              <a:rPr lang="en-US" dirty="0"/>
              <a:t> Only allow the insertion of buildings and departments the company has;</a:t>
            </a:r>
          </a:p>
          <a:p>
            <a:pPr>
              <a:lnSpc>
                <a:spcPct val="100000"/>
              </a:lnSpc>
              <a:buFont typeface="Wingdings" panose="05000000000000000000" pitchFamily="2" charset="2"/>
              <a:buChar char="§"/>
            </a:pPr>
            <a:r>
              <a:rPr lang="en-US" dirty="0"/>
              <a:t> Only allow the following possible status: Hourly, Full-time, Half-time and Contract;</a:t>
            </a:r>
          </a:p>
          <a:p>
            <a:pPr>
              <a:lnSpc>
                <a:spcPct val="100000"/>
              </a:lnSpc>
              <a:buFont typeface="Wingdings" panose="05000000000000000000" pitchFamily="2" charset="2"/>
              <a:buChar char="§"/>
            </a:pPr>
            <a:r>
              <a:rPr lang="en-US" dirty="0"/>
              <a:t> Only allow a number between 1 and 5 for the job rating;</a:t>
            </a:r>
          </a:p>
          <a:p>
            <a:pPr>
              <a:lnSpc>
                <a:spcPct val="100000"/>
              </a:lnSpc>
              <a:buFont typeface="Wingdings" panose="05000000000000000000" pitchFamily="2" charset="2"/>
              <a:buChar char="§"/>
            </a:pPr>
            <a:endParaRPr lang="en-US" dirty="0"/>
          </a:p>
          <a:p>
            <a:pPr>
              <a:buFont typeface="Wingdings" panose="05000000000000000000" pitchFamily="2" charset="2"/>
              <a:buChar char="§"/>
            </a:pPr>
            <a:endParaRPr lang="en-US" dirty="0"/>
          </a:p>
        </p:txBody>
      </p:sp>
      <p:sp>
        <p:nvSpPr>
          <p:cNvPr id="4" name="Slide Number Placeholder 3"/>
          <p:cNvSpPr>
            <a:spLocks noGrp="1"/>
          </p:cNvSpPr>
          <p:nvPr>
            <p:ph type="sldNum" sz="quarter" idx="12"/>
          </p:nvPr>
        </p:nvSpPr>
        <p:spPr/>
        <p:txBody>
          <a:bodyPr/>
          <a:lstStyle/>
          <a:p>
            <a:fld id="{1ADF169C-3A13-4720-8652-1240B672470F}" type="slidenum">
              <a:rPr lang="en-US" smtClean="0"/>
              <a:t>44</a:t>
            </a:fld>
            <a:endParaRPr lang="en-US"/>
          </a:p>
        </p:txBody>
      </p:sp>
    </p:spTree>
    <p:extLst>
      <p:ext uri="{BB962C8B-B14F-4D97-AF65-F5344CB8AC3E}">
        <p14:creationId xmlns:p14="http://schemas.microsoft.com/office/powerpoint/2010/main" val="5169107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 III</a:t>
            </a:r>
          </a:p>
        </p:txBody>
      </p:sp>
      <p:sp>
        <p:nvSpPr>
          <p:cNvPr id="3" name="Text Placeholder 2"/>
          <p:cNvSpPr>
            <a:spLocks noGrp="1"/>
          </p:cNvSpPr>
          <p:nvPr>
            <p:ph type="body" idx="1"/>
          </p:nvPr>
        </p:nvSpPr>
        <p:spPr/>
        <p:txBody>
          <a:bodyPr/>
          <a:lstStyle/>
          <a:p>
            <a:pPr>
              <a:lnSpc>
                <a:spcPct val="110000"/>
              </a:lnSpc>
            </a:pPr>
            <a:r>
              <a:rPr lang="en-US" dirty="0"/>
              <a:t>List of error codes and some helpful functions for dates and text</a:t>
            </a:r>
          </a:p>
        </p:txBody>
      </p:sp>
      <p:sp>
        <p:nvSpPr>
          <p:cNvPr id="4" name="Slide Number Placeholder 3"/>
          <p:cNvSpPr>
            <a:spLocks noGrp="1"/>
          </p:cNvSpPr>
          <p:nvPr>
            <p:ph type="sldNum" sz="quarter" idx="12"/>
          </p:nvPr>
        </p:nvSpPr>
        <p:spPr/>
        <p:txBody>
          <a:bodyPr/>
          <a:lstStyle/>
          <a:p>
            <a:fld id="{FC6D7323-3F06-479E-ADC8-7BC729C5AF45}" type="slidenum">
              <a:rPr lang="en-US" smtClean="0"/>
              <a:t>45</a:t>
            </a:fld>
            <a:endParaRPr lang="en-US"/>
          </a:p>
        </p:txBody>
      </p:sp>
    </p:spTree>
    <p:extLst>
      <p:ext uri="{BB962C8B-B14F-4D97-AF65-F5344CB8AC3E}">
        <p14:creationId xmlns:p14="http://schemas.microsoft.com/office/powerpoint/2010/main" val="33573836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Errors help</a:t>
            </a:r>
          </a:p>
        </p:txBody>
      </p:sp>
      <p:graphicFrame>
        <p:nvGraphicFramePr>
          <p:cNvPr id="4" name="Content Placeholder 3"/>
          <p:cNvGraphicFramePr>
            <a:graphicFrameLocks noGrp="1"/>
          </p:cNvGraphicFramePr>
          <p:nvPr>
            <p:ph idx="1"/>
          </p:nvPr>
        </p:nvGraphicFramePr>
        <p:xfrm>
          <a:off x="2178907" y="1638295"/>
          <a:ext cx="7931880" cy="4068183"/>
        </p:xfrm>
        <a:graphic>
          <a:graphicData uri="http://schemas.openxmlformats.org/drawingml/2006/table">
            <a:tbl>
              <a:tblPr>
                <a:tableStyleId>{69CF1AB2-1976-4502-BF36-3FF5EA218861}</a:tableStyleId>
              </a:tblPr>
              <a:tblGrid>
                <a:gridCol w="1722681">
                  <a:extLst>
                    <a:ext uri="{9D8B030D-6E8A-4147-A177-3AD203B41FA5}">
                      <a16:colId xmlns:a16="http://schemas.microsoft.com/office/drawing/2014/main" val="20000"/>
                    </a:ext>
                  </a:extLst>
                </a:gridCol>
                <a:gridCol w="6209199">
                  <a:extLst>
                    <a:ext uri="{9D8B030D-6E8A-4147-A177-3AD203B41FA5}">
                      <a16:colId xmlns:a16="http://schemas.microsoft.com/office/drawing/2014/main" val="20001"/>
                    </a:ext>
                  </a:extLst>
                </a:gridCol>
              </a:tblGrid>
              <a:tr h="405285">
                <a:tc>
                  <a:txBody>
                    <a:bodyPr/>
                    <a:lstStyle/>
                    <a:p>
                      <a:pPr algn="ctr" fontAlgn="t"/>
                      <a:r>
                        <a:rPr lang="en-US" b="1" i="0" dirty="0">
                          <a:effectLst/>
                        </a:rPr>
                        <a:t>Error</a:t>
                      </a:r>
                    </a:p>
                  </a:txBody>
                  <a:tcPr marL="47625" marR="95250" marT="47625" marB="47625">
                    <a:solidFill>
                      <a:schemeClr val="accent1">
                        <a:lumMod val="40000"/>
                        <a:lumOff val="60000"/>
                      </a:schemeClr>
                    </a:solidFill>
                  </a:tcPr>
                </a:tc>
                <a:tc>
                  <a:txBody>
                    <a:bodyPr/>
                    <a:lstStyle/>
                    <a:p>
                      <a:pPr algn="ctr" fontAlgn="t"/>
                      <a:r>
                        <a:rPr lang="en-US" b="1" i="0">
                          <a:effectLst/>
                        </a:rPr>
                        <a:t>Meaning</a:t>
                      </a:r>
                    </a:p>
                  </a:txBody>
                  <a:tcPr marL="47625" marR="95250" marT="47625" marB="47625"/>
                </a:tc>
                <a:extLst>
                  <a:ext uri="{0D108BD9-81ED-4DB2-BD59-A6C34878D82A}">
                    <a16:rowId xmlns:a16="http://schemas.microsoft.com/office/drawing/2014/main" val="10000"/>
                  </a:ext>
                </a:extLst>
              </a:tr>
              <a:tr h="405285">
                <a:tc>
                  <a:txBody>
                    <a:bodyPr/>
                    <a:lstStyle/>
                    <a:p>
                      <a:pPr algn="l" fontAlgn="t"/>
                      <a:r>
                        <a:rPr lang="en-US" b="0" i="0">
                          <a:effectLst/>
                        </a:rPr>
                        <a:t>#DIV/0!</a:t>
                      </a:r>
                    </a:p>
                  </a:txBody>
                  <a:tcPr marL="47625" marR="95250" marT="47625" marB="47625">
                    <a:solidFill>
                      <a:schemeClr val="accent1">
                        <a:lumMod val="40000"/>
                        <a:lumOff val="60000"/>
                      </a:schemeClr>
                    </a:solidFill>
                  </a:tcPr>
                </a:tc>
                <a:tc>
                  <a:txBody>
                    <a:bodyPr/>
                    <a:lstStyle/>
                    <a:p>
                      <a:pPr algn="l" fontAlgn="t"/>
                      <a:r>
                        <a:rPr lang="en-US" b="0" i="0">
                          <a:effectLst/>
                        </a:rPr>
                        <a:t>Trying to divide by 0</a:t>
                      </a:r>
                    </a:p>
                  </a:txBody>
                  <a:tcPr marL="47625" marR="95250" marT="47625" marB="47625"/>
                </a:tc>
                <a:extLst>
                  <a:ext uri="{0D108BD9-81ED-4DB2-BD59-A6C34878D82A}">
                    <a16:rowId xmlns:a16="http://schemas.microsoft.com/office/drawing/2014/main" val="10001"/>
                  </a:ext>
                </a:extLst>
              </a:tr>
              <a:tr h="677793">
                <a:tc>
                  <a:txBody>
                    <a:bodyPr/>
                    <a:lstStyle/>
                    <a:p>
                      <a:pPr algn="l" fontAlgn="t"/>
                      <a:r>
                        <a:rPr lang="en-US" b="0" i="0">
                          <a:effectLst/>
                        </a:rPr>
                        <a:t>#N/A!</a:t>
                      </a:r>
                    </a:p>
                  </a:txBody>
                  <a:tcPr marL="47625" marR="95250" marT="47625" marB="47625">
                    <a:solidFill>
                      <a:schemeClr val="accent1">
                        <a:lumMod val="40000"/>
                        <a:lumOff val="60000"/>
                      </a:schemeClr>
                    </a:solidFill>
                  </a:tcPr>
                </a:tc>
                <a:tc>
                  <a:txBody>
                    <a:bodyPr/>
                    <a:lstStyle/>
                    <a:p>
                      <a:pPr algn="l" fontAlgn="t"/>
                      <a:r>
                        <a:rPr lang="en-US" b="0" i="0">
                          <a:effectLst/>
                        </a:rPr>
                        <a:t>A formula or a function inside a formula cannot find the referenced data</a:t>
                      </a:r>
                    </a:p>
                  </a:txBody>
                  <a:tcPr marL="47625" marR="95250" marT="47625" marB="47625"/>
                </a:tc>
                <a:extLst>
                  <a:ext uri="{0D108BD9-81ED-4DB2-BD59-A6C34878D82A}">
                    <a16:rowId xmlns:a16="http://schemas.microsoft.com/office/drawing/2014/main" val="10002"/>
                  </a:ext>
                </a:extLst>
              </a:tr>
              <a:tr h="405285">
                <a:tc>
                  <a:txBody>
                    <a:bodyPr/>
                    <a:lstStyle/>
                    <a:p>
                      <a:pPr algn="l" fontAlgn="t"/>
                      <a:r>
                        <a:rPr lang="en-US" b="0" i="0">
                          <a:effectLst/>
                        </a:rPr>
                        <a:t>#NAME?</a:t>
                      </a:r>
                    </a:p>
                  </a:txBody>
                  <a:tcPr marL="47625" marR="95250" marT="47625" marB="47625">
                    <a:solidFill>
                      <a:schemeClr val="accent1">
                        <a:lumMod val="40000"/>
                        <a:lumOff val="60000"/>
                      </a:schemeClr>
                    </a:solidFill>
                  </a:tcPr>
                </a:tc>
                <a:tc>
                  <a:txBody>
                    <a:bodyPr/>
                    <a:lstStyle/>
                    <a:p>
                      <a:pPr algn="l" fontAlgn="t"/>
                      <a:r>
                        <a:rPr lang="en-US" b="0" i="0">
                          <a:effectLst/>
                        </a:rPr>
                        <a:t>Text in the formula is not recognized</a:t>
                      </a:r>
                    </a:p>
                  </a:txBody>
                  <a:tcPr marL="47625" marR="95250" marT="47625" marB="47625"/>
                </a:tc>
                <a:extLst>
                  <a:ext uri="{0D108BD9-81ED-4DB2-BD59-A6C34878D82A}">
                    <a16:rowId xmlns:a16="http://schemas.microsoft.com/office/drawing/2014/main" val="10003"/>
                  </a:ext>
                </a:extLst>
              </a:tr>
              <a:tr h="405285">
                <a:tc>
                  <a:txBody>
                    <a:bodyPr/>
                    <a:lstStyle/>
                    <a:p>
                      <a:pPr algn="l" fontAlgn="t"/>
                      <a:r>
                        <a:rPr lang="en-US" b="0" i="0">
                          <a:effectLst/>
                        </a:rPr>
                        <a:t>#NULL!</a:t>
                      </a:r>
                    </a:p>
                  </a:txBody>
                  <a:tcPr marL="47625" marR="95250" marT="47625" marB="47625">
                    <a:solidFill>
                      <a:schemeClr val="accent1">
                        <a:lumMod val="40000"/>
                        <a:lumOff val="60000"/>
                      </a:schemeClr>
                    </a:solidFill>
                  </a:tcPr>
                </a:tc>
                <a:tc>
                  <a:txBody>
                    <a:bodyPr/>
                    <a:lstStyle/>
                    <a:p>
                      <a:pPr algn="l" fontAlgn="t"/>
                      <a:r>
                        <a:rPr lang="en-US" b="0" i="0">
                          <a:effectLst/>
                        </a:rPr>
                        <a:t>A space was used in formulas that reference multiple ranges; a comma separates range references</a:t>
                      </a:r>
                    </a:p>
                  </a:txBody>
                  <a:tcPr marL="47625" marR="95250" marT="47625" marB="47625"/>
                </a:tc>
                <a:extLst>
                  <a:ext uri="{0D108BD9-81ED-4DB2-BD59-A6C34878D82A}">
                    <a16:rowId xmlns:a16="http://schemas.microsoft.com/office/drawing/2014/main" val="10004"/>
                  </a:ext>
                </a:extLst>
              </a:tr>
              <a:tr h="405285">
                <a:tc>
                  <a:txBody>
                    <a:bodyPr/>
                    <a:lstStyle/>
                    <a:p>
                      <a:pPr algn="l" fontAlgn="t"/>
                      <a:r>
                        <a:rPr lang="en-US" b="0" i="0">
                          <a:effectLst/>
                        </a:rPr>
                        <a:t>#NUM!</a:t>
                      </a:r>
                    </a:p>
                  </a:txBody>
                  <a:tcPr marL="47625" marR="95250" marT="47625" marB="47625">
                    <a:solidFill>
                      <a:schemeClr val="accent1">
                        <a:lumMod val="40000"/>
                        <a:lumOff val="60000"/>
                      </a:schemeClr>
                    </a:solidFill>
                  </a:tcPr>
                </a:tc>
                <a:tc>
                  <a:txBody>
                    <a:bodyPr/>
                    <a:lstStyle/>
                    <a:p>
                      <a:pPr algn="l" fontAlgn="t"/>
                      <a:r>
                        <a:rPr lang="en-US" b="0" i="0">
                          <a:effectLst/>
                        </a:rPr>
                        <a:t>A formula has invalid numeric data for the type of operation</a:t>
                      </a:r>
                    </a:p>
                  </a:txBody>
                  <a:tcPr marL="47625" marR="95250" marT="47625" marB="47625"/>
                </a:tc>
                <a:extLst>
                  <a:ext uri="{0D108BD9-81ED-4DB2-BD59-A6C34878D82A}">
                    <a16:rowId xmlns:a16="http://schemas.microsoft.com/office/drawing/2014/main" val="10005"/>
                  </a:ext>
                </a:extLst>
              </a:tr>
              <a:tr h="405285">
                <a:tc>
                  <a:txBody>
                    <a:bodyPr/>
                    <a:lstStyle/>
                    <a:p>
                      <a:pPr algn="l" fontAlgn="t"/>
                      <a:r>
                        <a:rPr lang="en-US" b="0" i="0">
                          <a:effectLst/>
                        </a:rPr>
                        <a:t>#REF!</a:t>
                      </a:r>
                    </a:p>
                  </a:txBody>
                  <a:tcPr marL="47625" marR="95250" marT="47625" marB="47625">
                    <a:solidFill>
                      <a:schemeClr val="accent1">
                        <a:lumMod val="40000"/>
                        <a:lumOff val="60000"/>
                      </a:schemeClr>
                    </a:solidFill>
                  </a:tcPr>
                </a:tc>
                <a:tc>
                  <a:txBody>
                    <a:bodyPr/>
                    <a:lstStyle/>
                    <a:p>
                      <a:pPr algn="l" fontAlgn="t"/>
                      <a:r>
                        <a:rPr lang="en-US" b="0" i="0">
                          <a:effectLst/>
                        </a:rPr>
                        <a:t>A reference is invalid</a:t>
                      </a:r>
                    </a:p>
                  </a:txBody>
                  <a:tcPr marL="47625" marR="95250" marT="47625" marB="47625"/>
                </a:tc>
                <a:extLst>
                  <a:ext uri="{0D108BD9-81ED-4DB2-BD59-A6C34878D82A}">
                    <a16:rowId xmlns:a16="http://schemas.microsoft.com/office/drawing/2014/main" val="10006"/>
                  </a:ext>
                </a:extLst>
              </a:tr>
              <a:tr h="720075">
                <a:tc>
                  <a:txBody>
                    <a:bodyPr/>
                    <a:lstStyle/>
                    <a:p>
                      <a:pPr algn="l" fontAlgn="t"/>
                      <a:r>
                        <a:rPr lang="en-US" b="0" i="0">
                          <a:effectLst/>
                        </a:rPr>
                        <a:t>#VALUE!</a:t>
                      </a:r>
                    </a:p>
                  </a:txBody>
                  <a:tcPr marL="47625" marR="95250" marT="47625" marB="47625">
                    <a:solidFill>
                      <a:schemeClr val="accent1">
                        <a:lumMod val="40000"/>
                        <a:lumOff val="60000"/>
                      </a:schemeClr>
                    </a:solidFill>
                  </a:tcPr>
                </a:tc>
                <a:tc>
                  <a:txBody>
                    <a:bodyPr/>
                    <a:lstStyle/>
                    <a:p>
                      <a:pPr algn="l" fontAlgn="t"/>
                      <a:r>
                        <a:rPr lang="en-US" b="0" i="0" dirty="0">
                          <a:effectLst/>
                        </a:rPr>
                        <a:t>The wrong type of operand or function argument is used</a:t>
                      </a:r>
                    </a:p>
                  </a:txBody>
                  <a:tcPr marL="47625" marR="95250" marT="47625" marB="47625"/>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lstStyle/>
          <a:p>
            <a:fld id="{FC6D7323-3F06-479E-ADC8-7BC729C5AF45}" type="slidenum">
              <a:rPr lang="en-US" smtClean="0"/>
              <a:t>46</a:t>
            </a:fld>
            <a:endParaRPr lang="en-US"/>
          </a:p>
        </p:txBody>
      </p:sp>
    </p:spTree>
    <p:extLst>
      <p:ext uri="{BB962C8B-B14F-4D97-AF65-F5344CB8AC3E}">
        <p14:creationId xmlns:p14="http://schemas.microsoft.com/office/powerpoint/2010/main" val="36500574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Some text functions</a:t>
            </a:r>
          </a:p>
        </p:txBody>
      </p:sp>
      <p:graphicFrame>
        <p:nvGraphicFramePr>
          <p:cNvPr id="4" name="Content Placeholder 3"/>
          <p:cNvGraphicFramePr>
            <a:graphicFrameLocks noGrp="1"/>
          </p:cNvGraphicFramePr>
          <p:nvPr>
            <p:ph idx="1"/>
          </p:nvPr>
        </p:nvGraphicFramePr>
        <p:xfrm>
          <a:off x="2024015" y="1490812"/>
          <a:ext cx="8086773" cy="4814151"/>
        </p:xfrm>
        <a:graphic>
          <a:graphicData uri="http://schemas.openxmlformats.org/drawingml/2006/table">
            <a:tbl>
              <a:tblPr>
                <a:tableStyleId>{69CF1AB2-1976-4502-BF36-3FF5EA218861}</a:tableStyleId>
              </a:tblPr>
              <a:tblGrid>
                <a:gridCol w="1877574">
                  <a:extLst>
                    <a:ext uri="{9D8B030D-6E8A-4147-A177-3AD203B41FA5}">
                      <a16:colId xmlns:a16="http://schemas.microsoft.com/office/drawing/2014/main" val="20000"/>
                    </a:ext>
                  </a:extLst>
                </a:gridCol>
                <a:gridCol w="6209199">
                  <a:extLst>
                    <a:ext uri="{9D8B030D-6E8A-4147-A177-3AD203B41FA5}">
                      <a16:colId xmlns:a16="http://schemas.microsoft.com/office/drawing/2014/main" val="20001"/>
                    </a:ext>
                  </a:extLst>
                </a:gridCol>
              </a:tblGrid>
              <a:tr h="405285">
                <a:tc>
                  <a:txBody>
                    <a:bodyPr/>
                    <a:lstStyle/>
                    <a:p>
                      <a:pPr algn="l" fontAlgn="t"/>
                      <a:r>
                        <a:rPr lang="en-US" sz="1800" dirty="0">
                          <a:effectLst/>
                        </a:rPr>
                        <a:t>LEFT</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dirty="0">
                          <a:effectLst/>
                        </a:rPr>
                        <a:t>Extracts one or more characters from the left side of a text string</a:t>
                      </a:r>
                      <a:endParaRPr lang="en-US" sz="1800" b="0" i="0" dirty="0">
                        <a:effectLst/>
                      </a:endParaRPr>
                    </a:p>
                  </a:txBody>
                  <a:tcPr marL="78862" marR="78862" marT="39431" marB="39431"/>
                </a:tc>
                <a:extLst>
                  <a:ext uri="{0D108BD9-81ED-4DB2-BD59-A6C34878D82A}">
                    <a16:rowId xmlns:a16="http://schemas.microsoft.com/office/drawing/2014/main" val="10000"/>
                  </a:ext>
                </a:extLst>
              </a:tr>
              <a:tr h="405285">
                <a:tc>
                  <a:txBody>
                    <a:bodyPr/>
                    <a:lstStyle/>
                    <a:p>
                      <a:pPr algn="l" fontAlgn="t"/>
                      <a:r>
                        <a:rPr lang="en-US" sz="1800" dirty="0">
                          <a:effectLst/>
                        </a:rPr>
                        <a:t>RIGHT</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a:effectLst/>
                        </a:rPr>
                        <a:t>Extracts one or more characters from the right side of a text string</a:t>
                      </a:r>
                      <a:endParaRPr lang="en-US" sz="1800" b="0" i="0">
                        <a:effectLst/>
                      </a:endParaRPr>
                    </a:p>
                  </a:txBody>
                  <a:tcPr marL="78862" marR="78862" marT="39431" marB="39431"/>
                </a:tc>
                <a:extLst>
                  <a:ext uri="{0D108BD9-81ED-4DB2-BD59-A6C34878D82A}">
                    <a16:rowId xmlns:a16="http://schemas.microsoft.com/office/drawing/2014/main" val="10001"/>
                  </a:ext>
                </a:extLst>
              </a:tr>
              <a:tr h="1034864">
                <a:tc>
                  <a:txBody>
                    <a:bodyPr/>
                    <a:lstStyle/>
                    <a:p>
                      <a:pPr algn="l" fontAlgn="t"/>
                      <a:r>
                        <a:rPr lang="en-US" sz="1800" dirty="0">
                          <a:effectLst/>
                        </a:rPr>
                        <a:t>MID</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a:effectLst/>
                        </a:rPr>
                        <a:t>Extracts characters from the middle of a text string; you specify which character position to start from and how many characters to include</a:t>
                      </a:r>
                      <a:endParaRPr lang="en-US" sz="1800" b="0" i="0">
                        <a:effectLst/>
                      </a:endParaRPr>
                    </a:p>
                  </a:txBody>
                  <a:tcPr marL="78862" marR="78862" marT="39431" marB="39431"/>
                </a:tc>
                <a:extLst>
                  <a:ext uri="{0D108BD9-81ED-4DB2-BD59-A6C34878D82A}">
                    <a16:rowId xmlns:a16="http://schemas.microsoft.com/office/drawing/2014/main" val="10002"/>
                  </a:ext>
                </a:extLst>
              </a:tr>
              <a:tr h="405285">
                <a:tc>
                  <a:txBody>
                    <a:bodyPr/>
                    <a:lstStyle/>
                    <a:p>
                      <a:pPr algn="l" fontAlgn="t"/>
                      <a:r>
                        <a:rPr lang="en-US" sz="1800" dirty="0">
                          <a:effectLst/>
                        </a:rPr>
                        <a:t>CONCATENATE</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a:effectLst/>
                        </a:rPr>
                        <a:t>Assembles two or more text strings into one</a:t>
                      </a:r>
                      <a:endParaRPr lang="en-US" sz="1800" b="0" i="0">
                        <a:effectLst/>
                      </a:endParaRPr>
                    </a:p>
                  </a:txBody>
                  <a:tcPr marL="78862" marR="78862" marT="39431" marB="39431"/>
                </a:tc>
                <a:extLst>
                  <a:ext uri="{0D108BD9-81ED-4DB2-BD59-A6C34878D82A}">
                    <a16:rowId xmlns:a16="http://schemas.microsoft.com/office/drawing/2014/main" val="10003"/>
                  </a:ext>
                </a:extLst>
              </a:tr>
              <a:tr h="405285">
                <a:tc>
                  <a:txBody>
                    <a:bodyPr/>
                    <a:lstStyle/>
                    <a:p>
                      <a:pPr algn="l" fontAlgn="t"/>
                      <a:r>
                        <a:rPr lang="en-US" sz="1800" dirty="0">
                          <a:effectLst/>
                        </a:rPr>
                        <a:t>REPLACE</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dirty="0">
                          <a:effectLst/>
                        </a:rPr>
                        <a:t>Replaces part of a text string with other text</a:t>
                      </a:r>
                      <a:endParaRPr lang="en-US" sz="1800" b="0" i="0" dirty="0">
                        <a:effectLst/>
                      </a:endParaRPr>
                    </a:p>
                  </a:txBody>
                  <a:tcPr marL="78862" marR="78862" marT="39431" marB="39431"/>
                </a:tc>
                <a:extLst>
                  <a:ext uri="{0D108BD9-81ED-4DB2-BD59-A6C34878D82A}">
                    <a16:rowId xmlns:a16="http://schemas.microsoft.com/office/drawing/2014/main" val="10004"/>
                  </a:ext>
                </a:extLst>
              </a:tr>
              <a:tr h="405285">
                <a:tc>
                  <a:txBody>
                    <a:bodyPr/>
                    <a:lstStyle/>
                    <a:p>
                      <a:pPr algn="l" fontAlgn="t"/>
                      <a:r>
                        <a:rPr lang="en-US" sz="1800" dirty="0">
                          <a:effectLst/>
                        </a:rPr>
                        <a:t>LOWER</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dirty="0">
                          <a:effectLst/>
                        </a:rPr>
                        <a:t>Converts a text string to all lowercase</a:t>
                      </a:r>
                      <a:endParaRPr lang="en-US" sz="1800" b="0" i="0" dirty="0">
                        <a:effectLst/>
                      </a:endParaRPr>
                    </a:p>
                  </a:txBody>
                  <a:tcPr marL="78862" marR="78862" marT="39431" marB="39431"/>
                </a:tc>
                <a:extLst>
                  <a:ext uri="{0D108BD9-81ED-4DB2-BD59-A6C34878D82A}">
                    <a16:rowId xmlns:a16="http://schemas.microsoft.com/office/drawing/2014/main" val="10005"/>
                  </a:ext>
                </a:extLst>
              </a:tr>
              <a:tr h="405285">
                <a:tc>
                  <a:txBody>
                    <a:bodyPr/>
                    <a:lstStyle/>
                    <a:p>
                      <a:pPr algn="l" fontAlgn="t"/>
                      <a:r>
                        <a:rPr lang="en-US" sz="1800" dirty="0">
                          <a:effectLst/>
                        </a:rPr>
                        <a:t>UPPER</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dirty="0">
                          <a:effectLst/>
                        </a:rPr>
                        <a:t>Converts a text string to all uppercase</a:t>
                      </a:r>
                      <a:endParaRPr lang="en-US" sz="1800" b="0" i="0" dirty="0">
                        <a:effectLst/>
                      </a:endParaRPr>
                    </a:p>
                  </a:txBody>
                  <a:tcPr marL="78862" marR="78862" marT="39431" marB="39431"/>
                </a:tc>
                <a:extLst>
                  <a:ext uri="{0D108BD9-81ED-4DB2-BD59-A6C34878D82A}">
                    <a16:rowId xmlns:a16="http://schemas.microsoft.com/office/drawing/2014/main" val="10006"/>
                  </a:ext>
                </a:extLst>
              </a:tr>
              <a:tr h="720075">
                <a:tc>
                  <a:txBody>
                    <a:bodyPr/>
                    <a:lstStyle/>
                    <a:p>
                      <a:pPr algn="l" fontAlgn="t"/>
                      <a:r>
                        <a:rPr lang="en-US" sz="1800" dirty="0">
                          <a:effectLst/>
                        </a:rPr>
                        <a:t>PROPER</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dirty="0">
                          <a:effectLst/>
                        </a:rPr>
                        <a:t>Converts a text string to proper case (e.g.</a:t>
                      </a:r>
                      <a:r>
                        <a:rPr lang="en-US" sz="1800" baseline="0" dirty="0">
                          <a:effectLst/>
                        </a:rPr>
                        <a:t> changes “john doe” to “John Doe”)</a:t>
                      </a:r>
                      <a:endParaRPr lang="en-US" sz="1800" b="0" i="0" dirty="0">
                        <a:effectLst/>
                      </a:endParaRPr>
                    </a:p>
                  </a:txBody>
                  <a:tcPr marL="78862" marR="78862" marT="39431" marB="39431"/>
                </a:tc>
                <a:extLst>
                  <a:ext uri="{0D108BD9-81ED-4DB2-BD59-A6C34878D82A}">
                    <a16:rowId xmlns:a16="http://schemas.microsoft.com/office/drawing/2014/main" val="10007"/>
                  </a:ext>
                </a:extLst>
              </a:tr>
              <a:tr h="405285">
                <a:tc>
                  <a:txBody>
                    <a:bodyPr/>
                    <a:lstStyle/>
                    <a:p>
                      <a:pPr algn="l" fontAlgn="t"/>
                      <a:r>
                        <a:rPr lang="en-US" sz="1800" dirty="0">
                          <a:effectLst/>
                        </a:rPr>
                        <a:t>LEN</a:t>
                      </a:r>
                      <a:endParaRPr lang="en-US" sz="1800" b="0" i="0" dirty="0">
                        <a:effectLst/>
                      </a:endParaRPr>
                    </a:p>
                  </a:txBody>
                  <a:tcPr marL="78862" marR="78862" marT="39431" marB="39431">
                    <a:solidFill>
                      <a:schemeClr val="accent1">
                        <a:lumMod val="40000"/>
                        <a:lumOff val="60000"/>
                      </a:schemeClr>
                    </a:solidFill>
                  </a:tcPr>
                </a:tc>
                <a:tc>
                  <a:txBody>
                    <a:bodyPr/>
                    <a:lstStyle/>
                    <a:p>
                      <a:pPr algn="l" fontAlgn="t"/>
                      <a:r>
                        <a:rPr lang="en-US" sz="1800" dirty="0">
                          <a:effectLst/>
                        </a:rPr>
                        <a:t>Returns a text string’s length (number of characters)</a:t>
                      </a:r>
                      <a:endParaRPr lang="en-US" sz="1800" b="0" i="0" dirty="0">
                        <a:effectLst/>
                      </a:endParaRPr>
                    </a:p>
                  </a:txBody>
                  <a:tcPr marL="78862" marR="78862" marT="39431" marB="39431"/>
                </a:tc>
                <a:extLst>
                  <a:ext uri="{0D108BD9-81ED-4DB2-BD59-A6C34878D82A}">
                    <a16:rowId xmlns:a16="http://schemas.microsoft.com/office/drawing/2014/main" val="10008"/>
                  </a:ext>
                </a:extLst>
              </a:tr>
            </a:tbl>
          </a:graphicData>
        </a:graphic>
      </p:graphicFrame>
      <p:sp>
        <p:nvSpPr>
          <p:cNvPr id="3" name="Slide Number Placeholder 2"/>
          <p:cNvSpPr>
            <a:spLocks noGrp="1"/>
          </p:cNvSpPr>
          <p:nvPr>
            <p:ph type="sldNum" sz="quarter" idx="12"/>
          </p:nvPr>
        </p:nvSpPr>
        <p:spPr/>
        <p:txBody>
          <a:bodyPr/>
          <a:lstStyle/>
          <a:p>
            <a:fld id="{FC6D7323-3F06-479E-ADC8-7BC729C5AF45}" type="slidenum">
              <a:rPr lang="en-US" smtClean="0"/>
              <a:t>47</a:t>
            </a:fld>
            <a:endParaRPr lang="en-US"/>
          </a:p>
        </p:txBody>
      </p:sp>
    </p:spTree>
    <p:extLst>
      <p:ext uri="{BB962C8B-B14F-4D97-AF65-F5344CB8AC3E}">
        <p14:creationId xmlns:p14="http://schemas.microsoft.com/office/powerpoint/2010/main" val="1209510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207" y="260637"/>
            <a:ext cx="8079581" cy="900899"/>
          </a:xfrm>
        </p:spPr>
        <p:txBody>
          <a:bodyPr>
            <a:normAutofit/>
          </a:bodyPr>
          <a:lstStyle/>
          <a:p>
            <a:r>
              <a:rPr lang="en-US" dirty="0"/>
              <a:t>Some date functions</a:t>
            </a:r>
          </a:p>
        </p:txBody>
      </p:sp>
      <p:graphicFrame>
        <p:nvGraphicFramePr>
          <p:cNvPr id="4" name="Content Placeholder 3"/>
          <p:cNvGraphicFramePr>
            <a:graphicFrameLocks noGrp="1"/>
          </p:cNvGraphicFramePr>
          <p:nvPr>
            <p:ph idx="1"/>
          </p:nvPr>
        </p:nvGraphicFramePr>
        <p:xfrm>
          <a:off x="2178907" y="1967285"/>
          <a:ext cx="7931880" cy="3696097"/>
        </p:xfrm>
        <a:graphic>
          <a:graphicData uri="http://schemas.openxmlformats.org/drawingml/2006/table">
            <a:tbl>
              <a:tblPr>
                <a:tableStyleId>{69CF1AB2-1976-4502-BF36-3FF5EA218861}</a:tableStyleId>
              </a:tblPr>
              <a:tblGrid>
                <a:gridCol w="2205171">
                  <a:extLst>
                    <a:ext uri="{9D8B030D-6E8A-4147-A177-3AD203B41FA5}">
                      <a16:colId xmlns:a16="http://schemas.microsoft.com/office/drawing/2014/main" val="20000"/>
                    </a:ext>
                  </a:extLst>
                </a:gridCol>
                <a:gridCol w="5726709">
                  <a:extLst>
                    <a:ext uri="{9D8B030D-6E8A-4147-A177-3AD203B41FA5}">
                      <a16:colId xmlns:a16="http://schemas.microsoft.com/office/drawing/2014/main" val="20001"/>
                    </a:ext>
                  </a:extLst>
                </a:gridCol>
              </a:tblGrid>
              <a:tr h="405285">
                <a:tc>
                  <a:txBody>
                    <a:bodyPr/>
                    <a:lstStyle/>
                    <a:p>
                      <a:pPr algn="l" fontAlgn="t"/>
                      <a:r>
                        <a:rPr lang="en-US" sz="1800" b="0" i="0" u="none" kern="1200" baseline="0" dirty="0">
                          <a:solidFill>
                            <a:schemeClr val="tx1"/>
                          </a:solidFill>
                          <a:effectLst/>
                          <a:latin typeface="+mn-lt"/>
                          <a:ea typeface="+mn-ea"/>
                          <a:cs typeface="+mn-cs"/>
                        </a:rPr>
                        <a:t>NOW</a:t>
                      </a:r>
                      <a:endParaRPr lang="en-US" sz="1800" b="0" i="0" u="none" baseline="0" dirty="0">
                        <a:solidFill>
                          <a:schemeClr val="tx1"/>
                        </a:solidFill>
                        <a:effectLst/>
                      </a:endParaRPr>
                    </a:p>
                  </a:txBody>
                  <a:tcPr marL="78862" marR="78862" marT="39431" marB="39431">
                    <a:solidFill>
                      <a:schemeClr val="accent1">
                        <a:lumMod val="40000"/>
                        <a:lumOff val="60000"/>
                      </a:schemeClr>
                    </a:solidFill>
                  </a:tcPr>
                </a:tc>
                <a:tc>
                  <a:txBody>
                    <a:bodyPr/>
                    <a:lstStyle/>
                    <a:p>
                      <a:pPr algn="l" fontAlgn="t"/>
                      <a:r>
                        <a:rPr lang="en-US" sz="1800" b="0" i="0" u="none" kern="1200" dirty="0">
                          <a:solidFill>
                            <a:schemeClr val="tx1"/>
                          </a:solidFill>
                          <a:effectLst/>
                          <a:latin typeface="+mn-lt"/>
                          <a:ea typeface="+mn-ea"/>
                          <a:cs typeface="+mn-cs"/>
                        </a:rPr>
                        <a:t>Returns the current date &amp; time</a:t>
                      </a:r>
                      <a:endParaRPr lang="en-US" sz="1800" b="0" i="0" u="none" dirty="0">
                        <a:solidFill>
                          <a:schemeClr val="tx1"/>
                        </a:solidFill>
                        <a:effectLst/>
                      </a:endParaRPr>
                    </a:p>
                  </a:txBody>
                  <a:tcPr marL="78862" marR="78862" marT="39431" marB="39431"/>
                </a:tc>
                <a:extLst>
                  <a:ext uri="{0D108BD9-81ED-4DB2-BD59-A6C34878D82A}">
                    <a16:rowId xmlns:a16="http://schemas.microsoft.com/office/drawing/2014/main" val="10000"/>
                  </a:ext>
                </a:extLst>
              </a:tr>
              <a:tr h="405285">
                <a:tc>
                  <a:txBody>
                    <a:bodyPr/>
                    <a:lstStyle/>
                    <a:p>
                      <a:pPr algn="l" fontAlgn="t"/>
                      <a:r>
                        <a:rPr lang="en-US" sz="1800" b="0" i="0" u="none" kern="1200" baseline="0" dirty="0">
                          <a:solidFill>
                            <a:schemeClr val="tx1"/>
                          </a:solidFill>
                          <a:effectLst/>
                          <a:latin typeface="+mn-lt"/>
                          <a:ea typeface="+mn-ea"/>
                          <a:cs typeface="+mn-cs"/>
                        </a:rPr>
                        <a:t>TODAY</a:t>
                      </a:r>
                      <a:endParaRPr lang="en-US" sz="1800" b="0" i="0" u="none" baseline="0" dirty="0">
                        <a:solidFill>
                          <a:schemeClr val="tx1"/>
                        </a:solidFill>
                        <a:effectLst/>
                      </a:endParaRPr>
                    </a:p>
                  </a:txBody>
                  <a:tcPr marL="78862" marR="78862" marT="39431" marB="39431">
                    <a:solidFill>
                      <a:schemeClr val="accent1">
                        <a:lumMod val="40000"/>
                        <a:lumOff val="60000"/>
                      </a:schemeClr>
                    </a:solidFill>
                  </a:tcPr>
                </a:tc>
                <a:tc>
                  <a:txBody>
                    <a:bodyPr/>
                    <a:lstStyle/>
                    <a:p>
                      <a:pPr algn="l" fontAlgn="t"/>
                      <a:r>
                        <a:rPr lang="en-US" sz="1800" b="0" i="0" u="none" kern="1200" dirty="0">
                          <a:solidFill>
                            <a:schemeClr val="tx1"/>
                          </a:solidFill>
                          <a:effectLst/>
                          <a:latin typeface="+mn-lt"/>
                          <a:ea typeface="+mn-ea"/>
                          <a:cs typeface="+mn-cs"/>
                        </a:rPr>
                        <a:t>Returns today's date</a:t>
                      </a:r>
                      <a:endParaRPr lang="en-US" sz="1800" b="0" i="0" u="none" dirty="0">
                        <a:solidFill>
                          <a:schemeClr val="tx1"/>
                        </a:solidFill>
                        <a:effectLst/>
                      </a:endParaRPr>
                    </a:p>
                  </a:txBody>
                  <a:tcPr marL="78862" marR="78862" marT="39431" marB="39431"/>
                </a:tc>
                <a:extLst>
                  <a:ext uri="{0D108BD9-81ED-4DB2-BD59-A6C34878D82A}">
                    <a16:rowId xmlns:a16="http://schemas.microsoft.com/office/drawing/2014/main" val="10001"/>
                  </a:ext>
                </a:extLst>
              </a:tr>
              <a:tr h="368077">
                <a:tc>
                  <a:txBody>
                    <a:bodyPr/>
                    <a:lstStyle/>
                    <a:p>
                      <a:pPr algn="l" fontAlgn="t"/>
                      <a:r>
                        <a:rPr lang="en-US" b="0" u="none" baseline="0" dirty="0">
                          <a:solidFill>
                            <a:schemeClr val="tx1"/>
                          </a:solidFill>
                          <a:effectLst/>
                        </a:rPr>
                        <a:t>DAY</a:t>
                      </a:r>
                    </a:p>
                  </a:txBody>
                  <a:tcPr marL="95250" marR="95250" marT="38100" marB="38100">
                    <a:solidFill>
                      <a:schemeClr val="accent1">
                        <a:lumMod val="40000"/>
                        <a:lumOff val="60000"/>
                      </a:schemeClr>
                    </a:solidFill>
                  </a:tcPr>
                </a:tc>
                <a:tc>
                  <a:txBody>
                    <a:bodyPr/>
                    <a:lstStyle/>
                    <a:p>
                      <a:pPr algn="l" fontAlgn="t"/>
                      <a:r>
                        <a:rPr lang="en-US" u="none" dirty="0">
                          <a:solidFill>
                            <a:schemeClr val="tx1"/>
                          </a:solidFill>
                          <a:effectLst/>
                        </a:rPr>
                        <a:t>Returns the day (of the month) from a user-supplied date</a:t>
                      </a:r>
                    </a:p>
                  </a:txBody>
                  <a:tcPr marL="95250" marR="95250" marT="38100" marB="38100"/>
                </a:tc>
                <a:extLst>
                  <a:ext uri="{0D108BD9-81ED-4DB2-BD59-A6C34878D82A}">
                    <a16:rowId xmlns:a16="http://schemas.microsoft.com/office/drawing/2014/main" val="10002"/>
                  </a:ext>
                </a:extLst>
              </a:tr>
              <a:tr h="405285">
                <a:tc>
                  <a:txBody>
                    <a:bodyPr/>
                    <a:lstStyle/>
                    <a:p>
                      <a:pPr algn="l" fontAlgn="t"/>
                      <a:r>
                        <a:rPr lang="en-US" b="0" u="none" baseline="0" dirty="0">
                          <a:solidFill>
                            <a:schemeClr val="tx1"/>
                          </a:solidFill>
                          <a:effectLst/>
                        </a:rPr>
                        <a:t>MONTH</a:t>
                      </a:r>
                    </a:p>
                  </a:txBody>
                  <a:tcPr marL="95250" marR="95250" marT="38100" marB="38100">
                    <a:solidFill>
                      <a:schemeClr val="accent1">
                        <a:lumMod val="40000"/>
                        <a:lumOff val="60000"/>
                      </a:schemeClr>
                    </a:solidFill>
                  </a:tcPr>
                </a:tc>
                <a:tc>
                  <a:txBody>
                    <a:bodyPr/>
                    <a:lstStyle/>
                    <a:p>
                      <a:pPr algn="l" fontAlgn="t"/>
                      <a:r>
                        <a:rPr lang="en-US" u="none">
                          <a:solidFill>
                            <a:schemeClr val="tx1"/>
                          </a:solidFill>
                          <a:effectLst/>
                        </a:rPr>
                        <a:t>Returns the month from a user-supplied date</a:t>
                      </a:r>
                    </a:p>
                  </a:txBody>
                  <a:tcPr marL="95250" marR="95250" marT="38100" marB="38100"/>
                </a:tc>
                <a:extLst>
                  <a:ext uri="{0D108BD9-81ED-4DB2-BD59-A6C34878D82A}">
                    <a16:rowId xmlns:a16="http://schemas.microsoft.com/office/drawing/2014/main" val="10003"/>
                  </a:ext>
                </a:extLst>
              </a:tr>
              <a:tr h="405285">
                <a:tc>
                  <a:txBody>
                    <a:bodyPr/>
                    <a:lstStyle/>
                    <a:p>
                      <a:pPr algn="l" fontAlgn="t"/>
                      <a:r>
                        <a:rPr lang="en-US" b="0" u="none" baseline="0" dirty="0">
                          <a:solidFill>
                            <a:schemeClr val="tx1"/>
                          </a:solidFill>
                          <a:effectLst/>
                        </a:rPr>
                        <a:t>YEAR</a:t>
                      </a:r>
                    </a:p>
                  </a:txBody>
                  <a:tcPr marL="95250" marR="95250" marT="38100" marB="38100">
                    <a:solidFill>
                      <a:schemeClr val="accent1">
                        <a:lumMod val="40000"/>
                        <a:lumOff val="60000"/>
                      </a:schemeClr>
                    </a:solidFill>
                  </a:tcPr>
                </a:tc>
                <a:tc>
                  <a:txBody>
                    <a:bodyPr/>
                    <a:lstStyle/>
                    <a:p>
                      <a:pPr algn="l" fontAlgn="t"/>
                      <a:r>
                        <a:rPr lang="en-US" u="none" dirty="0">
                          <a:solidFill>
                            <a:schemeClr val="tx1"/>
                          </a:solidFill>
                          <a:effectLst/>
                        </a:rPr>
                        <a:t>Returns the year from a user-supplied date</a:t>
                      </a:r>
                    </a:p>
                  </a:txBody>
                  <a:tcPr marL="95250" marR="95250" marT="38100" marB="38100"/>
                </a:tc>
                <a:extLst>
                  <a:ext uri="{0D108BD9-81ED-4DB2-BD59-A6C34878D82A}">
                    <a16:rowId xmlns:a16="http://schemas.microsoft.com/office/drawing/2014/main" val="10004"/>
                  </a:ext>
                </a:extLst>
              </a:tr>
              <a:tr h="405285">
                <a:tc>
                  <a:txBody>
                    <a:bodyPr/>
                    <a:lstStyle/>
                    <a:p>
                      <a:pPr algn="l" fontAlgn="t"/>
                      <a:r>
                        <a:rPr lang="en-US" b="0" u="none" baseline="0" dirty="0">
                          <a:solidFill>
                            <a:schemeClr val="tx1"/>
                          </a:solidFill>
                          <a:effectLst/>
                        </a:rPr>
                        <a:t>NETWORKDAYS</a:t>
                      </a:r>
                    </a:p>
                  </a:txBody>
                  <a:tcPr marL="95250" marR="95250" marT="38100" marB="38100">
                    <a:solidFill>
                      <a:schemeClr val="accent1">
                        <a:lumMod val="40000"/>
                        <a:lumOff val="60000"/>
                      </a:schemeClr>
                    </a:solidFill>
                  </a:tcPr>
                </a:tc>
                <a:tc>
                  <a:txBody>
                    <a:bodyPr/>
                    <a:lstStyle/>
                    <a:p>
                      <a:pPr algn="l" fontAlgn="t"/>
                      <a:r>
                        <a:rPr lang="en-US" u="none" dirty="0">
                          <a:solidFill>
                            <a:schemeClr val="tx1"/>
                          </a:solidFill>
                          <a:effectLst/>
                        </a:rPr>
                        <a:t>Returns the number of </a:t>
                      </a:r>
                      <a:r>
                        <a:rPr lang="en-US" u="none">
                          <a:solidFill>
                            <a:schemeClr val="tx1"/>
                          </a:solidFill>
                          <a:effectLst/>
                        </a:rPr>
                        <a:t>whole work days </a:t>
                      </a:r>
                      <a:r>
                        <a:rPr lang="en-US" u="none" dirty="0">
                          <a:solidFill>
                            <a:schemeClr val="tx1"/>
                          </a:solidFill>
                          <a:effectLst/>
                        </a:rPr>
                        <a:t>(excluding weekends &amp; holidays), between two supplied dates</a:t>
                      </a:r>
                    </a:p>
                  </a:txBody>
                  <a:tcPr marL="95250" marR="95250" marT="38100" marB="38100"/>
                </a:tc>
                <a:extLst>
                  <a:ext uri="{0D108BD9-81ED-4DB2-BD59-A6C34878D82A}">
                    <a16:rowId xmlns:a16="http://schemas.microsoft.com/office/drawing/2014/main" val="10005"/>
                  </a:ext>
                </a:extLst>
              </a:tr>
              <a:tr h="816568">
                <a:tc>
                  <a:txBody>
                    <a:bodyPr/>
                    <a:lstStyle/>
                    <a:p>
                      <a:pPr algn="l" fontAlgn="t"/>
                      <a:r>
                        <a:rPr lang="en-US" b="0" u="none" baseline="0" dirty="0">
                          <a:solidFill>
                            <a:schemeClr val="tx1"/>
                          </a:solidFill>
                          <a:effectLst/>
                        </a:rPr>
                        <a:t>YEARFRAC</a:t>
                      </a:r>
                    </a:p>
                  </a:txBody>
                  <a:tcPr marL="95250" marR="95250" marT="38100" marB="38100">
                    <a:solidFill>
                      <a:schemeClr val="accent1">
                        <a:lumMod val="40000"/>
                        <a:lumOff val="60000"/>
                      </a:schemeClr>
                    </a:solidFill>
                  </a:tcPr>
                </a:tc>
                <a:tc>
                  <a:txBody>
                    <a:bodyPr/>
                    <a:lstStyle/>
                    <a:p>
                      <a:pPr algn="l" fontAlgn="t"/>
                      <a:r>
                        <a:rPr lang="en-US" u="none" dirty="0">
                          <a:solidFill>
                            <a:schemeClr val="tx1"/>
                          </a:solidFill>
                          <a:effectLst/>
                        </a:rPr>
                        <a:t>Calculates the fraction of the year represented by the number of whole days between two dates</a:t>
                      </a:r>
                    </a:p>
                  </a:txBody>
                  <a:tcPr marL="95250" marR="95250" marT="38100" marB="495300"/>
                </a:tc>
                <a:extLst>
                  <a:ext uri="{0D108BD9-81ED-4DB2-BD59-A6C34878D82A}">
                    <a16:rowId xmlns:a16="http://schemas.microsoft.com/office/drawing/2014/main" val="10006"/>
                  </a:ext>
                </a:extLst>
              </a:tr>
            </a:tbl>
          </a:graphicData>
        </a:graphic>
      </p:graphicFrame>
      <p:sp>
        <p:nvSpPr>
          <p:cNvPr id="3" name="Slide Number Placeholder 2"/>
          <p:cNvSpPr>
            <a:spLocks noGrp="1"/>
          </p:cNvSpPr>
          <p:nvPr>
            <p:ph type="sldNum" sz="quarter" idx="12"/>
          </p:nvPr>
        </p:nvSpPr>
        <p:spPr/>
        <p:txBody>
          <a:bodyPr/>
          <a:lstStyle/>
          <a:p>
            <a:fld id="{FC6D7323-3F06-479E-ADC8-7BC729C5AF45}" type="slidenum">
              <a:rPr lang="en-US" smtClean="0"/>
              <a:t>48</a:t>
            </a:fld>
            <a:endParaRPr lang="en-US"/>
          </a:p>
        </p:txBody>
      </p:sp>
    </p:spTree>
    <p:extLst>
      <p:ext uri="{BB962C8B-B14F-4D97-AF65-F5344CB8AC3E}">
        <p14:creationId xmlns:p14="http://schemas.microsoft.com/office/powerpoint/2010/main" val="7066272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593AB-0674-4B14-8CC4-AFF269A6EC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524A2C-5E7E-4FCF-A221-BDDDDA5A83A7}"/>
              </a:ext>
            </a:extLst>
          </p:cNvPr>
          <p:cNvSpPr>
            <a:spLocks noGrp="1"/>
          </p:cNvSpPr>
          <p:nvPr>
            <p:ph idx="1"/>
          </p:nvPr>
        </p:nvSpPr>
        <p:spPr/>
        <p:txBody>
          <a:bodyPr/>
          <a:lstStyle/>
          <a:p>
            <a:r>
              <a:rPr lang="en-US" dirty="0"/>
              <a:t>=VLOOKUP([@Salary],'Tax rates'!A$2:C$8, 2) + VLOOKUP([@Salary],'Tax rates'!A$2:C$8, 3) * ([@Salary] - VLOOKUP([@Salary],'Tax rates'!A$2:C$8,1))</a:t>
            </a:r>
          </a:p>
        </p:txBody>
      </p:sp>
    </p:spTree>
    <p:extLst>
      <p:ext uri="{BB962C8B-B14F-4D97-AF65-F5344CB8AC3E}">
        <p14:creationId xmlns:p14="http://schemas.microsoft.com/office/powerpoint/2010/main" val="40512640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2254</TotalTime>
  <Words>3850</Words>
  <Application>Microsoft Office PowerPoint</Application>
  <PresentationFormat>Widescreen</PresentationFormat>
  <Paragraphs>435</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Wingdings</vt:lpstr>
      <vt:lpstr>Office Theme</vt:lpstr>
      <vt:lpstr>Excel I – tables &amp; VLOOKUP</vt:lpstr>
      <vt:lpstr>Outline</vt:lpstr>
      <vt:lpstr>Ms Excel</vt:lpstr>
      <vt:lpstr>Planning for effective worksheet design</vt:lpstr>
      <vt:lpstr>Entering the data</vt:lpstr>
      <vt:lpstr>Excel vs Access</vt:lpstr>
      <vt:lpstr>Excel tables</vt:lpstr>
      <vt:lpstr>The Staff data</vt:lpstr>
      <vt:lpstr>Format as an Excel table</vt:lpstr>
      <vt:lpstr>Table tools</vt:lpstr>
      <vt:lpstr>What is the difference between a normal range and a table?</vt:lpstr>
      <vt:lpstr>Total row</vt:lpstr>
      <vt:lpstr>Sorting a table</vt:lpstr>
      <vt:lpstr>Sorting a table</vt:lpstr>
      <vt:lpstr>Filters</vt:lpstr>
      <vt:lpstr>Text filters – options </vt:lpstr>
      <vt:lpstr>Number filters – options </vt:lpstr>
      <vt:lpstr>Date filters – options </vt:lpstr>
      <vt:lpstr>Multiple filters</vt:lpstr>
      <vt:lpstr>Exercises – using filters</vt:lpstr>
      <vt:lpstr>Structured references</vt:lpstr>
      <vt:lpstr>Structured references</vt:lpstr>
      <vt:lpstr>IF and VLOOKUP functions</vt:lpstr>
      <vt:lpstr>Structured references</vt:lpstr>
      <vt:lpstr>IF function</vt:lpstr>
      <vt:lpstr>AND nested in IF</vt:lpstr>
      <vt:lpstr>OR and NOT nested in IF</vt:lpstr>
      <vt:lpstr>(V/H)LOOKUP functions</vt:lpstr>
      <vt:lpstr>(V/H)LOOKUP functions</vt:lpstr>
      <vt:lpstr>Structured references</vt:lpstr>
      <vt:lpstr>PowerPoint Presentation</vt:lpstr>
      <vt:lpstr>PowerPoint Presentation</vt:lpstr>
      <vt:lpstr>Appendix I</vt:lpstr>
      <vt:lpstr>VLOOKUP – exact match</vt:lpstr>
      <vt:lpstr>Look up with Match and Index</vt:lpstr>
      <vt:lpstr>MATCH</vt:lpstr>
      <vt:lpstr>MATCH</vt:lpstr>
      <vt:lpstr>INDEX</vt:lpstr>
      <vt:lpstr>INDEX</vt:lpstr>
      <vt:lpstr>MATCH and INDEX nested</vt:lpstr>
      <vt:lpstr>INDEX and MATCH another question</vt:lpstr>
      <vt:lpstr>Appendix II</vt:lpstr>
      <vt:lpstr>Data Validation</vt:lpstr>
      <vt:lpstr>Data Validation</vt:lpstr>
      <vt:lpstr>Appendix III</vt:lpstr>
      <vt:lpstr>Errors help</vt:lpstr>
      <vt:lpstr>Some text functions</vt:lpstr>
      <vt:lpstr>Some date functions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I – tables &amp; VLOOKUP</dc:title>
  <dc:creator>Disha Parkhi</dc:creator>
  <cp:lastModifiedBy>Disha Parkhi</cp:lastModifiedBy>
  <cp:revision>5</cp:revision>
  <dcterms:created xsi:type="dcterms:W3CDTF">2020-08-22T20:36:12Z</dcterms:created>
  <dcterms:modified xsi:type="dcterms:W3CDTF">2021-01-26T21:24:34Z</dcterms:modified>
</cp:coreProperties>
</file>