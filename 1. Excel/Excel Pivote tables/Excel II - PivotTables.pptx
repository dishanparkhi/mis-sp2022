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 id="299" r:id="rId4"/>
    <p:sldId id="282" r:id="rId5"/>
    <p:sldId id="289" r:id="rId6"/>
    <p:sldId id="288" r:id="rId7"/>
    <p:sldId id="280" r:id="rId8"/>
    <p:sldId id="301" r:id="rId9"/>
    <p:sldId id="291" r:id="rId10"/>
    <p:sldId id="292" r:id="rId11"/>
    <p:sldId id="302" r:id="rId12"/>
    <p:sldId id="294" r:id="rId13"/>
    <p:sldId id="297" r:id="rId14"/>
    <p:sldId id="295" r:id="rId15"/>
    <p:sldId id="296" r:id="rId16"/>
    <p:sldId id="308" r:id="rId17"/>
    <p:sldId id="310" r:id="rId18"/>
    <p:sldId id="311" r:id="rId19"/>
    <p:sldId id="312" r:id="rId20"/>
    <p:sldId id="309" r:id="rId21"/>
    <p:sldId id="303" r:id="rId22"/>
    <p:sldId id="306" r:id="rId23"/>
    <p:sldId id="30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9D1809-79A7-447F-BD63-3FABA7C4E497}">
          <p14:sldIdLst>
            <p14:sldId id="269"/>
            <p14:sldId id="270"/>
          </p14:sldIdLst>
        </p14:section>
        <p14:section name="Pivot Tables" id="{44B3E617-A77C-C849-BAE6-DACAB833A501}">
          <p14:sldIdLst>
            <p14:sldId id="299"/>
            <p14:sldId id="282"/>
            <p14:sldId id="289"/>
            <p14:sldId id="288"/>
            <p14:sldId id="280"/>
            <p14:sldId id="301"/>
            <p14:sldId id="291"/>
            <p14:sldId id="292"/>
            <p14:sldId id="302"/>
            <p14:sldId id="294"/>
            <p14:sldId id="297"/>
            <p14:sldId id="295"/>
            <p14:sldId id="296"/>
          </p14:sldIdLst>
        </p14:section>
        <p14:section name="SUMIF(S) &amp; COUNTIF(S)" id="{C295AAC9-6664-024A-AB41-EDC60880B03D}">
          <p14:sldIdLst>
            <p14:sldId id="308"/>
            <p14:sldId id="310"/>
            <p14:sldId id="311"/>
            <p14:sldId id="312"/>
            <p14:sldId id="309"/>
          </p14:sldIdLst>
        </p14:section>
        <p14:section name="Appendix II" id="{A0284B48-140A-3549-ABCD-2E25AD36AB3F}">
          <p14:sldIdLst>
            <p14:sldId id="303"/>
            <p14:sldId id="306"/>
            <p14:sldId id="30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70BB2C53-FB81-4FEC-8A2E-FC95DF61E44E}"/>
    <pc:docChg chg="modSld">
      <pc:chgData name="Disha Parkhi" userId="7ca7a02737f3c9a0" providerId="LiveId" clId="{70BB2C53-FB81-4FEC-8A2E-FC95DF61E44E}" dt="2020-08-22T20:39:58.334" v="2" actId="20577"/>
      <pc:docMkLst>
        <pc:docMk/>
      </pc:docMkLst>
      <pc:sldChg chg="modSp mod">
        <pc:chgData name="Disha Parkhi" userId="7ca7a02737f3c9a0" providerId="LiveId" clId="{70BB2C53-FB81-4FEC-8A2E-FC95DF61E44E}" dt="2020-08-22T20:39:58.334" v="2" actId="20577"/>
        <pc:sldMkLst>
          <pc:docMk/>
          <pc:sldMk cId="3613571192" sldId="291"/>
        </pc:sldMkLst>
        <pc:spChg chg="mod">
          <ac:chgData name="Disha Parkhi" userId="7ca7a02737f3c9a0" providerId="LiveId" clId="{70BB2C53-FB81-4FEC-8A2E-FC95DF61E44E}" dt="2020-08-22T20:39:58.334" v="2" actId="20577"/>
          <ac:spMkLst>
            <pc:docMk/>
            <pc:sldMk cId="3613571192" sldId="291"/>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064C-68E9-48E8-A18B-4AAFFEAF11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01CBEB-5B63-4D1A-84F6-DA14B1CA0B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8EA04-5B00-4A1E-A25A-7775EAB0ECB1}"/>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F649D640-4855-45C5-A415-CBBE1DFF3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327AC-EBC9-4E22-AE4B-310040990E9D}"/>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2704094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670A6-D45B-4040-B2B3-F6E19E01F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EFE41-091E-42E7-94AD-DA09D0AE5F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8711A0-C831-498C-9EA0-23BF5152122A}"/>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9844EC8B-9D82-43C6-87C6-09DE039220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D265A-882E-4B84-B5C5-D5849AA1022F}"/>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4276591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E3CF-4E8A-4471-BAD6-67F6C5AAE1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982A30-EA0B-485F-8BB0-E6CFA61DDA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1F06AB-01A2-4F10-B03A-8EAAB81A7E20}"/>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8E00D4EA-BC06-43B1-B599-C840B3281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48BC2-FB71-4FD4-A8A5-E0EA30B4FA51}"/>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330300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786C-A116-479E-9F0E-0E2ECF4D18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738A34-A624-407B-97C3-18104AB8C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C54311-8FB2-4EA4-9FDF-D7AA724EF3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D27933-E671-4D1A-993F-646FB1773AD3}"/>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6" name="Footer Placeholder 5">
            <a:extLst>
              <a:ext uri="{FF2B5EF4-FFF2-40B4-BE49-F238E27FC236}">
                <a16:creationId xmlns:a16="http://schemas.microsoft.com/office/drawing/2014/main" id="{336926F2-D691-4C12-A89A-5DA1A71224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F7853-E5E3-49C0-B1C0-8232E4B4BFA8}"/>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2569632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B75D-CF44-4D14-8690-B8B03C9D82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CC37B3-B6B6-4D0C-82DA-7AD249F0E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F169EC-E229-4E74-BF68-2CBA0AD6D4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E109BE-0176-4E13-93E1-996604D9B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AAEF8A-BB13-4AA3-87A5-6057C28B35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A80FC1-3E2F-4F15-93FC-E8341659A676}"/>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8" name="Footer Placeholder 7">
            <a:extLst>
              <a:ext uri="{FF2B5EF4-FFF2-40B4-BE49-F238E27FC236}">
                <a16:creationId xmlns:a16="http://schemas.microsoft.com/office/drawing/2014/main" id="{4A65540B-D24E-4B18-83BF-9B6594CBF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91244A-1D48-46D5-B338-6FD1A2C2A79B}"/>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1757082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6216-19EC-45EF-BAB6-D9326F8C44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9998BB-17EF-43F0-A9A5-321E62DA1F5B}"/>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4" name="Footer Placeholder 3">
            <a:extLst>
              <a:ext uri="{FF2B5EF4-FFF2-40B4-BE49-F238E27FC236}">
                <a16:creationId xmlns:a16="http://schemas.microsoft.com/office/drawing/2014/main" id="{E6B549A6-6FFE-4E50-ACA8-2FC94EA547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FFA77B-47A7-4795-B39A-9D992FB83E97}"/>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1689328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FC7CE3-7058-4556-8E2C-728A1406E685}"/>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3" name="Footer Placeholder 2">
            <a:extLst>
              <a:ext uri="{FF2B5EF4-FFF2-40B4-BE49-F238E27FC236}">
                <a16:creationId xmlns:a16="http://schemas.microsoft.com/office/drawing/2014/main" id="{9D6D3036-DC5E-4630-82C7-CC225965C0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C75775-394B-482D-998C-97254E59C561}"/>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923998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3B0B-5FBC-4DE4-BC11-4EF11CD4B1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80AE67-4A9C-4443-8E2C-CD0F82A862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784952-FBBE-400E-9054-A83FF4012B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F6B06-FE04-4087-A944-0CE8D74B53DA}"/>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6" name="Footer Placeholder 5">
            <a:extLst>
              <a:ext uri="{FF2B5EF4-FFF2-40B4-BE49-F238E27FC236}">
                <a16:creationId xmlns:a16="http://schemas.microsoft.com/office/drawing/2014/main" id="{D7596062-537A-4D47-BDF7-10979E90B1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9912E-C8D9-4261-A9AD-951F81946DF2}"/>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3477614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53CD8-AD47-46EB-8A7E-D52504B295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C66CDE-DA19-4977-8A00-01AFF2939C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0932C2-F4A6-40E0-AE39-D45C0A215B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9CB0C-6F77-41D5-9A94-D5B13AD284A4}"/>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6" name="Footer Placeholder 5">
            <a:extLst>
              <a:ext uri="{FF2B5EF4-FFF2-40B4-BE49-F238E27FC236}">
                <a16:creationId xmlns:a16="http://schemas.microsoft.com/office/drawing/2014/main" id="{36A36325-A171-473F-A736-AAAB433737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8B206-DEDB-47D7-8D2A-E18AA856E91D}"/>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4152772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34F5-6ECD-4EA1-9539-8C0AC19563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E5FE5C-E918-404B-B2CB-649A125A65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B1E23-FD23-4C84-8066-7FEDDA1B944C}"/>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B989D659-505F-4E06-9CEC-DBFFEA3F5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74108-A360-41A2-993C-5CD67C66EEE7}"/>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329221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523708-DD05-473A-B21B-1C58B835DB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B75BE6-A389-4B6F-B8FC-EDA2C30FD8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A92CA-A902-4F88-B527-EB7392A67A27}"/>
              </a:ext>
            </a:extLst>
          </p:cNvPr>
          <p:cNvSpPr>
            <a:spLocks noGrp="1"/>
          </p:cNvSpPr>
          <p:nvPr>
            <p:ph type="dt" sz="half" idx="10"/>
          </p:nvPr>
        </p:nvSpPr>
        <p:spPr/>
        <p:txBody>
          <a:body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B6CC68EC-B303-4255-89E7-381D67061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83359-868A-4BD7-912C-21702E601DB6}"/>
              </a:ext>
            </a:extLst>
          </p:cNvPr>
          <p:cNvSpPr>
            <a:spLocks noGrp="1"/>
          </p:cNvSpPr>
          <p:nvPr>
            <p:ph type="sldNum" sz="quarter" idx="12"/>
          </p:nvPr>
        </p:nvSpPr>
        <p:spPr/>
        <p:txBody>
          <a:bodyPr/>
          <a:lstStyle/>
          <a:p>
            <a:fld id="{FD00BB71-C23E-4BB4-9F63-62214DB59682}" type="slidenum">
              <a:rPr lang="en-US" smtClean="0"/>
              <a:t>‹#›</a:t>
            </a:fld>
            <a:endParaRPr lang="en-US"/>
          </a:p>
        </p:txBody>
      </p:sp>
    </p:spTree>
    <p:extLst>
      <p:ext uri="{BB962C8B-B14F-4D97-AF65-F5344CB8AC3E}">
        <p14:creationId xmlns:p14="http://schemas.microsoft.com/office/powerpoint/2010/main" val="34636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238E-115E-44AB-AE3A-294ABAADDD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A35288-9C33-410F-8BAD-9941057540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258B1-1D04-4C89-95C5-1C54B11A5D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571697-128A-4A29-A2A2-C5853A331686}" type="datetimeFigureOut">
              <a:rPr lang="en-US" smtClean="0"/>
              <a:t>8/22/2020</a:t>
            </a:fld>
            <a:endParaRPr lang="en-US"/>
          </a:p>
        </p:txBody>
      </p:sp>
      <p:sp>
        <p:nvSpPr>
          <p:cNvPr id="5" name="Footer Placeholder 4">
            <a:extLst>
              <a:ext uri="{FF2B5EF4-FFF2-40B4-BE49-F238E27FC236}">
                <a16:creationId xmlns:a16="http://schemas.microsoft.com/office/drawing/2014/main" id="{B6944D60-9774-4AFB-85A6-EB35DFEC2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2C3703-657A-431B-BA9F-DDC94EBB0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00BB71-C23E-4BB4-9F63-62214DB59682}" type="slidenum">
              <a:rPr lang="en-US" smtClean="0"/>
              <a:t>‹#›</a:t>
            </a:fld>
            <a:endParaRPr lang="en-US"/>
          </a:p>
        </p:txBody>
      </p:sp>
    </p:spTree>
    <p:extLst>
      <p:ext uri="{BB962C8B-B14F-4D97-AF65-F5344CB8AC3E}">
        <p14:creationId xmlns:p14="http://schemas.microsoft.com/office/powerpoint/2010/main" val="2137949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Excel II - PivotTables</a:t>
            </a:r>
          </a:p>
        </p:txBody>
      </p:sp>
      <p:sp>
        <p:nvSpPr>
          <p:cNvPr id="3" name="Subtitle 2"/>
          <p:cNvSpPr>
            <a:spLocks noGrp="1"/>
          </p:cNvSpPr>
          <p:nvPr>
            <p:ph type="subTitle" idx="1"/>
          </p:nvPr>
        </p:nvSpPr>
        <p:spPr/>
        <p:txBody>
          <a:bodyPr>
            <a:normAutofit lnSpcReduction="10000"/>
          </a:bodyPr>
          <a:lstStyle/>
          <a:p>
            <a:endParaRPr lang="en-US" b="1" dirty="0">
              <a:solidFill>
                <a:schemeClr val="accent1">
                  <a:lumMod val="50000"/>
                </a:schemeClr>
              </a:solidFill>
            </a:endParaRPr>
          </a:p>
          <a:p>
            <a:r>
              <a:rPr lang="en-US" sz="2200" b="1" dirty="0"/>
              <a:t>Management Information Systems</a:t>
            </a:r>
          </a:p>
          <a:p>
            <a:endParaRPr lang="en-US" sz="1900" dirty="0"/>
          </a:p>
          <a:p>
            <a:r>
              <a:rPr lang="en-US" dirty="0"/>
              <a:t>Disha Parkhi</a:t>
            </a:r>
          </a:p>
        </p:txBody>
      </p:sp>
      <p:sp>
        <p:nvSpPr>
          <p:cNvPr id="4" name="Slide Number Placeholder 3"/>
          <p:cNvSpPr>
            <a:spLocks noGrp="1"/>
          </p:cNvSpPr>
          <p:nvPr>
            <p:ph type="sldNum" sz="quarter" idx="12"/>
          </p:nvPr>
        </p:nvSpPr>
        <p:spPr/>
        <p:txBody>
          <a:bodyPr/>
          <a:lstStyle/>
          <a:p>
            <a:fld id="{1ADF169C-3A13-4720-8652-1240B672470F}" type="slidenum">
              <a:rPr lang="en-US" smtClean="0"/>
              <a:t>1</a:t>
            </a:fld>
            <a:endParaRPr lang="en-US"/>
          </a:p>
        </p:txBody>
      </p:sp>
    </p:spTree>
    <p:extLst>
      <p:ext uri="{BB962C8B-B14F-4D97-AF65-F5344CB8AC3E}">
        <p14:creationId xmlns:p14="http://schemas.microsoft.com/office/powerpoint/2010/main" val="323982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6" y="2157732"/>
            <a:ext cx="8065294" cy="3831177"/>
          </a:xfrm>
        </p:spPr>
        <p:txBody>
          <a:bodyPr>
            <a:normAutofit lnSpcReduction="10000"/>
          </a:bodyPr>
          <a:lstStyle/>
          <a:p>
            <a:pPr marL="514350" indent="-514350">
              <a:lnSpc>
                <a:spcPct val="110000"/>
              </a:lnSpc>
              <a:buFont typeface="+mj-lt"/>
              <a:buAutoNum type="romanUcPeriod"/>
            </a:pPr>
            <a:r>
              <a:rPr lang="en-US" dirty="0"/>
              <a:t>PivotTables and </a:t>
            </a:r>
            <a:r>
              <a:rPr lang="en-US" dirty="0" err="1"/>
              <a:t>PivotCharts</a:t>
            </a:r>
            <a:endParaRPr lang="en-US" dirty="0"/>
          </a:p>
          <a:p>
            <a:pPr marL="514350" indent="-514350">
              <a:lnSpc>
                <a:spcPct val="110000"/>
              </a:lnSpc>
              <a:buFont typeface="+mj-lt"/>
              <a:buAutoNum type="romanUcPeriod"/>
            </a:pPr>
            <a:r>
              <a:rPr lang="en-US" dirty="0"/>
              <a:t>Appendix I: Functions that do the same job as PivotTables – SUMIF(S) and COUNTIF(S)</a:t>
            </a:r>
          </a:p>
          <a:p>
            <a:pPr marL="514350" indent="-514350">
              <a:lnSpc>
                <a:spcPct val="110000"/>
              </a:lnSpc>
              <a:buFont typeface="+mj-lt"/>
              <a:buAutoNum type="romanUcPeriod"/>
            </a:pPr>
            <a:r>
              <a:rPr lang="en-US" dirty="0"/>
              <a:t>Appendix II: Freezing panes and printing</a:t>
            </a:r>
          </a:p>
          <a:p>
            <a:pPr marL="514350" indent="-514350">
              <a:lnSpc>
                <a:spcPct val="110000"/>
              </a:lnSpc>
              <a:buFont typeface="+mj-lt"/>
              <a:buAutoNum type="romanUcPeriod"/>
            </a:pPr>
            <a:endParaRPr lang="en-US" dirty="0"/>
          </a:p>
          <a:p>
            <a:pPr marL="514350" indent="-514350">
              <a:lnSpc>
                <a:spcPct val="110000"/>
              </a:lnSpc>
              <a:buFont typeface="+mj-lt"/>
              <a:buAutoNum type="romanUcPeriod"/>
            </a:pPr>
            <a:endParaRPr lang="en-US" dirty="0"/>
          </a:p>
          <a:p>
            <a:pPr marL="0" indent="0">
              <a:lnSpc>
                <a:spcPct val="110000"/>
              </a:lnSpc>
              <a:buNone/>
            </a:pPr>
            <a:r>
              <a:rPr lang="en-US" dirty="0"/>
              <a:t>File: </a:t>
            </a:r>
            <a:r>
              <a:rPr lang="en-US" i="1" dirty="0"/>
              <a:t>Sociology </a:t>
            </a:r>
            <a:r>
              <a:rPr lang="en-US" i="1" dirty="0" err="1"/>
              <a:t>Books.xlsx</a:t>
            </a:r>
            <a:endParaRPr lang="en-US" i="1" dirty="0"/>
          </a:p>
        </p:txBody>
      </p:sp>
      <p:sp>
        <p:nvSpPr>
          <p:cNvPr id="4" name="Slide Number Placeholder 3"/>
          <p:cNvSpPr>
            <a:spLocks noGrp="1"/>
          </p:cNvSpPr>
          <p:nvPr>
            <p:ph type="sldNum" sz="quarter" idx="12"/>
          </p:nvPr>
        </p:nvSpPr>
        <p:spPr/>
        <p:txBody>
          <a:bodyPr/>
          <a:lstStyle/>
          <a:p>
            <a:fld id="{1ADF169C-3A13-4720-8652-1240B672470F}" type="slidenum">
              <a:rPr lang="en-US" smtClean="0"/>
              <a:t>2</a:t>
            </a:fld>
            <a:endParaRPr lang="en-US"/>
          </a:p>
        </p:txBody>
      </p:sp>
    </p:spTree>
    <p:extLst>
      <p:ext uri="{BB962C8B-B14F-4D97-AF65-F5344CB8AC3E}">
        <p14:creationId xmlns:p14="http://schemas.microsoft.com/office/powerpoint/2010/main" val="277986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Pivot tables</a:t>
            </a:r>
          </a:p>
        </p:txBody>
      </p:sp>
      <p:sp>
        <p:nvSpPr>
          <p:cNvPr id="3" name="Text Placeholder 2"/>
          <p:cNvSpPr>
            <a:spLocks noGrp="1"/>
          </p:cNvSpPr>
          <p:nvPr>
            <p:ph type="body" idx="1"/>
          </p:nvPr>
        </p:nvSpPr>
        <p:spPr/>
        <p:txBody>
          <a:bodyPr/>
          <a:lstStyle/>
          <a:p>
            <a:r>
              <a:rPr lang="en-US" dirty="0"/>
              <a:t>And pivot charts</a:t>
            </a:r>
          </a:p>
          <a:p>
            <a:endParaRPr lang="en-US" dirty="0"/>
          </a:p>
          <a:p>
            <a:r>
              <a:rPr lang="en-US" i="1" dirty="0">
                <a:solidFill>
                  <a:srgbClr val="0000FF"/>
                </a:solidFill>
              </a:rPr>
              <a:t>Books – </a:t>
            </a:r>
            <a:r>
              <a:rPr lang="en-US" i="1" dirty="0" err="1">
                <a:solidFill>
                  <a:srgbClr val="0000FF"/>
                </a:solidFill>
              </a:rPr>
              <a:t>pivotT.xlsx</a:t>
            </a:r>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1ADF169C-3A13-4720-8652-1240B672470F}" type="slidenum">
              <a:rPr lang="en-US" smtClean="0"/>
              <a:t>3</a:t>
            </a:fld>
            <a:endParaRPr lang="en-US"/>
          </a:p>
        </p:txBody>
      </p:sp>
    </p:spTree>
    <p:extLst>
      <p:ext uri="{BB962C8B-B14F-4D97-AF65-F5344CB8AC3E}">
        <p14:creationId xmlns:p14="http://schemas.microsoft.com/office/powerpoint/2010/main" val="153510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a:t>The Sociology books</a:t>
            </a:r>
          </a:p>
        </p:txBody>
      </p:sp>
      <p:sp>
        <p:nvSpPr>
          <p:cNvPr id="3" name="Content Placeholder 2"/>
          <p:cNvSpPr>
            <a:spLocks noGrp="1"/>
          </p:cNvSpPr>
          <p:nvPr>
            <p:ph idx="1"/>
          </p:nvPr>
        </p:nvSpPr>
        <p:spPr>
          <a:xfrm>
            <a:off x="2031206" y="2092248"/>
            <a:ext cx="8065294" cy="3766185"/>
          </a:xfrm>
        </p:spPr>
        <p:txBody>
          <a:bodyPr/>
          <a:lstStyle/>
          <a:p>
            <a:pPr marL="0" indent="0">
              <a:lnSpc>
                <a:spcPct val="100000"/>
              </a:lnSpc>
              <a:buNone/>
            </a:pPr>
            <a:r>
              <a:rPr lang="en-US" dirty="0"/>
              <a:t>The file ‘Sociology Books.xlsx’ contains the current textbook offerings of the Sociology Division of a certain publisher. </a:t>
            </a:r>
          </a:p>
          <a:p>
            <a:pPr marL="0" indent="0">
              <a:lnSpc>
                <a:spcPct val="100000"/>
              </a:lnSpc>
              <a:buNone/>
            </a:pPr>
            <a:r>
              <a:rPr lang="en-US" dirty="0"/>
              <a:t>Each textbook falls into a general discipline, and each discipline is divided into several areas. </a:t>
            </a:r>
          </a:p>
          <a:p>
            <a:pPr marL="0" indent="0">
              <a:lnSpc>
                <a:spcPct val="100000"/>
              </a:lnSpc>
              <a:buNone/>
            </a:pPr>
            <a:r>
              <a:rPr lang="en-US" dirty="0"/>
              <a:t>The company tracks units sold, unit prices, and gross sales by two major types of sales: wholesale sales to bookstores and retail sales to individual consumers.</a:t>
            </a:r>
          </a:p>
          <a:p>
            <a:pPr marL="0" indent="0">
              <a:lnSpc>
                <a:spcPct val="100000"/>
              </a:lnSpc>
              <a:buNone/>
            </a:pPr>
            <a:endParaRPr lang="en-US" dirty="0"/>
          </a:p>
          <a:p>
            <a:pPr marL="0" indent="0">
              <a:lnSpc>
                <a:spcPct val="100000"/>
              </a:lnSpc>
              <a:buNone/>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4</a:t>
            </a:fld>
            <a:endParaRPr lang="en-US"/>
          </a:p>
        </p:txBody>
      </p:sp>
    </p:spTree>
    <p:extLst>
      <p:ext uri="{BB962C8B-B14F-4D97-AF65-F5344CB8AC3E}">
        <p14:creationId xmlns:p14="http://schemas.microsoft.com/office/powerpoint/2010/main" val="111069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5" y="273623"/>
            <a:ext cx="8079581" cy="1180986"/>
          </a:xfrm>
        </p:spPr>
        <p:txBody>
          <a:bodyPr/>
          <a:lstStyle/>
          <a:p>
            <a:r>
              <a:rPr lang="en-US" dirty="0"/>
              <a:t>What is a PivotTable?</a:t>
            </a:r>
          </a:p>
        </p:txBody>
      </p:sp>
      <p:sp>
        <p:nvSpPr>
          <p:cNvPr id="3" name="Content Placeholder 2"/>
          <p:cNvSpPr>
            <a:spLocks noGrp="1"/>
          </p:cNvSpPr>
          <p:nvPr>
            <p:ph idx="1"/>
          </p:nvPr>
        </p:nvSpPr>
        <p:spPr>
          <a:xfrm>
            <a:off x="2031205" y="1680520"/>
            <a:ext cx="8453915" cy="5177480"/>
          </a:xfrm>
        </p:spPr>
        <p:txBody>
          <a:bodyPr>
            <a:normAutofit lnSpcReduction="10000"/>
          </a:bodyPr>
          <a:lstStyle/>
          <a:p>
            <a:pPr>
              <a:lnSpc>
                <a:spcPct val="100000"/>
              </a:lnSpc>
              <a:buFont typeface="Wingdings" panose="05000000000000000000" pitchFamily="2" charset="2"/>
              <a:buChar char="§"/>
            </a:pPr>
            <a:r>
              <a:rPr lang="en-US" sz="2200" dirty="0"/>
              <a:t> A tool that summarizes large amounts of data.</a:t>
            </a:r>
          </a:p>
          <a:p>
            <a:pPr>
              <a:lnSpc>
                <a:spcPct val="100000"/>
              </a:lnSpc>
              <a:buFont typeface="Wingdings" panose="05000000000000000000" pitchFamily="2" charset="2"/>
              <a:buChar char="§"/>
            </a:pPr>
            <a:r>
              <a:rPr lang="en-US" sz="2200" dirty="0"/>
              <a:t> It allows you to aggregate data into one or more categories and perform a variety of calculations without altering the original data source.</a:t>
            </a:r>
          </a:p>
          <a:p>
            <a:pPr>
              <a:lnSpc>
                <a:spcPct val="100000"/>
              </a:lnSpc>
              <a:buFont typeface="Wingdings" panose="05000000000000000000" pitchFamily="2" charset="2"/>
              <a:buChar char="§"/>
            </a:pPr>
            <a:r>
              <a:rPr lang="en-US" sz="2200" dirty="0"/>
              <a:t> It is dynamic: you can easily and quickly rearrange the data to see it from different angles, such as expanding or collapsing details, organizing and grouping data differently, and switching row and column categories.</a:t>
            </a:r>
          </a:p>
          <a:p>
            <a:pPr>
              <a:lnSpc>
                <a:spcPct val="100000"/>
              </a:lnSpc>
              <a:buFont typeface="Wingdings" panose="05000000000000000000" pitchFamily="2" charset="2"/>
              <a:buChar char="§"/>
            </a:pPr>
            <a:r>
              <a:rPr lang="en-US" sz="2200" dirty="0"/>
              <a:t> This possibility of viewing data from different perspectives helps you more easily identify trends and patterns among the variables in the data that might not be obvious.</a:t>
            </a:r>
          </a:p>
          <a:p>
            <a:pPr marL="0" indent="0">
              <a:lnSpc>
                <a:spcPct val="100000"/>
              </a:lnSpc>
              <a:buNone/>
            </a:pPr>
            <a:endParaRPr lang="en-US" dirty="0"/>
          </a:p>
          <a:p>
            <a:pPr marL="0" indent="0">
              <a:lnSpc>
                <a:spcPct val="100000"/>
              </a:lnSpc>
              <a:buNone/>
            </a:pPr>
            <a:r>
              <a:rPr lang="en-US" sz="1900" dirty="0">
                <a:sym typeface="Wingdings" panose="05000000000000000000" pitchFamily="2" charset="2"/>
              </a:rPr>
              <a:t> </a:t>
            </a:r>
            <a:r>
              <a:rPr lang="en-US" sz="1900" dirty="0"/>
              <a:t>If the data changes in the original source, </a:t>
            </a:r>
            <a:r>
              <a:rPr lang="en-US" sz="1900" dirty="0">
                <a:solidFill>
                  <a:srgbClr val="FF0000"/>
                </a:solidFill>
              </a:rPr>
              <a:t>we need to refresh the PivotTable</a:t>
            </a:r>
            <a:r>
              <a:rPr lang="en-US" sz="1900" dirty="0"/>
              <a:t> so it reflects the most updated data.</a:t>
            </a:r>
          </a:p>
        </p:txBody>
      </p:sp>
      <p:sp>
        <p:nvSpPr>
          <p:cNvPr id="4" name="Slide Number Placeholder 3"/>
          <p:cNvSpPr>
            <a:spLocks noGrp="1"/>
          </p:cNvSpPr>
          <p:nvPr>
            <p:ph type="sldNum" sz="quarter" idx="12"/>
          </p:nvPr>
        </p:nvSpPr>
        <p:spPr/>
        <p:txBody>
          <a:bodyPr/>
          <a:lstStyle/>
          <a:p>
            <a:fld id="{1ADF169C-3A13-4720-8652-1240B672470F}" type="slidenum">
              <a:rPr lang="en-US" smtClean="0"/>
              <a:t>5</a:t>
            </a:fld>
            <a:endParaRPr lang="en-US"/>
          </a:p>
        </p:txBody>
      </p:sp>
    </p:spTree>
    <p:extLst>
      <p:ext uri="{BB962C8B-B14F-4D97-AF65-F5344CB8AC3E}">
        <p14:creationId xmlns:p14="http://schemas.microsoft.com/office/powerpoint/2010/main" val="2750707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a:t>PivotTables</a:t>
            </a:r>
          </a:p>
        </p:txBody>
      </p:sp>
      <p:sp>
        <p:nvSpPr>
          <p:cNvPr id="3" name="Content Placeholder 2"/>
          <p:cNvSpPr>
            <a:spLocks noGrp="1"/>
          </p:cNvSpPr>
          <p:nvPr>
            <p:ph idx="1"/>
          </p:nvPr>
        </p:nvSpPr>
        <p:spPr>
          <a:xfrm>
            <a:off x="2031206" y="1993393"/>
            <a:ext cx="8200189" cy="4316791"/>
          </a:xfrm>
        </p:spPr>
        <p:txBody>
          <a:bodyPr>
            <a:normAutofit/>
          </a:bodyPr>
          <a:lstStyle/>
          <a:p>
            <a:pPr marL="0" indent="0">
              <a:buNone/>
            </a:pPr>
            <a:r>
              <a:rPr lang="en-US" dirty="0"/>
              <a:t>We want to create the following table to analyze the books sales:</a:t>
            </a:r>
          </a:p>
          <a:p>
            <a:pPr marL="0" indent="0">
              <a:buNone/>
            </a:pPr>
            <a:endParaRPr lang="en-US" dirty="0"/>
          </a:p>
          <a:p>
            <a:pPr marL="0" indent="0">
              <a:buNone/>
            </a:pPr>
            <a:r>
              <a:rPr lang="en-US" b="1" dirty="0"/>
              <a:t>Pivot Table 1: </a:t>
            </a:r>
            <a:r>
              <a:rPr lang="en-US" dirty="0"/>
              <a:t>A table that shows the total book sales by Copyright year.</a:t>
            </a:r>
          </a:p>
          <a:p>
            <a:pPr marL="0" indent="0">
              <a:buNone/>
            </a:pPr>
            <a:endParaRPr lang="en-US" dirty="0"/>
          </a:p>
          <a:p>
            <a:pPr marL="457200" indent="-45720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6</a:t>
            </a:fld>
            <a:endParaRPr lang="en-US"/>
          </a:p>
        </p:txBody>
      </p:sp>
    </p:spTree>
    <p:extLst>
      <p:ext uri="{BB962C8B-B14F-4D97-AF65-F5344CB8AC3E}">
        <p14:creationId xmlns:p14="http://schemas.microsoft.com/office/powerpoint/2010/main" val="831085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8" y="410082"/>
            <a:ext cx="8079581" cy="1016229"/>
          </a:xfrm>
        </p:spPr>
        <p:txBody>
          <a:bodyPr/>
          <a:lstStyle/>
          <a:p>
            <a:r>
              <a:rPr lang="en-US" dirty="0"/>
              <a:t>PivotTable</a:t>
            </a:r>
          </a:p>
        </p:txBody>
      </p:sp>
      <p:pic>
        <p:nvPicPr>
          <p:cNvPr id="4" name="Content Placeholder 3"/>
          <p:cNvPicPr>
            <a:picLocks noGrp="1" noChangeAspect="1"/>
          </p:cNvPicPr>
          <p:nvPr>
            <p:ph idx="1"/>
          </p:nvPr>
        </p:nvPicPr>
        <p:blipFill>
          <a:blip r:embed="rId2"/>
          <a:stretch>
            <a:fillRect/>
          </a:stretch>
        </p:blipFill>
        <p:spPr>
          <a:xfrm>
            <a:off x="4863423" y="304800"/>
            <a:ext cx="2553186" cy="6325116"/>
          </a:xfrm>
          <a:prstGeom prst="rect">
            <a:avLst/>
          </a:prstGeom>
          <a:ln>
            <a:solidFill>
              <a:schemeClr val="tx1"/>
            </a:solidFill>
          </a:ln>
        </p:spPr>
      </p:pic>
      <p:sp>
        <p:nvSpPr>
          <p:cNvPr id="5" name="TextBox 4"/>
          <p:cNvSpPr txBox="1"/>
          <p:nvPr/>
        </p:nvSpPr>
        <p:spPr>
          <a:xfrm>
            <a:off x="7982465" y="2471351"/>
            <a:ext cx="2183027" cy="140038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700" dirty="0"/>
              <a:t>Subdivides data into one or more additional categories to add depth to the PivotTable.</a:t>
            </a:r>
          </a:p>
        </p:txBody>
      </p:sp>
      <p:cxnSp>
        <p:nvCxnSpPr>
          <p:cNvPr id="6" name="Straight Arrow Connector 5"/>
          <p:cNvCxnSpPr/>
          <p:nvPr/>
        </p:nvCxnSpPr>
        <p:spPr>
          <a:xfrm flipH="1">
            <a:off x="7191632" y="3206687"/>
            <a:ext cx="790832" cy="66504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82464" y="4559643"/>
            <a:ext cx="2183027" cy="87716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700" dirty="0"/>
              <a:t>Displays summary statistics, such as totals or averages.</a:t>
            </a:r>
          </a:p>
        </p:txBody>
      </p:sp>
      <p:sp>
        <p:nvSpPr>
          <p:cNvPr id="10" name="TextBox 9"/>
          <p:cNvSpPr txBox="1"/>
          <p:nvPr/>
        </p:nvSpPr>
        <p:spPr>
          <a:xfrm>
            <a:off x="2032163" y="4559643"/>
            <a:ext cx="2183027" cy="166199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700" dirty="0"/>
              <a:t>Organizes and groups data into categories on the left side of the PivotTable. Each group name occupies a single row.</a:t>
            </a:r>
          </a:p>
        </p:txBody>
      </p:sp>
      <p:sp>
        <p:nvSpPr>
          <p:cNvPr id="11" name="TextBox 10"/>
          <p:cNvSpPr txBox="1"/>
          <p:nvPr/>
        </p:nvSpPr>
        <p:spPr>
          <a:xfrm>
            <a:off x="2016918" y="2471351"/>
            <a:ext cx="2183027" cy="113877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700" dirty="0"/>
              <a:t>Filters the aggregated data to display results based on particular conditions you set.</a:t>
            </a:r>
          </a:p>
        </p:txBody>
      </p:sp>
      <p:cxnSp>
        <p:nvCxnSpPr>
          <p:cNvPr id="13" name="Straight Arrow Connector 12"/>
          <p:cNvCxnSpPr>
            <a:stCxn id="7" idx="1"/>
          </p:cNvCxnSpPr>
          <p:nvPr/>
        </p:nvCxnSpPr>
        <p:spPr>
          <a:xfrm flipH="1">
            <a:off x="7315201" y="4998224"/>
            <a:ext cx="667263" cy="2418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3"/>
          </p:cNvCxnSpPr>
          <p:nvPr/>
        </p:nvCxnSpPr>
        <p:spPr>
          <a:xfrm>
            <a:off x="4199945" y="3040737"/>
            <a:ext cx="663479" cy="7726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4215190" y="5240069"/>
            <a:ext cx="663479" cy="1505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1ADF169C-3A13-4720-8652-1240B672470F}" type="slidenum">
              <a:rPr lang="en-US" smtClean="0"/>
              <a:t>7</a:t>
            </a:fld>
            <a:endParaRPr lang="en-US"/>
          </a:p>
        </p:txBody>
      </p:sp>
    </p:spTree>
    <p:extLst>
      <p:ext uri="{BB962C8B-B14F-4D97-AF65-F5344CB8AC3E}">
        <p14:creationId xmlns:p14="http://schemas.microsoft.com/office/powerpoint/2010/main" val="2311111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a:t>PivotTables</a:t>
            </a:r>
          </a:p>
        </p:txBody>
      </p:sp>
      <p:sp>
        <p:nvSpPr>
          <p:cNvPr id="3" name="Content Placeholder 2"/>
          <p:cNvSpPr>
            <a:spLocks noGrp="1"/>
          </p:cNvSpPr>
          <p:nvPr>
            <p:ph idx="1"/>
          </p:nvPr>
        </p:nvSpPr>
        <p:spPr>
          <a:xfrm>
            <a:off x="2031206" y="1993393"/>
            <a:ext cx="8200189" cy="4316791"/>
          </a:xfrm>
        </p:spPr>
        <p:txBody>
          <a:bodyPr>
            <a:normAutofit/>
          </a:bodyPr>
          <a:lstStyle/>
          <a:p>
            <a:pPr marL="0" indent="0">
              <a:lnSpc>
                <a:spcPct val="100000"/>
              </a:lnSpc>
              <a:buNone/>
            </a:pPr>
            <a:endParaRPr lang="en-US" dirty="0"/>
          </a:p>
          <a:p>
            <a:pPr marL="0" indent="0">
              <a:lnSpc>
                <a:spcPct val="100000"/>
              </a:lnSpc>
              <a:buNone/>
            </a:pPr>
            <a:r>
              <a:rPr lang="en-US" b="1" dirty="0"/>
              <a:t>Pivot table 2: </a:t>
            </a:r>
            <a:r>
              <a:rPr lang="en-US" dirty="0"/>
              <a:t>shows the total book sales by Copyright year and by Discipline.</a:t>
            </a:r>
          </a:p>
          <a:p>
            <a:pPr marL="457200" indent="-457200">
              <a:lnSpc>
                <a:spcPct val="100000"/>
              </a:lnSpc>
              <a:buFont typeface="+mj-lt"/>
              <a:buAutoNum type="arabicPeriod"/>
            </a:pPr>
            <a:endParaRPr lang="en-US" dirty="0"/>
          </a:p>
          <a:p>
            <a:pPr marL="0" indent="0">
              <a:lnSpc>
                <a:spcPct val="100000"/>
              </a:lnSpc>
              <a:buNone/>
            </a:pPr>
            <a:r>
              <a:rPr lang="en-US" b="1" dirty="0"/>
              <a:t>Pivot table 3: </a:t>
            </a:r>
            <a:r>
              <a:rPr lang="en-US" dirty="0"/>
              <a:t>displays the number of books, the average and sum of total book sales per Area for each Copyright year.</a:t>
            </a:r>
          </a:p>
          <a:p>
            <a:pPr marL="0" indent="0">
              <a:lnSpc>
                <a:spcPct val="100000"/>
              </a:lnSpc>
              <a:buNone/>
            </a:pPr>
            <a:endParaRPr lang="en-US" dirty="0"/>
          </a:p>
          <a:p>
            <a:pPr marL="457200" indent="-457200">
              <a:lnSpc>
                <a:spcPct val="100000"/>
              </a:lnSpc>
              <a:buFont typeface="+mj-lt"/>
              <a:buAutoNum type="arabicPeriod"/>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8</a:t>
            </a:fld>
            <a:endParaRPr lang="en-US"/>
          </a:p>
        </p:txBody>
      </p:sp>
    </p:spTree>
    <p:extLst>
      <p:ext uri="{BB962C8B-B14F-4D97-AF65-F5344CB8AC3E}">
        <p14:creationId xmlns:p14="http://schemas.microsoft.com/office/powerpoint/2010/main" val="1312030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a:t>Calculated Fields</a:t>
            </a:r>
          </a:p>
        </p:txBody>
      </p:sp>
      <p:sp>
        <p:nvSpPr>
          <p:cNvPr id="3" name="Content Placeholder 2"/>
          <p:cNvSpPr>
            <a:spLocks noGrp="1"/>
          </p:cNvSpPr>
          <p:nvPr>
            <p:ph idx="1"/>
          </p:nvPr>
        </p:nvSpPr>
        <p:spPr>
          <a:xfrm>
            <a:off x="1780349" y="1856194"/>
            <a:ext cx="4464739" cy="4605452"/>
          </a:xfrm>
        </p:spPr>
        <p:txBody>
          <a:bodyPr>
            <a:noAutofit/>
          </a:bodyPr>
          <a:lstStyle/>
          <a:p>
            <a:pPr marL="0" indent="0" algn="just">
              <a:lnSpc>
                <a:spcPct val="100000"/>
              </a:lnSpc>
              <a:buNone/>
            </a:pPr>
            <a:r>
              <a:rPr lang="en-US" b="1" dirty="0"/>
              <a:t>Still on Pivot Table 3:</a:t>
            </a:r>
          </a:p>
          <a:p>
            <a:pPr marL="0" indent="0" algn="just">
              <a:lnSpc>
                <a:spcPct val="100000"/>
              </a:lnSpc>
              <a:buNone/>
            </a:pPr>
            <a:r>
              <a:rPr lang="en-US" dirty="0"/>
              <a:t>Change the previous Pivot Table 1 so that it also shows the sum of total number of units sold in each year (we need to create a </a:t>
            </a:r>
            <a:r>
              <a:rPr lang="en-US" i="1" dirty="0"/>
              <a:t>calculated field</a:t>
            </a:r>
            <a:r>
              <a:rPr lang="en-US" dirty="0"/>
              <a:t> for this).</a:t>
            </a:r>
          </a:p>
          <a:p>
            <a:pPr marL="0" indent="0">
              <a:lnSpc>
                <a:spcPct val="100000"/>
              </a:lnSpc>
              <a:buNone/>
            </a:pPr>
            <a:r>
              <a:rPr lang="en-US" dirty="0"/>
              <a:t>Add a filter to Pivot Table 3 that allows filtering by discipline.</a:t>
            </a:r>
          </a:p>
          <a:p>
            <a:pPr marL="0" indent="0">
              <a:lnSpc>
                <a:spcPct val="100000"/>
              </a:lnSpc>
              <a:buNone/>
            </a:pPr>
            <a:endParaRPr lang="en-US" dirty="0"/>
          </a:p>
          <a:p>
            <a:pPr marL="457200" indent="-457200">
              <a:lnSpc>
                <a:spcPct val="100000"/>
              </a:lnSpc>
              <a:buFont typeface="+mj-lt"/>
              <a:buAutoNum type="arabicPeriod"/>
            </a:pPr>
            <a:endParaRPr lang="en-US" dirty="0"/>
          </a:p>
        </p:txBody>
      </p:sp>
      <p:pic>
        <p:nvPicPr>
          <p:cNvPr id="4" name="Picture 3"/>
          <p:cNvPicPr>
            <a:picLocks noChangeAspect="1"/>
          </p:cNvPicPr>
          <p:nvPr/>
        </p:nvPicPr>
        <p:blipFill>
          <a:blip r:embed="rId2"/>
          <a:stretch>
            <a:fillRect/>
          </a:stretch>
        </p:blipFill>
        <p:spPr>
          <a:xfrm>
            <a:off x="6848943" y="323860"/>
            <a:ext cx="3719277" cy="3640645"/>
          </a:xfrm>
          <a:prstGeom prst="rect">
            <a:avLst/>
          </a:prstGeom>
        </p:spPr>
      </p:pic>
      <p:pic>
        <p:nvPicPr>
          <p:cNvPr id="5" name="Picture 4"/>
          <p:cNvPicPr>
            <a:picLocks noChangeAspect="1"/>
          </p:cNvPicPr>
          <p:nvPr/>
        </p:nvPicPr>
        <p:blipFill rotWithShape="1">
          <a:blip r:embed="rId3"/>
          <a:srcRect l="-350" t="2724" r="350" b="6413"/>
          <a:stretch/>
        </p:blipFill>
        <p:spPr>
          <a:xfrm>
            <a:off x="7365282" y="4303249"/>
            <a:ext cx="2781300" cy="2354094"/>
          </a:xfrm>
          <a:prstGeom prst="rect">
            <a:avLst/>
          </a:prstGeom>
        </p:spPr>
      </p:pic>
      <p:cxnSp>
        <p:nvCxnSpPr>
          <p:cNvPr id="6" name="Straight Arrow Connector 5"/>
          <p:cNvCxnSpPr/>
          <p:nvPr/>
        </p:nvCxnSpPr>
        <p:spPr>
          <a:xfrm flipV="1">
            <a:off x="6245088" y="4969566"/>
            <a:ext cx="904461" cy="4870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6335739" y="2378344"/>
            <a:ext cx="462605" cy="3072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1ADF169C-3A13-4720-8652-1240B672470F}" type="slidenum">
              <a:rPr lang="en-US" smtClean="0"/>
              <a:t>9</a:t>
            </a:fld>
            <a:endParaRPr lang="en-US"/>
          </a:p>
        </p:txBody>
      </p:sp>
    </p:spTree>
    <p:extLst>
      <p:ext uri="{BB962C8B-B14F-4D97-AF65-F5344CB8AC3E}">
        <p14:creationId xmlns:p14="http://schemas.microsoft.com/office/powerpoint/2010/main" val="3613571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a:t>More PivotTables</a:t>
            </a:r>
          </a:p>
        </p:txBody>
      </p:sp>
      <p:sp>
        <p:nvSpPr>
          <p:cNvPr id="3" name="Content Placeholder 2"/>
          <p:cNvSpPr>
            <a:spLocks noGrp="1"/>
          </p:cNvSpPr>
          <p:nvPr>
            <p:ph idx="1"/>
          </p:nvPr>
        </p:nvSpPr>
        <p:spPr>
          <a:xfrm>
            <a:off x="2016920" y="1680520"/>
            <a:ext cx="8079581" cy="4490517"/>
          </a:xfrm>
        </p:spPr>
        <p:txBody>
          <a:bodyPr>
            <a:normAutofit/>
          </a:bodyPr>
          <a:lstStyle/>
          <a:p>
            <a:pPr marL="0" indent="0" algn="just">
              <a:lnSpc>
                <a:spcPct val="100000"/>
              </a:lnSpc>
              <a:buNone/>
            </a:pPr>
            <a:endParaRPr lang="en-US" dirty="0"/>
          </a:p>
          <a:p>
            <a:pPr marL="0" indent="0" algn="just">
              <a:lnSpc>
                <a:spcPct val="100000"/>
              </a:lnSpc>
              <a:buNone/>
            </a:pPr>
            <a:r>
              <a:rPr lang="en-US" b="1" dirty="0"/>
              <a:t>Pivot table 4: </a:t>
            </a:r>
            <a:r>
              <a:rPr lang="en-US" dirty="0"/>
              <a:t>We want to know what is the contribution (in %) of each Discipline and more specifically of each Area to the sales grand total. What is the discipline that sold the most? What about the one that sold the least? </a:t>
            </a:r>
          </a:p>
          <a:p>
            <a:pPr marL="457200" indent="-457200" algn="just">
              <a:lnSpc>
                <a:spcPct val="100000"/>
              </a:lnSpc>
              <a:buFont typeface="+mj-lt"/>
              <a:buAutoNum type="arabicPeriod" startAt="3"/>
            </a:pPr>
            <a:endParaRPr lang="en-US" dirty="0"/>
          </a:p>
          <a:p>
            <a:pPr marL="0" indent="0" algn="just">
              <a:lnSpc>
                <a:spcPct val="100000"/>
              </a:lnSpc>
              <a:buNone/>
            </a:pPr>
            <a:r>
              <a:rPr lang="en-US" dirty="0"/>
              <a:t>And the contribution of each book?</a:t>
            </a:r>
          </a:p>
          <a:p>
            <a:pPr marL="457200" indent="-457200" algn="just">
              <a:lnSpc>
                <a:spcPct val="100000"/>
              </a:lnSpc>
              <a:buFont typeface="+mj-lt"/>
              <a:buAutoNum type="arabicPeriod" startAt="3"/>
            </a:pPr>
            <a:endParaRPr lang="en-US" dirty="0"/>
          </a:p>
          <a:p>
            <a:pPr marL="457200" indent="-457200" algn="just">
              <a:lnSpc>
                <a:spcPct val="100000"/>
              </a:lnSpc>
              <a:buFont typeface="+mj-lt"/>
              <a:buAutoNum type="arabicPeriod" startAt="3"/>
            </a:pPr>
            <a:endParaRPr lang="en-US" dirty="0"/>
          </a:p>
        </p:txBody>
      </p:sp>
      <p:sp>
        <p:nvSpPr>
          <p:cNvPr id="6" name="Slide Number Placeholder 5"/>
          <p:cNvSpPr>
            <a:spLocks noGrp="1"/>
          </p:cNvSpPr>
          <p:nvPr>
            <p:ph type="sldNum" sz="quarter" idx="12"/>
          </p:nvPr>
        </p:nvSpPr>
        <p:spPr/>
        <p:txBody>
          <a:bodyPr/>
          <a:lstStyle/>
          <a:p>
            <a:fld id="{1ADF169C-3A13-4720-8652-1240B672470F}" type="slidenum">
              <a:rPr lang="en-US" smtClean="0"/>
              <a:t>10</a:t>
            </a:fld>
            <a:endParaRPr lang="en-US"/>
          </a:p>
        </p:txBody>
      </p:sp>
    </p:spTree>
    <p:extLst>
      <p:ext uri="{BB962C8B-B14F-4D97-AF65-F5344CB8AC3E}">
        <p14:creationId xmlns:p14="http://schemas.microsoft.com/office/powerpoint/2010/main" val="1895897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0757" y="499533"/>
            <a:ext cx="8997244" cy="1180986"/>
          </a:xfrm>
        </p:spPr>
        <p:txBody>
          <a:bodyPr>
            <a:normAutofit/>
          </a:bodyPr>
          <a:lstStyle/>
          <a:p>
            <a:r>
              <a:rPr lang="en-US" dirty="0"/>
              <a:t>Grouping numeric fields in PivotTables</a:t>
            </a:r>
          </a:p>
        </p:txBody>
      </p:sp>
      <p:sp>
        <p:nvSpPr>
          <p:cNvPr id="3" name="Content Placeholder 2"/>
          <p:cNvSpPr>
            <a:spLocks noGrp="1"/>
          </p:cNvSpPr>
          <p:nvPr>
            <p:ph idx="1"/>
          </p:nvPr>
        </p:nvSpPr>
        <p:spPr>
          <a:xfrm>
            <a:off x="2016920" y="2212622"/>
            <a:ext cx="4248414" cy="4368800"/>
          </a:xfrm>
        </p:spPr>
        <p:txBody>
          <a:bodyPr>
            <a:normAutofit/>
          </a:bodyPr>
          <a:lstStyle/>
          <a:p>
            <a:pPr marL="0" indent="0" algn="just">
              <a:lnSpc>
                <a:spcPct val="120000"/>
              </a:lnSpc>
              <a:buNone/>
            </a:pPr>
            <a:r>
              <a:rPr lang="en-US" b="1" dirty="0"/>
              <a:t>Pivot Table 5: </a:t>
            </a:r>
            <a:r>
              <a:rPr lang="en-US" dirty="0"/>
              <a:t>we want to show the number of book titles that had a revenue between 0 and $99,999, between $100,000 and $199,000, and so on…</a:t>
            </a:r>
          </a:p>
          <a:p>
            <a:pPr marL="0" indent="0" algn="just">
              <a:lnSpc>
                <a:spcPct val="120000"/>
              </a:lnSpc>
              <a:buNone/>
            </a:pPr>
            <a:endParaRPr lang="en-US" dirty="0"/>
          </a:p>
          <a:p>
            <a:pPr marL="0" indent="0" algn="just">
              <a:lnSpc>
                <a:spcPct val="120000"/>
              </a:lnSpc>
              <a:buNone/>
            </a:pPr>
            <a:endParaRPr lang="en-US" dirty="0"/>
          </a:p>
          <a:p>
            <a:pPr marL="0" indent="0" algn="just">
              <a:lnSpc>
                <a:spcPct val="120000"/>
              </a:lnSpc>
              <a:buNone/>
            </a:pPr>
            <a:endParaRPr lang="en-US" dirty="0"/>
          </a:p>
          <a:p>
            <a:pPr marL="457200" indent="-457200" algn="just">
              <a:lnSpc>
                <a:spcPct val="120000"/>
              </a:lnSpc>
              <a:buFont typeface="+mj-lt"/>
              <a:buAutoNum type="arabicPeriod" startAt="4"/>
            </a:pPr>
            <a:endParaRPr lang="en-US" dirty="0"/>
          </a:p>
        </p:txBody>
      </p:sp>
      <p:sp>
        <p:nvSpPr>
          <p:cNvPr id="6" name="Slide Number Placeholder 5"/>
          <p:cNvSpPr>
            <a:spLocks noGrp="1"/>
          </p:cNvSpPr>
          <p:nvPr>
            <p:ph type="sldNum" sz="quarter" idx="12"/>
          </p:nvPr>
        </p:nvSpPr>
        <p:spPr/>
        <p:txBody>
          <a:bodyPr/>
          <a:lstStyle/>
          <a:p>
            <a:fld id="{1ADF169C-3A13-4720-8652-1240B672470F}" type="slidenum">
              <a:rPr lang="en-US" smtClean="0">
                <a:solidFill>
                  <a:srgbClr val="549E39">
                    <a:alpha val="20000"/>
                  </a:srgbClr>
                </a:solidFill>
              </a:rPr>
              <a:pPr/>
              <a:t>11</a:t>
            </a:fld>
            <a:endParaRPr lang="en-US" dirty="0">
              <a:solidFill>
                <a:srgbClr val="549E39">
                  <a:alpha val="20000"/>
                </a:srgbClr>
              </a:solidFill>
            </a:endParaRPr>
          </a:p>
        </p:txBody>
      </p:sp>
      <p:pic>
        <p:nvPicPr>
          <p:cNvPr id="7" name="Picture 6"/>
          <p:cNvPicPr>
            <a:picLocks noChangeAspect="1"/>
          </p:cNvPicPr>
          <p:nvPr/>
        </p:nvPicPr>
        <p:blipFill>
          <a:blip r:embed="rId2"/>
          <a:stretch>
            <a:fillRect/>
          </a:stretch>
        </p:blipFill>
        <p:spPr>
          <a:xfrm>
            <a:off x="7012339" y="2212622"/>
            <a:ext cx="3012194" cy="3528930"/>
          </a:xfrm>
          <a:prstGeom prst="rect">
            <a:avLst/>
          </a:prstGeom>
        </p:spPr>
      </p:pic>
      <p:sp>
        <p:nvSpPr>
          <p:cNvPr id="8" name="Rectangle 7"/>
          <p:cNvSpPr/>
          <p:nvPr/>
        </p:nvSpPr>
        <p:spPr>
          <a:xfrm>
            <a:off x="7696201" y="2212623"/>
            <a:ext cx="1582615" cy="43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023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err="1"/>
              <a:t>PivotCharts</a:t>
            </a:r>
            <a:endParaRPr lang="en-US" dirty="0"/>
          </a:p>
        </p:txBody>
      </p:sp>
      <p:sp>
        <p:nvSpPr>
          <p:cNvPr id="3" name="Content Placeholder 2"/>
          <p:cNvSpPr>
            <a:spLocks noGrp="1"/>
          </p:cNvSpPr>
          <p:nvPr>
            <p:ph idx="1"/>
          </p:nvPr>
        </p:nvSpPr>
        <p:spPr>
          <a:xfrm>
            <a:off x="2016919" y="1680520"/>
            <a:ext cx="8357570" cy="4992325"/>
          </a:xfrm>
        </p:spPr>
        <p:txBody>
          <a:bodyPr>
            <a:noAutofit/>
          </a:bodyPr>
          <a:lstStyle/>
          <a:p>
            <a:pPr marL="0" indent="0" algn="just">
              <a:lnSpc>
                <a:spcPct val="110000"/>
              </a:lnSpc>
              <a:buNone/>
            </a:pPr>
            <a:r>
              <a:rPr lang="en-US" sz="2000" dirty="0"/>
              <a:t>PivotTables help reduce the amount of data to analyze, but they can be overwhelming. Creating a PivotChart aids people’s comprehension of the data.</a:t>
            </a:r>
          </a:p>
          <a:p>
            <a:pPr marL="0" indent="0" algn="just">
              <a:lnSpc>
                <a:spcPct val="110000"/>
              </a:lnSpc>
              <a:buNone/>
            </a:pPr>
            <a:endParaRPr lang="en-US" sz="2000" dirty="0"/>
          </a:p>
          <a:p>
            <a:pPr marL="0" indent="0" algn="just">
              <a:lnSpc>
                <a:spcPct val="110000"/>
              </a:lnSpc>
              <a:buNone/>
            </a:pPr>
            <a:r>
              <a:rPr lang="en-US" sz="2000" dirty="0"/>
              <a:t>Some PivotTables may have a lot of information, or may have information that is in different units / magnitudes. So, if we want to create </a:t>
            </a:r>
            <a:r>
              <a:rPr lang="en-US" sz="2000" dirty="0" err="1"/>
              <a:t>PivotCharts</a:t>
            </a:r>
            <a:r>
              <a:rPr lang="en-US" sz="2000" dirty="0"/>
              <a:t> using them, we need to be critical about the information and select what and how it makes sense to display in a chart.</a:t>
            </a:r>
          </a:p>
          <a:p>
            <a:pPr marL="0" indent="0" algn="just">
              <a:lnSpc>
                <a:spcPct val="110000"/>
              </a:lnSpc>
              <a:buNone/>
            </a:pPr>
            <a:endParaRPr lang="en-US" dirty="0"/>
          </a:p>
          <a:p>
            <a:pPr marL="0" indent="0" algn="just">
              <a:lnSpc>
                <a:spcPct val="110000"/>
              </a:lnSpc>
              <a:buNone/>
            </a:pPr>
            <a:r>
              <a:rPr lang="en-US" sz="1800" dirty="0">
                <a:sym typeface="Wingdings" panose="05000000000000000000" pitchFamily="2" charset="2"/>
              </a:rPr>
              <a:t></a:t>
            </a:r>
            <a:r>
              <a:rPr lang="en-US" sz="1800" dirty="0"/>
              <a:t>We do not need to have a PivotTable to make a PivotChart, we can create a PivotChart directly from the source data and it will create the corresponding PivotTable.</a:t>
            </a:r>
          </a:p>
        </p:txBody>
      </p:sp>
      <p:sp>
        <p:nvSpPr>
          <p:cNvPr id="4" name="Slide Number Placeholder 3"/>
          <p:cNvSpPr>
            <a:spLocks noGrp="1"/>
          </p:cNvSpPr>
          <p:nvPr>
            <p:ph type="sldNum" sz="quarter" idx="12"/>
          </p:nvPr>
        </p:nvSpPr>
        <p:spPr/>
        <p:txBody>
          <a:bodyPr/>
          <a:lstStyle/>
          <a:p>
            <a:fld id="{1ADF169C-3A13-4720-8652-1240B672470F}" type="slidenum">
              <a:rPr lang="en-US" smtClean="0"/>
              <a:t>12</a:t>
            </a:fld>
            <a:endParaRPr lang="en-US" dirty="0"/>
          </a:p>
        </p:txBody>
      </p:sp>
    </p:spTree>
    <p:extLst>
      <p:ext uri="{BB962C8B-B14F-4D97-AF65-F5344CB8AC3E}">
        <p14:creationId xmlns:p14="http://schemas.microsoft.com/office/powerpoint/2010/main" val="3125465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lstStyle/>
          <a:p>
            <a:r>
              <a:rPr lang="en-US" dirty="0" err="1"/>
              <a:t>PivotCharts</a:t>
            </a:r>
            <a:endParaRPr lang="en-US" dirty="0"/>
          </a:p>
        </p:txBody>
      </p:sp>
      <p:sp>
        <p:nvSpPr>
          <p:cNvPr id="3" name="Content Placeholder 2"/>
          <p:cNvSpPr>
            <a:spLocks noGrp="1"/>
          </p:cNvSpPr>
          <p:nvPr>
            <p:ph idx="1"/>
          </p:nvPr>
        </p:nvSpPr>
        <p:spPr>
          <a:xfrm>
            <a:off x="2016920" y="1865676"/>
            <a:ext cx="8310259" cy="4695145"/>
          </a:xfrm>
        </p:spPr>
        <p:txBody>
          <a:bodyPr>
            <a:normAutofit/>
          </a:bodyPr>
          <a:lstStyle/>
          <a:p>
            <a:pPr marL="0" indent="0">
              <a:lnSpc>
                <a:spcPct val="100000"/>
              </a:lnSpc>
              <a:buNone/>
            </a:pPr>
            <a:r>
              <a:rPr lang="en-US" b="1" dirty="0"/>
              <a:t>Pivot chart 1: </a:t>
            </a:r>
            <a:r>
              <a:rPr lang="en-US" dirty="0"/>
              <a:t>Create a bar chart to show the number of units sold wholesale and the number of units sold retail for each Discipline.</a:t>
            </a:r>
          </a:p>
          <a:p>
            <a:pPr marL="457200" indent="-457200">
              <a:lnSpc>
                <a:spcPct val="100000"/>
              </a:lnSpc>
              <a:buFont typeface="+mj-lt"/>
              <a:buAutoNum type="arabicPeriod"/>
            </a:pPr>
            <a:endParaRPr lang="en-US" dirty="0"/>
          </a:p>
          <a:p>
            <a:pPr marL="0" indent="0">
              <a:lnSpc>
                <a:spcPct val="100000"/>
              </a:lnSpc>
              <a:buNone/>
            </a:pPr>
            <a:r>
              <a:rPr lang="en-US" b="1" dirty="0"/>
              <a:t>Pivot chart 2: </a:t>
            </a:r>
            <a:r>
              <a:rPr lang="en-US" dirty="0"/>
              <a:t>Create a pie chart that illustrates the % of the total units sold corresponding to each discipline.</a:t>
            </a:r>
          </a:p>
          <a:p>
            <a:pPr marL="457200" indent="-457200">
              <a:lnSpc>
                <a:spcPct val="100000"/>
              </a:lnSpc>
              <a:buFont typeface="+mj-lt"/>
              <a:buAutoNum type="arabicPeriod"/>
            </a:pPr>
            <a:endParaRPr lang="en-US" dirty="0"/>
          </a:p>
          <a:p>
            <a:pPr marL="457200" indent="-457200">
              <a:lnSpc>
                <a:spcPct val="100000"/>
              </a:lnSpc>
              <a:buFont typeface="+mj-lt"/>
              <a:buAutoNum type="arabicPeriod"/>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13</a:t>
            </a:fld>
            <a:endParaRPr lang="en-US" dirty="0"/>
          </a:p>
        </p:txBody>
      </p:sp>
    </p:spTree>
    <p:extLst>
      <p:ext uri="{BB962C8B-B14F-4D97-AF65-F5344CB8AC3E}">
        <p14:creationId xmlns:p14="http://schemas.microsoft.com/office/powerpoint/2010/main" val="1042666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1180986"/>
          </a:xfrm>
        </p:spPr>
        <p:txBody>
          <a:bodyPr>
            <a:normAutofit/>
          </a:bodyPr>
          <a:lstStyle/>
          <a:p>
            <a:r>
              <a:rPr lang="en-US" dirty="0"/>
              <a:t>Extracting Data from PivotTables</a:t>
            </a:r>
          </a:p>
        </p:txBody>
      </p:sp>
      <p:sp>
        <p:nvSpPr>
          <p:cNvPr id="3" name="Content Placeholder 2"/>
          <p:cNvSpPr>
            <a:spLocks noGrp="1"/>
          </p:cNvSpPr>
          <p:nvPr>
            <p:ph idx="1"/>
          </p:nvPr>
        </p:nvSpPr>
        <p:spPr>
          <a:xfrm>
            <a:off x="2016920" y="1680520"/>
            <a:ext cx="8215245" cy="4880301"/>
          </a:xfrm>
        </p:spPr>
        <p:txBody>
          <a:bodyPr>
            <a:normAutofit/>
          </a:bodyPr>
          <a:lstStyle/>
          <a:p>
            <a:pPr marL="0" indent="0" algn="just">
              <a:lnSpc>
                <a:spcPct val="100000"/>
              </a:lnSpc>
              <a:buNone/>
            </a:pPr>
            <a:r>
              <a:rPr lang="en-US" sz="2000" dirty="0"/>
              <a:t>If you need to use specific data taken from a PivotTable somewhere else, you can use the GETPIVOTDATA function for that:</a:t>
            </a:r>
          </a:p>
          <a:p>
            <a:pPr marL="0" indent="0" algn="just">
              <a:lnSpc>
                <a:spcPct val="100000"/>
              </a:lnSpc>
              <a:buNone/>
            </a:pPr>
            <a:endParaRPr lang="en-US" sz="2000" dirty="0"/>
          </a:p>
          <a:p>
            <a:pPr algn="just">
              <a:lnSpc>
                <a:spcPct val="100000"/>
              </a:lnSpc>
            </a:pPr>
            <a:r>
              <a:rPr lang="en-US" sz="2000" i="1" dirty="0"/>
              <a:t>= GETPIVOTDATA (</a:t>
            </a:r>
            <a:r>
              <a:rPr lang="en-US" sz="2000" i="1" dirty="0" err="1"/>
              <a:t>data_field</a:t>
            </a:r>
            <a:r>
              <a:rPr lang="en-US" sz="2000" i="1" dirty="0"/>
              <a:t>, </a:t>
            </a:r>
            <a:r>
              <a:rPr lang="en-US" sz="2000" i="1" dirty="0" err="1"/>
              <a:t>pivot_table</a:t>
            </a:r>
            <a:r>
              <a:rPr lang="en-US" sz="2000" i="1" dirty="0"/>
              <a:t>, field1, item1, field2, item2, ...)</a:t>
            </a:r>
          </a:p>
          <a:p>
            <a:pPr algn="just">
              <a:lnSpc>
                <a:spcPct val="100000"/>
              </a:lnSpc>
            </a:pPr>
            <a:endParaRPr lang="en-US" sz="2000" i="1" dirty="0"/>
          </a:p>
          <a:p>
            <a:pPr algn="just">
              <a:lnSpc>
                <a:spcPct val="100000"/>
              </a:lnSpc>
              <a:buFont typeface="Wingdings" panose="05000000000000000000" pitchFamily="2" charset="2"/>
              <a:buChar char="§"/>
            </a:pPr>
            <a:r>
              <a:rPr lang="en-US" sz="1600" b="1" dirty="0"/>
              <a:t> </a:t>
            </a:r>
            <a:r>
              <a:rPr lang="en-US" sz="1600" b="1" i="1" dirty="0" err="1"/>
              <a:t>data_field</a:t>
            </a:r>
            <a:r>
              <a:rPr lang="en-US" sz="1600" dirty="0"/>
              <a:t> is the name, enclosed in quotation marks, for the data field that contains the data that you want to retrieve.</a:t>
            </a:r>
          </a:p>
          <a:p>
            <a:pPr algn="just">
              <a:lnSpc>
                <a:spcPct val="100000"/>
              </a:lnSpc>
              <a:buFont typeface="Wingdings" panose="05000000000000000000" pitchFamily="2" charset="2"/>
              <a:buChar char="§"/>
            </a:pPr>
            <a:r>
              <a:rPr lang="en-US" sz="1600" b="1" dirty="0"/>
              <a:t> </a:t>
            </a:r>
            <a:r>
              <a:rPr lang="en-US" sz="1600" b="1" i="1" dirty="0" err="1"/>
              <a:t>pivot_table</a:t>
            </a:r>
            <a:r>
              <a:rPr lang="en-US" sz="1600" dirty="0"/>
              <a:t> is a reference to </a:t>
            </a:r>
            <a:r>
              <a:rPr lang="en-US" sz="1600" u="sng" dirty="0"/>
              <a:t>any</a:t>
            </a:r>
            <a:r>
              <a:rPr lang="en-US" sz="1600" dirty="0"/>
              <a:t> cell of the PivotTable (this is simply used to determine which PivotTable contains the data that you want).</a:t>
            </a:r>
          </a:p>
          <a:p>
            <a:pPr algn="just">
              <a:lnSpc>
                <a:spcPct val="100000"/>
              </a:lnSpc>
              <a:buFont typeface="Wingdings" panose="05000000000000000000" pitchFamily="2" charset="2"/>
              <a:buChar char="§"/>
            </a:pPr>
            <a:r>
              <a:rPr lang="en-US" sz="1600" b="1" dirty="0"/>
              <a:t> </a:t>
            </a:r>
            <a:r>
              <a:rPr lang="en-US" sz="1600" b="1" i="1" dirty="0"/>
              <a:t>field1, item1, field2, item2,…</a:t>
            </a:r>
            <a:r>
              <a:rPr lang="en-US" sz="1600" dirty="0"/>
              <a:t>  pairs of field names and item names that describe the data that you want to retrieve. Field names and names for items other than dates and numbers are enclosed in quotation marks. </a:t>
            </a:r>
          </a:p>
        </p:txBody>
      </p:sp>
      <p:sp>
        <p:nvSpPr>
          <p:cNvPr id="4" name="Slide Number Placeholder 3"/>
          <p:cNvSpPr>
            <a:spLocks noGrp="1"/>
          </p:cNvSpPr>
          <p:nvPr>
            <p:ph type="sldNum" sz="quarter" idx="12"/>
          </p:nvPr>
        </p:nvSpPr>
        <p:spPr/>
        <p:txBody>
          <a:bodyPr/>
          <a:lstStyle/>
          <a:p>
            <a:fld id="{1ADF169C-3A13-4720-8652-1240B672470F}" type="slidenum">
              <a:rPr lang="en-US" smtClean="0"/>
              <a:t>14</a:t>
            </a:fld>
            <a:endParaRPr lang="en-US" dirty="0"/>
          </a:p>
        </p:txBody>
      </p:sp>
    </p:spTree>
    <p:extLst>
      <p:ext uri="{BB962C8B-B14F-4D97-AF65-F5344CB8AC3E}">
        <p14:creationId xmlns:p14="http://schemas.microsoft.com/office/powerpoint/2010/main" val="994223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4509" y="364425"/>
            <a:ext cx="8079581" cy="1180986"/>
          </a:xfrm>
        </p:spPr>
        <p:txBody>
          <a:bodyPr>
            <a:normAutofit/>
          </a:bodyPr>
          <a:lstStyle/>
          <a:p>
            <a:r>
              <a:rPr lang="en-US" dirty="0"/>
              <a:t>Extracting Data from PivotTables</a:t>
            </a:r>
          </a:p>
        </p:txBody>
      </p:sp>
      <p:sp>
        <p:nvSpPr>
          <p:cNvPr id="3" name="Content Placeholder 2"/>
          <p:cNvSpPr>
            <a:spLocks noGrp="1"/>
          </p:cNvSpPr>
          <p:nvPr>
            <p:ph idx="1"/>
          </p:nvPr>
        </p:nvSpPr>
        <p:spPr>
          <a:xfrm>
            <a:off x="1890890" y="1680520"/>
            <a:ext cx="8466667" cy="4695145"/>
          </a:xfrm>
        </p:spPr>
        <p:txBody>
          <a:bodyPr>
            <a:normAutofit/>
          </a:bodyPr>
          <a:lstStyle/>
          <a:p>
            <a:pPr>
              <a:lnSpc>
                <a:spcPct val="100000"/>
              </a:lnSpc>
            </a:pPr>
            <a:r>
              <a:rPr lang="en-US" sz="2200" dirty="0"/>
              <a:t>If we want to use the value in cell B3 of the pivot table below:</a:t>
            </a:r>
          </a:p>
          <a:p>
            <a:pPr algn="ctr">
              <a:lnSpc>
                <a:spcPct val="100000"/>
              </a:lnSpc>
            </a:pPr>
            <a:r>
              <a:rPr lang="en-US" sz="2000" dirty="0">
                <a:solidFill>
                  <a:srgbClr val="000000"/>
                </a:solidFill>
                <a:latin typeface="Lucida Grande"/>
                <a:ea typeface="Lucida Grande"/>
                <a:cs typeface="Lucida Grande"/>
              </a:rPr>
              <a:t>=GETPIVOTDATA("Sum of Total Sales ($)",</a:t>
            </a:r>
            <a:r>
              <a:rPr lang="en-US" sz="2000" dirty="0">
                <a:solidFill>
                  <a:srgbClr val="003ECC"/>
                </a:solidFill>
                <a:latin typeface="Lucida Grande"/>
                <a:ea typeface="Lucida Grande"/>
                <a:cs typeface="Lucida Grande"/>
              </a:rPr>
              <a:t>$A$1</a:t>
            </a:r>
            <a:r>
              <a:rPr lang="en-US" sz="2000" dirty="0">
                <a:solidFill>
                  <a:srgbClr val="000000"/>
                </a:solidFill>
                <a:latin typeface="Lucida Grande"/>
                <a:ea typeface="Lucida Grande"/>
                <a:cs typeface="Lucida Grande"/>
              </a:rPr>
              <a:t>,"Copyright",</a:t>
            </a:r>
            <a:r>
              <a:rPr lang="en-US" sz="2000" dirty="0">
                <a:solidFill>
                  <a:srgbClr val="005109"/>
                </a:solidFill>
                <a:latin typeface="Lucida Grande"/>
                <a:ea typeface="Lucida Grande"/>
                <a:cs typeface="Lucida Grande"/>
              </a:rPr>
              <a:t>2009</a:t>
            </a:r>
            <a:r>
              <a:rPr lang="en-US" sz="2000" dirty="0">
                <a:solidFill>
                  <a:srgbClr val="000000"/>
                </a:solidFill>
                <a:latin typeface="Lucida Grande"/>
                <a:ea typeface="Lucida Grande"/>
                <a:cs typeface="Lucida Grande"/>
              </a:rPr>
              <a:t>)</a:t>
            </a:r>
          </a:p>
          <a:p>
            <a:pPr algn="ctr">
              <a:lnSpc>
                <a:spcPct val="100000"/>
              </a:lnSpc>
            </a:pPr>
            <a:r>
              <a:rPr lang="en-US" sz="2200" dirty="0"/>
              <a:t>Or</a:t>
            </a:r>
          </a:p>
          <a:p>
            <a:pPr marL="0" indent="0" algn="ctr">
              <a:lnSpc>
                <a:spcPct val="100000"/>
              </a:lnSpc>
              <a:buNone/>
            </a:pPr>
            <a:r>
              <a:rPr lang="en-US" sz="2000" dirty="0">
                <a:solidFill>
                  <a:srgbClr val="000000"/>
                </a:solidFill>
                <a:latin typeface="Lucida Grande"/>
                <a:ea typeface="Lucida Grande"/>
                <a:cs typeface="Lucida Grande"/>
              </a:rPr>
              <a:t>=GETPIVOTDATA("Sum of Total Sales ($)",</a:t>
            </a:r>
            <a:r>
              <a:rPr lang="en-US" sz="2000" dirty="0">
                <a:solidFill>
                  <a:srgbClr val="003ECC"/>
                </a:solidFill>
                <a:latin typeface="Lucida Grande"/>
                <a:ea typeface="Lucida Grande"/>
                <a:cs typeface="Lucida Grande"/>
              </a:rPr>
              <a:t>$A$1</a:t>
            </a:r>
            <a:r>
              <a:rPr lang="en-US" sz="2000" dirty="0">
                <a:solidFill>
                  <a:srgbClr val="000000"/>
                </a:solidFill>
                <a:latin typeface="Lucida Grande"/>
                <a:ea typeface="Lucida Grande"/>
                <a:cs typeface="Lucida Grande"/>
              </a:rPr>
              <a:t>,"Copyright",</a:t>
            </a:r>
            <a:r>
              <a:rPr lang="en-US" sz="2000" dirty="0">
                <a:solidFill>
                  <a:srgbClr val="005109"/>
                </a:solidFill>
                <a:latin typeface="Lucida Grande"/>
                <a:ea typeface="Lucida Grande"/>
                <a:cs typeface="Lucida Grande"/>
              </a:rPr>
              <a:t>A3</a:t>
            </a:r>
            <a:r>
              <a:rPr lang="en-US" sz="2000" dirty="0">
                <a:solidFill>
                  <a:srgbClr val="000000"/>
                </a:solidFill>
                <a:latin typeface="Lucida Grande"/>
                <a:ea typeface="Lucida Grande"/>
                <a:cs typeface="Lucida Grande"/>
              </a:rPr>
              <a:t>)</a:t>
            </a:r>
            <a:endParaRPr lang="en-US" sz="2200" dirty="0"/>
          </a:p>
        </p:txBody>
      </p:sp>
      <p:sp>
        <p:nvSpPr>
          <p:cNvPr id="4" name="Slide Number Placeholder 3"/>
          <p:cNvSpPr>
            <a:spLocks noGrp="1"/>
          </p:cNvSpPr>
          <p:nvPr>
            <p:ph type="sldNum" sz="quarter" idx="12"/>
          </p:nvPr>
        </p:nvSpPr>
        <p:spPr/>
        <p:txBody>
          <a:bodyPr/>
          <a:lstStyle/>
          <a:p>
            <a:fld id="{1ADF169C-3A13-4720-8652-1240B672470F}" type="slidenum">
              <a:rPr lang="en-US" smtClean="0"/>
              <a:t>15</a:t>
            </a:fld>
            <a:endParaRPr lang="en-US" dirty="0"/>
          </a:p>
        </p:txBody>
      </p:sp>
      <p:pic>
        <p:nvPicPr>
          <p:cNvPr id="6" name="Picture 5"/>
          <p:cNvPicPr>
            <a:picLocks noChangeAspect="1"/>
          </p:cNvPicPr>
          <p:nvPr/>
        </p:nvPicPr>
        <p:blipFill>
          <a:blip r:embed="rId2"/>
          <a:stretch>
            <a:fillRect/>
          </a:stretch>
        </p:blipFill>
        <p:spPr>
          <a:xfrm>
            <a:off x="4103280" y="3828337"/>
            <a:ext cx="4051300" cy="2095500"/>
          </a:xfrm>
          <a:prstGeom prst="rect">
            <a:avLst/>
          </a:prstGeom>
        </p:spPr>
      </p:pic>
    </p:spTree>
    <p:extLst>
      <p:ext uri="{BB962C8B-B14F-4D97-AF65-F5344CB8AC3E}">
        <p14:creationId xmlns:p14="http://schemas.microsoft.com/office/powerpoint/2010/main" val="1366784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I</a:t>
            </a:r>
          </a:p>
        </p:txBody>
      </p:sp>
      <p:sp>
        <p:nvSpPr>
          <p:cNvPr id="3" name="Text Placeholder 2"/>
          <p:cNvSpPr>
            <a:spLocks noGrp="1"/>
          </p:cNvSpPr>
          <p:nvPr>
            <p:ph type="body" idx="1"/>
          </p:nvPr>
        </p:nvSpPr>
        <p:spPr/>
        <p:txBody>
          <a:bodyPr/>
          <a:lstStyle/>
          <a:p>
            <a:r>
              <a:rPr lang="en-US" dirty="0"/>
              <a:t>SUMIF(S) and COUNTIF(S)</a:t>
            </a:r>
          </a:p>
          <a:p>
            <a:endParaRPr lang="en-US" dirty="0"/>
          </a:p>
          <a:p>
            <a:r>
              <a:rPr lang="en-US" i="1" dirty="0">
                <a:solidFill>
                  <a:srgbClr val="0000FF"/>
                </a:solidFill>
              </a:rPr>
              <a:t>Books – </a:t>
            </a:r>
            <a:r>
              <a:rPr lang="en-US" i="1" dirty="0" err="1">
                <a:solidFill>
                  <a:srgbClr val="0000FF"/>
                </a:solidFill>
              </a:rPr>
              <a:t>Appdx</a:t>
            </a:r>
            <a:r>
              <a:rPr lang="en-US" i="1" dirty="0">
                <a:solidFill>
                  <a:srgbClr val="0000FF"/>
                </a:solidFill>
              </a:rPr>
              <a:t> </a:t>
            </a:r>
            <a:r>
              <a:rPr lang="en-US" i="1" dirty="0" err="1">
                <a:solidFill>
                  <a:srgbClr val="0000FF"/>
                </a:solidFill>
              </a:rPr>
              <a:t>I.xlsx</a:t>
            </a:r>
            <a:endParaRPr lang="en-US" i="1" dirty="0">
              <a:solidFill>
                <a:srgbClr val="0000FF"/>
              </a:solidFill>
            </a:endParaRPr>
          </a:p>
        </p:txBody>
      </p:sp>
    </p:spTree>
    <p:extLst>
      <p:ext uri="{BB962C8B-B14F-4D97-AF65-F5344CB8AC3E}">
        <p14:creationId xmlns:p14="http://schemas.microsoft.com/office/powerpoint/2010/main" val="2566282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7336" y="1319971"/>
            <a:ext cx="8706118" cy="5535826"/>
          </a:xfrm>
        </p:spPr>
        <p:txBody>
          <a:bodyPr>
            <a:normAutofit/>
          </a:bodyPr>
          <a:lstStyle/>
          <a:p>
            <a:pPr marL="0" indent="0">
              <a:lnSpc>
                <a:spcPct val="100000"/>
              </a:lnSpc>
              <a:buNone/>
            </a:pPr>
            <a:r>
              <a:rPr lang="en-US" dirty="0"/>
              <a:t>The SUMIF function combines the SUM and IF functions: it sums the values that meet a certain condition:</a:t>
            </a:r>
            <a:endParaRPr lang="en-US" sz="1100" dirty="0"/>
          </a:p>
          <a:p>
            <a:pPr marL="0" indent="0" algn="ctr">
              <a:lnSpc>
                <a:spcPct val="100000"/>
              </a:lnSpc>
              <a:buNone/>
            </a:pPr>
            <a:r>
              <a:rPr lang="en-US" i="1" dirty="0"/>
              <a:t>=SUMIF (range, criteria, [</a:t>
            </a:r>
            <a:r>
              <a:rPr lang="en-US" i="1" dirty="0" err="1"/>
              <a:t>sum_range</a:t>
            </a:r>
            <a:r>
              <a:rPr lang="en-US" i="1" dirty="0"/>
              <a:t>])</a:t>
            </a:r>
          </a:p>
          <a:p>
            <a:pPr marL="0" indent="0" algn="ctr">
              <a:lnSpc>
                <a:spcPct val="100000"/>
              </a:lnSpc>
              <a:buNone/>
            </a:pPr>
            <a:endParaRPr lang="en-US" sz="900" i="1" u="sng" dirty="0"/>
          </a:p>
          <a:p>
            <a:pPr>
              <a:lnSpc>
                <a:spcPct val="100000"/>
              </a:lnSpc>
              <a:buFont typeface="Wingdings" panose="05000000000000000000" pitchFamily="2" charset="2"/>
              <a:buChar char="§"/>
            </a:pPr>
            <a:r>
              <a:rPr lang="en-US" sz="1900" dirty="0"/>
              <a:t> </a:t>
            </a:r>
            <a:r>
              <a:rPr lang="en-US" sz="1900" b="1" i="1" dirty="0"/>
              <a:t>range</a:t>
            </a:r>
            <a:r>
              <a:rPr lang="en-US" sz="1900" dirty="0"/>
              <a:t> is the range of cells to be evaluated with a criteria</a:t>
            </a:r>
          </a:p>
          <a:p>
            <a:pPr>
              <a:lnSpc>
                <a:spcPct val="100000"/>
              </a:lnSpc>
              <a:buFont typeface="Wingdings" panose="05000000000000000000" pitchFamily="2" charset="2"/>
              <a:buChar char="§"/>
            </a:pPr>
            <a:r>
              <a:rPr lang="en-US" sz="1900" dirty="0"/>
              <a:t> </a:t>
            </a:r>
            <a:r>
              <a:rPr lang="en-US" sz="1900" b="1" i="1" dirty="0"/>
              <a:t>criteria</a:t>
            </a:r>
            <a:r>
              <a:rPr lang="en-US" sz="1900" dirty="0"/>
              <a:t> is a number, date or expression in quotation marks which determines whether a given cell in the sum range is considered in the sum, e.g. “=10”, “&lt;=10”, “Full Time”, “&gt;=1/1/2000”</a:t>
            </a:r>
            <a:r>
              <a:rPr lang="en-US" sz="2000" b="1" dirty="0">
                <a:sym typeface="Wingdings" panose="05000000000000000000" pitchFamily="2" charset="2"/>
              </a:rPr>
              <a:t> </a:t>
            </a:r>
          </a:p>
          <a:p>
            <a:pPr marL="0" indent="0">
              <a:lnSpc>
                <a:spcPct val="100000"/>
              </a:lnSpc>
              <a:buNone/>
            </a:pPr>
            <a:r>
              <a:rPr lang="en-US" sz="2000" b="1" dirty="0">
                <a:sym typeface="Wingdings" panose="05000000000000000000" pitchFamily="2" charset="2"/>
              </a:rPr>
              <a:t> </a:t>
            </a:r>
            <a:r>
              <a:rPr lang="en-US" sz="2000" dirty="0">
                <a:solidFill>
                  <a:schemeClr val="accent1">
                    <a:lumMod val="75000"/>
                  </a:schemeClr>
                </a:solidFill>
                <a:sym typeface="Wingdings" panose="05000000000000000000" pitchFamily="2" charset="2"/>
              </a:rPr>
              <a:t>When, in criteria, we want to compare with the content of a cell we need to use &amp; before the cell reference. E.g. if the criteria is “greater than the value in cell A2”, we write </a:t>
            </a:r>
            <a:r>
              <a:rPr lang="en-US" sz="2000" dirty="0">
                <a:solidFill>
                  <a:srgbClr val="FF0000"/>
                </a:solidFill>
                <a:sym typeface="Wingdings" panose="05000000000000000000" pitchFamily="2" charset="2"/>
              </a:rPr>
              <a:t>“&gt;”&amp;A2 </a:t>
            </a:r>
            <a:r>
              <a:rPr lang="en-US" sz="2000" dirty="0">
                <a:solidFill>
                  <a:schemeClr val="accent1">
                    <a:lumMod val="75000"/>
                  </a:schemeClr>
                </a:solidFill>
                <a:sym typeface="Wingdings" panose="05000000000000000000" pitchFamily="2" charset="2"/>
              </a:rPr>
              <a:t>(not “&gt;A2” neither “&gt;&amp;A2”). If the criteria is “equal to the value of cell A2” we can write simply </a:t>
            </a:r>
            <a:r>
              <a:rPr lang="en-US" sz="2000" dirty="0">
                <a:solidFill>
                  <a:srgbClr val="FF0000"/>
                </a:solidFill>
                <a:sym typeface="Wingdings" panose="05000000000000000000" pitchFamily="2" charset="2"/>
              </a:rPr>
              <a:t>A2</a:t>
            </a:r>
            <a:r>
              <a:rPr lang="en-US" sz="2000" dirty="0">
                <a:solidFill>
                  <a:schemeClr val="accent1">
                    <a:lumMod val="75000"/>
                  </a:schemeClr>
                </a:solidFill>
                <a:sym typeface="Wingdings" panose="05000000000000000000" pitchFamily="2" charset="2"/>
              </a:rPr>
              <a:t> or </a:t>
            </a:r>
            <a:r>
              <a:rPr lang="en-US" sz="2000" dirty="0">
                <a:solidFill>
                  <a:srgbClr val="FF0000"/>
                </a:solidFill>
                <a:sym typeface="Wingdings" panose="05000000000000000000" pitchFamily="2" charset="2"/>
              </a:rPr>
              <a:t>“=“&amp;A2</a:t>
            </a:r>
            <a:r>
              <a:rPr lang="en-US" sz="2000" dirty="0">
                <a:solidFill>
                  <a:schemeClr val="accent1">
                    <a:lumMod val="75000"/>
                  </a:schemeClr>
                </a:solidFill>
                <a:sym typeface="Wingdings" panose="05000000000000000000" pitchFamily="2" charset="2"/>
              </a:rPr>
              <a:t>.</a:t>
            </a:r>
            <a:endParaRPr lang="en-US" sz="1900" dirty="0"/>
          </a:p>
          <a:p>
            <a:pPr>
              <a:lnSpc>
                <a:spcPct val="100000"/>
              </a:lnSpc>
              <a:buFont typeface="Wingdings" panose="05000000000000000000" pitchFamily="2" charset="2"/>
              <a:buChar char="§"/>
            </a:pPr>
            <a:r>
              <a:rPr lang="en-US" sz="1900" dirty="0"/>
              <a:t> </a:t>
            </a:r>
            <a:r>
              <a:rPr lang="en-US" sz="1900" b="1" i="1" dirty="0"/>
              <a:t>[</a:t>
            </a:r>
            <a:r>
              <a:rPr lang="en-US" sz="1900" b="1" i="1" dirty="0" err="1"/>
              <a:t>sum_range</a:t>
            </a:r>
            <a:r>
              <a:rPr lang="en-US" sz="1900" b="1" i="1" dirty="0"/>
              <a:t>] </a:t>
            </a:r>
            <a:r>
              <a:rPr lang="en-US" sz="1900" dirty="0"/>
              <a:t>is the range of cells to be summed. It is optional, and when omitted it is assumed to be the same as </a:t>
            </a:r>
            <a:r>
              <a:rPr lang="en-US" sz="1900" i="1" dirty="0"/>
              <a:t>range</a:t>
            </a:r>
            <a:r>
              <a:rPr lang="en-US" sz="1900" dirty="0"/>
              <a:t>.</a:t>
            </a:r>
          </a:p>
          <a:p>
            <a:pPr marL="0" indent="0">
              <a:lnSpc>
                <a:spcPct val="100000"/>
              </a:lnSpc>
              <a:buNone/>
            </a:pPr>
            <a:endParaRPr lang="en-US" sz="600" dirty="0"/>
          </a:p>
        </p:txBody>
      </p:sp>
      <p:sp>
        <p:nvSpPr>
          <p:cNvPr id="2" name="Title 1"/>
          <p:cNvSpPr>
            <a:spLocks noGrp="1"/>
          </p:cNvSpPr>
          <p:nvPr>
            <p:ph type="title"/>
          </p:nvPr>
        </p:nvSpPr>
        <p:spPr>
          <a:xfrm>
            <a:off x="2016920" y="375966"/>
            <a:ext cx="8079581" cy="793808"/>
          </a:xfrm>
        </p:spPr>
        <p:txBody>
          <a:bodyPr/>
          <a:lstStyle/>
          <a:p>
            <a:r>
              <a:rPr lang="en-US" dirty="0"/>
              <a:t>SUMIF function</a:t>
            </a:r>
          </a:p>
        </p:txBody>
      </p:sp>
      <p:sp>
        <p:nvSpPr>
          <p:cNvPr id="4" name="Slide Number Placeholder 3"/>
          <p:cNvSpPr>
            <a:spLocks noGrp="1"/>
          </p:cNvSpPr>
          <p:nvPr>
            <p:ph type="sldNum" sz="quarter" idx="12"/>
          </p:nvPr>
        </p:nvSpPr>
        <p:spPr/>
        <p:txBody>
          <a:bodyPr/>
          <a:lstStyle/>
          <a:p>
            <a:endParaRPr lang="en-US" dirty="0"/>
          </a:p>
          <a:p>
            <a:endParaRPr lang="en-US" dirty="0"/>
          </a:p>
          <a:p>
            <a:fld id="{FC6D7323-3F06-479E-ADC8-7BC729C5AF45}" type="slidenum">
              <a:rPr lang="en-US" smtClean="0"/>
              <a:t>17</a:t>
            </a:fld>
            <a:endParaRPr lang="en-US" dirty="0"/>
          </a:p>
        </p:txBody>
      </p:sp>
    </p:spTree>
    <p:extLst>
      <p:ext uri="{BB962C8B-B14F-4D97-AF65-F5344CB8AC3E}">
        <p14:creationId xmlns:p14="http://schemas.microsoft.com/office/powerpoint/2010/main" val="3219996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7336" y="1319971"/>
            <a:ext cx="8706118" cy="5535826"/>
          </a:xfrm>
        </p:spPr>
        <p:txBody>
          <a:bodyPr>
            <a:normAutofit/>
          </a:bodyPr>
          <a:lstStyle/>
          <a:p>
            <a:pPr marL="0" indent="0">
              <a:lnSpc>
                <a:spcPct val="100000"/>
              </a:lnSpc>
              <a:buNone/>
            </a:pPr>
            <a:r>
              <a:rPr lang="en-US" dirty="0"/>
              <a:t>When we have multiple criteria we can use:</a:t>
            </a:r>
          </a:p>
          <a:p>
            <a:pPr marL="0" indent="0">
              <a:lnSpc>
                <a:spcPct val="100000"/>
              </a:lnSpc>
              <a:buNone/>
            </a:pPr>
            <a:endParaRPr lang="en-US" dirty="0"/>
          </a:p>
          <a:p>
            <a:pPr marL="0" indent="0" algn="ctr">
              <a:lnSpc>
                <a:spcPct val="100000"/>
              </a:lnSpc>
              <a:buNone/>
            </a:pPr>
            <a:r>
              <a:rPr lang="en-US" i="1" dirty="0"/>
              <a:t>=SUMIFS (</a:t>
            </a:r>
            <a:r>
              <a:rPr lang="en-US" i="1" dirty="0" err="1"/>
              <a:t>sum_range</a:t>
            </a:r>
            <a:r>
              <a:rPr lang="en-US" i="1" dirty="0"/>
              <a:t>, range1, criteria1, range2, criteria2,…)</a:t>
            </a:r>
          </a:p>
          <a:p>
            <a:pPr marL="0" indent="0">
              <a:lnSpc>
                <a:spcPct val="100000"/>
              </a:lnSpc>
              <a:buNone/>
            </a:pPr>
            <a:endParaRPr lang="en-US" sz="1300" dirty="0"/>
          </a:p>
          <a:p>
            <a:pPr marL="0" indent="0">
              <a:lnSpc>
                <a:spcPct val="100000"/>
              </a:lnSpc>
              <a:buNone/>
            </a:pPr>
            <a:r>
              <a:rPr lang="en-US" sz="2000" dirty="0"/>
              <a:t>Note that </a:t>
            </a:r>
            <a:r>
              <a:rPr lang="en-US" sz="2000" i="1" dirty="0" err="1"/>
              <a:t>sum_range</a:t>
            </a:r>
            <a:r>
              <a:rPr lang="en-US" sz="2000" dirty="0"/>
              <a:t> is now the first argument. All arguments work the same way as in SUMIF.</a:t>
            </a:r>
          </a:p>
          <a:p>
            <a:pPr marL="0" indent="0">
              <a:lnSpc>
                <a:spcPct val="100000"/>
              </a:lnSpc>
              <a:buNone/>
            </a:pPr>
            <a:endParaRPr lang="en-US" sz="2000" dirty="0"/>
          </a:p>
          <a:p>
            <a:pPr marL="0" indent="0">
              <a:lnSpc>
                <a:spcPct val="100000"/>
              </a:lnSpc>
              <a:buNone/>
            </a:pPr>
            <a:endParaRPr lang="en-US" sz="2000" dirty="0"/>
          </a:p>
          <a:p>
            <a:pPr marL="0" indent="0">
              <a:lnSpc>
                <a:spcPct val="100000"/>
              </a:lnSpc>
              <a:buNone/>
            </a:pPr>
            <a:r>
              <a:rPr lang="en-US" sz="2200" b="1" dirty="0">
                <a:sym typeface="Wingdings" panose="05000000000000000000" pitchFamily="2" charset="2"/>
              </a:rPr>
              <a:t></a:t>
            </a:r>
            <a:r>
              <a:rPr lang="en-US" sz="2200" b="1" dirty="0"/>
              <a:t>AVERAGEIF and AVERAGEIFS functions work the same way:</a:t>
            </a:r>
          </a:p>
          <a:p>
            <a:pPr marL="0" indent="0" algn="ctr">
              <a:lnSpc>
                <a:spcPct val="100000"/>
              </a:lnSpc>
              <a:buNone/>
            </a:pPr>
            <a:r>
              <a:rPr lang="en-US" sz="2000" i="1" dirty="0"/>
              <a:t>=AVERAGEIF (range, criteria, [</a:t>
            </a:r>
            <a:r>
              <a:rPr lang="en-US" sz="2000" i="1" dirty="0" err="1"/>
              <a:t>average_range</a:t>
            </a:r>
            <a:r>
              <a:rPr lang="en-US" sz="2000" i="1" dirty="0"/>
              <a:t>])</a:t>
            </a:r>
          </a:p>
          <a:p>
            <a:pPr marL="0" indent="0" algn="ctr">
              <a:lnSpc>
                <a:spcPct val="100000"/>
              </a:lnSpc>
              <a:buNone/>
            </a:pPr>
            <a:r>
              <a:rPr lang="en-US" sz="2000" i="1" dirty="0"/>
              <a:t>=AVERAGEIFS (</a:t>
            </a:r>
            <a:r>
              <a:rPr lang="en-US" sz="2000" i="1" dirty="0" err="1"/>
              <a:t>average_range</a:t>
            </a:r>
            <a:r>
              <a:rPr lang="en-US" sz="2000" i="1" dirty="0"/>
              <a:t>, range1, criteria1, range2, criteria2,…)</a:t>
            </a:r>
          </a:p>
          <a:p>
            <a:pPr marL="0" indent="0" algn="ctr">
              <a:lnSpc>
                <a:spcPct val="100000"/>
              </a:lnSpc>
              <a:buNone/>
            </a:pPr>
            <a:endParaRPr lang="en-US" sz="2000" i="1" dirty="0"/>
          </a:p>
          <a:p>
            <a:pPr marL="0" indent="0" algn="ctr">
              <a:lnSpc>
                <a:spcPct val="100000"/>
              </a:lnSpc>
              <a:buNone/>
            </a:pPr>
            <a:endParaRPr lang="en-US" sz="800" i="1" u="sng" dirty="0"/>
          </a:p>
          <a:p>
            <a:pPr marL="0" indent="0">
              <a:lnSpc>
                <a:spcPct val="100000"/>
              </a:lnSpc>
              <a:buNone/>
            </a:pPr>
            <a:endParaRPr lang="en-US" sz="2200" b="1" dirty="0"/>
          </a:p>
        </p:txBody>
      </p:sp>
      <p:sp>
        <p:nvSpPr>
          <p:cNvPr id="2" name="Title 1"/>
          <p:cNvSpPr>
            <a:spLocks noGrp="1"/>
          </p:cNvSpPr>
          <p:nvPr>
            <p:ph type="title"/>
          </p:nvPr>
        </p:nvSpPr>
        <p:spPr>
          <a:xfrm>
            <a:off x="2016920" y="375966"/>
            <a:ext cx="8079581" cy="793808"/>
          </a:xfrm>
        </p:spPr>
        <p:txBody>
          <a:bodyPr/>
          <a:lstStyle/>
          <a:p>
            <a:r>
              <a:rPr lang="en-US" dirty="0"/>
              <a:t>SUMIF and SUMIFS functions</a:t>
            </a:r>
          </a:p>
        </p:txBody>
      </p:sp>
      <p:sp>
        <p:nvSpPr>
          <p:cNvPr id="4" name="Slide Number Placeholder 3"/>
          <p:cNvSpPr>
            <a:spLocks noGrp="1"/>
          </p:cNvSpPr>
          <p:nvPr>
            <p:ph type="sldNum" sz="quarter" idx="12"/>
          </p:nvPr>
        </p:nvSpPr>
        <p:spPr/>
        <p:txBody>
          <a:bodyPr/>
          <a:lstStyle/>
          <a:p>
            <a:endParaRPr lang="en-US" dirty="0"/>
          </a:p>
          <a:p>
            <a:fld id="{FC6D7323-3F06-479E-ADC8-7BC729C5AF45}" type="slidenum">
              <a:rPr lang="en-US" smtClean="0"/>
              <a:t>18</a:t>
            </a:fld>
            <a:endParaRPr lang="en-US" dirty="0"/>
          </a:p>
        </p:txBody>
      </p:sp>
    </p:spTree>
    <p:extLst>
      <p:ext uri="{BB962C8B-B14F-4D97-AF65-F5344CB8AC3E}">
        <p14:creationId xmlns:p14="http://schemas.microsoft.com/office/powerpoint/2010/main" val="4072484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6919" y="1383954"/>
            <a:ext cx="8356710" cy="5321646"/>
          </a:xfrm>
        </p:spPr>
        <p:txBody>
          <a:bodyPr>
            <a:normAutofit/>
          </a:bodyPr>
          <a:lstStyle/>
          <a:p>
            <a:pPr>
              <a:lnSpc>
                <a:spcPct val="100000"/>
              </a:lnSpc>
              <a:buFont typeface="Wingdings" panose="05000000000000000000" pitchFamily="2" charset="2"/>
              <a:buChar char="§"/>
            </a:pPr>
            <a:r>
              <a:rPr lang="en-US" sz="2200" i="1" dirty="0"/>
              <a:t> </a:t>
            </a:r>
            <a:r>
              <a:rPr lang="en-US" i="1" dirty="0"/>
              <a:t>COUNTIF (range, criteria)</a:t>
            </a:r>
          </a:p>
          <a:p>
            <a:pPr>
              <a:lnSpc>
                <a:spcPct val="100000"/>
              </a:lnSpc>
              <a:buFont typeface="Wingdings" panose="05000000000000000000" pitchFamily="2" charset="2"/>
              <a:buChar char="§"/>
            </a:pPr>
            <a:r>
              <a:rPr lang="en-US" i="1" dirty="0"/>
              <a:t> </a:t>
            </a:r>
            <a:r>
              <a:rPr lang="en-US" i="1"/>
              <a:t>COUNTIFS (range1</a:t>
            </a:r>
            <a:r>
              <a:rPr lang="en-US" i="1" dirty="0"/>
              <a:t>, criteria1, range2, criteria2,…)</a:t>
            </a:r>
          </a:p>
          <a:p>
            <a:pPr marL="0" indent="0">
              <a:lnSpc>
                <a:spcPct val="100000"/>
              </a:lnSpc>
              <a:buNone/>
            </a:pPr>
            <a:r>
              <a:rPr lang="en-US" dirty="0"/>
              <a:t>These work just as SUMIF and SUMIFS do.</a:t>
            </a:r>
          </a:p>
          <a:p>
            <a:pPr marL="0" indent="0">
              <a:lnSpc>
                <a:spcPct val="100000"/>
              </a:lnSpc>
              <a:buNone/>
            </a:pPr>
            <a:endParaRPr lang="en-US" dirty="0"/>
          </a:p>
          <a:p>
            <a:pPr>
              <a:lnSpc>
                <a:spcPct val="100000"/>
              </a:lnSpc>
              <a:buFont typeface="Wingdings" panose="05000000000000000000" pitchFamily="2" charset="2"/>
              <a:buChar char="§"/>
            </a:pPr>
            <a:r>
              <a:rPr lang="en-US" dirty="0"/>
              <a:t> </a:t>
            </a:r>
            <a:r>
              <a:rPr lang="en-US" i="1" dirty="0"/>
              <a:t>COUNT(range) </a:t>
            </a:r>
            <a:r>
              <a:rPr lang="en-US" dirty="0"/>
              <a:t>counts the number of cells in a range containing numbers</a:t>
            </a:r>
          </a:p>
          <a:p>
            <a:pPr>
              <a:lnSpc>
                <a:spcPct val="100000"/>
              </a:lnSpc>
              <a:buFont typeface="Wingdings" panose="05000000000000000000" pitchFamily="2" charset="2"/>
              <a:buChar char="§"/>
            </a:pPr>
            <a:r>
              <a:rPr lang="en-US" dirty="0"/>
              <a:t> </a:t>
            </a:r>
            <a:r>
              <a:rPr lang="en-US" i="1" dirty="0"/>
              <a:t>COUNTA(range) </a:t>
            </a:r>
            <a:r>
              <a:rPr lang="en-US" dirty="0"/>
              <a:t>counts the number of nonblank cells in a range</a:t>
            </a:r>
          </a:p>
          <a:p>
            <a:pPr>
              <a:lnSpc>
                <a:spcPct val="100000"/>
              </a:lnSpc>
              <a:buFont typeface="Wingdings" panose="05000000000000000000" pitchFamily="2" charset="2"/>
              <a:buChar char="§"/>
            </a:pPr>
            <a:r>
              <a:rPr lang="en-US" dirty="0"/>
              <a:t> </a:t>
            </a:r>
            <a:r>
              <a:rPr lang="en-US" i="1" dirty="0"/>
              <a:t>COUNTBLANK(range) </a:t>
            </a:r>
            <a:r>
              <a:rPr lang="en-US" dirty="0"/>
              <a:t>counts the number of blank cells in a range</a:t>
            </a:r>
          </a:p>
        </p:txBody>
      </p:sp>
      <p:sp>
        <p:nvSpPr>
          <p:cNvPr id="2" name="Title 1"/>
          <p:cNvSpPr>
            <a:spLocks noGrp="1"/>
          </p:cNvSpPr>
          <p:nvPr>
            <p:ph type="title"/>
          </p:nvPr>
        </p:nvSpPr>
        <p:spPr>
          <a:xfrm>
            <a:off x="2016920" y="375966"/>
            <a:ext cx="8079581" cy="793808"/>
          </a:xfrm>
        </p:spPr>
        <p:txBody>
          <a:bodyPr/>
          <a:lstStyle/>
          <a:p>
            <a:r>
              <a:rPr lang="en-US" dirty="0"/>
              <a:t>Counting functions</a:t>
            </a:r>
          </a:p>
        </p:txBody>
      </p:sp>
      <p:sp>
        <p:nvSpPr>
          <p:cNvPr id="4" name="Slide Number Placeholder 3"/>
          <p:cNvSpPr>
            <a:spLocks noGrp="1"/>
          </p:cNvSpPr>
          <p:nvPr>
            <p:ph type="sldNum" sz="quarter" idx="12"/>
          </p:nvPr>
        </p:nvSpPr>
        <p:spPr/>
        <p:txBody>
          <a:bodyPr/>
          <a:lstStyle/>
          <a:p>
            <a:fld id="{FC6D7323-3F06-479E-ADC8-7BC729C5AF45}" type="slidenum">
              <a:rPr lang="en-US" smtClean="0"/>
              <a:t>19</a:t>
            </a:fld>
            <a:endParaRPr lang="en-US"/>
          </a:p>
        </p:txBody>
      </p:sp>
    </p:spTree>
    <p:extLst>
      <p:ext uri="{BB962C8B-B14F-4D97-AF65-F5344CB8AC3E}">
        <p14:creationId xmlns:p14="http://schemas.microsoft.com/office/powerpoint/2010/main" val="4250617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Using these functions</a:t>
            </a:r>
            <a:r>
              <a:rPr lang="is-IS" dirty="0"/>
              <a:t>….</a:t>
            </a:r>
            <a:endParaRPr lang="en-US" dirty="0"/>
          </a:p>
        </p:txBody>
      </p:sp>
      <p:sp>
        <p:nvSpPr>
          <p:cNvPr id="3" name="Content Placeholder 2"/>
          <p:cNvSpPr>
            <a:spLocks noGrp="1"/>
          </p:cNvSpPr>
          <p:nvPr>
            <p:ph idx="1"/>
          </p:nvPr>
        </p:nvSpPr>
        <p:spPr>
          <a:xfrm>
            <a:off x="2031206" y="1524000"/>
            <a:ext cx="8228547" cy="5024284"/>
          </a:xfrm>
        </p:spPr>
        <p:txBody>
          <a:bodyPr>
            <a:normAutofit lnSpcReduction="10000"/>
          </a:bodyPr>
          <a:lstStyle/>
          <a:p>
            <a:pPr marL="457200" indent="-457200">
              <a:lnSpc>
                <a:spcPct val="100000"/>
              </a:lnSpc>
              <a:buFont typeface="+mj-lt"/>
              <a:buAutoNum type="alphaUcPeriod"/>
            </a:pPr>
            <a:r>
              <a:rPr lang="en-US" dirty="0"/>
              <a:t>(Similar to PivotTable 1): Create a table that shows the number of different books and the total book sales (revenue) by Copyright year.</a:t>
            </a:r>
            <a:endParaRPr lang="en-US" sz="1100" dirty="0"/>
          </a:p>
          <a:p>
            <a:pPr>
              <a:lnSpc>
                <a:spcPct val="100000"/>
              </a:lnSpc>
              <a:buFont typeface="+mj-lt"/>
              <a:buAutoNum type="alphaUcPeriod"/>
            </a:pPr>
            <a:endParaRPr lang="en-US" sz="1100" dirty="0"/>
          </a:p>
          <a:p>
            <a:pPr marL="457200" indent="-457200">
              <a:lnSpc>
                <a:spcPct val="100000"/>
              </a:lnSpc>
              <a:buFont typeface="+mj-lt"/>
              <a:buAutoNum type="alphaUcPeriod"/>
            </a:pPr>
            <a:r>
              <a:rPr lang="en-US" dirty="0"/>
              <a:t>(Same as PivotTable 5): Create a table that shows the number of book titles that had a revenue between 0 and </a:t>
            </a:r>
            <a:r>
              <a:rPr lang="en-US"/>
              <a:t>$999,999</a:t>
            </a:r>
            <a:r>
              <a:rPr lang="en-US" dirty="0"/>
              <a:t>, between </a:t>
            </a:r>
            <a:r>
              <a:rPr lang="en-US"/>
              <a:t>$1,000,000 </a:t>
            </a:r>
            <a:r>
              <a:rPr lang="en-US" dirty="0"/>
              <a:t>and </a:t>
            </a:r>
            <a:r>
              <a:rPr lang="en-US"/>
              <a:t>$1,999,000</a:t>
            </a:r>
            <a:r>
              <a:rPr lang="en-US" dirty="0"/>
              <a:t>, and so on…</a:t>
            </a:r>
          </a:p>
          <a:p>
            <a:pPr marL="457200" indent="-457200">
              <a:lnSpc>
                <a:spcPct val="100000"/>
              </a:lnSpc>
              <a:buFont typeface="+mj-lt"/>
              <a:buAutoNum type="alphaUcPeriod"/>
            </a:pPr>
            <a:endParaRPr lang="en-US" dirty="0"/>
          </a:p>
          <a:p>
            <a:pPr marL="457200" indent="-457200">
              <a:lnSpc>
                <a:spcPct val="100000"/>
              </a:lnSpc>
              <a:buFont typeface="+mj-lt"/>
              <a:buAutoNum type="alphaUcPeriod"/>
            </a:pPr>
            <a:r>
              <a:rPr lang="en-US" dirty="0"/>
              <a:t>(Same as PivotTable 2): shows the total book sales by Copyright year and by Discipline.</a:t>
            </a:r>
          </a:p>
          <a:p>
            <a:pPr marL="457200" indent="-457200">
              <a:lnSpc>
                <a:spcPct val="100000"/>
              </a:lnSpc>
              <a:buFont typeface="+mj-lt"/>
              <a:buAutoNum type="alphaUcPeriod"/>
            </a:pPr>
            <a:endParaRPr lang="en-US" dirty="0"/>
          </a:p>
          <a:p>
            <a:pPr marL="457200" indent="-457200">
              <a:lnSpc>
                <a:spcPct val="100000"/>
              </a:lnSpc>
              <a:buFont typeface="+mj-lt"/>
              <a:buAutoNum type="alphaUcPeriod"/>
            </a:pPr>
            <a:endParaRPr lang="en-US" dirty="0"/>
          </a:p>
        </p:txBody>
      </p:sp>
      <p:sp>
        <p:nvSpPr>
          <p:cNvPr id="4" name="Slide Number Placeholder 3"/>
          <p:cNvSpPr>
            <a:spLocks noGrp="1"/>
          </p:cNvSpPr>
          <p:nvPr>
            <p:ph type="sldNum" sz="quarter" idx="12"/>
          </p:nvPr>
        </p:nvSpPr>
        <p:spPr/>
        <p:txBody>
          <a:bodyPr/>
          <a:lstStyle/>
          <a:p>
            <a:fld id="{FC6D7323-3F06-479E-ADC8-7BC729C5AF45}" type="slidenum">
              <a:rPr lang="en-US" smtClean="0"/>
              <a:t>20</a:t>
            </a:fld>
            <a:endParaRPr lang="en-US"/>
          </a:p>
        </p:txBody>
      </p:sp>
    </p:spTree>
    <p:extLst>
      <p:ext uri="{BB962C8B-B14F-4D97-AF65-F5344CB8AC3E}">
        <p14:creationId xmlns:p14="http://schemas.microsoft.com/office/powerpoint/2010/main" val="345426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II</a:t>
            </a:r>
          </a:p>
        </p:txBody>
      </p:sp>
      <p:sp>
        <p:nvSpPr>
          <p:cNvPr id="3" name="Text Placeholder 2"/>
          <p:cNvSpPr>
            <a:spLocks noGrp="1"/>
          </p:cNvSpPr>
          <p:nvPr>
            <p:ph type="body" idx="1"/>
          </p:nvPr>
        </p:nvSpPr>
        <p:spPr>
          <a:xfrm>
            <a:off x="2024634" y="4836632"/>
            <a:ext cx="7839033" cy="1645920"/>
          </a:xfrm>
        </p:spPr>
        <p:txBody>
          <a:bodyPr/>
          <a:lstStyle/>
          <a:p>
            <a:r>
              <a:rPr lang="en-US" dirty="0"/>
              <a:t>Freezing panes and printing Excel worksheets</a:t>
            </a:r>
          </a:p>
        </p:txBody>
      </p:sp>
    </p:spTree>
    <p:extLst>
      <p:ext uri="{BB962C8B-B14F-4D97-AF65-F5344CB8AC3E}">
        <p14:creationId xmlns:p14="http://schemas.microsoft.com/office/powerpoint/2010/main" val="357354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2" y="191141"/>
            <a:ext cx="8079581" cy="1016229"/>
          </a:xfrm>
        </p:spPr>
        <p:txBody>
          <a:bodyPr/>
          <a:lstStyle/>
          <a:p>
            <a:r>
              <a:rPr lang="en-US" dirty="0"/>
              <a:t>Freeze Panes</a:t>
            </a:r>
          </a:p>
        </p:txBody>
      </p:sp>
      <p:sp>
        <p:nvSpPr>
          <p:cNvPr id="3" name="Content Placeholder 2"/>
          <p:cNvSpPr>
            <a:spLocks noGrp="1"/>
          </p:cNvSpPr>
          <p:nvPr>
            <p:ph idx="1"/>
          </p:nvPr>
        </p:nvSpPr>
        <p:spPr>
          <a:xfrm>
            <a:off x="1716024" y="1030311"/>
            <a:ext cx="8689086" cy="5541940"/>
          </a:xfrm>
        </p:spPr>
        <p:txBody>
          <a:bodyPr>
            <a:noAutofit/>
          </a:bodyPr>
          <a:lstStyle/>
          <a:p>
            <a:pPr marL="0" indent="0" algn="just">
              <a:lnSpc>
                <a:spcPct val="110000"/>
              </a:lnSpc>
              <a:buNone/>
            </a:pPr>
            <a:r>
              <a:rPr lang="en-US" sz="2000" dirty="0"/>
              <a:t>If you need Microsoft Excel to keep specific rows or columns visible when you scroll in the worksheet, you can use the Freeze Panes tool.</a:t>
            </a:r>
          </a:p>
          <a:p>
            <a:pPr marL="0" indent="0" algn="just">
              <a:lnSpc>
                <a:spcPct val="110000"/>
              </a:lnSpc>
              <a:buNone/>
            </a:pPr>
            <a:endParaRPr lang="en-US" sz="2000" dirty="0"/>
          </a:p>
          <a:p>
            <a:pPr marL="0" indent="0" algn="just">
              <a:lnSpc>
                <a:spcPct val="110000"/>
              </a:lnSpc>
              <a:buNone/>
            </a:pPr>
            <a:endParaRPr lang="en-US" sz="2000" dirty="0"/>
          </a:p>
          <a:p>
            <a:pPr marL="0" indent="0" algn="just">
              <a:lnSpc>
                <a:spcPct val="110000"/>
              </a:lnSpc>
              <a:buNone/>
            </a:pPr>
            <a:endParaRPr lang="en-US" sz="2000" dirty="0"/>
          </a:p>
          <a:p>
            <a:pPr marL="0" indent="0" algn="just">
              <a:lnSpc>
                <a:spcPct val="110000"/>
              </a:lnSpc>
              <a:buNone/>
            </a:pPr>
            <a:endParaRPr lang="en-US" sz="2000" dirty="0"/>
          </a:p>
          <a:p>
            <a:pPr marL="0" indent="0" algn="just">
              <a:lnSpc>
                <a:spcPct val="110000"/>
              </a:lnSpc>
              <a:buNone/>
            </a:pPr>
            <a:endParaRPr lang="en-US" sz="2000" dirty="0"/>
          </a:p>
          <a:p>
            <a:pPr marL="0" indent="0" algn="just">
              <a:lnSpc>
                <a:spcPct val="110000"/>
              </a:lnSpc>
              <a:buNone/>
            </a:pPr>
            <a:endParaRPr lang="en-US" sz="1800" dirty="0"/>
          </a:p>
          <a:p>
            <a:pPr lvl="1" algn="just">
              <a:lnSpc>
                <a:spcPct val="110000"/>
              </a:lnSpc>
              <a:buFont typeface="Wingdings" panose="05000000000000000000" pitchFamily="2" charset="2"/>
              <a:buChar char="§"/>
            </a:pPr>
            <a:r>
              <a:rPr lang="en-US" sz="2000" dirty="0"/>
              <a:t>To lock more than one row or column, or to lock both rows and columns at the same time, select the cell below the row(s) you want to freeze and to the right of any column(s) you want to freeze, and click </a:t>
            </a:r>
            <a:r>
              <a:rPr lang="en-US" sz="2000" b="1" dirty="0"/>
              <a:t>Freeze Panes -&gt; Freeze Panes</a:t>
            </a:r>
            <a:r>
              <a:rPr lang="en-US" sz="2000" dirty="0"/>
              <a:t>.</a:t>
            </a:r>
          </a:p>
          <a:p>
            <a:pPr lvl="1" algn="just">
              <a:lnSpc>
                <a:spcPct val="110000"/>
              </a:lnSpc>
              <a:buFont typeface="Wingdings" panose="05000000000000000000" pitchFamily="2" charset="2"/>
              <a:buChar char="§"/>
            </a:pPr>
            <a:r>
              <a:rPr lang="en-US" sz="2000" dirty="0"/>
              <a:t>To lock multiple rows (starting with row 1), select the row below the last row you want frozen, and then click </a:t>
            </a:r>
            <a:r>
              <a:rPr lang="en-US" sz="2000" b="1" dirty="0"/>
              <a:t>Freeze Panes -&gt; Freeze Panes</a:t>
            </a:r>
            <a:r>
              <a:rPr lang="en-US" sz="2000" dirty="0"/>
              <a:t> (similarly for columns).</a:t>
            </a:r>
          </a:p>
        </p:txBody>
      </p:sp>
      <p:pic>
        <p:nvPicPr>
          <p:cNvPr id="5" name="Picture 4"/>
          <p:cNvPicPr>
            <a:picLocks noChangeAspect="1"/>
          </p:cNvPicPr>
          <p:nvPr/>
        </p:nvPicPr>
        <p:blipFill>
          <a:blip r:embed="rId2"/>
          <a:stretch>
            <a:fillRect/>
          </a:stretch>
        </p:blipFill>
        <p:spPr>
          <a:xfrm>
            <a:off x="3700243" y="1820558"/>
            <a:ext cx="4628667" cy="2777200"/>
          </a:xfrm>
          <a:prstGeom prst="rect">
            <a:avLst/>
          </a:prstGeom>
        </p:spPr>
      </p:pic>
      <p:sp>
        <p:nvSpPr>
          <p:cNvPr id="8" name="Freeform 7"/>
          <p:cNvSpPr/>
          <p:nvPr/>
        </p:nvSpPr>
        <p:spPr>
          <a:xfrm>
            <a:off x="8066469" y="3039414"/>
            <a:ext cx="1197735" cy="1558344"/>
          </a:xfrm>
          <a:custGeom>
            <a:avLst/>
            <a:gdLst>
              <a:gd name="connsiteX0" fmla="*/ 0 w 1086587"/>
              <a:gd name="connsiteY0" fmla="*/ 67122 h 1535314"/>
              <a:gd name="connsiteX1" fmla="*/ 1004553 w 1086587"/>
              <a:gd name="connsiteY1" fmla="*/ 170153 h 1535314"/>
              <a:gd name="connsiteX2" fmla="*/ 1017431 w 1086587"/>
              <a:gd name="connsiteY2" fmla="*/ 1535314 h 1535314"/>
            </a:gdLst>
            <a:ahLst/>
            <a:cxnLst>
              <a:cxn ang="0">
                <a:pos x="connsiteX0" y="connsiteY0"/>
              </a:cxn>
              <a:cxn ang="0">
                <a:pos x="connsiteX1" y="connsiteY1"/>
              </a:cxn>
              <a:cxn ang="0">
                <a:pos x="connsiteX2" y="connsiteY2"/>
              </a:cxn>
            </a:cxnLst>
            <a:rect l="l" t="t" r="r" b="b"/>
            <a:pathLst>
              <a:path w="1086587" h="1535314">
                <a:moveTo>
                  <a:pt x="0" y="67122"/>
                </a:moveTo>
                <a:cubicBezTo>
                  <a:pt x="417490" y="-3712"/>
                  <a:pt x="834981" y="-74546"/>
                  <a:pt x="1004553" y="170153"/>
                </a:cubicBezTo>
                <a:cubicBezTo>
                  <a:pt x="1174125" y="414852"/>
                  <a:pt x="1030310" y="1307787"/>
                  <a:pt x="1017431" y="1535314"/>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4885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1" y="1"/>
            <a:ext cx="8079581" cy="1016229"/>
          </a:xfrm>
        </p:spPr>
        <p:txBody>
          <a:bodyPr/>
          <a:lstStyle/>
          <a:p>
            <a:r>
              <a:rPr lang="en-US" dirty="0"/>
              <a:t>Printing Worksheets</a:t>
            </a:r>
          </a:p>
        </p:txBody>
      </p:sp>
      <p:sp>
        <p:nvSpPr>
          <p:cNvPr id="3" name="Content Placeholder 2"/>
          <p:cNvSpPr>
            <a:spLocks noGrp="1"/>
          </p:cNvSpPr>
          <p:nvPr>
            <p:ph idx="1"/>
          </p:nvPr>
        </p:nvSpPr>
        <p:spPr>
          <a:xfrm>
            <a:off x="1849491" y="1016229"/>
            <a:ext cx="8555618" cy="5841770"/>
          </a:xfrm>
        </p:spPr>
        <p:txBody>
          <a:bodyPr>
            <a:noAutofit/>
          </a:bodyPr>
          <a:lstStyle/>
          <a:p>
            <a:pPr marL="0" lvl="1" indent="0" algn="just">
              <a:lnSpc>
                <a:spcPct val="100000"/>
              </a:lnSpc>
              <a:buNone/>
            </a:pPr>
            <a:r>
              <a:rPr lang="en-US" sz="2200" dirty="0"/>
              <a:t>Explore the Page Layout menu to learn how you can print a good looking Excel spreadsheet.</a:t>
            </a:r>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endParaRPr lang="en-US" sz="2200" dirty="0"/>
          </a:p>
          <a:p>
            <a:pPr marL="0" lvl="1" indent="0" algn="just">
              <a:lnSpc>
                <a:spcPct val="100000"/>
              </a:lnSpc>
              <a:buNone/>
            </a:pPr>
            <a:r>
              <a:rPr lang="en-US" sz="2000" dirty="0">
                <a:sym typeface="Wingdings" panose="05000000000000000000" pitchFamily="2" charset="2"/>
              </a:rPr>
              <a:t></a:t>
            </a:r>
            <a:r>
              <a:rPr lang="en-US" sz="2000" dirty="0"/>
              <a:t>To see the effect of these definitions, go to </a:t>
            </a:r>
            <a:r>
              <a:rPr lang="en-US" sz="2000" b="1" dirty="0"/>
              <a:t>File-&gt;Print </a:t>
            </a:r>
            <a:r>
              <a:rPr lang="en-US" sz="2000" dirty="0"/>
              <a:t>where you will have a preview of the printed pages.</a:t>
            </a:r>
          </a:p>
        </p:txBody>
      </p:sp>
      <p:pic>
        <p:nvPicPr>
          <p:cNvPr id="6" name="Picture 5"/>
          <p:cNvPicPr>
            <a:picLocks noChangeAspect="1"/>
          </p:cNvPicPr>
          <p:nvPr/>
        </p:nvPicPr>
        <p:blipFill rotWithShape="1">
          <a:blip r:embed="rId2"/>
          <a:srcRect t="6281"/>
          <a:stretch/>
        </p:blipFill>
        <p:spPr>
          <a:xfrm>
            <a:off x="1849491" y="1906073"/>
            <a:ext cx="8555618" cy="1635616"/>
          </a:xfrm>
          <a:prstGeom prst="rect">
            <a:avLst/>
          </a:prstGeom>
        </p:spPr>
      </p:pic>
      <p:sp>
        <p:nvSpPr>
          <p:cNvPr id="7" name="Line Callout 1 6"/>
          <p:cNvSpPr/>
          <p:nvPr/>
        </p:nvSpPr>
        <p:spPr>
          <a:xfrm>
            <a:off x="1912131" y="3768306"/>
            <a:ext cx="2469224" cy="1094704"/>
          </a:xfrm>
          <a:prstGeom prst="borderCallout1">
            <a:avLst>
              <a:gd name="adj1" fmla="val 1028"/>
              <a:gd name="adj2" fmla="val 50109"/>
              <a:gd name="adj3" fmla="val -69440"/>
              <a:gd name="adj4" fmla="val 91710"/>
            </a:avLst>
          </a:prstGeom>
          <a:ln w="28575">
            <a:headEnd type="none" w="med" len="med"/>
            <a:tailEnd type="arrow" w="med" len="med"/>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To print a certain area, select the area you want to print and click </a:t>
            </a:r>
            <a:r>
              <a:rPr lang="en-US" b="1" dirty="0"/>
              <a:t>Print Area-&gt;Set print area</a:t>
            </a:r>
          </a:p>
        </p:txBody>
      </p:sp>
      <p:sp>
        <p:nvSpPr>
          <p:cNvPr id="9" name="Line Callout 1 8"/>
          <p:cNvSpPr/>
          <p:nvPr/>
        </p:nvSpPr>
        <p:spPr>
          <a:xfrm>
            <a:off x="8388440" y="4375469"/>
            <a:ext cx="2109989" cy="1094704"/>
          </a:xfrm>
          <a:prstGeom prst="borderCallout1">
            <a:avLst>
              <a:gd name="adj1" fmla="val 1028"/>
              <a:gd name="adj2" fmla="val 50109"/>
              <a:gd name="adj3" fmla="val -106040"/>
              <a:gd name="adj4" fmla="val 62614"/>
            </a:avLst>
          </a:prstGeom>
          <a:ln w="28575">
            <a:headEnd type="none" w="med" len="med"/>
            <a:tailEnd type="arrow" w="med" len="med"/>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To print the gridlines or row/column headings, check the respective </a:t>
            </a:r>
            <a:r>
              <a:rPr lang="en-US" b="1" dirty="0"/>
              <a:t>Print</a:t>
            </a:r>
            <a:r>
              <a:rPr lang="en-US" dirty="0"/>
              <a:t>.</a:t>
            </a:r>
            <a:endParaRPr lang="en-US" b="1" dirty="0"/>
          </a:p>
        </p:txBody>
      </p:sp>
      <p:cxnSp>
        <p:nvCxnSpPr>
          <p:cNvPr id="11" name="Straight Arrow Connector 10"/>
          <p:cNvCxnSpPr>
            <a:stCxn id="9" idx="3"/>
          </p:cNvCxnSpPr>
          <p:nvPr/>
        </p:nvCxnSpPr>
        <p:spPr>
          <a:xfrm flipH="1" flipV="1">
            <a:off x="9019506" y="3168201"/>
            <a:ext cx="423928" cy="1207268"/>
          </a:xfrm>
          <a:prstGeom prst="straightConnector1">
            <a:avLst/>
          </a:prstGeom>
          <a:ln w="28575">
            <a:solidFill>
              <a:schemeClr val="accent4"/>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Line Callout 1 12"/>
          <p:cNvSpPr/>
          <p:nvPr/>
        </p:nvSpPr>
        <p:spPr>
          <a:xfrm>
            <a:off x="4870705" y="3740439"/>
            <a:ext cx="2949307" cy="2009357"/>
          </a:xfrm>
          <a:prstGeom prst="borderCallout1">
            <a:avLst>
              <a:gd name="adj1" fmla="val 1028"/>
              <a:gd name="adj2" fmla="val 50109"/>
              <a:gd name="adj3" fmla="val -44111"/>
              <a:gd name="adj4" fmla="val 76709"/>
            </a:avLst>
          </a:prstGeom>
          <a:ln w="28575">
            <a:headEnd type="none" w="med" len="med"/>
            <a:tailEnd type="arrow" w="med" len="med"/>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If the paper orientation is Portrait, to make sure the content all fits in one page and it is not split, select </a:t>
            </a:r>
            <a:r>
              <a:rPr lang="en-US" b="1" dirty="0"/>
              <a:t>Width-&gt;1 page</a:t>
            </a:r>
            <a:r>
              <a:rPr lang="en-US" dirty="0"/>
              <a:t>. If you chose Landscape, then you would do the same but with </a:t>
            </a:r>
            <a:r>
              <a:rPr lang="en-US" b="1" dirty="0"/>
              <a:t>Height</a:t>
            </a:r>
            <a:r>
              <a:rPr lang="en-US" dirty="0"/>
              <a:t>.</a:t>
            </a:r>
            <a:endParaRPr lang="en-US" b="1" dirty="0"/>
          </a:p>
        </p:txBody>
      </p:sp>
    </p:spTree>
    <p:extLst>
      <p:ext uri="{BB962C8B-B14F-4D97-AF65-F5344CB8AC3E}">
        <p14:creationId xmlns:p14="http://schemas.microsoft.com/office/powerpoint/2010/main" val="4203726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1643</Words>
  <Application>Microsoft Office PowerPoint</Application>
  <PresentationFormat>Widescreen</PresentationFormat>
  <Paragraphs>165</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Lucida Grande</vt:lpstr>
      <vt:lpstr>Wingdings</vt:lpstr>
      <vt:lpstr>Office Theme</vt:lpstr>
      <vt:lpstr>Excel II - PivotTables</vt:lpstr>
      <vt:lpstr>Outline</vt:lpstr>
      <vt:lpstr>Pivot tables</vt:lpstr>
      <vt:lpstr>The Sociology books</vt:lpstr>
      <vt:lpstr>What is a PivotTable?</vt:lpstr>
      <vt:lpstr>PivotTables</vt:lpstr>
      <vt:lpstr>PivotTable</vt:lpstr>
      <vt:lpstr>PivotTables</vt:lpstr>
      <vt:lpstr>Calculated Fields</vt:lpstr>
      <vt:lpstr>More PivotTables</vt:lpstr>
      <vt:lpstr>Grouping numeric fields in PivotTables</vt:lpstr>
      <vt:lpstr>PivotCharts</vt:lpstr>
      <vt:lpstr>PivotCharts</vt:lpstr>
      <vt:lpstr>Extracting Data from PivotTables</vt:lpstr>
      <vt:lpstr>Extracting Data from PivotTables</vt:lpstr>
      <vt:lpstr>Appendix I</vt:lpstr>
      <vt:lpstr>SUMIF function</vt:lpstr>
      <vt:lpstr>SUMIF and SUMIFS functions</vt:lpstr>
      <vt:lpstr>Counting functions</vt:lpstr>
      <vt:lpstr>Using these functions….</vt:lpstr>
      <vt:lpstr>Appendix II</vt:lpstr>
      <vt:lpstr>Freeze Panes</vt:lpstr>
      <vt:lpstr>Printing Worksheets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II - PivotTables</dc:title>
  <dc:creator>Disha Parkhi</dc:creator>
  <cp:lastModifiedBy>Disha Parkhi</cp:lastModifiedBy>
  <cp:revision>1</cp:revision>
  <dcterms:created xsi:type="dcterms:W3CDTF">2020-08-22T20:38:18Z</dcterms:created>
  <dcterms:modified xsi:type="dcterms:W3CDTF">2020-08-22T20:40:05Z</dcterms:modified>
</cp:coreProperties>
</file>