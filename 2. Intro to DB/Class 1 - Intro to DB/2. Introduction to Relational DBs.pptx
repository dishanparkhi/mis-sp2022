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328" r:id="rId3"/>
    <p:sldId id="318" r:id="rId4"/>
    <p:sldId id="311" r:id="rId5"/>
    <p:sldId id="310" r:id="rId6"/>
    <p:sldId id="329" r:id="rId7"/>
    <p:sldId id="324" r:id="rId8"/>
    <p:sldId id="312" r:id="rId9"/>
    <p:sldId id="325" r:id="rId10"/>
    <p:sldId id="326" r:id="rId11"/>
    <p:sldId id="327" r:id="rId12"/>
    <p:sldId id="31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92008D-43F3-4264-941F-487151B80BC1}">
          <p14:sldIdLst>
            <p14:sldId id="257"/>
            <p14:sldId id="328"/>
          </p14:sldIdLst>
        </p14:section>
        <p14:section name="Relational DB" id="{B2E03165-1B7A-1747-9E07-4716D687A85F}">
          <p14:sldIdLst>
            <p14:sldId id="318"/>
            <p14:sldId id="311"/>
            <p14:sldId id="310"/>
            <p14:sldId id="329"/>
            <p14:sldId id="324"/>
            <p14:sldId id="312"/>
            <p14:sldId id="325"/>
            <p14:sldId id="326"/>
            <p14:sldId id="327"/>
            <p14:sldId id="31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15B00-2B54-4AFD-9A99-B9D6B1DE418F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6942D-98B9-429F-B419-6FC824339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05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D6CA-5B07-41E0-A7A1-3547E26766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3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D6CA-5B07-41E0-A7A1-3547E26766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86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74D6CA-5B07-41E0-A7A1-3547E26766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47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A0D11-0A91-4E5D-A58B-01A3CA107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7E4B9-AD43-4D1C-9389-9F96E27AF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F63F8-E348-45D7-A24A-BA6045E9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8957-F650-4D9D-ADDE-413CCA2AAA7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6E052-1113-4E21-AA7B-EF143F78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D088F-856F-4DE7-9B38-B9AFF4E0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A398-D87D-4F48-AA47-4FA092C0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37C9-E29D-49B1-97F9-CE76E5986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6D57F-1BD8-4A02-9C1D-BB9B01FDB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98F03-84E0-4B5E-A9D9-C5CF51AD7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8957-F650-4D9D-ADDE-413CCA2AAA7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A45AC-7A23-4A4B-9450-FFE36F28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621CB-ED34-4770-9003-47D3C7BC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A398-D87D-4F48-AA47-4FA092C0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14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50634-8C19-4E1C-B363-97DC2164A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0AF26-A44F-49B3-B44B-CF33798BC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EF7AE-C909-468E-9B64-5C0A8FD36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8957-F650-4D9D-ADDE-413CCA2AAA7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763BC-17E9-499E-B33D-75ED10321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D0D1D-5D9D-4647-9B01-BBCFCB25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A398-D87D-4F48-AA47-4FA092C0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1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27DBC-B984-452B-9995-5BE265ABA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05BE2-1422-49BA-A95E-07D6AD73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F96DF-AC76-444D-B6AB-6551C09E5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15C7A-6420-4FFB-9DBA-8222EF0A7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8957-F650-4D9D-ADDE-413CCA2AAA7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32F7D-626A-417F-9FAB-DE78E8061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A7756-534B-48F9-846E-9DC771CD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A398-D87D-4F48-AA47-4FA092C0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7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7E3D-929B-4C58-9774-618C5378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EFA48-AFEE-4BB1-9175-F6A495E38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3A529-1892-48D6-BE23-C79038526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DAC15-D0F4-4AB8-89F6-55029291A3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4F3AE-DDB9-4E6E-8C99-9186DF2842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60C8C4-7D61-458B-97B0-EC53856A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8957-F650-4D9D-ADDE-413CCA2AAA7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98F3A2-51CA-41ED-8A36-B87628B0C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CEAE9-2E7B-45F7-AC15-B04EAE2C1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A398-D87D-4F48-AA47-4FA092C0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23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71C39-8D73-40D8-9D5F-17ADDD47F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73C83-1C9A-47A1-98D6-1F35564F9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8957-F650-4D9D-ADDE-413CCA2AAA7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37D6A-F84A-4A25-9D5F-E808B5AE7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27B8D-720C-4FAB-9C40-9DCAFE15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A398-D87D-4F48-AA47-4FA092C0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94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A5AC3-93A2-4FA5-B435-8AD5BC9B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8957-F650-4D9D-ADDE-413CCA2AAA7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83594-C178-433E-B428-F7B5C572A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D907D-25E6-4399-BDA4-D770469C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A398-D87D-4F48-AA47-4FA092C0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3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E8DD-A8EE-4045-B931-CCA76293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7ACC8-95E6-4821-BD22-C9ADEBA41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82DE7B-DDFF-41DD-9FAE-E974B1A25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9A148-A796-4366-AF55-C87F1D1A5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8957-F650-4D9D-ADDE-413CCA2AAA7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CB02E-45AF-417D-A218-B4BA0D2CC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B6267-810B-4DB3-8700-C0D13ED01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A398-D87D-4F48-AA47-4FA092C0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65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4547-3841-414B-98F7-9833A098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B76E8-2119-42E1-8A85-43D6B598B2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117AB-8E66-4E4F-8F52-7962E11B9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B87D7-6EC5-4BDE-AC61-2064A6781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8957-F650-4D9D-ADDE-413CCA2AAA7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63AC1-746D-408B-8650-05F791DA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887AC-004C-41C6-B62A-45817488E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A398-D87D-4F48-AA47-4FA092C0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2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1C47E-4D60-41BF-A3C2-CF792FC6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4F9C9-DE7D-4E5D-B586-57CC04F1C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D4EB6-A493-44CB-8F84-EA7AA7257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8957-F650-4D9D-ADDE-413CCA2AAA7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39A43-FDE4-4209-832D-F7266D907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84358-242E-4453-A6E2-FC92AF696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A398-D87D-4F48-AA47-4FA092C0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1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F7AF62-8C52-4952-9CA7-7B32E3B87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8448D-5761-4C9E-9336-96E2B83917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4AB91-12AC-4831-BC94-C3DE9C08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8957-F650-4D9D-ADDE-413CCA2AAA7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BFC90-2AAA-42F2-8268-20646E561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CC7E2-0D5C-40EC-86C3-A0D607FC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CA398-D87D-4F48-AA47-4FA092C0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13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618F8F-22C2-4798-A3AA-FB03723B8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D85B6-E1F5-4757-BF4A-D56327FAB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DD99-7744-4EF4-ADFC-382C3EAC7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C8957-F650-4D9D-ADDE-413CCA2AAA7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8696B-A94E-4892-B4E1-5D23BC206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9FE32-C06B-4956-B064-0655B3DC0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CA398-D87D-4F48-AA47-4FA092C03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4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Introduction to Relational DBs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635" y="4198409"/>
            <a:ext cx="8038719" cy="1645920"/>
          </a:xfrm>
        </p:spPr>
        <p:txBody>
          <a:bodyPr>
            <a:normAutofit/>
          </a:bodyPr>
          <a:lstStyle/>
          <a:p>
            <a:r>
              <a:rPr lang="en-US" b="1" dirty="0"/>
              <a:t>Management Information Systems</a:t>
            </a:r>
          </a:p>
          <a:p>
            <a:r>
              <a:rPr lang="en-US" sz="2000" dirty="0"/>
              <a:t>Disha Parkhi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9496" y="229078"/>
            <a:ext cx="8079581" cy="1213357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2076554" y="1863331"/>
            <a:ext cx="4354265" cy="195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Relational databases</a:t>
            </a: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Table properties</a:t>
            </a: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Primary keys</a:t>
            </a: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</a:t>
            </a:fld>
            <a:endParaRPr lang="en-US"/>
          </a:p>
        </p:txBody>
      </p:sp>
      <p:sp>
        <p:nvSpPr>
          <p:cNvPr id="5" name="Content Placeholder 8"/>
          <p:cNvSpPr txBox="1">
            <a:spLocks/>
          </p:cNvSpPr>
          <p:nvPr/>
        </p:nvSpPr>
        <p:spPr>
          <a:xfrm>
            <a:off x="6961909" y="1993392"/>
            <a:ext cx="3126018" cy="1826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chemeClr val="accent1"/>
                </a:solidFill>
              </a:rPr>
              <a:t>Reading:</a:t>
            </a:r>
            <a:r>
              <a:rPr lang="en-US" dirty="0"/>
              <a:t> </a:t>
            </a:r>
          </a:p>
          <a:p>
            <a:pPr>
              <a:lnSpc>
                <a:spcPct val="100000"/>
              </a:lnSpc>
              <a:buFont typeface="Wingdings" charset="2"/>
              <a:buChar char="ü"/>
            </a:pPr>
            <a:r>
              <a:rPr lang="en-US" i="1" dirty="0"/>
              <a:t>Chapter 4: 53-57</a:t>
            </a:r>
          </a:p>
        </p:txBody>
      </p:sp>
    </p:spTree>
    <p:extLst>
      <p:ext uri="{BB962C8B-B14F-4D97-AF65-F5344CB8AC3E}">
        <p14:creationId xmlns:p14="http://schemas.microsoft.com/office/powerpoint/2010/main" val="3459089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6442" y="88818"/>
            <a:ext cx="8079581" cy="1037269"/>
          </a:xfrm>
        </p:spPr>
        <p:txBody>
          <a:bodyPr/>
          <a:lstStyle/>
          <a:p>
            <a:r>
              <a:rPr lang="en-US" dirty="0"/>
              <a:t>Relational Databases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2656" y="1435018"/>
            <a:ext cx="8594888" cy="4401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The most widely used “kind” of databases is the </a:t>
            </a:r>
            <a:r>
              <a:rPr lang="en-US" sz="2800" b="1" i="1" dirty="0">
                <a:solidFill>
                  <a:srgbClr val="000000"/>
                </a:solidFill>
              </a:rPr>
              <a:t>relational model.</a:t>
            </a:r>
          </a:p>
          <a:p>
            <a:pPr algn="just"/>
            <a:endParaRPr lang="en-US" sz="2400" b="1" i="1" dirty="0">
              <a:solidFill>
                <a:srgbClr val="000000"/>
              </a:solidFill>
            </a:endParaRPr>
          </a:p>
          <a:p>
            <a:pPr algn="just"/>
            <a:endParaRPr lang="en-US" sz="2400" dirty="0"/>
          </a:p>
          <a:p>
            <a:pPr algn="just"/>
            <a:r>
              <a:rPr lang="en-US" sz="2800" dirty="0"/>
              <a:t>In a relational database, data is organized into one or more </a:t>
            </a:r>
            <a:r>
              <a:rPr lang="en-US" sz="2800" b="1" i="1" dirty="0"/>
              <a:t>relations</a:t>
            </a:r>
            <a:r>
              <a:rPr lang="en-US" sz="2800" dirty="0"/>
              <a:t> (tables).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dirty="0"/>
              <a:t>Each relation corresponds to a single “object”, e.g. customers and orders are two different objects, though they are related, they should be stored in two different tables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69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6442" y="88818"/>
            <a:ext cx="8079581" cy="1037269"/>
          </a:xfrm>
        </p:spPr>
        <p:txBody>
          <a:bodyPr/>
          <a:lstStyle/>
          <a:p>
            <a:r>
              <a:rPr lang="en-US" dirty="0"/>
              <a:t>Relations structure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</p:nvPr>
        </p:nvGraphicFramePr>
        <p:xfrm>
          <a:off x="1743031" y="3068289"/>
          <a:ext cx="5382504" cy="166303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39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0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60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ID#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FirstName</a:t>
                      </a:r>
                      <a:endParaRPr lang="en-US" sz="2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LastName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</a:rPr>
                        <a:t>ZipCode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60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147589934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Joseph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Blah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08765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60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234589021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Elsa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Lee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21678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60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s-IS" sz="2000" dirty="0">
                          <a:effectLst/>
                        </a:rPr>
                        <a:t>234546545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+mn-lt"/>
                          <a:ea typeface="+mn-ea"/>
                        </a:rPr>
                        <a:t>Elsa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Lee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21678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60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is-IS" sz="2000" dirty="0">
                          <a:effectLst/>
                        </a:rPr>
                        <a:t>…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is-IS" sz="2000" dirty="0">
                          <a:effectLst/>
                        </a:rPr>
                        <a:t>…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is-IS" sz="2000" dirty="0">
                          <a:effectLst/>
                        </a:rPr>
                        <a:t>…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r>
                        <a:rPr lang="is-IS" sz="2000" dirty="0">
                          <a:effectLst/>
                        </a:rPr>
                        <a:t>…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Line Callout 1 6"/>
          <p:cNvSpPr/>
          <p:nvPr/>
        </p:nvSpPr>
        <p:spPr>
          <a:xfrm>
            <a:off x="7425337" y="1382081"/>
            <a:ext cx="2896582" cy="2130588"/>
          </a:xfrm>
          <a:prstGeom prst="borderCallout1">
            <a:avLst>
              <a:gd name="adj1" fmla="val 18750"/>
              <a:gd name="adj2" fmla="val -8333"/>
              <a:gd name="adj3" fmla="val 72013"/>
              <a:gd name="adj4" fmla="val -7219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b="1" dirty="0"/>
              <a:t>Columns </a:t>
            </a:r>
            <a:r>
              <a:rPr lang="en-US" sz="2000" dirty="0"/>
              <a:t>are called </a:t>
            </a:r>
            <a:r>
              <a:rPr lang="en-US" sz="2000" i="1" dirty="0"/>
              <a:t>attributes</a:t>
            </a:r>
            <a:r>
              <a:rPr lang="en-US" sz="2000" dirty="0"/>
              <a:t> or </a:t>
            </a:r>
            <a:r>
              <a:rPr lang="en-US" sz="2000" i="1" dirty="0"/>
              <a:t>fields</a:t>
            </a:r>
          </a:p>
          <a:p>
            <a:r>
              <a:rPr lang="en-US" dirty="0"/>
              <a:t>- Individual properties broken into the smallest components possible (e.g. </a:t>
            </a:r>
            <a:r>
              <a:rPr lang="en-US" dirty="0" err="1"/>
              <a:t>LastName</a:t>
            </a:r>
            <a:r>
              <a:rPr lang="en-US" dirty="0"/>
              <a:t>, Address, </a:t>
            </a:r>
            <a:r>
              <a:rPr lang="en-US" dirty="0" err="1"/>
              <a:t>PhoneNumber</a:t>
            </a:r>
            <a:r>
              <a:rPr lang="en-US" dirty="0"/>
              <a:t>)</a:t>
            </a:r>
          </a:p>
        </p:txBody>
      </p:sp>
      <p:sp>
        <p:nvSpPr>
          <p:cNvPr id="9" name="Line Callout 1 8"/>
          <p:cNvSpPr/>
          <p:nvPr/>
        </p:nvSpPr>
        <p:spPr>
          <a:xfrm>
            <a:off x="7310930" y="4428023"/>
            <a:ext cx="3052293" cy="1590426"/>
          </a:xfrm>
          <a:prstGeom prst="borderCallout1">
            <a:avLst>
              <a:gd name="adj1" fmla="val -7665"/>
              <a:gd name="adj2" fmla="val 29220"/>
              <a:gd name="adj3" fmla="val -25699"/>
              <a:gd name="adj4" fmla="val -76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000" b="1" dirty="0"/>
              <a:t>Rows </a:t>
            </a:r>
            <a:r>
              <a:rPr lang="en-US" sz="2000" dirty="0"/>
              <a:t>are called </a:t>
            </a:r>
            <a:r>
              <a:rPr lang="en-US" sz="2000" i="1" dirty="0"/>
              <a:t>records </a:t>
            </a:r>
            <a:r>
              <a:rPr lang="en-US" sz="2000" dirty="0"/>
              <a:t>or</a:t>
            </a:r>
            <a:r>
              <a:rPr lang="en-US" sz="2000" i="1" dirty="0"/>
              <a:t> tuples</a:t>
            </a:r>
          </a:p>
          <a:p>
            <a:r>
              <a:rPr lang="en-US" dirty="0"/>
              <a:t>- Each record corresponds to one entity (e.g. a single person)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22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0695" y="360206"/>
            <a:ext cx="8079581" cy="1037269"/>
          </a:xfrm>
        </p:spPr>
        <p:txBody>
          <a:bodyPr/>
          <a:lstStyle/>
          <a:p>
            <a:r>
              <a:rPr lang="en-US" dirty="0"/>
              <a:t>Tables (</a:t>
            </a:r>
            <a:r>
              <a:rPr lang="en-US" i="1" dirty="0"/>
              <a:t>relations</a:t>
            </a:r>
            <a:r>
              <a:rPr lang="en-US" dirty="0"/>
              <a:t>) properties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949059" y="1644426"/>
            <a:ext cx="8539195" cy="4623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514350" indent="-514350">
              <a:lnSpc>
                <a:spcPct val="13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romanLcPeriod"/>
              <a:defRPr/>
            </a:pPr>
            <a:r>
              <a:rPr lang="en-US" sz="2300" dirty="0"/>
              <a:t>the table’s name is unique within the database</a:t>
            </a:r>
          </a:p>
          <a:p>
            <a:pPr marL="514350" indent="-514350">
              <a:lnSpc>
                <a:spcPct val="13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romanLcPeriod"/>
              <a:defRPr/>
            </a:pPr>
            <a:r>
              <a:rPr lang="en-US" sz="2300" dirty="0"/>
              <a:t>the roles of columns and rows are </a:t>
            </a:r>
            <a:r>
              <a:rPr lang="en-US" sz="2300" u="sng" dirty="0"/>
              <a:t>not</a:t>
            </a:r>
            <a:r>
              <a:rPr lang="en-US" sz="2300" dirty="0"/>
              <a:t> interchangeable</a:t>
            </a:r>
          </a:p>
          <a:p>
            <a:pPr marL="514350" indent="-514350">
              <a:lnSpc>
                <a:spcPct val="13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romanLcPeriod"/>
              <a:defRPr/>
            </a:pPr>
            <a:r>
              <a:rPr lang="en-US" sz="2300" dirty="0"/>
              <a:t>each column has a unique </a:t>
            </a:r>
            <a:r>
              <a:rPr lang="en-US" sz="2300" u="sng" dirty="0"/>
              <a:t>attribute name</a:t>
            </a:r>
            <a:r>
              <a:rPr lang="en-US" sz="2300" dirty="0"/>
              <a:t> (within the table)</a:t>
            </a:r>
          </a:p>
          <a:p>
            <a:pPr marL="514350" indent="-514350">
              <a:lnSpc>
                <a:spcPct val="13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romanLcPeriod"/>
              <a:defRPr/>
            </a:pPr>
            <a:r>
              <a:rPr lang="en-US" sz="2300" dirty="0"/>
              <a:t>all entries in a column have the same data type</a:t>
            </a:r>
          </a:p>
          <a:p>
            <a:pPr marL="514350" indent="-514350">
              <a:lnSpc>
                <a:spcPct val="13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romanLcPeriod"/>
              <a:defRPr/>
            </a:pPr>
            <a:r>
              <a:rPr lang="en-US" sz="2300" dirty="0"/>
              <a:t>each table must have a </a:t>
            </a:r>
            <a:r>
              <a:rPr lang="en-US" sz="2300" u="sng" dirty="0"/>
              <a:t>primary key</a:t>
            </a:r>
          </a:p>
          <a:p>
            <a:pPr marL="514350" indent="-514350">
              <a:lnSpc>
                <a:spcPct val="13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romanLcPeriod"/>
              <a:defRPr/>
            </a:pPr>
            <a:r>
              <a:rPr lang="en-US" sz="2300" dirty="0"/>
              <a:t>each row is unique  (no duplicates)</a:t>
            </a:r>
          </a:p>
          <a:p>
            <a:pPr marL="514350" indent="-514350">
              <a:lnSpc>
                <a:spcPct val="13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romanLcPeriod"/>
              <a:defRPr/>
            </a:pPr>
            <a:r>
              <a:rPr lang="en-US" sz="2300" dirty="0"/>
              <a:t>each cell contains </a:t>
            </a:r>
            <a:r>
              <a:rPr lang="en-US" sz="2300" u="sng" dirty="0"/>
              <a:t>atomic</a:t>
            </a:r>
            <a:r>
              <a:rPr lang="en-US" sz="2300" dirty="0"/>
              <a:t> data: no lists or sub-tables</a:t>
            </a:r>
          </a:p>
          <a:p>
            <a:pPr marL="514350" indent="-514350">
              <a:lnSpc>
                <a:spcPct val="130000"/>
              </a:lnSpc>
              <a:spcBef>
                <a:spcPct val="25000"/>
              </a:spcBef>
              <a:spcAft>
                <a:spcPct val="10000"/>
              </a:spcAft>
              <a:buFont typeface="+mj-lt"/>
              <a:buAutoNum type="romanLcPeriod"/>
              <a:defRPr/>
            </a:pPr>
            <a:r>
              <a:rPr lang="en-US" sz="2300" dirty="0"/>
              <a:t>row order and column order are unimportant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54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a table in Excel?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6</a:t>
            </a:fld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2171687" y="4307591"/>
            <a:ext cx="6919722" cy="1645920"/>
          </a:xfrm>
        </p:spPr>
        <p:txBody>
          <a:bodyPr/>
          <a:lstStyle/>
          <a:p>
            <a:r>
              <a:rPr lang="en-US" dirty="0"/>
              <a:t>See </a:t>
            </a:r>
            <a:r>
              <a:rPr lang="en-US" i="1" dirty="0" err="1"/>
              <a:t>transactions.xlsx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12959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42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7217" y="426569"/>
            <a:ext cx="8487669" cy="1037269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Primary Key and </a:t>
            </a:r>
            <a:r>
              <a:rPr lang="en-US" sz="5400" i="1" dirty="0"/>
              <a:t>Entity Integrity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937217" y="1657465"/>
            <a:ext cx="8209923" cy="3821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endParaRPr lang="en-US" sz="2300" dirty="0"/>
          </a:p>
          <a:p>
            <a:pPr marL="342900" indent="-34290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300" dirty="0"/>
              <a:t>Each table must have a field, called </a:t>
            </a:r>
            <a:r>
              <a:rPr lang="en-US" sz="2300" b="1" i="1" dirty="0"/>
              <a:t>Primary key</a:t>
            </a:r>
            <a:r>
              <a:rPr lang="en-US" sz="2300" dirty="0"/>
              <a:t>:</a:t>
            </a:r>
          </a:p>
          <a:p>
            <a:pPr lvl="1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300" b="1" dirty="0"/>
              <a:t>Primary key: </a:t>
            </a:r>
            <a:r>
              <a:rPr lang="en-US" sz="2300" dirty="0"/>
              <a:t>is a </a:t>
            </a:r>
            <a:r>
              <a:rPr lang="en-US" sz="2300" i="1" dirty="0"/>
              <a:t>minimal</a:t>
            </a:r>
            <a:r>
              <a:rPr lang="en-US" sz="2300" dirty="0"/>
              <a:t> set of attributes (column(s)) that together uniquely identify each record (row); </a:t>
            </a:r>
          </a:p>
          <a:p>
            <a:pPr lvl="1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300" i="1" dirty="0"/>
              <a:t>e.g. in a table with students, we may have an attribute for the student ID, which uniquely identifies each student.</a:t>
            </a:r>
          </a:p>
          <a:p>
            <a:pPr marL="342900" indent="-342900"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300" b="1" i="1" dirty="0"/>
          </a:p>
          <a:p>
            <a:pPr algn="just">
              <a:lnSpc>
                <a:spcPct val="110000"/>
              </a:lnSpc>
              <a:spcBef>
                <a:spcPct val="25000"/>
              </a:spcBef>
              <a:spcAft>
                <a:spcPct val="10000"/>
              </a:spcAft>
              <a:defRPr/>
            </a:pPr>
            <a:endParaRPr lang="en-US" sz="2300" b="1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15952" y="4920026"/>
            <a:ext cx="8042830" cy="11910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800" b="1" i="1" u="sng" dirty="0">
                <a:solidFill>
                  <a:schemeClr val="tx1"/>
                </a:solidFill>
              </a:rPr>
              <a:t>DB Rule #1 - Entity integrity</a:t>
            </a:r>
            <a:r>
              <a:rPr lang="en-US" sz="2800" u="sng" dirty="0">
                <a:solidFill>
                  <a:schemeClr val="tx1"/>
                </a:solidFill>
              </a:rPr>
              <a:t>: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</a:p>
          <a:p>
            <a:pPr algn="ctr">
              <a:lnSpc>
                <a:spcPct val="130000"/>
              </a:lnSpc>
            </a:pPr>
            <a:r>
              <a:rPr lang="en-US" sz="2800" dirty="0">
                <a:solidFill>
                  <a:schemeClr val="tx1"/>
                </a:solidFill>
              </a:rPr>
              <a:t>Each record must have a non-empty primary key</a:t>
            </a:r>
          </a:p>
        </p:txBody>
      </p:sp>
    </p:spTree>
    <p:extLst>
      <p:ext uri="{BB962C8B-B14F-4D97-AF65-F5344CB8AC3E}">
        <p14:creationId xmlns:p14="http://schemas.microsoft.com/office/powerpoint/2010/main" val="4204435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4948" y="88818"/>
            <a:ext cx="8079581" cy="1037269"/>
          </a:xfrm>
        </p:spPr>
        <p:txBody>
          <a:bodyPr/>
          <a:lstStyle/>
          <a:p>
            <a:r>
              <a:rPr lang="en-US" dirty="0"/>
              <a:t>Primary keys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041720" y="1375650"/>
            <a:ext cx="7930245" cy="9547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800" dirty="0"/>
              <a:t>Each record of a table is unique. How do we express that uniqueness?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041719" y="2685836"/>
            <a:ext cx="8435212" cy="3994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600" dirty="0">
                <a:latin typeface="+mj-lt"/>
              </a:rPr>
              <a:t>We create a </a:t>
            </a:r>
            <a:r>
              <a:rPr lang="en-US" sz="2600" i="1" dirty="0">
                <a:latin typeface="+mj-lt"/>
              </a:rPr>
              <a:t>primary key</a:t>
            </a:r>
            <a:r>
              <a:rPr lang="en-US" sz="2600" dirty="0">
                <a:latin typeface="+mj-lt"/>
              </a:rPr>
              <a:t>: an attribute or a collection of attributes whose value(s) uniquely identify each row in a relation</a:t>
            </a:r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600" dirty="0">
              <a:latin typeface="+mj-lt"/>
            </a:endParaRPr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600" dirty="0">
              <a:latin typeface="+mj-lt"/>
            </a:endParaRPr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600" dirty="0">
              <a:latin typeface="+mj-lt"/>
            </a:endParaRPr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600" dirty="0">
              <a:latin typeface="+mj-lt"/>
            </a:endParaRPr>
          </a:p>
          <a:p>
            <a:pPr marL="285750" indent="-28575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600" dirty="0">
                <a:latin typeface="+mj-lt"/>
              </a:rPr>
              <a:t>a table can only have one primary key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740" y="3966473"/>
            <a:ext cx="7779224" cy="2107375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3530221" y="3111690"/>
            <a:ext cx="1269242" cy="9826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61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4948" y="88818"/>
            <a:ext cx="8079581" cy="1037269"/>
          </a:xfrm>
        </p:spPr>
        <p:txBody>
          <a:bodyPr>
            <a:normAutofit/>
          </a:bodyPr>
          <a:lstStyle/>
          <a:p>
            <a:r>
              <a:rPr lang="en-US" dirty="0"/>
              <a:t>Primary keys – composite keys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933432" y="1126086"/>
            <a:ext cx="8543498" cy="54882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>
              <a:spcBef>
                <a:spcPct val="25000"/>
              </a:spcBef>
              <a:spcAft>
                <a:spcPct val="10000"/>
              </a:spcAft>
            </a:pPr>
            <a:r>
              <a:rPr lang="en-US" altLang="en-US" sz="2400" dirty="0">
                <a:latin typeface="+mj-lt"/>
              </a:rPr>
              <a:t>Sometimes the primary key can be made up of several fields:</a:t>
            </a:r>
          </a:p>
          <a:p>
            <a:pPr marL="342900" indent="-3429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  <a:p>
            <a:pPr marL="342900" indent="-3429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  <a:p>
            <a:pPr marL="342900" indent="-3429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  <a:p>
            <a:pPr marL="342900" indent="-3429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  <a:p>
            <a:pPr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400" b="1" dirty="0" err="1">
                <a:solidFill>
                  <a:srgbClr val="FF0000"/>
                </a:solidFill>
                <a:latin typeface="+mj-lt"/>
              </a:rPr>
              <a:t>LicensePlate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cannot be a primary key:</a:t>
            </a:r>
            <a:r>
              <a:rPr lang="en-US" sz="2400" b="1" dirty="0">
                <a:latin typeface="+mj-lt"/>
              </a:rPr>
              <a:t> </a:t>
            </a:r>
            <a:r>
              <a:rPr lang="en-US" sz="2000" dirty="0">
                <a:latin typeface="+mj-lt"/>
              </a:rPr>
              <a:t>two different cars can have the same license plate number if they come from different states. </a:t>
            </a:r>
          </a:p>
          <a:p>
            <a:pPr>
              <a:lnSpc>
                <a:spcPct val="15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400" dirty="0">
                <a:latin typeface="+mj-lt"/>
              </a:rPr>
              <a:t>But the pair (</a:t>
            </a:r>
            <a:r>
              <a:rPr lang="en-US" sz="2400" dirty="0" err="1">
                <a:latin typeface="+mj-lt"/>
              </a:rPr>
              <a:t>LicensePlate</a:t>
            </a:r>
            <a:r>
              <a:rPr lang="en-US" sz="2400" dirty="0">
                <a:latin typeface="+mj-lt"/>
              </a:rPr>
              <a:t>, State) must be unique. </a:t>
            </a:r>
          </a:p>
          <a:p>
            <a:pPr algn="ctr">
              <a:lnSpc>
                <a:spcPct val="15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800" b="1" dirty="0">
                <a:solidFill>
                  <a:srgbClr val="FF0000"/>
                </a:solidFill>
                <a:latin typeface="+mj-lt"/>
              </a:rPr>
              <a:t>(</a:t>
            </a:r>
            <a:r>
              <a:rPr lang="en-US" sz="2800" b="1" dirty="0" err="1">
                <a:solidFill>
                  <a:srgbClr val="FF0000"/>
                </a:solidFill>
                <a:latin typeface="+mj-lt"/>
              </a:rPr>
              <a:t>LicensePlate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, State) is a possible primary key.</a:t>
            </a:r>
          </a:p>
          <a:p>
            <a:pPr>
              <a:lnSpc>
                <a:spcPct val="150000"/>
              </a:lnSpc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400" dirty="0">
                <a:latin typeface="+mj-lt"/>
              </a:rPr>
              <a:t>Since it is constituted by two attributes, we call it a </a:t>
            </a:r>
            <a:r>
              <a:rPr lang="en-US" sz="2400" i="1" dirty="0">
                <a:latin typeface="+mj-lt"/>
              </a:rPr>
              <a:t>composite key</a:t>
            </a:r>
            <a:r>
              <a:rPr lang="en-US" sz="2400" dirty="0">
                <a:latin typeface="+mj-lt"/>
              </a:rPr>
              <a:t>.</a:t>
            </a:r>
          </a:p>
        </p:txBody>
      </p:sp>
      <p:graphicFrame>
        <p:nvGraphicFramePr>
          <p:cNvPr id="4" name="Object 8"/>
          <p:cNvGraphicFramePr>
            <a:graphicFrameLocks/>
          </p:cNvGraphicFramePr>
          <p:nvPr/>
        </p:nvGraphicFramePr>
        <p:xfrm>
          <a:off x="2930856" y="1698531"/>
          <a:ext cx="6548651" cy="2044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3" imgW="5027668" imgH="1526384" progId="Word.Document.8">
                  <p:embed/>
                </p:oleObj>
              </mc:Choice>
              <mc:Fallback>
                <p:oleObj name="Document" r:id="rId3" imgW="5027668" imgH="1526384" progId="Word.Document.8">
                  <p:embed/>
                  <p:pic>
                    <p:nvPicPr>
                      <p:cNvPr id="4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856" y="1698531"/>
                        <a:ext cx="6548651" cy="20448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83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4948" y="88818"/>
            <a:ext cx="8079581" cy="1037269"/>
          </a:xfrm>
        </p:spPr>
        <p:txBody>
          <a:bodyPr/>
          <a:lstStyle/>
          <a:p>
            <a:r>
              <a:rPr lang="en-US" dirty="0"/>
              <a:t>More on primary keys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076553" y="1863330"/>
            <a:ext cx="8435212" cy="4078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342900" indent="-3429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600" dirty="0">
                <a:latin typeface="+mj-lt"/>
              </a:rPr>
              <a:t>a primary key should be </a:t>
            </a:r>
            <a:r>
              <a:rPr lang="en-US" sz="2600" u="sng" dirty="0">
                <a:latin typeface="+mj-lt"/>
              </a:rPr>
              <a:t>minimal</a:t>
            </a:r>
            <a:r>
              <a:rPr lang="en-US" sz="2600" dirty="0">
                <a:latin typeface="+mj-lt"/>
              </a:rPr>
              <a:t>: it should not contain   unnecessary attributes</a:t>
            </a:r>
          </a:p>
          <a:p>
            <a:pPr marL="342900" indent="-3429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600" dirty="0">
                <a:latin typeface="+mj-lt"/>
              </a:rPr>
              <a:t> sometimes we may invent a new attribute to serve as a primary key (sometimes called a </a:t>
            </a:r>
            <a:r>
              <a:rPr lang="en-US" sz="2600" u="sng" dirty="0">
                <a:latin typeface="+mj-lt"/>
              </a:rPr>
              <a:t>synthetic key</a:t>
            </a:r>
            <a:r>
              <a:rPr lang="en-US" sz="2600" dirty="0">
                <a:latin typeface="+mj-lt"/>
              </a:rPr>
              <a:t>)</a:t>
            </a:r>
          </a:p>
          <a:p>
            <a:pPr marL="800100" lvl="1" indent="-3429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600" dirty="0">
                <a:latin typeface="+mj-lt"/>
              </a:rPr>
              <a:t> if no suitable primary key is available</a:t>
            </a:r>
          </a:p>
          <a:p>
            <a:pPr marL="800100" lvl="1" indent="-3429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600" dirty="0">
                <a:latin typeface="+mj-lt"/>
              </a:rPr>
              <a:t> or to avoid composite keys</a:t>
            </a:r>
          </a:p>
          <a:p>
            <a:pPr marL="800100" lvl="1" indent="-3429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r>
              <a:rPr lang="en-US" sz="2600" dirty="0">
                <a:latin typeface="+mj-lt"/>
              </a:rPr>
              <a:t> in Access, “</a:t>
            </a:r>
            <a:r>
              <a:rPr lang="en-US" sz="2600" dirty="0" err="1">
                <a:latin typeface="+mj-lt"/>
              </a:rPr>
              <a:t>Autonumber</a:t>
            </a:r>
            <a:r>
              <a:rPr lang="en-US" sz="2600" dirty="0">
                <a:latin typeface="+mj-lt"/>
              </a:rPr>
              <a:t>” fields can serve this purpose</a:t>
            </a:r>
          </a:p>
          <a:p>
            <a:pPr marL="571500" indent="-571500">
              <a:spcBef>
                <a:spcPct val="25000"/>
              </a:spcBef>
              <a:spcAft>
                <a:spcPct val="10000"/>
              </a:spcAft>
              <a:buFont typeface="Wingdings" panose="05000000000000000000" pitchFamily="2" charset="2"/>
              <a:buChar char="§"/>
              <a:defRPr/>
            </a:pPr>
            <a:endParaRPr lang="en-US" sz="2600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88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4948" y="88818"/>
            <a:ext cx="8079581" cy="1037269"/>
          </a:xfrm>
        </p:spPr>
        <p:txBody>
          <a:bodyPr/>
          <a:lstStyle/>
          <a:p>
            <a:r>
              <a:rPr lang="en-US" dirty="0"/>
              <a:t>Guidelines to design a table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887494" y="1260768"/>
            <a:ext cx="8417392" cy="4729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r>
              <a:rPr lang="en-US" sz="2300" b="1" dirty="0"/>
              <a:t>Include all the attributes you are likely to need in the future</a:t>
            </a:r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endParaRPr lang="en-US" sz="2300" b="1" dirty="0"/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r>
              <a:rPr lang="en-US" sz="2300" b="1" dirty="0"/>
              <a:t>Separate an attribute into two if you will need part of it in the future </a:t>
            </a:r>
            <a:r>
              <a:rPr lang="en-US" sz="2300" dirty="0"/>
              <a:t>(keep in mind the key words: atomic data)</a:t>
            </a:r>
          </a:p>
          <a:p>
            <a:pPr lvl="1"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300" dirty="0"/>
              <a:t>E.g. separate last name from first name so we can sort easily students by last name in the future</a:t>
            </a:r>
          </a:p>
          <a:p>
            <a:pPr lvl="1">
              <a:spcBef>
                <a:spcPct val="25000"/>
              </a:spcBef>
              <a:spcAft>
                <a:spcPct val="10000"/>
              </a:spcAft>
              <a:defRPr/>
            </a:pPr>
            <a:endParaRPr lang="en-US" sz="2300" dirty="0"/>
          </a:p>
          <a:p>
            <a:pPr marL="457200" indent="-457200">
              <a:spcBef>
                <a:spcPct val="25000"/>
              </a:spcBef>
              <a:spcAft>
                <a:spcPct val="10000"/>
              </a:spcAft>
              <a:buFont typeface="+mj-lt"/>
              <a:buAutoNum type="arabicPeriod"/>
              <a:defRPr/>
            </a:pPr>
            <a:r>
              <a:rPr lang="en-US" sz="2300" b="1" dirty="0"/>
              <a:t>Avoid calculated fields (redundant data)</a:t>
            </a:r>
          </a:p>
          <a:p>
            <a:pPr lvl="1" algn="just">
              <a:spcBef>
                <a:spcPct val="25000"/>
              </a:spcBef>
              <a:spcAft>
                <a:spcPct val="10000"/>
              </a:spcAft>
              <a:defRPr/>
            </a:pPr>
            <a:r>
              <a:rPr lang="en-US" sz="2300" dirty="0"/>
              <a:t>E.g. storing the GPA is not necessary since it can be obtained from two already stored attributes: total credits and amassed grade points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843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Widescreen</PresentationFormat>
  <Paragraphs>108</Paragraphs>
  <Slides>12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Document</vt:lpstr>
      <vt:lpstr>Introduction to Relational DBs</vt:lpstr>
      <vt:lpstr>Outline</vt:lpstr>
      <vt:lpstr>Relational Databases</vt:lpstr>
      <vt:lpstr>Relations structure</vt:lpstr>
      <vt:lpstr>Tables (relations) properties</vt:lpstr>
      <vt:lpstr>Why not a table in Excel?</vt:lpstr>
      <vt:lpstr>Primary Keys</vt:lpstr>
      <vt:lpstr>Primary Key and Entity Integrity</vt:lpstr>
      <vt:lpstr>Primary keys</vt:lpstr>
      <vt:lpstr>Primary keys – composite keys</vt:lpstr>
      <vt:lpstr>More on primary keys</vt:lpstr>
      <vt:lpstr>Guidelines to design a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Relational DBs</dc:title>
  <dc:creator>Disha Parkhi</dc:creator>
  <cp:lastModifiedBy>Disha Parkhi</cp:lastModifiedBy>
  <cp:revision>1</cp:revision>
  <dcterms:created xsi:type="dcterms:W3CDTF">2020-08-22T20:45:01Z</dcterms:created>
  <dcterms:modified xsi:type="dcterms:W3CDTF">2020-08-22T20:45:40Z</dcterms:modified>
</cp:coreProperties>
</file>