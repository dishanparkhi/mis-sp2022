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314" r:id="rId4"/>
    <p:sldId id="317" r:id="rId5"/>
    <p:sldId id="307" r:id="rId6"/>
    <p:sldId id="320" r:id="rId7"/>
    <p:sldId id="319" r:id="rId8"/>
    <p:sldId id="303" r:id="rId9"/>
    <p:sldId id="3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7"/>
            <p14:sldId id="258"/>
            <p14:sldId id="314"/>
            <p14:sldId id="317"/>
            <p14:sldId id="307"/>
            <p14:sldId id="320"/>
            <p14:sldId id="319"/>
            <p14:sldId id="303"/>
            <p14:sldId id="30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F38FC-C78A-457D-AAC5-E179B39CDC1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3A36F-62C2-4A6C-85E2-88E7A9408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7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3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28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381C-9C24-429D-B71A-A8E64D7896FB}" type="slidenum">
              <a:rPr lang="en-US"/>
              <a:pPr/>
              <a:t>4</a:t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1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0817-0DCC-4F18-835B-600686F63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35E4B-C321-4265-9AD9-B4F5DAD6D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C177-001C-48A6-9980-6B044AE3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F0929-2044-4649-BA42-D340331E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216E8-1664-4CB0-B4D7-5D391BBB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7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90F7-EDB3-4FA8-B2A3-B580C04A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3994-A50A-4796-8670-3DC577F4D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9B81E-72EB-40DC-A6F4-85ED2A0F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A43B8-CB35-498F-A651-F38771E5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3070-2374-4B3F-B237-614955AE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8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81CE-8702-4F5F-A461-6C8B3998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29E52-F3F0-4F25-8724-3DD314387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FB791-2337-49C1-9467-3294FF6E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E5718-C338-48CB-BA48-843AF575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35DBB-FA28-4055-AC3A-0E2C83D0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7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A4D2-E5CB-4C96-921E-972A5B69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9287-5654-4D22-8450-9CA0319DC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ED52F-6E8F-4E41-B684-E303EB93B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90E4E-C1C9-48C4-9F7B-ADF996CE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649DF-C007-4421-829D-5A6DF285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F7419-FA91-40D1-941C-2DD9A368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ED7E-F73A-444A-9A60-FCECD3E7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86087-9DAA-4C99-A640-1B6BD8B0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0B1E1-FCF5-4157-99D9-4FFC8F6C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8B956-289A-4302-8BD2-9E9209988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31BD2-86BE-4C98-B16D-04454F625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B331BC-E036-435A-9322-441C0A70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370DB-B857-4AEF-9980-F465AB8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96985-B9ED-471C-BF6B-D11F28B63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4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BA09A-DCD6-480B-B6D0-FE33D796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A7153-055D-47F9-B84A-0BEEA43A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7F1E2-1F91-45AB-9CCD-6A780ED4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65A64-1136-4D0A-A09F-1FBF7E61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3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9F7BD-4389-4E9D-B1C2-94577ADB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CAE15-B2FA-4A70-BD84-FA8B8878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639A1-527C-439A-A7BF-657F5CBC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17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49C1-40E1-4DD7-BEC3-0EFDF6B0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07B9-F9B3-445B-BEA6-8C6F3C50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CB8C8-702F-4976-AB99-1AAF5CFFF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C11B7-E9F6-44B8-BDD0-C16FC883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80E6B-B312-4734-87D8-7807EA066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1FFAE-76AA-434B-8441-37CB0F47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4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8285-6F58-46B7-BE91-75A971DC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08CE4-5DB5-410C-B34F-96960F453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299D9-A823-49E6-B10C-7521FA865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D3458-8596-415E-8AA3-7D1875DE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92D04-FCAF-4E00-8DAB-C4918221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A5863-274A-4916-9763-E331413E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864F-C126-4C2F-8785-D3819D02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90931-9DFA-46DF-B265-F08508F34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BCA22-CE56-4F6D-B01B-7A1E6FC5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4D6E6-D120-4709-8775-74184C44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1BDF1-011C-4A1A-8562-082C16D7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16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072A7-799B-4469-A9D2-CE1123258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1C955-504D-43CC-AB47-1A1A34236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089D5-4056-4CA8-A4FC-2ABCDD7C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379B3-E3D7-4908-8A92-DFC13B13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3CA93-EE6B-4E4E-8B62-C26F869D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0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2F92B-4A6B-4985-A924-DCB1A730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1BBA-F520-4CF3-ABF2-76069246B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9245E-B55F-4A9D-9F8C-FAD177471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2F285-5751-4404-8C3B-D2B4C608727B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250D-6580-482B-8A03-AD5DE10F4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8E0A9-156C-48FB-9D38-64AEF5085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321BD-CA4B-4D02-ACC2-A9746C216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8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 to Databases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Databases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Database management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20" y="338381"/>
            <a:ext cx="8079581" cy="1446558"/>
          </a:xfrm>
        </p:spPr>
        <p:txBody>
          <a:bodyPr>
            <a:normAutofit/>
          </a:bodyPr>
          <a:lstStyle/>
          <a:p>
            <a:r>
              <a:rPr lang="en-US" dirty="0"/>
              <a:t>Databases are everywhere because data is everywhere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123" y="4989940"/>
            <a:ext cx="2385959" cy="8139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7716" t="26340" r="8333" b="37443"/>
          <a:stretch/>
        </p:blipFill>
        <p:spPr>
          <a:xfrm>
            <a:off x="2701968" y="4319774"/>
            <a:ext cx="2695533" cy="872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465" y="3256524"/>
            <a:ext cx="2852435" cy="922847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2759599" y="5949798"/>
            <a:ext cx="6464010" cy="583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chemeClr val="tx1"/>
                </a:solidFill>
              </a:rPr>
              <a:t>The world is increasingly</a:t>
            </a:r>
            <a:r>
              <a:rPr lang="en-US" sz="2800" b="1" i="1" dirty="0">
                <a:solidFill>
                  <a:schemeClr val="tx1"/>
                </a:solidFill>
              </a:rPr>
              <a:t> driven by data…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/>
          <a:srcRect l="11371" t="28571" r="8361" b="27381"/>
          <a:stretch/>
        </p:blipFill>
        <p:spPr>
          <a:xfrm>
            <a:off x="7112000" y="2133601"/>
            <a:ext cx="2717800" cy="8379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2603500"/>
            <a:ext cx="2743200" cy="10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1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3C148-71A6-4219-B2B5-06E3FD297E0C}" type="slidenum">
              <a:rPr lang="en-US"/>
              <a:pPr/>
              <a:t>4</a:t>
            </a:fld>
            <a:endParaRPr lang="en-US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042647" y="1844840"/>
            <a:ext cx="8065294" cy="43879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Consider building a course management system: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Students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Courses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Professors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Who takes what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Who teaches what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dirty="0"/>
              <a:t>Database design: given an application, which entities to create? How do we represent the relationships?</a:t>
            </a:r>
          </a:p>
        </p:txBody>
      </p:sp>
      <p:sp>
        <p:nvSpPr>
          <p:cNvPr id="5" name="Right Brace 4"/>
          <p:cNvSpPr/>
          <p:nvPr/>
        </p:nvSpPr>
        <p:spPr>
          <a:xfrm>
            <a:off x="4046756" y="2972346"/>
            <a:ext cx="213735" cy="1076905"/>
          </a:xfrm>
          <a:prstGeom prst="rightBrace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423903" y="3270516"/>
            <a:ext cx="1564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</a:rPr>
              <a:t>Entities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5050361" y="4642334"/>
            <a:ext cx="285750" cy="685800"/>
          </a:xfrm>
          <a:prstGeom prst="rightBrace">
            <a:avLst/>
          </a:prstGeom>
          <a:noFill/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452059" y="4728213"/>
            <a:ext cx="2258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0B0F0"/>
                </a:solidFill>
              </a:rPr>
              <a:t>Relationships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028626" y="259817"/>
            <a:ext cx="8346413" cy="1446558"/>
          </a:xfrm>
        </p:spPr>
        <p:txBody>
          <a:bodyPr>
            <a:normAutofit/>
          </a:bodyPr>
          <a:lstStyle/>
          <a:p>
            <a:r>
              <a:rPr lang="en-US" dirty="0"/>
              <a:t>DBs are not about data only, but about the </a:t>
            </a:r>
            <a:r>
              <a:rPr lang="en-US" b="1" dirty="0"/>
              <a:t>relationships</a:t>
            </a:r>
            <a:r>
              <a:rPr lang="en-US" dirty="0"/>
              <a:t> too</a:t>
            </a:r>
          </a:p>
        </p:txBody>
      </p:sp>
    </p:spTree>
    <p:extLst>
      <p:ext uri="{BB962C8B-B14F-4D97-AF65-F5344CB8AC3E}">
        <p14:creationId xmlns:p14="http://schemas.microsoft.com/office/powerpoint/2010/main" val="48438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" grpId="0" build="p"/>
      <p:bldP spid="5" grpId="0" animBg="1"/>
      <p:bldP spid="6" grpId="0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4655" y="182630"/>
            <a:ext cx="8079581" cy="1037269"/>
          </a:xfrm>
        </p:spPr>
        <p:txBody>
          <a:bodyPr/>
          <a:lstStyle/>
          <a:p>
            <a:r>
              <a:rPr lang="en-US" dirty="0"/>
              <a:t>What is a database (DB)?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816094" y="1613438"/>
            <a:ext cx="8593330" cy="4543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It is a repository of </a:t>
            </a:r>
            <a:r>
              <a:rPr lang="en-US" sz="2800" i="1" dirty="0"/>
              <a:t>logically related </a:t>
            </a:r>
            <a:r>
              <a:rPr lang="en-US" sz="2800" dirty="0"/>
              <a:t>data designed to meet the information needs of an organization.</a:t>
            </a:r>
            <a:endParaRPr lang="en-US" sz="2000" dirty="0"/>
          </a:p>
          <a:p>
            <a:pPr algn="just">
              <a:spcBef>
                <a:spcPct val="25000"/>
              </a:spcBef>
              <a:spcAft>
                <a:spcPct val="10000"/>
              </a:spcAft>
              <a:defRPr/>
            </a:pPr>
            <a:endParaRPr lang="en-US" sz="1600" dirty="0"/>
          </a:p>
          <a:p>
            <a:pPr algn="just">
              <a:spcBef>
                <a:spcPct val="25000"/>
              </a:spcBef>
              <a:spcAft>
                <a:spcPct val="10000"/>
              </a:spcAft>
              <a:defRPr/>
            </a:pPr>
            <a:endParaRPr lang="en-US" sz="1600" dirty="0"/>
          </a:p>
          <a:p>
            <a:pPr algn="just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3200" dirty="0">
                <a:solidFill>
                  <a:schemeClr val="accent1"/>
                </a:solidFill>
              </a:rPr>
              <a:t>And </a:t>
            </a:r>
            <a:r>
              <a:rPr lang="en-US" sz="3200" dirty="0" err="1">
                <a:solidFill>
                  <a:schemeClr val="accent1"/>
                </a:solidFill>
              </a:rPr>
              <a:t>Ms</a:t>
            </a:r>
            <a:r>
              <a:rPr lang="en-US" sz="3200" dirty="0">
                <a:solidFill>
                  <a:schemeClr val="accent1"/>
                </a:solidFill>
              </a:rPr>
              <a:t> Access?</a:t>
            </a:r>
          </a:p>
          <a:p>
            <a:pPr algn="just"/>
            <a:r>
              <a:rPr lang="en-US" sz="2400" dirty="0"/>
              <a:t>It is an example of a </a:t>
            </a:r>
            <a:r>
              <a:rPr lang="en-US" sz="2400" i="1" u="sng" dirty="0">
                <a:solidFill>
                  <a:schemeClr val="accent1">
                    <a:lumMod val="75000"/>
                  </a:schemeClr>
                </a:solidFill>
              </a:rPr>
              <a:t>Database Management System</a:t>
            </a:r>
            <a:r>
              <a:rPr lang="en-US" sz="2000" dirty="0"/>
              <a:t>: a piece of software designed to store, manage, and interact with databases and its applications.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A DBMS provides a wide range of other services necessary to the database like recovery from crashes, quick application development, integrity of the data, security,</a:t>
            </a:r>
            <a:r>
              <a:rPr lang="is-IS" sz="2000" dirty="0"/>
              <a:t>….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8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1854200" y="1689100"/>
            <a:ext cx="8813800" cy="4013200"/>
            <a:chOff x="330200" y="2019300"/>
            <a:chExt cx="8813800" cy="4013200"/>
          </a:xfrm>
        </p:grpSpPr>
        <p:sp>
          <p:nvSpPr>
            <p:cNvPr id="13" name="Cloud 12"/>
            <p:cNvSpPr/>
            <p:nvPr/>
          </p:nvSpPr>
          <p:spPr>
            <a:xfrm>
              <a:off x="2755900" y="2019300"/>
              <a:ext cx="6388100" cy="4013200"/>
            </a:xfrm>
            <a:prstGeom prst="cloud">
              <a:avLst/>
            </a:prstGeom>
            <a:solidFill>
              <a:srgbClr val="BDE2EE"/>
            </a:solidFill>
            <a:ln w="38100" cmpd="sng">
              <a:solidFill>
                <a:srgbClr val="238AB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5562600" y="2844800"/>
              <a:ext cx="3022600" cy="1587500"/>
              <a:chOff x="5562600" y="2844800"/>
              <a:chExt cx="3022600" cy="1587500"/>
            </a:xfrm>
          </p:grpSpPr>
          <p:sp>
            <p:nvSpPr>
              <p:cNvPr id="9" name="Magnetic Disk 8"/>
              <p:cNvSpPr/>
              <p:nvPr/>
            </p:nvSpPr>
            <p:spPr>
              <a:xfrm>
                <a:off x="7404100" y="2844800"/>
                <a:ext cx="1181100" cy="1473200"/>
              </a:xfrm>
              <a:prstGeom prst="flowChartMagneticDisk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Database</a:t>
                </a:r>
              </a:p>
            </p:txBody>
          </p:sp>
          <p:sp>
            <p:nvSpPr>
              <p:cNvPr id="12" name="Data 11"/>
              <p:cNvSpPr/>
              <p:nvPr/>
            </p:nvSpPr>
            <p:spPr>
              <a:xfrm>
                <a:off x="6070600" y="3098800"/>
                <a:ext cx="850900" cy="1333500"/>
              </a:xfrm>
              <a:prstGeom prst="flowChartInputOutput">
                <a:avLst/>
              </a:prstGeom>
              <a:solidFill>
                <a:srgbClr val="FFE1E1"/>
              </a:solidFill>
              <a:ln w="12700" cmpd="sng">
                <a:solidFill>
                  <a:srgbClr val="8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BMS</a:t>
                </a:r>
              </a:p>
            </p:txBody>
          </p:sp>
          <p:cxnSp>
            <p:nvCxnSpPr>
              <p:cNvPr id="15" name="Straight Arrow Connector 14"/>
              <p:cNvCxnSpPr>
                <a:stCxn id="9" idx="2"/>
                <a:endCxn id="12" idx="5"/>
              </p:cNvCxnSpPr>
              <p:nvPr/>
            </p:nvCxnSpPr>
            <p:spPr>
              <a:xfrm flipH="1">
                <a:off x="6836410" y="3581400"/>
                <a:ext cx="567690" cy="18415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stCxn id="12" idx="2"/>
                <a:endCxn id="11" idx="3"/>
              </p:cNvCxnSpPr>
              <p:nvPr/>
            </p:nvCxnSpPr>
            <p:spPr>
              <a:xfrm flipH="1">
                <a:off x="5562600" y="3765550"/>
                <a:ext cx="593090" cy="211455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 rot="20907070">
              <a:off x="5014710" y="4841507"/>
              <a:ext cx="25422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>
                  <a:solidFill>
                    <a:schemeClr val="accent1">
                      <a:lumMod val="75000"/>
                    </a:schemeClr>
                  </a:solidFill>
                </a:rPr>
                <a:t>“Cloud”</a:t>
              </a:r>
            </a:p>
            <a:p>
              <a:pPr algn="ctr"/>
              <a:r>
                <a:rPr lang="en-US" sz="2000" b="1" i="1" dirty="0">
                  <a:solidFill>
                    <a:schemeClr val="accent1">
                      <a:lumMod val="75000"/>
                    </a:schemeClr>
                  </a:solidFill>
                </a:rPr>
                <a:t>Computer Servers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0200" y="5214323"/>
              <a:ext cx="2374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b="1" i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US" sz="2000" b="1" i="1" dirty="0">
                  <a:solidFill>
                    <a:schemeClr val="accent1">
                      <a:lumMod val="75000"/>
                    </a:schemeClr>
                  </a:solidFill>
                </a:rPr>
                <a:t>End users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6400" y="2768600"/>
              <a:ext cx="3492500" cy="2223532"/>
              <a:chOff x="406400" y="2768600"/>
              <a:chExt cx="3492500" cy="222353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876300" y="2768600"/>
                <a:ext cx="1066800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Browser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406400" y="3378200"/>
                <a:ext cx="1066800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Browser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06400" y="4051300"/>
                <a:ext cx="1066800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Browser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77900" y="4622800"/>
                <a:ext cx="1066800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Browser</a:t>
                </a:r>
              </a:p>
            </p:txBody>
          </p:sp>
          <p:cxnSp>
            <p:nvCxnSpPr>
              <p:cNvPr id="19" name="Straight Arrow Connector 18"/>
              <p:cNvCxnSpPr>
                <a:stCxn id="5" idx="3"/>
              </p:cNvCxnSpPr>
              <p:nvPr/>
            </p:nvCxnSpPr>
            <p:spPr>
              <a:xfrm>
                <a:off x="1943100" y="2953266"/>
                <a:ext cx="1943100" cy="450334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6" idx="3"/>
              </p:cNvCxnSpPr>
              <p:nvPr/>
            </p:nvCxnSpPr>
            <p:spPr>
              <a:xfrm>
                <a:off x="1473200" y="3562866"/>
                <a:ext cx="2400300" cy="145534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stCxn id="7" idx="3"/>
              </p:cNvCxnSpPr>
              <p:nvPr/>
            </p:nvCxnSpPr>
            <p:spPr>
              <a:xfrm flipV="1">
                <a:off x="1473200" y="4000500"/>
                <a:ext cx="2413000" cy="235466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>
                <a:stCxn id="8" idx="3"/>
              </p:cNvCxnSpPr>
              <p:nvPr/>
            </p:nvCxnSpPr>
            <p:spPr>
              <a:xfrm flipV="1">
                <a:off x="2044700" y="4254500"/>
                <a:ext cx="1854200" cy="552966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 rot="798280">
                <a:off x="2498994" y="2872889"/>
                <a:ext cx="8462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/>
                  <a:t>Internet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 rot="318502">
                <a:off x="2283094" y="3368189"/>
                <a:ext cx="8462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/>
                  <a:t>Internet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 rot="21163815">
                <a:off x="2168794" y="3812689"/>
                <a:ext cx="8462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/>
                  <a:t>Internet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 rot="20666867">
                <a:off x="2422794" y="4257190"/>
                <a:ext cx="8462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/>
                  <a:t>Internet</a:t>
                </a:r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35600" y="2514600"/>
          <a:ext cx="1651000" cy="226441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Application Program</a:t>
                      </a:r>
                      <a:r>
                        <a:rPr lang="en-US" sz="1600" b="0" baseline="0" dirty="0"/>
                        <a:t> A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Application Program</a:t>
                      </a:r>
                      <a:r>
                        <a:rPr lang="en-US" sz="1600" b="0" baseline="0" dirty="0"/>
                        <a:t> B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/>
                        <a:t>Application Program</a:t>
                      </a:r>
                      <a:r>
                        <a:rPr lang="en-US" sz="1600" b="0" baseline="0" dirty="0"/>
                        <a:t> C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b="0" dirty="0"/>
                        <a:t>…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1676400" y="6083300"/>
            <a:ext cx="7315200" cy="774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u="sng" dirty="0"/>
              <a:t>Database Applications: </a:t>
            </a:r>
            <a:r>
              <a:rPr lang="en-US" sz="1400" dirty="0"/>
              <a:t>Software that interacts with the DB by issuing appropriate requests (like updating some piece of the data, or retrieving data,</a:t>
            </a:r>
            <a:r>
              <a:rPr lang="is-IS" sz="1400" dirty="0"/>
              <a:t>…</a:t>
            </a:r>
            <a:r>
              <a:rPr lang="en-US" sz="1400" dirty="0"/>
              <a:t>) to the DBMS; </a:t>
            </a:r>
            <a:r>
              <a:rPr lang="en-US" sz="1400" i="1" dirty="0"/>
              <a:t>e.g. Rutgers web registration application, </a:t>
            </a:r>
            <a:r>
              <a:rPr lang="en-US" sz="1400" i="1" dirty="0" err="1"/>
              <a:t>myRutgers</a:t>
            </a:r>
            <a:r>
              <a:rPr lang="en-US" sz="1400" i="1" dirty="0"/>
              <a:t>, Electronic Student Grading System, Blackboard</a:t>
            </a:r>
            <a:r>
              <a:rPr lang="is-IS" sz="1400" i="1" dirty="0"/>
              <a:t>…</a:t>
            </a:r>
            <a:endParaRPr lang="en-US" sz="1400" i="1" dirty="0"/>
          </a:p>
        </p:txBody>
      </p:sp>
      <p:sp>
        <p:nvSpPr>
          <p:cNvPr id="37" name="Title 1"/>
          <p:cNvSpPr>
            <a:spLocks noGrp="1"/>
          </p:cNvSpPr>
          <p:nvPr>
            <p:ph type="title"/>
          </p:nvPr>
        </p:nvSpPr>
        <p:spPr>
          <a:xfrm>
            <a:off x="1922143" y="333279"/>
            <a:ext cx="8079581" cy="1444597"/>
          </a:xfrm>
        </p:spPr>
        <p:txBody>
          <a:bodyPr>
            <a:normAutofit/>
          </a:bodyPr>
          <a:lstStyle/>
          <a:p>
            <a:r>
              <a:rPr lang="en-US" dirty="0"/>
              <a:t>Most common database system these days</a:t>
            </a:r>
          </a:p>
        </p:txBody>
      </p:sp>
    </p:spTree>
    <p:extLst>
      <p:ext uri="{BB962C8B-B14F-4D97-AF65-F5344CB8AC3E}">
        <p14:creationId xmlns:p14="http://schemas.microsoft.com/office/powerpoint/2010/main" val="310674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049" y="160944"/>
            <a:ext cx="8079581" cy="925613"/>
          </a:xfrm>
        </p:spPr>
        <p:txBody>
          <a:bodyPr/>
          <a:lstStyle/>
          <a:p>
            <a:r>
              <a:rPr lang="en-US" altLang="en-US" dirty="0"/>
              <a:t>Enterprise vs Personal DBMS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25145" y="1226093"/>
            <a:ext cx="8536800" cy="5085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Enterprise DBMS</a:t>
            </a: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products process large organizational and workgroup databases. </a:t>
            </a:r>
          </a:p>
          <a:p>
            <a:pPr marL="0" indent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§"/>
            </a:pPr>
            <a:r>
              <a:rPr lang="en-US" altLang="en-US" sz="2200" dirty="0">
                <a:solidFill>
                  <a:srgbClr val="000000"/>
                </a:solidFill>
              </a:rPr>
              <a:t> They support many, possibly thousands, of users and many different database applications. </a:t>
            </a:r>
          </a:p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§"/>
            </a:pPr>
            <a:r>
              <a:rPr lang="en-US" altLang="en-US" sz="2200" dirty="0">
                <a:solidFill>
                  <a:srgbClr val="000000"/>
                </a:solidFill>
              </a:rPr>
              <a:t> Able to manage databases with petabytes (1PB=1million GB) or more. </a:t>
            </a:r>
          </a:p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§"/>
            </a:pPr>
            <a:r>
              <a:rPr lang="en-US" sz="2200" u="sng" dirty="0"/>
              <a:t> Security</a:t>
            </a:r>
            <a:r>
              <a:rPr lang="en-US" sz="2200" dirty="0"/>
              <a:t>: Different users, different roles</a:t>
            </a:r>
          </a:p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§"/>
            </a:pPr>
            <a:r>
              <a:rPr lang="en-US" sz="2200" u="sng" dirty="0"/>
              <a:t> Performance</a:t>
            </a:r>
            <a:r>
              <a:rPr lang="en-US" sz="2200" dirty="0"/>
              <a:t>: Need to provide concurrent access</a:t>
            </a:r>
          </a:p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§"/>
            </a:pPr>
            <a:r>
              <a:rPr lang="en-US" sz="2200" u="sng" dirty="0"/>
              <a:t> Consistency</a:t>
            </a:r>
            <a:r>
              <a:rPr lang="en-US" sz="2200" dirty="0"/>
              <a:t>: Concurrency can lead to update problems</a:t>
            </a:r>
          </a:p>
          <a:p>
            <a:pPr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§"/>
            </a:pPr>
            <a:r>
              <a:rPr lang="en-US" altLang="en-US" sz="2200" dirty="0">
                <a:solidFill>
                  <a:srgbClr val="000000"/>
                </a:solidFill>
              </a:rPr>
              <a:t> Examples: MySQL, IBM's Microsoft's SQL Server, and Oracle's Oracle DB.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6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049" y="160944"/>
            <a:ext cx="8079581" cy="925613"/>
          </a:xfrm>
        </p:spPr>
        <p:txBody>
          <a:bodyPr/>
          <a:lstStyle/>
          <a:p>
            <a:r>
              <a:rPr lang="en-US" altLang="en-US" dirty="0"/>
              <a:t>Enterprise vs Personal DBMS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51332" y="1552666"/>
            <a:ext cx="8536800" cy="28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Personal DBMS </a:t>
            </a: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products are designed for smaller, simpler database applications. </a:t>
            </a:r>
          </a:p>
          <a:p>
            <a:pPr marL="0" indent="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0000"/>
                </a:solidFill>
              </a:rPr>
              <a:t> Mostly used for personal or small workgroup applications that involve fewer than 100 users.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rgbClr val="000000"/>
                </a:solidFill>
              </a:rPr>
              <a:t> Example: Microsoft Access </a:t>
            </a:r>
            <a:endParaRPr lang="en-US" altLang="en-US" sz="2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6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1206" y="326539"/>
            <a:ext cx="8079581" cy="1024467"/>
          </a:xfrm>
        </p:spPr>
        <p:txBody>
          <a:bodyPr/>
          <a:lstStyle/>
          <a:p>
            <a:r>
              <a:rPr lang="en-US" dirty="0"/>
              <a:t>Advantages of using a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3592" y="1391146"/>
            <a:ext cx="8299043" cy="468762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300" dirty="0"/>
              <a:t> Data is organized accordingly to the relationships that exist within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300" dirty="0"/>
              <a:t> Control of data redundancy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300" dirty="0"/>
              <a:t> Reduces the risk of inconsistencies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300" b="1" dirty="0">
              <a:solidFill>
                <a:schemeClr val="accent1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But…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300" dirty="0"/>
              <a:t> It’s complex: users must learn and understand basic database concepts.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300" dirty="0"/>
              <a:t> More expensive: software cost, cost of training staff to use the system, cost of hiring staff to maintain the system….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300" dirty="0"/>
              <a:t> A failure can have a very high impact. The centralization of resources increases the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3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85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Intro to Databases</vt:lpstr>
      <vt:lpstr>Outline</vt:lpstr>
      <vt:lpstr>Databases are everywhere because data is everywhere</vt:lpstr>
      <vt:lpstr>DBs are not about data only, but about the relationships too</vt:lpstr>
      <vt:lpstr>What is a database (DB)?</vt:lpstr>
      <vt:lpstr>Most common database system these days</vt:lpstr>
      <vt:lpstr>Enterprise vs Personal DBMS </vt:lpstr>
      <vt:lpstr>Enterprise vs Personal DBMS </vt:lpstr>
      <vt:lpstr>Advantages of using a DB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Databases</dc:title>
  <dc:creator>Disha Parkhi</dc:creator>
  <cp:lastModifiedBy>Disha Parkhi</cp:lastModifiedBy>
  <cp:revision>1</cp:revision>
  <dcterms:created xsi:type="dcterms:W3CDTF">2020-08-22T20:43:24Z</dcterms:created>
  <dcterms:modified xsi:type="dcterms:W3CDTF">2020-08-22T20:44:06Z</dcterms:modified>
</cp:coreProperties>
</file>