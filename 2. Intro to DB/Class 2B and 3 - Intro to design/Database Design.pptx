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347" r:id="rId4"/>
    <p:sldId id="315" r:id="rId5"/>
    <p:sldId id="294" r:id="rId6"/>
    <p:sldId id="329" r:id="rId7"/>
    <p:sldId id="262" r:id="rId8"/>
    <p:sldId id="334" r:id="rId9"/>
    <p:sldId id="281" r:id="rId10"/>
    <p:sldId id="335" r:id="rId11"/>
    <p:sldId id="348" r:id="rId12"/>
    <p:sldId id="336" r:id="rId13"/>
    <p:sldId id="309" r:id="rId14"/>
    <p:sldId id="270" r:id="rId15"/>
    <p:sldId id="275" r:id="rId16"/>
    <p:sldId id="316" r:id="rId17"/>
    <p:sldId id="296" r:id="rId18"/>
    <p:sldId id="331" r:id="rId19"/>
    <p:sldId id="332" r:id="rId20"/>
    <p:sldId id="350" r:id="rId21"/>
    <p:sldId id="330" r:id="rId22"/>
    <p:sldId id="297" r:id="rId23"/>
    <p:sldId id="351" r:id="rId24"/>
    <p:sldId id="338" r:id="rId25"/>
    <p:sldId id="340" r:id="rId26"/>
    <p:sldId id="341" r:id="rId27"/>
    <p:sldId id="344" r:id="rId28"/>
    <p:sldId id="345" r:id="rId29"/>
    <p:sldId id="34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2008D-43F3-4264-941F-487151B80BC1}">
          <p14:sldIdLst>
            <p14:sldId id="257"/>
            <p14:sldId id="258"/>
            <p14:sldId id="347"/>
            <p14:sldId id="315"/>
            <p14:sldId id="294"/>
          </p14:sldIdLst>
        </p14:section>
        <p14:section name="First attempts" id="{AC114FD1-82A3-954C-88DF-BE149F70BE6B}">
          <p14:sldIdLst>
            <p14:sldId id="329"/>
            <p14:sldId id="262"/>
            <p14:sldId id="334"/>
            <p14:sldId id="281"/>
            <p14:sldId id="335"/>
            <p14:sldId id="348"/>
            <p14:sldId id="336"/>
          </p14:sldIdLst>
        </p14:section>
        <p14:section name="Our first DB Design" id="{4C49C285-0DF6-4929-A59B-C7733A365EA4}">
          <p14:sldIdLst>
            <p14:sldId id="309"/>
            <p14:sldId id="270"/>
            <p14:sldId id="275"/>
            <p14:sldId id="316"/>
            <p14:sldId id="296"/>
            <p14:sldId id="331"/>
          </p14:sldIdLst>
        </p14:section>
        <p14:section name="Referential integrity" id="{32A65308-89A9-48B9-86AC-D2B4F29FE3E5}">
          <p14:sldIdLst>
            <p14:sldId id="332"/>
            <p14:sldId id="350"/>
            <p14:sldId id="330"/>
            <p14:sldId id="297"/>
            <p14:sldId id="351"/>
          </p14:sldIdLst>
        </p14:section>
        <p14:section name="Adding one table" id="{E58FFDCB-E7FE-4AA6-8C13-3DE252A33292}">
          <p14:sldIdLst>
            <p14:sldId id="338"/>
            <p14:sldId id="340"/>
            <p14:sldId id="341"/>
          </p14:sldIdLst>
        </p14:section>
        <p14:section name="Relationships in Access" id="{1E403A12-59E3-FE44-9969-DB048C3B39F9}">
          <p14:sldIdLst>
            <p14:sldId id="344"/>
            <p14:sldId id="345"/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Parkhi" userId="7ca7a02737f3c9a0" providerId="LiveId" clId="{D9308333-387F-4A47-AD88-B87F62591EC8}"/>
    <pc:docChg chg="custSel modSld">
      <pc:chgData name="Disha Parkhi" userId="7ca7a02737f3c9a0" providerId="LiveId" clId="{D9308333-387F-4A47-AD88-B87F62591EC8}" dt="2021-02-17T17:24:53.599" v="53" actId="20577"/>
      <pc:docMkLst>
        <pc:docMk/>
      </pc:docMkLst>
      <pc:sldChg chg="modSp mod">
        <pc:chgData name="Disha Parkhi" userId="7ca7a02737f3c9a0" providerId="LiveId" clId="{D9308333-387F-4A47-AD88-B87F62591EC8}" dt="2021-02-17T16:23:34.646" v="6" actId="20577"/>
        <pc:sldMkLst>
          <pc:docMk/>
          <pc:sldMk cId="1072933540" sldId="258"/>
        </pc:sldMkLst>
        <pc:spChg chg="mod">
          <ac:chgData name="Disha Parkhi" userId="7ca7a02737f3c9a0" providerId="LiveId" clId="{D9308333-387F-4A47-AD88-B87F62591EC8}" dt="2021-02-17T16:23:34.646" v="6" actId="20577"/>
          <ac:spMkLst>
            <pc:docMk/>
            <pc:sldMk cId="1072933540" sldId="258"/>
            <ac:spMk id="2" creationId="{00000000-0000-0000-0000-000000000000}"/>
          </ac:spMkLst>
        </pc:spChg>
      </pc:sldChg>
      <pc:sldChg chg="modSp mod">
        <pc:chgData name="Disha Parkhi" userId="7ca7a02737f3c9a0" providerId="LiveId" clId="{D9308333-387F-4A47-AD88-B87F62591EC8}" dt="2021-02-17T16:30:19.118" v="9" actId="1076"/>
        <pc:sldMkLst>
          <pc:docMk/>
          <pc:sldMk cId="2563048881" sldId="262"/>
        </pc:sldMkLst>
        <pc:spChg chg="mod">
          <ac:chgData name="Disha Parkhi" userId="7ca7a02737f3c9a0" providerId="LiveId" clId="{D9308333-387F-4A47-AD88-B87F62591EC8}" dt="2021-02-17T16:30:19.118" v="9" actId="1076"/>
          <ac:spMkLst>
            <pc:docMk/>
            <pc:sldMk cId="2563048881" sldId="262"/>
            <ac:spMk id="8" creationId="{00000000-0000-0000-0000-000000000000}"/>
          </ac:spMkLst>
        </pc:spChg>
      </pc:sldChg>
      <pc:sldChg chg="modSp mod">
        <pc:chgData name="Disha Parkhi" userId="7ca7a02737f3c9a0" providerId="LiveId" clId="{D9308333-387F-4A47-AD88-B87F62591EC8}" dt="2021-02-17T16:51:10.066" v="10" actId="1076"/>
        <pc:sldMkLst>
          <pc:docMk/>
          <pc:sldMk cId="3510409300" sldId="316"/>
        </pc:sldMkLst>
        <pc:spChg chg="mod">
          <ac:chgData name="Disha Parkhi" userId="7ca7a02737f3c9a0" providerId="LiveId" clId="{D9308333-387F-4A47-AD88-B87F62591EC8}" dt="2021-02-17T16:51:10.066" v="10" actId="1076"/>
          <ac:spMkLst>
            <pc:docMk/>
            <pc:sldMk cId="3510409300" sldId="316"/>
            <ac:spMk id="4" creationId="{00000000-0000-0000-0000-000000000000}"/>
          </ac:spMkLst>
        </pc:spChg>
      </pc:sldChg>
      <pc:sldChg chg="modSp">
        <pc:chgData name="Disha Parkhi" userId="7ca7a02737f3c9a0" providerId="LiveId" clId="{D9308333-387F-4A47-AD88-B87F62591EC8}" dt="2021-02-17T17:14:45.598" v="12" actId="20578"/>
        <pc:sldMkLst>
          <pc:docMk/>
          <pc:sldMk cId="4286804978" sldId="350"/>
        </pc:sldMkLst>
        <pc:spChg chg="mod">
          <ac:chgData name="Disha Parkhi" userId="7ca7a02737f3c9a0" providerId="LiveId" clId="{D9308333-387F-4A47-AD88-B87F62591EC8}" dt="2021-02-17T17:14:45.598" v="12" actId="20578"/>
          <ac:spMkLst>
            <pc:docMk/>
            <pc:sldMk cId="4286804978" sldId="350"/>
            <ac:spMk id="8" creationId="{00000000-0000-0000-0000-000000000000}"/>
          </ac:spMkLst>
        </pc:spChg>
      </pc:sldChg>
      <pc:sldChg chg="modSp mod">
        <pc:chgData name="Disha Parkhi" userId="7ca7a02737f3c9a0" providerId="LiveId" clId="{D9308333-387F-4A47-AD88-B87F62591EC8}" dt="2021-02-17T17:24:53.599" v="53" actId="20577"/>
        <pc:sldMkLst>
          <pc:docMk/>
          <pc:sldMk cId="1957043666" sldId="351"/>
        </pc:sldMkLst>
        <pc:spChg chg="mod">
          <ac:chgData name="Disha Parkhi" userId="7ca7a02737f3c9a0" providerId="LiveId" clId="{D9308333-387F-4A47-AD88-B87F62591EC8}" dt="2021-02-17T17:24:53.599" v="53" actId="20577"/>
          <ac:spMkLst>
            <pc:docMk/>
            <pc:sldMk cId="1957043666" sldId="35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31258-0087-4D2F-97CA-D757BFD1F75C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6FB8F-9B02-4DFB-A8DC-D5F0C225C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8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6626-EE63-464E-AFC8-42DBD71B4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E0B35-6C96-48B0-A330-71715DE75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920BF-3573-432A-B229-3A9A47CF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0B38C-BB35-4340-84B4-D1FD2E03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E3389-B2F5-41C2-BB0C-EF588312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8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DCFB-6E52-42A4-842D-A77DFD51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6C0E-B437-4191-BC24-5B2B3268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F981E-E780-4E99-B2ED-F71B8DAE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D0EA6-3B31-4BC8-9213-16C58059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93507-759C-476E-9E0F-E36C66D6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11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F31E-902B-4607-9AF7-C913223D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EAAC0-336B-44CA-899C-4013A479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5E6E3-3558-4E6C-B58A-0167A65B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E20D3-D06D-46F3-8836-0D4CB5FC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6E6FE-BF7F-492B-A7F4-5DB56613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26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2E6E-D1A5-4B21-8017-48D137AB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8570-3890-477A-834A-1C0862EB2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16E23-832F-4EAC-8CF2-D75D22253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8C0C2-C875-432A-8EDA-EE2B8B94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96F51-72D6-465B-BC63-8DF7039C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58FBA-34AB-4F52-A94E-6CFFCD9F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0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3E88-B109-45BE-8C51-DCE005E0A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08FA-896C-4130-A9AA-A6B9E61BD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8F622-76D2-4263-B10C-3A73AEE39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EB990-13EE-4CB3-9963-7ED279C71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DA71D-5CDF-4B3B-817F-54A2CAC46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CB706-D285-4A6D-9975-28AEF574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DFDB23-9186-4348-BC14-25D84359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AF1EE-CB56-4165-ABBD-FB60713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43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8813-6915-495D-98A8-F9572D42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6BC63-DCF5-4C77-8BA1-1BFB9D16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5699A-F90A-462D-B1DE-85B1848C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479C2-8374-4E1F-8F99-D11931E7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1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D7B257-625F-4BBB-801D-E3B1190C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41872-516A-476F-A8E5-30306965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24B22-36DC-4CFB-A0D0-E9554CE7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1F6F-909C-43F4-9EB6-64993DC5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B166-68F4-4221-888E-9F0A91E1C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44028-CAD1-4491-B406-7ACBE9DFB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4A281-9B45-4740-B025-8823718D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0513-9308-4C49-A608-017EE1F4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C77CB-F10E-4CC7-A55D-ACEF9BB6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8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714D-1321-46FB-A744-640FC3230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4C436-6C0C-49A0-B08D-46EEFB484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52D14-5257-4153-8B4D-6471A0C45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03D66-D642-49D3-AD94-7965711B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3FFD3-BA75-4C68-B6B0-369DADDF8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A69BC-FFEA-49B1-B9FD-53A36025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2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B907-E612-4AA0-AC8F-CBCD16059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276C3-27A8-4676-B64F-AED7C3199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F13D3-E1EB-4BDC-A068-B909B4FF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6ECBF-D736-4038-BB9A-FEA39670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55DD9-FC25-44FF-A1B4-3268C3B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7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5A83A-A94D-444D-B50C-66D794179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065D-CDAF-4C53-8EDD-865DFC350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2CC5E-B330-45BA-88C6-7333A624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44B5E-25E8-4B98-9730-47FFA1E8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1F651-8B76-470D-B202-DA00ACE4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415F8-AEB1-4824-B063-92812C3C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406EE-1B91-4341-8DE3-A40B1500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7B081-00F2-4FD7-895B-986A6BD73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621B0-8372-43FC-9109-C1027AF8E10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ABE29-1E77-4F9F-A5E5-BDFC2B464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48615-6DB9-41D7-9B7F-5044012F9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D6A1C-669F-4695-AC53-75CB3D4AE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3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Design:</a:t>
            </a:r>
            <a:br>
              <a:rPr lang="en-US" dirty="0"/>
            </a:br>
            <a:r>
              <a:rPr lang="en-US" dirty="0"/>
              <a:t>1-to-Many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Management Information Systems</a:t>
            </a:r>
          </a:p>
          <a:p>
            <a:r>
              <a:rPr lang="en-US" sz="2000" dirty="0"/>
              <a:t>Disha Parkhi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9496" y="229078"/>
            <a:ext cx="8079581" cy="1213357"/>
          </a:xfrm>
        </p:spPr>
        <p:txBody>
          <a:bodyPr/>
          <a:lstStyle/>
          <a:p>
            <a:r>
              <a:rPr lang="en-US" dirty="0"/>
              <a:t>Outline (VIMP)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076554" y="1863331"/>
            <a:ext cx="4354265" cy="4691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Database Anomalies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One-to-Many Relationships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Outline notation and ER diagram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Referential Integrity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Foreign keys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Creating relationships in Access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8"/>
          <p:cNvSpPr txBox="1">
            <a:spLocks/>
          </p:cNvSpPr>
          <p:nvPr/>
        </p:nvSpPr>
        <p:spPr>
          <a:xfrm>
            <a:off x="6961909" y="1993392"/>
            <a:ext cx="3126018" cy="376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chemeClr val="accent1"/>
                </a:solidFill>
              </a:rPr>
              <a:t>Reading:</a:t>
            </a:r>
            <a:r>
              <a:rPr lang="en-US" dirty="0"/>
              <a:t> 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i="1" dirty="0"/>
              <a:t> Chapter 3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i="1" dirty="0"/>
              <a:t> Chapter 4: 53-60, 68-70 </a:t>
            </a:r>
            <a:r>
              <a:rPr lang="en-US" sz="2000" i="1" dirty="0"/>
              <a:t>(we will not talk about dependencies yet)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9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7838" y="276549"/>
            <a:ext cx="8680163" cy="1187397"/>
          </a:xfrm>
        </p:spPr>
        <p:txBody>
          <a:bodyPr>
            <a:normAutofit/>
          </a:bodyPr>
          <a:lstStyle/>
          <a:p>
            <a:r>
              <a:rPr lang="en-US" i="1" dirty="0"/>
              <a:t>Relational Databases review</a:t>
            </a:r>
            <a:r>
              <a:rPr lang="is-IS" i="1" dirty="0"/>
              <a:t>…</a:t>
            </a:r>
            <a:endParaRPr lang="en-US" i="1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2071" y="1463945"/>
            <a:ext cx="8395127" cy="4973534"/>
          </a:xfrm>
        </p:spPr>
        <p:txBody>
          <a:bodyPr vert="horz">
            <a:normAutofit fontScale="92500" lnSpcReduction="20000"/>
          </a:bodyPr>
          <a:lstStyle/>
          <a:p>
            <a:pPr algn="just">
              <a:lnSpc>
                <a:spcPct val="130000"/>
              </a:lnSpc>
              <a:buFont typeface="Wingdings" charset="2"/>
              <a:buChar char="§"/>
            </a:pPr>
            <a:r>
              <a:rPr lang="en-US" dirty="0"/>
              <a:t> Data is organized in </a:t>
            </a:r>
            <a:r>
              <a:rPr lang="en-US" u="sng" dirty="0"/>
              <a:t>tables</a:t>
            </a:r>
            <a:r>
              <a:rPr lang="en-US" dirty="0"/>
              <a:t>. Each table stores information about “an object”;</a:t>
            </a:r>
          </a:p>
          <a:p>
            <a:pPr algn="just">
              <a:lnSpc>
                <a:spcPct val="130000"/>
              </a:lnSpc>
              <a:buFont typeface="Wingdings" charset="2"/>
              <a:buChar char="§"/>
            </a:pPr>
            <a:r>
              <a:rPr lang="en-US" dirty="0"/>
              <a:t> Columns (a.k.a.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attributes</a:t>
            </a:r>
            <a:r>
              <a:rPr lang="en-US" dirty="0"/>
              <a:t> or </a:t>
            </a:r>
            <a:r>
              <a:rPr lang="en-US" i="1" dirty="0">
                <a:solidFill>
                  <a:srgbClr val="328EA0"/>
                </a:solidFill>
              </a:rPr>
              <a:t>fields</a:t>
            </a:r>
            <a:r>
              <a:rPr lang="en-US" dirty="0"/>
              <a:t>) correspond to the properties of the object we need to store data on;</a:t>
            </a:r>
          </a:p>
          <a:p>
            <a:pPr algn="just">
              <a:lnSpc>
                <a:spcPct val="130000"/>
              </a:lnSpc>
              <a:buFont typeface="Wingdings" charset="2"/>
              <a:buChar char="§"/>
            </a:pPr>
            <a:r>
              <a:rPr lang="en-US" dirty="0"/>
              <a:t> Rows (a.k.a. </a:t>
            </a:r>
            <a:r>
              <a:rPr lang="en-US" i="1" dirty="0">
                <a:solidFill>
                  <a:srgbClr val="328EA0"/>
                </a:solidFill>
              </a:rPr>
              <a:t>records</a:t>
            </a:r>
            <a:r>
              <a:rPr lang="en-US" dirty="0"/>
              <a:t> or </a:t>
            </a:r>
            <a:r>
              <a:rPr lang="en-US" i="1" dirty="0">
                <a:solidFill>
                  <a:srgbClr val="328EA0"/>
                </a:solidFill>
              </a:rPr>
              <a:t>tuples</a:t>
            </a:r>
            <a:r>
              <a:rPr lang="en-US" dirty="0"/>
              <a:t>) correspond to the entities of that object;</a:t>
            </a:r>
          </a:p>
          <a:p>
            <a:pPr marL="91440" lvl="1" indent="-91440" algn="just">
              <a:lnSpc>
                <a:spcPct val="130000"/>
              </a:lnSpc>
              <a:spcBef>
                <a:spcPts val="1000"/>
              </a:spcBef>
              <a:buFont typeface="Wingdings" charset="2"/>
              <a:buChar char="§"/>
            </a:pPr>
            <a:r>
              <a:rPr lang="en-US" dirty="0"/>
              <a:t> Each table has a </a:t>
            </a:r>
            <a:r>
              <a:rPr lang="en-US" b="1" dirty="0">
                <a:solidFill>
                  <a:schemeClr val="accent1"/>
                </a:solidFill>
              </a:rPr>
              <a:t>primary key</a:t>
            </a:r>
            <a:r>
              <a:rPr lang="en-US" dirty="0"/>
              <a:t>: </a:t>
            </a:r>
            <a:r>
              <a:rPr lang="en-US" sz="2300" dirty="0"/>
              <a:t>a </a:t>
            </a:r>
            <a:r>
              <a:rPr lang="en-US" sz="2300" i="1" dirty="0"/>
              <a:t>minimal</a:t>
            </a:r>
            <a:r>
              <a:rPr lang="en-US" sz="2300" dirty="0"/>
              <a:t> set of attributes that together uniquely identify each record; </a:t>
            </a:r>
          </a:p>
          <a:p>
            <a:pPr algn="just">
              <a:lnSpc>
                <a:spcPct val="130000"/>
              </a:lnSpc>
              <a:buFont typeface="Wingdings" charset="2"/>
              <a:buChar char="§"/>
            </a:pPr>
            <a:r>
              <a:rPr lang="en-US" dirty="0"/>
              <a:t> Each row of a table is unique;</a:t>
            </a:r>
          </a:p>
          <a:p>
            <a:pPr algn="just">
              <a:lnSpc>
                <a:spcPct val="130000"/>
              </a:lnSpc>
              <a:buFont typeface="Wingdings" charset="2"/>
              <a:buChar char="§"/>
            </a:pPr>
            <a:r>
              <a:rPr lang="en-US" dirty="0"/>
              <a:t> Each cell contains </a:t>
            </a:r>
            <a:r>
              <a:rPr lang="en-US" u="sng" dirty="0"/>
              <a:t>atomic</a:t>
            </a:r>
            <a:r>
              <a:rPr lang="en-US" dirty="0"/>
              <a:t> data: no lists or sub-tables.</a:t>
            </a:r>
          </a:p>
          <a:p>
            <a:pPr algn="just">
              <a:lnSpc>
                <a:spcPct val="130000"/>
              </a:lnSpc>
              <a:buFont typeface="Wingdings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5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016920" y="499533"/>
            <a:ext cx="8079581" cy="1172748"/>
          </a:xfrm>
        </p:spPr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2016920" y="1832394"/>
            <a:ext cx="8228547" cy="424248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The process of creating a design that will support the organization’s mission statement and objectives for the required database.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i="1" dirty="0"/>
              <a:t>What information needs to be stored?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ym typeface="Wingdings" panose="05000000000000000000" pitchFamily="2" charset="2"/>
              </a:rPr>
              <a:t></a:t>
            </a:r>
            <a:r>
              <a:rPr lang="en-US" sz="2000" dirty="0"/>
              <a:t>How many tables should be in the database? Which fields should each of them have?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i="1" dirty="0"/>
              <a:t>How different pieces of information relate to each other?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ym typeface="Wingdings" panose="05000000000000000000" pitchFamily="2" charset="2"/>
              </a:rPr>
              <a:t></a:t>
            </a:r>
            <a:r>
              <a:rPr lang="en-US" sz="2000" dirty="0"/>
              <a:t>How should the tables be connected to one another?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99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67196" y="1317711"/>
            <a:ext cx="8800805" cy="49253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Suppose we want to create a database for a bank that keeps track of the loans. We want to save the following information about each loan:</a:t>
            </a:r>
          </a:p>
          <a:p>
            <a:pPr>
              <a:spcBef>
                <a:spcPts val="700"/>
              </a:spcBef>
              <a:buFont typeface="Arial"/>
              <a:buChar char="•"/>
            </a:pPr>
            <a:r>
              <a:rPr lang="en-US" sz="2200" i="1" dirty="0"/>
              <a:t>LoanID</a:t>
            </a:r>
          </a:p>
          <a:p>
            <a:pPr>
              <a:spcBef>
                <a:spcPts val="700"/>
              </a:spcBef>
              <a:buFont typeface="Arial"/>
              <a:buChar char="•"/>
            </a:pPr>
            <a:r>
              <a:rPr lang="en-US" sz="2200" i="1" dirty="0"/>
              <a:t>Date</a:t>
            </a:r>
          </a:p>
          <a:p>
            <a:pPr>
              <a:spcBef>
                <a:spcPts val="700"/>
              </a:spcBef>
              <a:buFont typeface="Arial"/>
              <a:buChar char="•"/>
            </a:pPr>
            <a:r>
              <a:rPr lang="en-US" sz="2200" i="1" dirty="0"/>
              <a:t>Amount</a:t>
            </a:r>
          </a:p>
          <a:p>
            <a:pPr>
              <a:spcBef>
                <a:spcPts val="700"/>
              </a:spcBef>
              <a:buFont typeface="Arial"/>
              <a:buChar char="•"/>
            </a:pPr>
            <a:r>
              <a:rPr lang="en-US" sz="2200" i="1" dirty="0"/>
              <a:t>Annual Interest Rate</a:t>
            </a:r>
          </a:p>
          <a:p>
            <a:pPr>
              <a:spcBef>
                <a:spcPts val="700"/>
              </a:spcBef>
              <a:buFont typeface="Arial"/>
              <a:buChar char="•"/>
            </a:pPr>
            <a:r>
              <a:rPr lang="en-US" sz="2200" i="1" dirty="0"/>
              <a:t>Term (number of years)</a:t>
            </a:r>
          </a:p>
          <a:p>
            <a:pPr>
              <a:spcBef>
                <a:spcPts val="700"/>
              </a:spcBef>
              <a:buFont typeface="Arial"/>
              <a:buChar char="•"/>
            </a:pPr>
            <a:r>
              <a:rPr lang="en-US" sz="2200" i="1" dirty="0"/>
              <a:t>Type (Mortgage, Car or Other)</a:t>
            </a:r>
          </a:p>
          <a:p>
            <a:pPr>
              <a:spcBef>
                <a:spcPts val="700"/>
              </a:spcBef>
              <a:buFont typeface="Arial"/>
              <a:buChar char="•"/>
            </a:pPr>
            <a:r>
              <a:rPr lang="en-US" sz="2200" i="1" dirty="0"/>
              <a:t>Customer contact (Name, address and phone number)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For simplicity, assume </a:t>
            </a:r>
            <a:r>
              <a:rPr lang="en-US" b="1" dirty="0">
                <a:solidFill>
                  <a:srgbClr val="FF0000"/>
                </a:solidFill>
              </a:rPr>
              <a:t>a loan belongs to a single customer.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Naturally,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 customer may have more than one loan.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031206" y="389318"/>
            <a:ext cx="8079581" cy="1037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LOAN database</a:t>
            </a:r>
          </a:p>
        </p:txBody>
      </p:sp>
    </p:spTree>
    <p:extLst>
      <p:ext uri="{BB962C8B-B14F-4D97-AF65-F5344CB8AC3E}">
        <p14:creationId xmlns:p14="http://schemas.microsoft.com/office/powerpoint/2010/main" val="223003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attempts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4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7" y="88818"/>
            <a:ext cx="8418576" cy="1037269"/>
          </a:xfrm>
        </p:spPr>
        <p:txBody>
          <a:bodyPr>
            <a:normAutofit/>
          </a:bodyPr>
          <a:lstStyle/>
          <a:p>
            <a:r>
              <a:rPr lang="en-US" dirty="0"/>
              <a:t>The LOAN database – first attempt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45159" y="1324535"/>
            <a:ext cx="10301681" cy="5214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 dirty="0"/>
              <a:t>We can create the following table:</a:t>
            </a:r>
          </a:p>
          <a:p>
            <a:pPr>
              <a:lnSpc>
                <a:spcPct val="130000"/>
              </a:lnSpc>
            </a:pPr>
            <a:endParaRPr lang="en-US" sz="2400" dirty="0"/>
          </a:p>
          <a:p>
            <a:pPr>
              <a:lnSpc>
                <a:spcPct val="130000"/>
              </a:lnSpc>
            </a:pPr>
            <a:r>
              <a:rPr lang="en-US" sz="2800" dirty="0"/>
              <a:t>LOAN (</a:t>
            </a:r>
            <a:r>
              <a:rPr lang="en-US" sz="2800" u="sng" dirty="0"/>
              <a:t>LoanID</a:t>
            </a:r>
            <a:r>
              <a:rPr lang="en-US" sz="2800" dirty="0"/>
              <a:t>, Date, Amount, Rate, Term, Type, FirstName, 	LastName, Address, City, State, Zip, Phone)</a:t>
            </a:r>
          </a:p>
          <a:p>
            <a:pPr>
              <a:lnSpc>
                <a:spcPct val="130000"/>
              </a:lnSpc>
            </a:pPr>
            <a:endParaRPr lang="en-US" sz="2400" dirty="0"/>
          </a:p>
          <a:p>
            <a:pPr>
              <a:lnSpc>
                <a:spcPct val="130000"/>
              </a:lnSpc>
            </a:pPr>
            <a:endParaRPr lang="en-US" sz="2400" dirty="0"/>
          </a:p>
          <a:p>
            <a:pPr>
              <a:lnSpc>
                <a:spcPct val="130000"/>
              </a:lnSpc>
            </a:pPr>
            <a:endParaRPr lang="en-US" sz="2400" dirty="0"/>
          </a:p>
          <a:p>
            <a:pPr algn="ctr">
              <a:lnSpc>
                <a:spcPct val="130000"/>
              </a:lnSpc>
            </a:pPr>
            <a:r>
              <a:rPr lang="en-US" sz="3200" i="1" dirty="0">
                <a:solidFill>
                  <a:srgbClr val="FF0000"/>
                </a:solidFill>
              </a:rPr>
              <a:t>What can go wrong with this database?</a:t>
            </a:r>
          </a:p>
          <a:p>
            <a:pPr>
              <a:lnSpc>
                <a:spcPct val="130000"/>
              </a:lnSpc>
            </a:pPr>
            <a:endParaRPr lang="en-US" sz="2400" dirty="0">
              <a:solidFill>
                <a:srgbClr val="660066"/>
              </a:solidFill>
            </a:endParaRPr>
          </a:p>
          <a:p>
            <a:pPr>
              <a:lnSpc>
                <a:spcPct val="130000"/>
              </a:lnSpc>
            </a:pP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4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0971" y="88818"/>
            <a:ext cx="8079581" cy="2252601"/>
          </a:xfrm>
        </p:spPr>
        <p:txBody>
          <a:bodyPr>
            <a:normAutofit/>
          </a:bodyPr>
          <a:lstStyle/>
          <a:p>
            <a:r>
              <a:rPr lang="en-US" dirty="0"/>
              <a:t>What is wrong with this DB? </a:t>
            </a:r>
            <a:br>
              <a:rPr lang="en-US" dirty="0"/>
            </a:br>
            <a:r>
              <a:rPr lang="en-US" dirty="0"/>
              <a:t>- Waste of Space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820971" y="2341419"/>
            <a:ext cx="8262921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400" dirty="0"/>
              <a:t>If a customer has multiples loans, the data about that customer is going to show in each of the rows corresponding to his/her loans. That is, the customer data is repeated as many times as the number of loans he/she has, resulting in a waste of storage space.</a:t>
            </a:r>
          </a:p>
        </p:txBody>
      </p:sp>
    </p:spTree>
    <p:extLst>
      <p:ext uri="{BB962C8B-B14F-4D97-AF65-F5344CB8AC3E}">
        <p14:creationId xmlns:p14="http://schemas.microsoft.com/office/powerpoint/2010/main" val="27028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0971" y="88818"/>
            <a:ext cx="8079581" cy="1037269"/>
          </a:xfrm>
        </p:spPr>
        <p:txBody>
          <a:bodyPr>
            <a:normAutofit/>
          </a:bodyPr>
          <a:lstStyle/>
          <a:p>
            <a:r>
              <a:rPr lang="en-US" dirty="0"/>
              <a:t>Database anomalies - definition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892378" y="1255825"/>
            <a:ext cx="8262921" cy="5014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200" u="sng" dirty="0"/>
              <a:t>Anomalies</a:t>
            </a:r>
            <a:r>
              <a:rPr lang="en-US" sz="2200" dirty="0"/>
              <a:t> are problems caused by poor database design.</a:t>
            </a:r>
          </a:p>
          <a:p>
            <a:pPr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sz="2200" dirty="0"/>
          </a:p>
          <a:p>
            <a:pPr marL="285750" indent="-285750"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an </a:t>
            </a:r>
            <a:r>
              <a:rPr lang="en-US" sz="2200" b="1" u="sng" dirty="0"/>
              <a:t>insertion anomaly</a:t>
            </a:r>
            <a:r>
              <a:rPr lang="en-US" sz="2200" b="1" dirty="0"/>
              <a:t> </a:t>
            </a:r>
            <a:r>
              <a:rPr lang="en-US" sz="2200" dirty="0"/>
              <a:t>occurs when a row cannot be added to a table, because not all data is available (or one has to invent “dummy” data)</a:t>
            </a:r>
          </a:p>
          <a:p>
            <a:pPr marL="285750" indent="-285750"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 marL="285750" indent="-285750"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a </a:t>
            </a:r>
            <a:r>
              <a:rPr lang="en-US" sz="2200" b="1" u="sng" dirty="0"/>
              <a:t>deletion anomaly</a:t>
            </a:r>
            <a:r>
              <a:rPr lang="en-US" sz="2200" b="1" dirty="0"/>
              <a:t> </a:t>
            </a:r>
            <a:r>
              <a:rPr lang="en-US" sz="2200" dirty="0"/>
              <a:t>occurs when data is deleted from a </a:t>
            </a:r>
            <a:br>
              <a:rPr lang="en-US" sz="2200" dirty="0"/>
            </a:br>
            <a:r>
              <a:rPr lang="en-US" sz="2200" dirty="0"/>
              <a:t>  relation, and other critical data is unintentionally lost</a:t>
            </a:r>
          </a:p>
          <a:p>
            <a:pPr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sz="2200" dirty="0"/>
          </a:p>
          <a:p>
            <a:pPr marL="285750" indent="-285750"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an </a:t>
            </a:r>
            <a:r>
              <a:rPr lang="en-US" sz="2200" b="1" u="sng" dirty="0"/>
              <a:t>update anomaly</a:t>
            </a:r>
            <a:r>
              <a:rPr lang="en-US" sz="2200" dirty="0"/>
              <a:t> occurs when one must make many changes to reflect the modification of a single piece of information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5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729300" y="2141339"/>
            <a:ext cx="8262921" cy="4561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342900" indent="-342900"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b="1" u="sng" dirty="0"/>
              <a:t>insertion anomaly:</a:t>
            </a:r>
            <a:r>
              <a:rPr lang="en-US" sz="2200" dirty="0"/>
              <a:t> the database does not allow to store information about a customer that does not have any loan (unless we  make up a fake </a:t>
            </a:r>
            <a:r>
              <a:rPr lang="en-US" sz="2200" dirty="0" err="1"/>
              <a:t>LoanID</a:t>
            </a:r>
            <a:r>
              <a:rPr lang="en-US" sz="2200" dirty="0"/>
              <a:t>);</a:t>
            </a:r>
          </a:p>
          <a:p>
            <a:pPr marL="285750" indent="-285750"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b="1" u="sng" dirty="0"/>
              <a:t>deletion anomaly</a:t>
            </a:r>
            <a:r>
              <a:rPr lang="en-US" sz="2200" b="1" dirty="0"/>
              <a:t>: </a:t>
            </a:r>
            <a:r>
              <a:rPr lang="en-US" sz="2200" dirty="0"/>
              <a:t>if a loan is to be deleted, information about the corresponding customer is also deleted. If a customer only has one loan and that loan happens to be deleted, that means the bank loses the data about that customer forever.</a:t>
            </a:r>
          </a:p>
          <a:p>
            <a:pPr marL="285750" indent="-285750" algn="just">
              <a:lnSpc>
                <a:spcPts val="3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b="1" u="sng" dirty="0"/>
              <a:t>update anomaly</a:t>
            </a:r>
            <a:r>
              <a:rPr lang="en-US" sz="2200" dirty="0"/>
              <a:t>: If you need to update information about an existing customer (e.g. update his/her address, or last name, etc.), that update has to be done as many times as the number of loans that customer has.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20971" y="88818"/>
            <a:ext cx="8079581" cy="1944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wrong with this DB? </a:t>
            </a:r>
            <a:br>
              <a:rPr lang="en-US" dirty="0"/>
            </a:br>
            <a:r>
              <a:rPr lang="en-US" dirty="0"/>
              <a:t>- Anomalies</a:t>
            </a:r>
          </a:p>
        </p:txBody>
      </p:sp>
    </p:spTree>
    <p:extLst>
      <p:ext uri="{BB962C8B-B14F-4D97-AF65-F5344CB8AC3E}">
        <p14:creationId xmlns:p14="http://schemas.microsoft.com/office/powerpoint/2010/main" val="1258950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687" y="146896"/>
            <a:ext cx="8462307" cy="1037269"/>
          </a:xfrm>
        </p:spPr>
        <p:txBody>
          <a:bodyPr>
            <a:normAutofit fontScale="90000"/>
          </a:bodyPr>
          <a:lstStyle/>
          <a:p>
            <a:r>
              <a:rPr lang="en-US" sz="5200" dirty="0"/>
              <a:t>How to fix the database then? </a:t>
            </a:r>
            <a:br>
              <a:rPr lang="en-US" sz="5200" dirty="0"/>
            </a:br>
            <a:r>
              <a:rPr lang="en-US" sz="3600" dirty="0"/>
              <a:t>- let’s explore three options…</a:t>
            </a:r>
            <a:endParaRPr lang="en-US" sz="5200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31297" y="1524436"/>
            <a:ext cx="8435212" cy="4401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sz="3200" b="1" dirty="0"/>
              <a:t>Changing the primary key  </a:t>
            </a:r>
            <a:r>
              <a:rPr lang="en-US" sz="3200" b="1" dirty="0">
                <a:sym typeface="Wingdings" panose="05000000000000000000" pitchFamily="2" charset="2"/>
              </a:rPr>
              <a:t></a:t>
            </a:r>
            <a:endParaRPr lang="en-US" sz="3200" b="1" dirty="0"/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Insertion anomalies</a:t>
            </a:r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Deletion anomalies</a:t>
            </a:r>
          </a:p>
          <a:p>
            <a:pPr marL="1200150" lvl="1" indent="-742950">
              <a:buFont typeface="Wingdings" panose="05000000000000000000" pitchFamily="2" charset="2"/>
              <a:buChar char="û"/>
            </a:pPr>
            <a:r>
              <a:rPr lang="en-US" dirty="0">
                <a:solidFill>
                  <a:srgbClr val="FF0000"/>
                </a:solidFill>
              </a:rPr>
              <a:t>Update anomalies</a:t>
            </a:r>
          </a:p>
          <a:p>
            <a:pPr marL="1200150" lvl="1" indent="-742950">
              <a:buFont typeface="Wingdings" panose="05000000000000000000" pitchFamily="2" charset="2"/>
              <a:buChar char=""/>
            </a:pPr>
            <a:r>
              <a:rPr lang="en-US" dirty="0">
                <a:solidFill>
                  <a:srgbClr val="FF0000"/>
                </a:solidFill>
              </a:rPr>
              <a:t>Waste of storage space</a:t>
            </a:r>
          </a:p>
          <a:p>
            <a:pPr marL="1200150" lvl="1" indent="-742950">
              <a:buFont typeface="Wingdings" panose="05000000000000000000" pitchFamily="2" charset="2"/>
              <a:buChar char=""/>
            </a:pP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lphaLcPeriod"/>
            </a:pPr>
            <a:r>
              <a:rPr lang="en-US" sz="3200" b="1" dirty="0"/>
              <a:t>Repeating groups   </a:t>
            </a:r>
            <a:r>
              <a:rPr lang="en-US" sz="3200" b="1" dirty="0">
                <a:sym typeface="Wingdings" panose="05000000000000000000" pitchFamily="2" charset="2"/>
              </a:rPr>
              <a:t></a:t>
            </a:r>
            <a:endParaRPr lang="en-US" sz="3200" b="1" dirty="0"/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Insertion anomalies</a:t>
            </a:r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Deletion anomalies</a:t>
            </a:r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Update anomalies </a:t>
            </a:r>
          </a:p>
          <a:p>
            <a:pPr marL="1200150" lvl="1" indent="-742950">
              <a:buFont typeface="Wingdings" panose="05000000000000000000" pitchFamily="2" charset="2"/>
              <a:buChar char="û"/>
            </a:pPr>
            <a:r>
              <a:rPr lang="en-US" dirty="0">
                <a:solidFill>
                  <a:srgbClr val="FF0000"/>
                </a:solidFill>
              </a:rPr>
              <a:t>Waste of storage space</a:t>
            </a:r>
          </a:p>
          <a:p>
            <a:pPr marL="1200150" lvl="1" indent="-742950">
              <a:buFont typeface="Wingdings" panose="05000000000000000000" pitchFamily="2" charset="2"/>
              <a:buChar char="û"/>
            </a:pPr>
            <a:r>
              <a:rPr lang="en-US" dirty="0">
                <a:solidFill>
                  <a:srgbClr val="FF0000"/>
                </a:solidFill>
              </a:rPr>
              <a:t>The DB does not allow anyone to have more than a pre-determined number of loans!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800321" y="2902889"/>
            <a:ext cx="2178995" cy="1042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See Access file </a:t>
            </a:r>
          </a:p>
          <a:p>
            <a:pPr algn="ctr"/>
            <a:r>
              <a:rPr lang="en-US" i="1" dirty="0"/>
              <a:t>“loans – bad </a:t>
            </a:r>
            <a:r>
              <a:rPr lang="en-US" i="1" dirty="0" err="1"/>
              <a:t>designs.mdb</a:t>
            </a:r>
            <a:r>
              <a:rPr lang="en-US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0783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687" y="146896"/>
            <a:ext cx="8462307" cy="1037269"/>
          </a:xfrm>
        </p:spPr>
        <p:txBody>
          <a:bodyPr>
            <a:normAutofit fontScale="90000"/>
          </a:bodyPr>
          <a:lstStyle/>
          <a:p>
            <a:r>
              <a:rPr lang="en-US" sz="5200" dirty="0"/>
              <a:t>How to fix the database then? </a:t>
            </a:r>
            <a:br>
              <a:rPr lang="en-US" sz="5200" dirty="0"/>
            </a:br>
            <a:r>
              <a:rPr lang="en-US" sz="3600" dirty="0"/>
              <a:t>- let’s explore three options…</a:t>
            </a:r>
            <a:endParaRPr lang="en-US" sz="5200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892522" y="1999491"/>
            <a:ext cx="8435212" cy="4124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742950" indent="-742950">
              <a:buFont typeface="+mj-lt"/>
              <a:buAutoNum type="alphaLcPeriod" startAt="3"/>
            </a:pPr>
            <a:r>
              <a:rPr lang="en-US" sz="3200" b="1" dirty="0"/>
              <a:t>Multiple Tables and Foreign Keys   </a:t>
            </a:r>
            <a:r>
              <a:rPr lang="en-US" sz="3200" b="1" dirty="0">
                <a:sym typeface="Wingdings" panose="05000000000000000000" pitchFamily="2" charset="2"/>
              </a:rPr>
              <a:t></a:t>
            </a:r>
            <a:endParaRPr lang="en-US" sz="3200" b="1" dirty="0"/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Insertion anomalies</a:t>
            </a:r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Deletion anomalies</a:t>
            </a:r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Update anomalies</a:t>
            </a:r>
          </a:p>
          <a:p>
            <a:pPr marL="1200150" lvl="1" indent="-7429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No Waste of storage space</a:t>
            </a:r>
          </a:p>
          <a:p>
            <a:pPr marL="1200150" lvl="1" indent="-742950"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</a:endParaRPr>
          </a:p>
          <a:p>
            <a:pPr marL="1200150" lvl="1" indent="-742950">
              <a:buFont typeface="Wingdings" panose="05000000000000000000" pitchFamily="2" charset="2"/>
              <a:buChar char="ü"/>
            </a:pPr>
            <a:endParaRPr lang="en-US" sz="2800" i="1" dirty="0"/>
          </a:p>
          <a:p>
            <a:pPr marL="1200150" lvl="1" indent="-742950">
              <a:buFont typeface="Wingdings" panose="05000000000000000000" pitchFamily="2" charset="2"/>
              <a:buChar char="ü"/>
            </a:pPr>
            <a:endParaRPr lang="en-US" sz="2800" i="1" dirty="0"/>
          </a:p>
          <a:p>
            <a:pPr marL="1200150" lvl="1" indent="-742950">
              <a:buFont typeface="Wingdings" panose="05000000000000000000" pitchFamily="2" charset="2"/>
              <a:buChar char="ü"/>
            </a:pPr>
            <a:endParaRPr lang="en-US" sz="2800" i="1" dirty="0"/>
          </a:p>
          <a:p>
            <a:pPr lvl="1"/>
            <a:endParaRPr lang="en-US" sz="2800" i="1" dirty="0"/>
          </a:p>
          <a:p>
            <a:pPr lvl="1"/>
            <a:r>
              <a:rPr lang="en-US" sz="2800" i="1" dirty="0"/>
              <a:t>Let’s see how to do this</a:t>
            </a:r>
            <a:r>
              <a:rPr lang="is-IS" sz="2800" i="1" dirty="0"/>
              <a:t>…</a:t>
            </a:r>
            <a:endParaRPr lang="en-US" sz="2800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52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One-to-Many Relationships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 a multi-table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37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0" y="294764"/>
            <a:ext cx="8079581" cy="1037269"/>
          </a:xfrm>
        </p:spPr>
        <p:txBody>
          <a:bodyPr/>
          <a:lstStyle/>
          <a:p>
            <a:r>
              <a:rPr lang="en-US" dirty="0"/>
              <a:t>Multiple tables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042305" y="1570245"/>
            <a:ext cx="8126268" cy="233358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600" b="1" i="1" dirty="0"/>
              <a:t>What is the problem with using only </a:t>
            </a:r>
            <a:r>
              <a:rPr lang="en-US" sz="2600" b="1" i="1" u="sng" dirty="0"/>
              <a:t>one</a:t>
            </a:r>
            <a:r>
              <a:rPr lang="en-US" sz="2600" b="1" i="1" dirty="0"/>
              <a:t> table for the loans?</a:t>
            </a: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800" dirty="0"/>
              <a:t>We are storing information about </a:t>
            </a:r>
            <a:r>
              <a:rPr lang="en-US" sz="2800" u="sng" dirty="0"/>
              <a:t>two</a:t>
            </a:r>
            <a:r>
              <a:rPr lang="en-US" sz="2800" dirty="0"/>
              <a:t> different entities in it: </a:t>
            </a:r>
            <a:r>
              <a:rPr lang="en-US" sz="2800" i="1" dirty="0"/>
              <a:t>customer</a:t>
            </a:r>
            <a:r>
              <a:rPr lang="en-US" sz="2800" dirty="0"/>
              <a:t> and </a:t>
            </a:r>
            <a:r>
              <a:rPr lang="en-US" sz="2800" i="1" dirty="0"/>
              <a:t>loan</a:t>
            </a:r>
            <a:r>
              <a:rPr lang="en-US" sz="2800" dirty="0"/>
              <a:t>, that are in a “one-to-many” relationship.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8173" y="3982281"/>
            <a:ext cx="4211265" cy="14465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u="sng" dirty="0">
                <a:solidFill>
                  <a:srgbClr val="FF0000"/>
                </a:solidFill>
              </a:rPr>
              <a:t>We need two tables!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CUSTOMER and LOAN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67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8" y="88818"/>
            <a:ext cx="8079581" cy="1037269"/>
          </a:xfrm>
        </p:spPr>
        <p:txBody>
          <a:bodyPr/>
          <a:lstStyle/>
          <a:p>
            <a:r>
              <a:rPr lang="en-US" dirty="0"/>
              <a:t>One-to-many relationships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041719" y="2290051"/>
            <a:ext cx="8218034" cy="367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600" b="1" i="1" dirty="0">
                <a:latin typeface="+mj-lt"/>
              </a:rPr>
              <a:t>What is the relationship between CUSTOMER and LOAN?</a:t>
            </a: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800" dirty="0"/>
              <a:t>A customer may have many loans and a loan is taken out by just one customer. </a:t>
            </a: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endParaRPr lang="en-US" sz="2800" dirty="0">
              <a:latin typeface="+mj-lt"/>
            </a:endParaRP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endParaRPr lang="en-US" sz="2800" dirty="0">
              <a:latin typeface="+mj-lt"/>
            </a:endParaRP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800" dirty="0">
                <a:latin typeface="+mj-lt"/>
              </a:rPr>
              <a:t>To create this relationship, in LOAN, we create a foreign key to CUSTOMER!</a:t>
            </a:r>
            <a:endParaRPr lang="en-US" sz="2600" dirty="0">
              <a:latin typeface="+mj-lt"/>
            </a:endParaRPr>
          </a:p>
        </p:txBody>
      </p:sp>
      <p:sp>
        <p:nvSpPr>
          <p:cNvPr id="3" name="Line Callout 1 2"/>
          <p:cNvSpPr/>
          <p:nvPr/>
        </p:nvSpPr>
        <p:spPr>
          <a:xfrm>
            <a:off x="8463905" y="3465085"/>
            <a:ext cx="1795849" cy="897616"/>
          </a:xfrm>
          <a:prstGeom prst="borderCallout1">
            <a:avLst>
              <a:gd name="adj1" fmla="val 52876"/>
              <a:gd name="adj2" fmla="val -77"/>
              <a:gd name="adj3" fmla="val 11452"/>
              <a:gd name="adj4" fmla="val -5325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one-to-many relationship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65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94948" y="2594919"/>
            <a:ext cx="880005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8" y="88818"/>
            <a:ext cx="8079581" cy="1037269"/>
          </a:xfrm>
        </p:spPr>
        <p:txBody>
          <a:bodyPr/>
          <a:lstStyle/>
          <a:p>
            <a:r>
              <a:rPr lang="en-US" dirty="0"/>
              <a:t>Outline notation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02216" y="1570870"/>
            <a:ext cx="8775345" cy="464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  <a:spcAft>
                <a:spcPct val="10000"/>
              </a:spcAft>
            </a:pPr>
            <a:endParaRPr lang="en-US" altLang="en-US" sz="2500" dirty="0">
              <a:latin typeface="+mn-lt"/>
            </a:endParaRPr>
          </a:p>
          <a:p>
            <a:pPr>
              <a:spcBef>
                <a:spcPct val="25000"/>
              </a:spcBef>
              <a:spcAft>
                <a:spcPct val="10000"/>
              </a:spcAft>
            </a:pPr>
            <a:endParaRPr lang="en-US" altLang="en-US" sz="2500" dirty="0">
              <a:latin typeface="+mn-lt"/>
            </a:endParaRPr>
          </a:p>
          <a:p>
            <a:r>
              <a:rPr lang="en-US" sz="2800" dirty="0">
                <a:latin typeface="+mj-lt"/>
              </a:rPr>
              <a:t>CUSTOMER(</a:t>
            </a:r>
            <a:r>
              <a:rPr lang="en-US" sz="2800" u="sng" dirty="0" err="1">
                <a:latin typeface="+mj-lt"/>
              </a:rPr>
              <a:t>CustomerID</a:t>
            </a:r>
            <a:r>
              <a:rPr lang="en-US" sz="2800" dirty="0">
                <a:latin typeface="+mj-lt"/>
              </a:rPr>
              <a:t>, </a:t>
            </a:r>
            <a:r>
              <a:rPr lang="en-US" sz="2800" dirty="0" err="1">
                <a:latin typeface="+mj-lt"/>
              </a:rPr>
              <a:t>FirstName</a:t>
            </a:r>
            <a:r>
              <a:rPr lang="en-US" sz="2800" dirty="0">
                <a:latin typeface="+mj-lt"/>
              </a:rPr>
              <a:t>, </a:t>
            </a:r>
            <a:r>
              <a:rPr lang="en-US" sz="2800" dirty="0" err="1">
                <a:latin typeface="+mj-lt"/>
              </a:rPr>
              <a:t>LastName</a:t>
            </a:r>
            <a:r>
              <a:rPr lang="en-US" sz="2800" dirty="0">
                <a:latin typeface="+mj-lt"/>
              </a:rPr>
              <a:t>, Address, 			City, State, Zip, Phone)</a:t>
            </a:r>
          </a:p>
          <a:p>
            <a:endParaRPr lang="en-US" sz="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LOAN(</a:t>
            </a:r>
            <a:r>
              <a:rPr lang="en-US" sz="2800" u="sng" dirty="0" err="1">
                <a:latin typeface="+mj-lt"/>
              </a:rPr>
              <a:t>LoanID</a:t>
            </a:r>
            <a:r>
              <a:rPr lang="en-US" sz="2800" dirty="0">
                <a:latin typeface="+mj-lt"/>
              </a:rPr>
              <a:t>, Date, Amount, Rate, Term, Type, </a:t>
            </a:r>
            <a:r>
              <a:rPr lang="en-US" sz="2800" dirty="0" err="1">
                <a:latin typeface="+mj-lt"/>
              </a:rPr>
              <a:t>CustomerID</a:t>
            </a:r>
            <a:r>
              <a:rPr lang="en-US" sz="2800" dirty="0">
                <a:latin typeface="+mj-lt"/>
              </a:rPr>
              <a:t>)</a:t>
            </a:r>
          </a:p>
          <a:p>
            <a:r>
              <a:rPr lang="en-US" sz="2800" dirty="0">
                <a:latin typeface="+mj-lt"/>
              </a:rPr>
              <a:t>	</a:t>
            </a:r>
            <a:r>
              <a:rPr lang="en-US" sz="2800" dirty="0" err="1">
                <a:solidFill>
                  <a:srgbClr val="FF0000"/>
                </a:solidFill>
                <a:latin typeface="+mj-lt"/>
              </a:rPr>
              <a:t>CustomerID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foreign key to CUSTOMER.</a:t>
            </a:r>
          </a:p>
          <a:p>
            <a:pPr>
              <a:spcBef>
                <a:spcPct val="25000"/>
              </a:spcBef>
              <a:spcAft>
                <a:spcPct val="10000"/>
              </a:spcAft>
            </a:pPr>
            <a:endParaRPr lang="en-US" altLang="en-US" sz="2000" dirty="0">
              <a:latin typeface="+mn-lt"/>
            </a:endParaRPr>
          </a:p>
          <a:p>
            <a:pPr>
              <a:spcBef>
                <a:spcPct val="25000"/>
              </a:spcBef>
              <a:spcAft>
                <a:spcPct val="10000"/>
              </a:spcAft>
            </a:pPr>
            <a:r>
              <a:rPr lang="en-US" altLang="en-US" sz="2600" dirty="0">
                <a:latin typeface="+mn-lt"/>
              </a:rPr>
              <a:t>Conventions:	</a:t>
            </a:r>
            <a:endParaRPr lang="en-US" altLang="en-US" sz="2500" dirty="0">
              <a:latin typeface="+mn-lt"/>
            </a:endParaRPr>
          </a:p>
          <a:p>
            <a:pPr marL="457200" indent="-457200">
              <a:spcAft>
                <a:spcPct val="10000"/>
              </a:spcAft>
              <a:buFont typeface="Wingdings" panose="05000000000000000000" pitchFamily="2" charset="2"/>
              <a:buChar char="§"/>
            </a:pPr>
            <a:r>
              <a:rPr lang="en-US" altLang="en-US" sz="2500" dirty="0">
                <a:latin typeface="+mn-lt"/>
              </a:rPr>
              <a:t> underline all parts of each primary key</a:t>
            </a:r>
          </a:p>
          <a:p>
            <a:pPr marL="457200" indent="-457200">
              <a:spcAft>
                <a:spcPct val="10000"/>
              </a:spcAft>
              <a:buFont typeface="Wingdings" panose="05000000000000000000" pitchFamily="2" charset="2"/>
              <a:buChar char="§"/>
            </a:pPr>
            <a:r>
              <a:rPr lang="en-US" altLang="en-US" sz="2500" dirty="0">
                <a:latin typeface="+mn-lt"/>
              </a:rPr>
              <a:t> note foreign keys with “</a:t>
            </a:r>
            <a:r>
              <a:rPr lang="en-US" altLang="en-US" sz="2500" i="1" dirty="0">
                <a:latin typeface="+mn-lt"/>
              </a:rPr>
              <a:t>key</a:t>
            </a:r>
            <a:r>
              <a:rPr lang="en-US" altLang="en-US" sz="2500" dirty="0">
                <a:latin typeface="+mn-lt"/>
              </a:rPr>
              <a:t> foreign key to </a:t>
            </a:r>
            <a:r>
              <a:rPr lang="en-US" altLang="en-US" sz="2500" i="1" dirty="0">
                <a:latin typeface="+mn-lt"/>
              </a:rPr>
              <a:t>TABLE</a:t>
            </a:r>
            <a:r>
              <a:rPr lang="en-US" altLang="en-US" sz="2500" b="1" dirty="0">
                <a:latin typeface="+mn-lt"/>
              </a:rPr>
              <a:t>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09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628" y="216143"/>
            <a:ext cx="8079581" cy="1037269"/>
          </a:xfrm>
        </p:spPr>
        <p:txBody>
          <a:bodyPr>
            <a:normAutofit/>
          </a:bodyPr>
          <a:lstStyle/>
          <a:p>
            <a:r>
              <a:rPr lang="en-US" dirty="0"/>
              <a:t>ER Diagram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34627" y="1244583"/>
            <a:ext cx="8412740" cy="4047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endParaRPr lang="en-US" sz="2500" dirty="0">
              <a:latin typeface="+mj-lt"/>
            </a:endParaRPr>
          </a:p>
          <a:p>
            <a:endParaRPr lang="en-US" sz="2500" dirty="0">
              <a:latin typeface="+mj-lt"/>
            </a:endParaRPr>
          </a:p>
          <a:p>
            <a:endParaRPr lang="en-US" sz="2500" dirty="0">
              <a:latin typeface="+mj-lt"/>
            </a:endParaRPr>
          </a:p>
          <a:p>
            <a:endParaRPr lang="en-US" sz="2500" dirty="0">
              <a:latin typeface="+mj-lt"/>
            </a:endParaRPr>
          </a:p>
          <a:p>
            <a:endParaRPr lang="en-US" sz="2500" dirty="0">
              <a:latin typeface="+mj-lt"/>
            </a:endParaRPr>
          </a:p>
          <a:p>
            <a:endParaRPr lang="en-US" sz="36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99861" y="1738545"/>
            <a:ext cx="8082273" cy="28931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Entity-Relation diagram </a:t>
            </a:r>
            <a:r>
              <a:rPr lang="en-US" sz="2400" dirty="0"/>
              <a:t>– used to represent relationships between tables</a:t>
            </a:r>
          </a:p>
          <a:p>
            <a:endParaRPr lang="en-US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89526" y="2708812"/>
          <a:ext cx="7313503" cy="118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92247" imgH="606147" progId="Visio.Drawing.11">
                  <p:embed/>
                </p:oleObj>
              </mc:Choice>
              <mc:Fallback>
                <p:oleObj r:id="rId2" imgW="3692247" imgH="606147" progId="Visio.Drawing.11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526" y="2708812"/>
                        <a:ext cx="7313503" cy="118806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17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09814" y="5047478"/>
            <a:ext cx="3123041" cy="1042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See Access file </a:t>
            </a:r>
          </a:p>
          <a:p>
            <a:pPr algn="ctr"/>
            <a:r>
              <a:rPr lang="en-US" i="1" dirty="0"/>
              <a:t>“loans – good </a:t>
            </a:r>
            <a:r>
              <a:rPr lang="en-US" i="1" dirty="0" err="1"/>
              <a:t>design.mdb</a:t>
            </a:r>
            <a:r>
              <a:rPr lang="en-US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149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2525" y="232253"/>
            <a:ext cx="8079581" cy="1037269"/>
          </a:xfrm>
        </p:spPr>
        <p:txBody>
          <a:bodyPr>
            <a:normAutofit/>
          </a:bodyPr>
          <a:lstStyle/>
          <a:p>
            <a:r>
              <a:rPr lang="en-US" sz="5400" dirty="0"/>
              <a:t>Check for anomalies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52072" y="2871884"/>
            <a:ext cx="8218034" cy="677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3800" b="1" i="1" dirty="0">
                <a:latin typeface="+mj-lt"/>
              </a:rPr>
              <a:t>Is our database susceptible to anomalies?</a:t>
            </a:r>
            <a:endParaRPr lang="en-US" sz="3800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15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i="1" dirty="0"/>
              <a:t>Foreign keys and Referential Integrity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32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504" y="136183"/>
            <a:ext cx="8079581" cy="1037269"/>
          </a:xfrm>
        </p:spPr>
        <p:txBody>
          <a:bodyPr/>
          <a:lstStyle/>
          <a:p>
            <a:r>
              <a:rPr lang="en-US" dirty="0"/>
              <a:t>What is really a foreign key?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831529" y="1128700"/>
            <a:ext cx="8522701" cy="5348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altLang="en-US" sz="2200" dirty="0">
                <a:latin typeface="+mj-lt"/>
              </a:rPr>
              <a:t>A </a:t>
            </a:r>
            <a:r>
              <a:rPr lang="en-US" altLang="en-US" sz="2200" b="1" dirty="0">
                <a:latin typeface="+mj-lt"/>
              </a:rPr>
              <a:t>foreign key</a:t>
            </a:r>
            <a:r>
              <a:rPr lang="en-US" altLang="en-US" sz="2200" dirty="0">
                <a:latin typeface="+mj-lt"/>
              </a:rPr>
              <a:t> is a column or a collection of columns that “</a:t>
            </a:r>
            <a:r>
              <a:rPr lang="en-US" altLang="en-US" sz="2200" i="1" dirty="0">
                <a:latin typeface="+mj-lt"/>
              </a:rPr>
              <a:t>provides a link</a:t>
            </a:r>
            <a:r>
              <a:rPr lang="en-US" altLang="en-US" sz="2200" dirty="0">
                <a:latin typeface="+mj-lt"/>
              </a:rPr>
              <a:t>” between data in two tables. 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altLang="en-US" sz="2800" b="1" i="1" dirty="0">
                <a:latin typeface="+mj-lt"/>
              </a:rPr>
              <a:t>HOW?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200" dirty="0">
                <a:solidFill>
                  <a:srgbClr val="000000"/>
                </a:solidFill>
              </a:rPr>
              <a:t>When we write: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200" dirty="0">
                <a:solidFill>
                  <a:srgbClr val="FF0000"/>
                </a:solidFill>
              </a:rPr>
              <a:t>	</a:t>
            </a:r>
            <a:r>
              <a:rPr lang="en-US" sz="2200" b="1" dirty="0">
                <a:solidFill>
                  <a:srgbClr val="FF0000"/>
                </a:solidFill>
              </a:rPr>
              <a:t>TABLE_X (</a:t>
            </a:r>
            <a:r>
              <a:rPr lang="is-IS" sz="2200" b="1" dirty="0">
                <a:solidFill>
                  <a:srgbClr val="FF0000"/>
                </a:solidFill>
              </a:rPr>
              <a:t>…..., attribute_z)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</a:p>
          <a:p>
            <a:pPr lvl="2" algn="just">
              <a:spcBef>
                <a:spcPct val="25000"/>
              </a:spcBef>
              <a:spcAft>
                <a:spcPct val="10000"/>
              </a:spcAft>
            </a:pPr>
            <a:r>
              <a:rPr lang="en-US" sz="2200" b="1" i="1" dirty="0">
                <a:solidFill>
                  <a:srgbClr val="FF0000"/>
                </a:solidFill>
              </a:rPr>
              <a:t>	</a:t>
            </a:r>
            <a:r>
              <a:rPr lang="en-US" sz="2200" b="1" dirty="0" err="1">
                <a:solidFill>
                  <a:srgbClr val="FF0000"/>
                </a:solidFill>
              </a:rPr>
              <a:t>attribute_z</a:t>
            </a:r>
            <a:r>
              <a:rPr lang="en-US" sz="2200" b="1" dirty="0">
                <a:solidFill>
                  <a:srgbClr val="FF0000"/>
                </a:solidFill>
              </a:rPr>
              <a:t> foreign key to TABLE_Y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200" dirty="0">
                <a:solidFill>
                  <a:srgbClr val="000000"/>
                </a:solidFill>
              </a:rPr>
              <a:t>it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means: 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200" b="1" dirty="0">
                <a:solidFill>
                  <a:srgbClr val="FF0000"/>
                </a:solidFill>
              </a:rPr>
              <a:t>“</a:t>
            </a:r>
            <a:r>
              <a:rPr lang="en-US" sz="2200" b="1" i="1" dirty="0">
                <a:solidFill>
                  <a:srgbClr val="FF0000"/>
                </a:solidFill>
              </a:rPr>
              <a:t>The value of </a:t>
            </a:r>
            <a:r>
              <a:rPr lang="en-US" sz="2200" b="1" i="1" dirty="0" err="1">
                <a:solidFill>
                  <a:srgbClr val="FF0000"/>
                </a:solidFill>
              </a:rPr>
              <a:t>attribute_z</a:t>
            </a:r>
            <a:r>
              <a:rPr lang="en-US" sz="2200" b="1" i="1" dirty="0">
                <a:solidFill>
                  <a:srgbClr val="FF0000"/>
                </a:solidFill>
              </a:rPr>
              <a:t> in each record of TABLE_X is either empty or it takes the value of the primary key of some record that exists in TABLE_Y.</a:t>
            </a:r>
            <a:r>
              <a:rPr lang="en-US" sz="2200" b="1" dirty="0">
                <a:solidFill>
                  <a:srgbClr val="FF0000"/>
                </a:solidFill>
              </a:rPr>
              <a:t>”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000" dirty="0">
                <a:solidFill>
                  <a:srgbClr val="000000"/>
                </a:solidFill>
              </a:rPr>
              <a:t>Having </a:t>
            </a:r>
            <a:r>
              <a:rPr lang="en-US" sz="2000" dirty="0" err="1">
                <a:solidFill>
                  <a:srgbClr val="000000"/>
                </a:solidFill>
              </a:rPr>
              <a:t>attribute_z</a:t>
            </a:r>
            <a:r>
              <a:rPr lang="en-US" sz="2000" dirty="0">
                <a:solidFill>
                  <a:srgbClr val="000000"/>
                </a:solidFill>
              </a:rPr>
              <a:t> in TABLE_Y with such rule allows us to create a correspondence (a link) between each record of TABLE_X and one record of TABLE_Y.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804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234" y="279322"/>
            <a:ext cx="8079581" cy="1200058"/>
          </a:xfrm>
        </p:spPr>
        <p:txBody>
          <a:bodyPr>
            <a:normAutofit/>
          </a:bodyPr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5361" y="1734276"/>
            <a:ext cx="8404393" cy="45656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b="1" i="1" u="sng" dirty="0"/>
              <a:t>DB “Rule #2” - Referential Integrity</a:t>
            </a:r>
            <a:r>
              <a:rPr lang="en-US" b="1" u="sng" dirty="0"/>
              <a:t>:</a:t>
            </a:r>
            <a:r>
              <a:rPr lang="en-US" dirty="0"/>
              <a:t> Foreign key values are either null (empty) or must match a primary key of some record in the respective table (in plain English: the entity being referenced must exist)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1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2000" dirty="0"/>
              <a:t>Recall: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2000" b="1" i="1" u="sng" dirty="0"/>
              <a:t>DB “Rule #1” - Entity integrity</a:t>
            </a:r>
            <a:r>
              <a:rPr lang="en-US" sz="2000" u="sng" dirty="0"/>
              <a:t>: </a:t>
            </a:r>
            <a:r>
              <a:rPr lang="en-US" sz="2000" dirty="0"/>
              <a:t>Each record must have a non-empty primary key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21</a:t>
            </a:fld>
            <a:endParaRPr lang="en-US"/>
          </a:p>
        </p:txBody>
      </p:sp>
      <p:sp>
        <p:nvSpPr>
          <p:cNvPr id="5" name="Line Callout 1 4"/>
          <p:cNvSpPr/>
          <p:nvPr/>
        </p:nvSpPr>
        <p:spPr>
          <a:xfrm>
            <a:off x="7862776" y="3666444"/>
            <a:ext cx="2211571" cy="797442"/>
          </a:xfrm>
          <a:prstGeom prst="borderCallout1">
            <a:avLst>
              <a:gd name="adj1" fmla="val -7597"/>
              <a:gd name="adj2" fmla="val 53164"/>
              <a:gd name="adj3" fmla="val -67203"/>
              <a:gd name="adj4" fmla="val 29045"/>
            </a:avLst>
          </a:prstGeom>
          <a:solidFill>
            <a:schemeClr val="accent1">
              <a:lumMod val="40000"/>
              <a:lumOff val="60000"/>
            </a:schemeClr>
          </a:solidFill>
          <a:ln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Basically, this is the definition of FK</a:t>
            </a:r>
          </a:p>
        </p:txBody>
      </p:sp>
    </p:spTree>
    <p:extLst>
      <p:ext uri="{BB962C8B-B14F-4D97-AF65-F5344CB8AC3E}">
        <p14:creationId xmlns:p14="http://schemas.microsoft.com/office/powerpoint/2010/main" val="2989230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628" y="178196"/>
            <a:ext cx="8079581" cy="1037269"/>
          </a:xfrm>
        </p:spPr>
        <p:txBody>
          <a:bodyPr/>
          <a:lstStyle/>
          <a:p>
            <a:r>
              <a:rPr lang="en-US" i="1" dirty="0"/>
              <a:t>Referential Integrity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562695" y="3694498"/>
          <a:ext cx="6772769" cy="1112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0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2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9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u="sng" dirty="0"/>
                        <a:t>LoanID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CustomerID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L7838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2/1/2010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$350,000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C231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L7940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9/5/2011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$25,000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C231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44858" y="1865698"/>
          <a:ext cx="8074347" cy="1737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73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sng" dirty="0" err="1"/>
                        <a:t>CustomerID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Phone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C231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 Random Road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Edison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08341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732-111-1111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Johnson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Random Ave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Princeton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08544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609-111-1111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Line Callout 1 8"/>
          <p:cNvSpPr/>
          <p:nvPr/>
        </p:nvSpPr>
        <p:spPr>
          <a:xfrm>
            <a:off x="5532330" y="5204223"/>
            <a:ext cx="4909116" cy="797442"/>
          </a:xfrm>
          <a:prstGeom prst="borderCallout1">
            <a:avLst>
              <a:gd name="adj1" fmla="val -8841"/>
              <a:gd name="adj2" fmla="val 76002"/>
              <a:gd name="adj3" fmla="val -65959"/>
              <a:gd name="adj4" fmla="val 7047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C231 must correspond to an existing record  (a customer) in table CUSTOMER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22</a:t>
            </a:fld>
            <a:endParaRPr lang="en-US" dirty="0"/>
          </a:p>
        </p:txBody>
      </p:sp>
      <p:cxnSp>
        <p:nvCxnSpPr>
          <p:cNvPr id="12" name="Elbow Connector 11"/>
          <p:cNvCxnSpPr/>
          <p:nvPr/>
        </p:nvCxnSpPr>
        <p:spPr>
          <a:xfrm rot="5400000">
            <a:off x="8965946" y="2843769"/>
            <a:ext cx="1714360" cy="972065"/>
          </a:xfrm>
          <a:prstGeom prst="bentConnector2">
            <a:avLst/>
          </a:prstGeom>
          <a:ln w="28575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5400000">
            <a:off x="8965946" y="3259780"/>
            <a:ext cx="1714360" cy="972065"/>
          </a:xfrm>
          <a:prstGeom prst="bentConnector2">
            <a:avLst/>
          </a:prstGeom>
          <a:ln w="28575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9967288" y="2472620"/>
            <a:ext cx="360743" cy="1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45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312" y="231663"/>
            <a:ext cx="8079581" cy="939035"/>
          </a:xfrm>
        </p:spPr>
        <p:txBody>
          <a:bodyPr/>
          <a:lstStyle/>
          <a:p>
            <a:r>
              <a:rPr lang="en-US" dirty="0"/>
              <a:t>Important!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5354" y="1328676"/>
            <a:ext cx="8733692" cy="5080392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i="1" dirty="0"/>
              <a:t>names (labels)</a:t>
            </a:r>
            <a:r>
              <a:rPr lang="en-US" dirty="0"/>
              <a:t> of a foreign key and the corresponding primary key do not have to match; only their datatypes must match.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endParaRPr lang="en-US" sz="400" dirty="0"/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In a one-to-many relationships, the </a:t>
            </a:r>
            <a:r>
              <a:rPr lang="en-US" b="1" i="1" dirty="0">
                <a:solidFill>
                  <a:srgbClr val="FF0000"/>
                </a:solidFill>
                <a:sym typeface="Wingdings" panose="05000000000000000000" pitchFamily="2" charset="2"/>
              </a:rPr>
              <a:t>foreign key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ALWAYS resides in the “many-side” table!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dirty="0"/>
              <a:t>The following would be </a:t>
            </a:r>
            <a:r>
              <a:rPr lang="en-US" sz="2000" b="1" dirty="0"/>
              <a:t>incorrect</a:t>
            </a:r>
            <a:r>
              <a:rPr lang="en-US" sz="2000" dirty="0"/>
              <a:t>: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CUSTOMER (</a:t>
            </a:r>
            <a:r>
              <a:rPr lang="en-US" sz="2000" u="sng" dirty="0" err="1"/>
              <a:t>CustID</a:t>
            </a:r>
            <a:r>
              <a:rPr lang="en-US" sz="2000" dirty="0"/>
              <a:t>, FirstName, </a:t>
            </a:r>
            <a:r>
              <a:rPr lang="en-US" sz="2000" dirty="0" err="1"/>
              <a:t>LastName</a:t>
            </a:r>
            <a:r>
              <a:rPr lang="en-US" sz="2000" dirty="0"/>
              <a:t>, Address, City, State, Zip, Phone)</a:t>
            </a:r>
          </a:p>
          <a:p>
            <a:pPr lvl="7">
              <a:lnSpc>
                <a:spcPct val="110000"/>
              </a:lnSpc>
            </a:pPr>
            <a:endParaRPr lang="en-US" sz="2000" dirty="0">
              <a:solidFill>
                <a:srgbClr val="00B05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000" dirty="0"/>
              <a:t>LOAN (</a:t>
            </a:r>
            <a:r>
              <a:rPr lang="en-US" sz="2000" u="sng" dirty="0" err="1"/>
              <a:t>LoanID</a:t>
            </a:r>
            <a:r>
              <a:rPr lang="en-US" sz="2000" dirty="0"/>
              <a:t>, Date, Amount, Rate, Term, Type, </a:t>
            </a:r>
            <a:r>
              <a:rPr lang="en-US" sz="2000" dirty="0" err="1"/>
              <a:t>CustID</a:t>
            </a:r>
            <a:r>
              <a:rPr lang="en-US" sz="2000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sz="1600" dirty="0" err="1">
                <a:solidFill>
                  <a:srgbClr val="00B050"/>
                </a:solidFill>
              </a:rPr>
              <a:t>CustID</a:t>
            </a:r>
            <a:r>
              <a:rPr lang="en-US" sz="1600" dirty="0">
                <a:solidFill>
                  <a:srgbClr val="00B050"/>
                </a:solidFill>
              </a:rPr>
              <a:t> foreign key to CUSTOMER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Because you would be creating the opposite relationship: 1 loan associated with many customers &amp; 1 customer associated with only 1 loan. That is not what we want!</a:t>
            </a:r>
            <a:endParaRPr lang="en-US" dirty="0"/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endParaRPr lang="en-US" dirty="0"/>
          </a:p>
          <a:p>
            <a:pPr algn="just">
              <a:lnSpc>
                <a:spcPct val="110000"/>
              </a:lnSpc>
            </a:pPr>
            <a:endParaRPr lang="en-US" dirty="0"/>
          </a:p>
          <a:p>
            <a:pPr algn="just"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43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the loans database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Adding a new table to the previous database</a:t>
            </a:r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30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988" y="327715"/>
            <a:ext cx="8233328" cy="1037269"/>
          </a:xfrm>
        </p:spPr>
        <p:txBody>
          <a:bodyPr>
            <a:noAutofit/>
          </a:bodyPr>
          <a:lstStyle/>
          <a:p>
            <a:r>
              <a:rPr lang="en-US" dirty="0"/>
              <a:t>Extending our database design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93557" y="1796516"/>
            <a:ext cx="8476735" cy="3109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800" dirty="0"/>
              <a:t>Suppose we also want to keep track of loan payments. </a:t>
            </a:r>
          </a:p>
          <a:p>
            <a:endParaRPr lang="en-US" sz="2800" dirty="0"/>
          </a:p>
          <a:p>
            <a:r>
              <a:rPr lang="en-US" sz="2800" dirty="0"/>
              <a:t>Each payment has a date and amount, and is made on a specific loan. 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</a:p>
          <a:p>
            <a:pPr lvl="0"/>
            <a:endParaRPr lang="en-US" sz="280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48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correct relationships are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sz="half" idx="1"/>
          </p:nvPr>
        </p:nvGraphicFramePr>
        <p:xfrm>
          <a:off x="1741178" y="2155392"/>
          <a:ext cx="8654744" cy="815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35447" imgH="606147" progId="Visio.Drawing.11">
                  <p:embed/>
                </p:oleObj>
              </mc:Choice>
              <mc:Fallback>
                <p:oleObj r:id="rId2" imgW="6435447" imgH="606147" progId="Visio.Drawing.11">
                  <p:embed/>
                  <p:pic>
                    <p:nvPicPr>
                      <p:cNvPr id="6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178" y="2155392"/>
                        <a:ext cx="8654744" cy="8155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838450" y="3783990"/>
            <a:ext cx="8476735" cy="954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800" dirty="0"/>
              <a:t>What is the outline that corresponds to the database represented in this ER diagram?</a:t>
            </a:r>
          </a:p>
        </p:txBody>
      </p:sp>
    </p:spTree>
    <p:extLst>
      <p:ext uri="{BB962C8B-B14F-4D97-AF65-F5344CB8AC3E}">
        <p14:creationId xmlns:p14="http://schemas.microsoft.com/office/powerpoint/2010/main" val="248224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7200" dirty="0"/>
              <a:t>1-to-many relationships in Access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File ‘</a:t>
            </a:r>
            <a:r>
              <a:rPr lang="en-US" sz="3600" i="1" dirty="0"/>
              <a:t>loans and </a:t>
            </a:r>
            <a:r>
              <a:rPr lang="en-US" sz="3600" i="1" dirty="0" err="1"/>
              <a:t>payments.mdb</a:t>
            </a:r>
            <a:r>
              <a:rPr lang="en-US" sz="3600" dirty="0"/>
              <a:t>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82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8" y="88818"/>
            <a:ext cx="8817345" cy="1037269"/>
          </a:xfrm>
        </p:spPr>
        <p:txBody>
          <a:bodyPr>
            <a:normAutofit/>
          </a:bodyPr>
          <a:lstStyle/>
          <a:p>
            <a:r>
              <a:rPr lang="en-US" dirty="0"/>
              <a:t>Creating a relationship in </a:t>
            </a:r>
            <a:r>
              <a:rPr lang="en-US" dirty="0" err="1"/>
              <a:t>Ms</a:t>
            </a:r>
            <a:r>
              <a:rPr lang="en-US" dirty="0"/>
              <a:t> Access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743827" y="2039299"/>
            <a:ext cx="8658556" cy="3970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b="1" dirty="0"/>
              <a:t>To create the relationship above</a:t>
            </a:r>
            <a:r>
              <a:rPr lang="en-US" dirty="0"/>
              <a:t>: Go to Database Tools &gt; Relationships, drag both tables into the relationship window, and then drag the primary key of A to foreign key in B. </a:t>
            </a:r>
          </a:p>
          <a:p>
            <a:pPr algn="just">
              <a:lnSpc>
                <a:spcPct val="110000"/>
              </a:lnSpc>
            </a:pPr>
            <a:r>
              <a:rPr lang="en-US" u="sng" dirty="0"/>
              <a:t>Important</a:t>
            </a:r>
            <a:r>
              <a:rPr lang="en-US" dirty="0"/>
              <a:t>: the primary key of A and the foreign key in B must have the same data type! </a:t>
            </a:r>
            <a:r>
              <a:rPr lang="en-US" sz="1600" dirty="0"/>
              <a:t>The one exception is that an AutoNumber field can be related to a Number field that has a </a:t>
            </a:r>
            <a:r>
              <a:rPr lang="en-US" sz="1600" dirty="0" err="1"/>
              <a:t>FieldSize</a:t>
            </a:r>
            <a:r>
              <a:rPr lang="en-US" sz="1600" dirty="0"/>
              <a:t> property setting of Long Integer.</a:t>
            </a:r>
          </a:p>
          <a:p>
            <a:pPr algn="just">
              <a:lnSpc>
                <a:spcPct val="110000"/>
              </a:lnSpc>
            </a:pPr>
            <a:endParaRPr lang="en-US" dirty="0"/>
          </a:p>
          <a:p>
            <a:pPr algn="just">
              <a:lnSpc>
                <a:spcPct val="110000"/>
              </a:lnSpc>
            </a:pPr>
            <a:endParaRPr lang="en-US" dirty="0"/>
          </a:p>
          <a:p>
            <a:pPr algn="just">
              <a:lnSpc>
                <a:spcPct val="110000"/>
              </a:lnSpc>
            </a:pPr>
            <a:r>
              <a:rPr lang="en-US" b="1" dirty="0"/>
              <a:t>Enforce Referential Integrity: </a:t>
            </a:r>
            <a:r>
              <a:rPr lang="en-US" dirty="0"/>
              <a:t>this prevents giving values to the foreign key in B that do not correspond to existing values of the primary key of A. </a:t>
            </a:r>
          </a:p>
          <a:p>
            <a:pPr algn="just">
              <a:lnSpc>
                <a:spcPct val="110000"/>
              </a:lnSpc>
            </a:pPr>
            <a:endParaRPr lang="en-US" dirty="0"/>
          </a:p>
          <a:p>
            <a:pPr algn="just">
              <a:lnSpc>
                <a:spcPct val="110000"/>
              </a:lnSpc>
            </a:pPr>
            <a:r>
              <a:rPr lang="en-US" dirty="0"/>
              <a:t>As a consequence of enforcing referential integrity, Access may not allow you to update some values of the primary key of A or delete records of A that are referenced in B</a:t>
            </a:r>
            <a:r>
              <a:rPr lang="is-IS" dirty="0"/>
              <a:t>….</a:t>
            </a:r>
            <a:r>
              <a:rPr lang="en-US" dirty="0"/>
              <a:t>unless you select </a:t>
            </a:r>
            <a:r>
              <a:rPr lang="en-US" i="1" dirty="0"/>
              <a:t>cascade update</a:t>
            </a:r>
            <a:r>
              <a:rPr lang="en-US" dirty="0"/>
              <a:t> and </a:t>
            </a:r>
            <a:r>
              <a:rPr lang="en-US" i="1" dirty="0"/>
              <a:t>cascade delete</a:t>
            </a:r>
            <a:r>
              <a:rPr lang="en-US" dirty="0"/>
              <a:t>, respectively.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735752" y="1124121"/>
            <a:ext cx="3662391" cy="585418"/>
            <a:chOff x="1344674" y="2237468"/>
            <a:chExt cx="8439804" cy="1050481"/>
          </a:xfrm>
        </p:grpSpPr>
        <p:sp>
          <p:nvSpPr>
            <p:cNvPr id="9" name="Rectangle 8"/>
            <p:cNvSpPr/>
            <p:nvPr/>
          </p:nvSpPr>
          <p:spPr>
            <a:xfrm>
              <a:off x="1344674" y="2315183"/>
              <a:ext cx="1884911" cy="9727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899567" y="2301931"/>
              <a:ext cx="1884911" cy="9727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31757" y="2463519"/>
              <a:ext cx="1593545" cy="6627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03848" y="2452704"/>
              <a:ext cx="1476349" cy="6627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3" name="Diamond 12"/>
            <p:cNvSpPr/>
            <p:nvPr/>
          </p:nvSpPr>
          <p:spPr>
            <a:xfrm>
              <a:off x="5291355" y="2492720"/>
              <a:ext cx="566106" cy="57874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>
              <a:stCxn id="9" idx="3"/>
              <a:endCxn id="13" idx="1"/>
            </p:cNvCxnSpPr>
            <p:nvPr/>
          </p:nvCxnSpPr>
          <p:spPr>
            <a:xfrm flipV="1">
              <a:off x="3229585" y="2782092"/>
              <a:ext cx="2061770" cy="194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837797" y="2788314"/>
              <a:ext cx="20617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248790" y="2237468"/>
              <a:ext cx="680442" cy="6627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117637" y="2246126"/>
              <a:ext cx="697258" cy="6627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6268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3"/>
            <a:ext cx="8079581" cy="892520"/>
          </a:xfrm>
        </p:spPr>
        <p:txBody>
          <a:bodyPr/>
          <a:lstStyle/>
          <a:p>
            <a:r>
              <a:rPr lang="en-US" dirty="0"/>
              <a:t>Cascade update /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9369" y="1712538"/>
            <a:ext cx="8065580" cy="3767328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1800" b="1" dirty="0"/>
              <a:t>Cascade update: </a:t>
            </a:r>
            <a:r>
              <a:rPr lang="en-US" sz="1800" dirty="0"/>
              <a:t>when you select cascade update, if you update the value of a primary key of A, Access automatically updates all values of the foreign key in B that reference that primary key. When you do not select it, you simply cannot update the primary key because otherwise referential integrity would be broken!</a:t>
            </a:r>
          </a:p>
          <a:p>
            <a:pPr algn="just">
              <a:lnSpc>
                <a:spcPct val="110000"/>
              </a:lnSpc>
            </a:pPr>
            <a:endParaRPr lang="en-US" sz="1800" dirty="0"/>
          </a:p>
          <a:p>
            <a:pPr algn="just">
              <a:lnSpc>
                <a:spcPct val="110000"/>
              </a:lnSpc>
            </a:pPr>
            <a:r>
              <a:rPr lang="en-US" sz="1800" b="1" dirty="0"/>
              <a:t>Cascade delete: </a:t>
            </a:r>
            <a:r>
              <a:rPr lang="en-US" sz="1800" dirty="0"/>
              <a:t>when you select cascade delete, if you delete a record of A, Access automatically deletes all records of B that were referencing to that record. When you do not select cascade delete, Access does not allow you to delete records of A that are referenced in B because otherwise referential integrity would be broken! In that case, to delete a record of A, first you have to delete the records in B that refer to it, and only after that you can delete the record of A!</a:t>
            </a:r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1802</Words>
  <Application>Microsoft Office PowerPoint</Application>
  <PresentationFormat>Widescreen</PresentationFormat>
  <Paragraphs>274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Office Theme</vt:lpstr>
      <vt:lpstr>Visio.Drawing.11</vt:lpstr>
      <vt:lpstr>Database Design: 1-to-Many</vt:lpstr>
      <vt:lpstr>Outline (VIMP)</vt:lpstr>
      <vt:lpstr>Relational Databases review…</vt:lpstr>
      <vt:lpstr>Database Design</vt:lpstr>
      <vt:lpstr>PowerPoint Presentation</vt:lpstr>
      <vt:lpstr>First attempts</vt:lpstr>
      <vt:lpstr>The LOAN database – first attempt</vt:lpstr>
      <vt:lpstr>What is wrong with this DB?  - Waste of Space</vt:lpstr>
      <vt:lpstr>Database anomalies - definition</vt:lpstr>
      <vt:lpstr>PowerPoint Presentation</vt:lpstr>
      <vt:lpstr>How to fix the database then?  - let’s explore three options…</vt:lpstr>
      <vt:lpstr>How to fix the database then?  - let’s explore three options…</vt:lpstr>
      <vt:lpstr> One-to-Many Relationships</vt:lpstr>
      <vt:lpstr>Multiple tables</vt:lpstr>
      <vt:lpstr>One-to-many relationships</vt:lpstr>
      <vt:lpstr>Outline notation</vt:lpstr>
      <vt:lpstr>ER Diagram</vt:lpstr>
      <vt:lpstr>Check for anomalies</vt:lpstr>
      <vt:lpstr>Foreign keys and Referential Integrity</vt:lpstr>
      <vt:lpstr>What is really a foreign key?</vt:lpstr>
      <vt:lpstr>Referential integrity</vt:lpstr>
      <vt:lpstr>Referential Integrity</vt:lpstr>
      <vt:lpstr>Important!</vt:lpstr>
      <vt:lpstr>Extending the loans database</vt:lpstr>
      <vt:lpstr>Extending our database design</vt:lpstr>
      <vt:lpstr>The correct relationships are…</vt:lpstr>
      <vt:lpstr>1-to-many relationships in Access</vt:lpstr>
      <vt:lpstr>Creating a relationship in Ms Access</vt:lpstr>
      <vt:lpstr>Cascade update / delete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Design: 1-to-Many</dc:title>
  <dc:creator>Disha Parkhi</dc:creator>
  <cp:lastModifiedBy>Disha Parkhi</cp:lastModifiedBy>
  <cp:revision>4</cp:revision>
  <dcterms:created xsi:type="dcterms:W3CDTF">2020-08-22T20:48:45Z</dcterms:created>
  <dcterms:modified xsi:type="dcterms:W3CDTF">2021-02-17T17:25:04Z</dcterms:modified>
</cp:coreProperties>
</file>