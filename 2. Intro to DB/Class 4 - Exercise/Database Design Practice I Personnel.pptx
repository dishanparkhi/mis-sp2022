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331" r:id="rId3"/>
    <p:sldId id="333" r:id="rId4"/>
    <p:sldId id="338" r:id="rId5"/>
    <p:sldId id="335" r:id="rId6"/>
    <p:sldId id="336" r:id="rId7"/>
    <p:sldId id="329" r:id="rId8"/>
    <p:sldId id="327" r:id="rId9"/>
    <p:sldId id="328" r:id="rId10"/>
    <p:sldId id="330" r:id="rId11"/>
    <p:sldId id="326" r:id="rId12"/>
    <p:sldId id="332" r:id="rId13"/>
    <p:sldId id="32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50FD477-F550-4782-8954-1A9E2368BE38}">
          <p14:sldIdLst/>
        </p14:section>
        <p14:section name="Default Section" id="{C892008D-43F3-4264-941F-487151B80BC1}">
          <p14:sldIdLst>
            <p14:sldId id="257"/>
            <p14:sldId id="331"/>
            <p14:sldId id="333"/>
            <p14:sldId id="338"/>
            <p14:sldId id="335"/>
            <p14:sldId id="336"/>
            <p14:sldId id="329"/>
            <p14:sldId id="327"/>
            <p14:sldId id="328"/>
            <p14:sldId id="330"/>
            <p14:sldId id="326"/>
            <p14:sldId id="332"/>
            <p14:sldId id="32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32F87A-74F0-41F9-81AD-C0997D4858D3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8B64B9-DDC3-4402-907A-C357DE2F4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185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74D6CA-5B07-41E0-A7A1-3547E26766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71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6EA7-E956-485D-B02C-054441F6B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E2F45-56D2-4F0F-8F05-97AF83907D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F3881-834F-4005-9CB3-0A03A1C70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F8381-79CD-4182-B411-6CB9788831C1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5674D-2811-46AF-A4AE-35B098076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42BA2-9C6B-4BD9-A6DD-E99731C4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27D97-EFEE-4AC2-A155-7DB436373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86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137BD-39C1-491D-A451-B4E8C09AE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457C9-85CC-4F42-97E3-29E301C22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7971B-8504-4A36-87BD-EB254F58A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F8381-79CD-4182-B411-6CB9788831C1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05638-FB89-4DD6-893D-CDC92F54A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FA999-9D87-4664-A8B1-44AC3670E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27D97-EFEE-4AC2-A155-7DB436373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29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4BA56-B19C-423F-B0BD-269E1F557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C6B98-CE4F-4217-824B-044575B8CA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85722-951A-4277-8ED8-F525B1D1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F8381-79CD-4182-B411-6CB9788831C1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520E5-6BFA-406E-9564-A5495D67C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44604-AA81-4267-9795-1FF3E6CD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27D97-EFEE-4AC2-A155-7DB436373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402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1AB87-5B19-4F42-8E2B-DE9D8D31B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C4D6F-8265-46BD-979D-238EAEF78D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46AD64-0C37-483F-A14B-DD57A7D6E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508E1-E9DA-4D99-8E40-6F57579A6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F8381-79CD-4182-B411-6CB9788831C1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173D4-1F55-4E78-91C8-5C9091EB1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6FDD1-19DF-4159-A152-0D5CED6D5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27D97-EFEE-4AC2-A155-7DB436373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93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38555-C440-40DE-A1D0-DCD73B549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D9E85-CDFC-4C19-8BE1-B3F08DE59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9BDA8-A2E4-4C2B-9B8A-42F79D781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B9970-39B1-486A-AC52-3D43C9B3F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321E48-99D1-4286-9817-848329E40A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DA188E-4FEF-435D-B194-EFC5A1DD5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F8381-79CD-4182-B411-6CB9788831C1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A2DC78-D977-46A0-9766-B31C58C80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FE832D-A69C-46FF-8042-0C3725C4A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27D97-EFEE-4AC2-A155-7DB436373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23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D192B-C103-433D-94D2-8F7F5631A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C1166-F378-4CDE-ABE8-18BBCBD98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F8381-79CD-4182-B411-6CB9788831C1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7C88C1-0A88-413A-8234-7FF9B6835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D4D6E-CEDE-48F3-93DA-4317E617F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27D97-EFEE-4AC2-A155-7DB436373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743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0D3E36-5F0E-4D75-B3A2-BF2F2ABC4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F8381-79CD-4182-B411-6CB9788831C1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2DF20B-5D32-4741-B853-50825EF42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9AF35-4D77-4ED6-B3A1-7DD003561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27D97-EFEE-4AC2-A155-7DB436373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588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08CCB-4772-4ACE-881F-E9907975F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2FDA6-B350-4FA5-8222-9D4B9EF80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CEF3F3-0DAA-4BC7-9575-F692289DC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20C649-84B3-4FE9-8529-70E6BC6B2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F8381-79CD-4182-B411-6CB9788831C1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45745C-DA39-4AB3-9884-B6E1E8C62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66A63-8FCB-439A-8068-2AE5CDE2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27D97-EFEE-4AC2-A155-7DB436373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071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B1C8B-D956-4EA2-AB04-19627EB01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451B3E-7CA3-4B3C-8A8C-59611AEEDA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E92A5E-C160-4350-A896-E671C322A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075B33-566D-4549-9B27-95C2887B3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F8381-79CD-4182-B411-6CB9788831C1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33E955-25B6-4C99-BED3-DC18FECD6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E72B0-D351-4157-911B-508EA9A87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27D97-EFEE-4AC2-A155-7DB436373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54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FCCC8-FF2A-4986-95A6-BE082DF8D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701BA-1EEC-4E41-9792-62B9BAE7F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6D1BF-88D1-45CD-A305-E8303D659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F8381-79CD-4182-B411-6CB9788831C1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55037-3AC1-45B2-9726-DCD0200A1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C9350-33F6-4C99-9F4A-3F0FAB97A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27D97-EFEE-4AC2-A155-7DB436373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67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07577F-7B52-409F-A81B-A2633B6024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09B590-3581-4C9E-99A4-D9B51239CD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CF35A-731B-4896-ABB8-9A05BFFD7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F8381-79CD-4182-B411-6CB9788831C1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B3A28-C8D2-4E79-9ED7-FD5A816A2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26B1D-C427-43B0-B42F-5779AC9F3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27D97-EFEE-4AC2-A155-7DB436373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686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2ADBA9-FABA-4A0A-B4F8-680B64C9E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E8E7D-9D71-46DF-A0D0-D034BB6B6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3DF86-1968-49BE-8762-01B632EC08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F8381-79CD-4182-B411-6CB9788831C1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66052-22B5-4830-A80C-2188A29D16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67A35-C722-42C5-A50E-657ED8A93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27D97-EFEE-4AC2-A155-7DB436373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783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Database Design Practice 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4635" y="4198409"/>
            <a:ext cx="8038719" cy="1645920"/>
          </a:xfrm>
        </p:spPr>
        <p:txBody>
          <a:bodyPr>
            <a:normAutofit/>
          </a:bodyPr>
          <a:lstStyle/>
          <a:p>
            <a:endParaRPr lang="en-US" b="1" dirty="0"/>
          </a:p>
          <a:p>
            <a:r>
              <a:rPr lang="en-US" b="1" dirty="0"/>
              <a:t>Management Information Systems</a:t>
            </a:r>
          </a:p>
          <a:p>
            <a:r>
              <a:rPr lang="en-US" sz="2000" dirty="0"/>
              <a:t>Disha Parkhi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5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9496" y="229078"/>
            <a:ext cx="8079581" cy="1213357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2</a:t>
            </a:fld>
            <a:endParaRPr lang="en-US" dirty="0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849496" y="1089765"/>
            <a:ext cx="8585093" cy="4100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algn="just">
              <a:lnSpc>
                <a:spcPct val="150000"/>
              </a:lnSpc>
            </a:pPr>
            <a:endParaRPr lang="en-US" sz="25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500" dirty="0"/>
              <a:t>Database Design Principles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500" dirty="0"/>
              <a:t>Steps to design a database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500" dirty="0"/>
              <a:t>How to pick a primary key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500" dirty="0"/>
              <a:t>Database design exercise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500" dirty="0"/>
          </a:p>
          <a:p>
            <a:pPr algn="just">
              <a:lnSpc>
                <a:spcPct val="150000"/>
              </a:lnSpc>
            </a:pPr>
            <a:endParaRPr lang="en-US" sz="2500" dirty="0"/>
          </a:p>
        </p:txBody>
      </p:sp>
      <p:sp>
        <p:nvSpPr>
          <p:cNvPr id="5" name="Content Placeholder 8"/>
          <p:cNvSpPr txBox="1">
            <a:spLocks/>
          </p:cNvSpPr>
          <p:nvPr/>
        </p:nvSpPr>
        <p:spPr>
          <a:xfrm>
            <a:off x="6961909" y="1993393"/>
            <a:ext cx="3126018" cy="198099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chemeClr val="accent1"/>
                </a:solidFill>
              </a:rPr>
              <a:t>Reading:</a:t>
            </a:r>
            <a:r>
              <a:rPr lang="en-US" dirty="0"/>
              <a:t> </a:t>
            </a:r>
          </a:p>
          <a:p>
            <a:pPr>
              <a:lnSpc>
                <a:spcPct val="100000"/>
              </a:lnSpc>
              <a:buFont typeface="Wingdings" charset="2"/>
              <a:buChar char="ü"/>
            </a:pPr>
            <a:r>
              <a:rPr lang="en-US" i="1" dirty="0"/>
              <a:t> Chapter 5: 115-120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305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628" y="767419"/>
            <a:ext cx="8337145" cy="3355848"/>
          </a:xfrm>
        </p:spPr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One-to-many </a:t>
            </a:r>
            <a:r>
              <a:rPr lang="en-US" sz="3200" dirty="0" err="1"/>
              <a:t>relationhsips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059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6247" y="467519"/>
            <a:ext cx="8079581" cy="781089"/>
          </a:xfrm>
        </p:spPr>
        <p:txBody>
          <a:bodyPr/>
          <a:lstStyle/>
          <a:p>
            <a:r>
              <a:rPr lang="en-US" dirty="0"/>
              <a:t>One-to-many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534" y="2375872"/>
            <a:ext cx="8442256" cy="4116715"/>
          </a:xfrm>
        </p:spPr>
        <p:txBody>
          <a:bodyPr>
            <a:normAutofit lnSpcReduction="10000"/>
          </a:bodyPr>
          <a:lstStyle/>
          <a:p>
            <a:pPr marL="285750" indent="-28575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Arial"/>
              <a:buChar char="•"/>
              <a:defRPr/>
            </a:pPr>
            <a:r>
              <a:rPr lang="en-US" sz="2200" dirty="0">
                <a:latin typeface="Calibri" charset="0"/>
                <a:cs typeface="Calibri" charset="0"/>
              </a:rPr>
              <a:t>Each record of TABLE_A is associated with </a:t>
            </a:r>
            <a:r>
              <a:rPr lang="en-US" sz="2200" dirty="0">
                <a:solidFill>
                  <a:srgbClr val="FF0000"/>
                </a:solidFill>
                <a:latin typeface="Calibri" charset="0"/>
                <a:cs typeface="Calibri" charset="0"/>
              </a:rPr>
              <a:t>0, 1, 2,</a:t>
            </a:r>
            <a:r>
              <a:rPr lang="is-IS" sz="2200" dirty="0">
                <a:solidFill>
                  <a:srgbClr val="FF0000"/>
                </a:solidFill>
                <a:latin typeface="Calibri" charset="0"/>
                <a:cs typeface="Calibri" charset="0"/>
              </a:rPr>
              <a:t>….(many) </a:t>
            </a:r>
            <a:r>
              <a:rPr lang="is-IS" sz="2200" dirty="0">
                <a:latin typeface="Calibri" charset="0"/>
                <a:cs typeface="Calibri" charset="0"/>
              </a:rPr>
              <a:t>records of </a:t>
            </a:r>
            <a:r>
              <a:rPr lang="en-US" sz="2200" dirty="0">
                <a:latin typeface="Calibri" charset="0"/>
                <a:cs typeface="Calibri" charset="0"/>
              </a:rPr>
              <a:t>TABLE</a:t>
            </a:r>
            <a:r>
              <a:rPr lang="is-IS" sz="2200" dirty="0">
                <a:latin typeface="Calibri" charset="0"/>
                <a:cs typeface="Calibri" charset="0"/>
              </a:rPr>
              <a:t>_B</a:t>
            </a:r>
          </a:p>
          <a:p>
            <a:pPr marL="285750" indent="-28575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Arial"/>
              <a:buChar char="•"/>
              <a:defRPr/>
            </a:pPr>
            <a:r>
              <a:rPr lang="is-IS" sz="2200" dirty="0">
                <a:latin typeface="Calibri" charset="0"/>
                <a:cs typeface="Calibri" charset="0"/>
              </a:rPr>
              <a:t>Each record of </a:t>
            </a:r>
            <a:r>
              <a:rPr lang="en-US" sz="2200" dirty="0">
                <a:latin typeface="Calibri" charset="0"/>
                <a:cs typeface="Calibri" charset="0"/>
              </a:rPr>
              <a:t>TABLE</a:t>
            </a:r>
            <a:r>
              <a:rPr lang="is-IS" sz="2200" dirty="0">
                <a:latin typeface="Calibri" charset="0"/>
                <a:cs typeface="Calibri" charset="0"/>
              </a:rPr>
              <a:t>_B is associated with </a:t>
            </a:r>
            <a:r>
              <a:rPr lang="is-IS" sz="2200" dirty="0">
                <a:solidFill>
                  <a:srgbClr val="FF0000"/>
                </a:solidFill>
                <a:latin typeface="Calibri" charset="0"/>
                <a:cs typeface="Calibri" charset="0"/>
              </a:rPr>
              <a:t>0 or 1 record </a:t>
            </a:r>
            <a:r>
              <a:rPr lang="is-IS" sz="2200" dirty="0">
                <a:latin typeface="Calibri" charset="0"/>
                <a:cs typeface="Calibri" charset="0"/>
              </a:rPr>
              <a:t>of </a:t>
            </a:r>
            <a:r>
              <a:rPr lang="en-US" sz="2200" dirty="0">
                <a:latin typeface="Calibri" charset="0"/>
                <a:cs typeface="Calibri" charset="0"/>
              </a:rPr>
              <a:t>TABLE</a:t>
            </a:r>
            <a:r>
              <a:rPr lang="is-IS" sz="2200" dirty="0">
                <a:latin typeface="Calibri" charset="0"/>
                <a:cs typeface="Calibri" charset="0"/>
              </a:rPr>
              <a:t>_A</a:t>
            </a:r>
            <a:endParaRPr lang="en-US" sz="2200" dirty="0">
              <a:latin typeface="Calibri" charset="0"/>
              <a:cs typeface="Calibri" charset="0"/>
            </a:endParaRPr>
          </a:p>
          <a:p>
            <a:pPr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defRPr/>
            </a:pPr>
            <a:endParaRPr lang="en-US" sz="1100" dirty="0">
              <a:latin typeface="Calibri" charset="0"/>
              <a:cs typeface="Calibri" charset="0"/>
            </a:endParaRPr>
          </a:p>
          <a:p>
            <a:pPr marL="0" indent="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None/>
              <a:defRPr/>
            </a:pPr>
            <a:r>
              <a:rPr lang="en-US" sz="2200" dirty="0">
                <a:latin typeface="Calibri" charset="0"/>
                <a:cs typeface="Calibri" charset="0"/>
              </a:rPr>
              <a:t>To create the relationship we put the primary key of A as a foreign key in table B (the foreign key is always in </a:t>
            </a:r>
            <a:r>
              <a:rPr lang="ja-JP" altLang="en-US" sz="2200" dirty="0">
                <a:latin typeface="Calibri" charset="0"/>
                <a:cs typeface="Calibri" charset="0"/>
              </a:rPr>
              <a:t>“</a:t>
            </a:r>
            <a:r>
              <a:rPr lang="en-US" altLang="ja-JP" sz="2200" dirty="0">
                <a:latin typeface="Calibri" charset="0"/>
                <a:cs typeface="Calibri" charset="0"/>
              </a:rPr>
              <a:t>the many</a:t>
            </a:r>
            <a:r>
              <a:rPr lang="ja-JP" altLang="en-US" sz="2200" dirty="0">
                <a:latin typeface="Calibri" charset="0"/>
                <a:cs typeface="Calibri" charset="0"/>
              </a:rPr>
              <a:t>”</a:t>
            </a:r>
            <a:r>
              <a:rPr lang="en-US" altLang="ja-JP" sz="2200" dirty="0">
                <a:latin typeface="Calibri" charset="0"/>
                <a:cs typeface="Calibri" charset="0"/>
              </a:rPr>
              <a:t> table):</a:t>
            </a:r>
          </a:p>
          <a:p>
            <a:pPr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</a:pPr>
            <a:r>
              <a:rPr lang="en-US" sz="2200" dirty="0">
                <a:solidFill>
                  <a:srgbClr val="000000"/>
                </a:solidFill>
              </a:rPr>
              <a:t>	</a:t>
            </a:r>
            <a:r>
              <a:rPr lang="en-US" sz="2200" b="1" dirty="0">
                <a:solidFill>
                  <a:srgbClr val="000000"/>
                </a:solidFill>
              </a:rPr>
              <a:t>TABLE_B (</a:t>
            </a:r>
            <a:r>
              <a:rPr lang="is-IS" sz="2200" b="1" dirty="0">
                <a:solidFill>
                  <a:srgbClr val="000000"/>
                </a:solidFill>
              </a:rPr>
              <a:t>…..., attribute_z)</a:t>
            </a:r>
            <a:r>
              <a:rPr lang="en-US" sz="2200" b="1" dirty="0">
                <a:solidFill>
                  <a:srgbClr val="000000"/>
                </a:solidFill>
              </a:rPr>
              <a:t> </a:t>
            </a:r>
          </a:p>
          <a:p>
            <a:pPr lvl="2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</a:pPr>
            <a:r>
              <a:rPr lang="en-US" sz="2200" b="1" dirty="0">
                <a:solidFill>
                  <a:srgbClr val="000000"/>
                </a:solidFill>
              </a:rPr>
              <a:t>		</a:t>
            </a:r>
            <a:r>
              <a:rPr lang="en-US" sz="2200" b="1" dirty="0" err="1">
                <a:solidFill>
                  <a:srgbClr val="000000"/>
                </a:solidFill>
              </a:rPr>
              <a:t>attribute_z</a:t>
            </a:r>
            <a:r>
              <a:rPr lang="en-US" sz="2200" b="1" dirty="0">
                <a:solidFill>
                  <a:srgbClr val="000000"/>
                </a:solidFill>
              </a:rPr>
              <a:t> foreign key to TABLE_A</a:t>
            </a:r>
            <a:endParaRPr lang="en-US" sz="2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200" i="1" dirty="0">
                <a:solidFill>
                  <a:schemeClr val="accent1"/>
                </a:solidFill>
              </a:rPr>
              <a:t>How can a record of TABLE_A be associated with 0 of TABLE_B?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200" i="1" dirty="0">
                <a:solidFill>
                  <a:schemeClr val="accent1"/>
                </a:solidFill>
              </a:rPr>
              <a:t>How can a record of TABLE_B be associated with 0 of TABLE_A?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4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3498486" y="1559449"/>
            <a:ext cx="4952221" cy="608862"/>
            <a:chOff x="1974485" y="1676841"/>
            <a:chExt cx="4952221" cy="608862"/>
          </a:xfrm>
        </p:grpSpPr>
        <p:sp>
          <p:nvSpPr>
            <p:cNvPr id="5" name="TextBox 4"/>
            <p:cNvSpPr txBox="1"/>
            <p:nvPr/>
          </p:nvSpPr>
          <p:spPr>
            <a:xfrm>
              <a:off x="1974485" y="1824038"/>
              <a:ext cx="1519041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Calibri"/>
                  <a:cs typeface="Calibri"/>
                </a:rPr>
                <a:t>TABLE_A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474725" y="1824038"/>
              <a:ext cx="1451981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Calibri"/>
                  <a:cs typeface="Calibri"/>
                </a:rPr>
                <a:t>TABLE_B</a:t>
              </a:r>
            </a:p>
          </p:txBody>
        </p:sp>
        <p:cxnSp>
          <p:nvCxnSpPr>
            <p:cNvPr id="7" name="Straight Connector 3"/>
            <p:cNvCxnSpPr>
              <a:cxnSpLocks noChangeShapeType="1"/>
            </p:cNvCxnSpPr>
            <p:nvPr/>
          </p:nvCxnSpPr>
          <p:spPr bwMode="auto">
            <a:xfrm>
              <a:off x="3493526" y="2052638"/>
              <a:ext cx="1981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" name="Diamond 7"/>
            <p:cNvSpPr/>
            <p:nvPr/>
          </p:nvSpPr>
          <p:spPr bwMode="auto">
            <a:xfrm>
              <a:off x="4255526" y="1824038"/>
              <a:ext cx="533400" cy="457200"/>
            </a:xfrm>
            <a:prstGeom prst="diamond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US" sz="240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9" name="TextBox 7"/>
            <p:cNvSpPr txBox="1">
              <a:spLocks noChangeArrowheads="1"/>
            </p:cNvSpPr>
            <p:nvPr/>
          </p:nvSpPr>
          <p:spPr bwMode="auto">
            <a:xfrm>
              <a:off x="3504199" y="1676841"/>
              <a:ext cx="2057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r>
                <a:rPr lang="en-US" dirty="0">
                  <a:latin typeface="Calibri" charset="0"/>
                  <a:cs typeface="Calibri" charset="0"/>
                </a:rPr>
                <a:t>1                    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7824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720" y="215552"/>
            <a:ext cx="8079581" cy="1037269"/>
          </a:xfrm>
        </p:spPr>
        <p:txBody>
          <a:bodyPr/>
          <a:lstStyle/>
          <a:p>
            <a:r>
              <a:rPr lang="en-US" dirty="0"/>
              <a:t>Foreign Keys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029961" y="1572738"/>
            <a:ext cx="8230889" cy="4212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algn="just">
              <a:spcBef>
                <a:spcPct val="25000"/>
              </a:spcBef>
              <a:spcAft>
                <a:spcPct val="10000"/>
              </a:spcAft>
            </a:pPr>
            <a:r>
              <a:rPr lang="en-US" sz="2200" dirty="0">
                <a:solidFill>
                  <a:srgbClr val="000000"/>
                </a:solidFill>
              </a:rPr>
              <a:t>	</a:t>
            </a:r>
            <a:r>
              <a:rPr lang="en-US" sz="2200" b="1" dirty="0">
                <a:solidFill>
                  <a:srgbClr val="000000"/>
                </a:solidFill>
              </a:rPr>
              <a:t>TABLE_B (</a:t>
            </a:r>
            <a:r>
              <a:rPr lang="is-IS" sz="2200" b="1" dirty="0">
                <a:solidFill>
                  <a:srgbClr val="000000"/>
                </a:solidFill>
              </a:rPr>
              <a:t>…..., attribute_z)</a:t>
            </a:r>
            <a:r>
              <a:rPr lang="en-US" sz="2200" b="1" dirty="0">
                <a:solidFill>
                  <a:srgbClr val="000000"/>
                </a:solidFill>
              </a:rPr>
              <a:t> </a:t>
            </a:r>
          </a:p>
          <a:p>
            <a:pPr lvl="2" algn="just">
              <a:spcBef>
                <a:spcPct val="25000"/>
              </a:spcBef>
              <a:spcAft>
                <a:spcPct val="10000"/>
              </a:spcAft>
            </a:pPr>
            <a:r>
              <a:rPr lang="en-US" sz="2200" b="1" i="1" dirty="0">
                <a:solidFill>
                  <a:srgbClr val="000000"/>
                </a:solidFill>
              </a:rPr>
              <a:t>	</a:t>
            </a:r>
            <a:r>
              <a:rPr lang="en-US" sz="2200" b="1" dirty="0" err="1">
                <a:solidFill>
                  <a:srgbClr val="000000"/>
                </a:solidFill>
              </a:rPr>
              <a:t>attribute_z</a:t>
            </a:r>
            <a:r>
              <a:rPr lang="en-US" sz="2200" b="1" dirty="0">
                <a:solidFill>
                  <a:srgbClr val="000000"/>
                </a:solidFill>
              </a:rPr>
              <a:t> foreign key to TABLE_A</a:t>
            </a:r>
          </a:p>
          <a:p>
            <a:pPr algn="just">
              <a:spcBef>
                <a:spcPct val="25000"/>
              </a:spcBef>
              <a:spcAft>
                <a:spcPct val="10000"/>
              </a:spcAft>
            </a:pPr>
            <a:r>
              <a:rPr lang="en-US" sz="2200" dirty="0">
                <a:solidFill>
                  <a:srgbClr val="000000"/>
                </a:solidFill>
              </a:rPr>
              <a:t>means: </a:t>
            </a:r>
          </a:p>
          <a:p>
            <a:pPr algn="just">
              <a:spcBef>
                <a:spcPct val="25000"/>
              </a:spcBef>
              <a:spcAft>
                <a:spcPct val="10000"/>
              </a:spcAft>
            </a:pPr>
            <a:r>
              <a:rPr lang="en-US" sz="2200" dirty="0">
                <a:solidFill>
                  <a:srgbClr val="000000"/>
                </a:solidFill>
              </a:rPr>
              <a:t>“</a:t>
            </a:r>
            <a:r>
              <a:rPr lang="en-US" sz="2200" i="1" dirty="0">
                <a:solidFill>
                  <a:srgbClr val="000000"/>
                </a:solidFill>
              </a:rPr>
              <a:t>The value of </a:t>
            </a:r>
            <a:r>
              <a:rPr lang="en-US" sz="2200" i="1" dirty="0" err="1">
                <a:solidFill>
                  <a:srgbClr val="000000"/>
                </a:solidFill>
              </a:rPr>
              <a:t>attribute_z</a:t>
            </a:r>
            <a:r>
              <a:rPr lang="en-US" sz="2200" i="1" dirty="0">
                <a:solidFill>
                  <a:srgbClr val="000000"/>
                </a:solidFill>
              </a:rPr>
              <a:t> in each record of TABLE_B is either empty or it takes the value of the primary key of some record that exists in TABLE_A.</a:t>
            </a:r>
            <a:r>
              <a:rPr lang="en-US" sz="2200" dirty="0">
                <a:solidFill>
                  <a:srgbClr val="000000"/>
                </a:solidFill>
              </a:rPr>
              <a:t>”</a:t>
            </a:r>
          </a:p>
          <a:p>
            <a:pPr algn="just">
              <a:spcBef>
                <a:spcPct val="25000"/>
              </a:spcBef>
              <a:spcAft>
                <a:spcPct val="10000"/>
              </a:spcAft>
            </a:pP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algn="just">
              <a:spcBef>
                <a:spcPct val="25000"/>
              </a:spcBef>
              <a:spcAft>
                <a:spcPct val="10000"/>
              </a:spcAft>
            </a:pPr>
            <a:r>
              <a:rPr lang="en-US" sz="2400" b="1" i="1" u="sng" dirty="0"/>
              <a:t>Referential Integrity</a:t>
            </a:r>
            <a:r>
              <a:rPr lang="en-US" sz="2400" b="1" u="sng" dirty="0"/>
              <a:t>:</a:t>
            </a:r>
            <a:r>
              <a:rPr lang="en-US" sz="2400" dirty="0"/>
              <a:t> Foreign key values are either null (empty) or must match a primary key of some record in the respective table 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596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4948" y="88818"/>
            <a:ext cx="8079581" cy="1037269"/>
          </a:xfrm>
        </p:spPr>
        <p:txBody>
          <a:bodyPr>
            <a:normAutofit/>
          </a:bodyPr>
          <a:lstStyle/>
          <a:p>
            <a:r>
              <a:rPr lang="en-US" dirty="0"/>
              <a:t>Foreign keys – example</a:t>
            </a:r>
          </a:p>
        </p:txBody>
      </p:sp>
      <p:graphicFrame>
        <p:nvGraphicFramePr>
          <p:cNvPr id="4" name="Object 1024"/>
          <p:cNvGraphicFramePr>
            <a:graphicFrameLocks/>
          </p:cNvGraphicFramePr>
          <p:nvPr/>
        </p:nvGraphicFramePr>
        <p:xfrm>
          <a:off x="1682750" y="1437604"/>
          <a:ext cx="6800850" cy="6434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Document" r:id="rId3" imgW="5908441" imgH="6133461" progId="Word.Document.8">
                  <p:embed/>
                </p:oleObj>
              </mc:Choice>
              <mc:Fallback>
                <p:oleObj name="Document" r:id="rId3" imgW="5908441" imgH="6133461" progId="Word.Document.8">
                  <p:embed/>
                  <p:pic>
                    <p:nvPicPr>
                      <p:cNvPr id="4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750" y="1437604"/>
                        <a:ext cx="6800850" cy="6434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812493" y="1094795"/>
            <a:ext cx="1637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STATE table: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613" y="3377646"/>
            <a:ext cx="5077838" cy="29269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sz="2000" dirty="0"/>
              <a:t>STATE (</a:t>
            </a:r>
            <a:r>
              <a:rPr lang="en-US" sz="2000" u="sng" dirty="0" err="1"/>
              <a:t>StateAbbrev</a:t>
            </a:r>
            <a:r>
              <a:rPr lang="en-US" sz="2000" dirty="0"/>
              <a:t>, Name, </a:t>
            </a:r>
            <a:r>
              <a:rPr lang="en-US" sz="2000" dirty="0" err="1"/>
              <a:t>UnionOrder</a:t>
            </a:r>
            <a:r>
              <a:rPr lang="en-US" sz="2000" dirty="0"/>
              <a:t>, Bird, Population)</a:t>
            </a:r>
          </a:p>
          <a:p>
            <a:pPr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sz="2000" dirty="0"/>
              <a:t>CITY (</a:t>
            </a:r>
            <a:r>
              <a:rPr lang="en-US" sz="2000" u="sng" dirty="0"/>
              <a:t>State, Name</a:t>
            </a:r>
            <a:r>
              <a:rPr lang="en-US" sz="2000" dirty="0"/>
              <a:t>, Population)</a:t>
            </a:r>
          </a:p>
          <a:p>
            <a:pPr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sz="2000" dirty="0"/>
              <a:t>	State foreign key to STATE</a:t>
            </a:r>
          </a:p>
          <a:p>
            <a:pPr>
              <a:spcBef>
                <a:spcPct val="25000"/>
              </a:spcBef>
              <a:spcAft>
                <a:spcPct val="10000"/>
              </a:spcAft>
              <a:defRPr/>
            </a:pPr>
            <a:endParaRPr lang="en-US" sz="2200" i="1" dirty="0"/>
          </a:p>
          <a:p>
            <a:pPr algn="ctr"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i="1" dirty="0"/>
              <a:t>The PK of CITY is composite: (State, Name). The FK is part of the PK. This is OK, and still creates a one-to-many relationship.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55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628" y="767419"/>
            <a:ext cx="8337145" cy="3355848"/>
          </a:xfrm>
        </p:spPr>
        <p:txBody>
          <a:bodyPr/>
          <a:lstStyle/>
          <a:p>
            <a:r>
              <a:rPr lang="en-US" dirty="0"/>
              <a:t>Database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Principles, Rules and 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331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3146" y="145306"/>
            <a:ext cx="8079581" cy="865904"/>
          </a:xfrm>
        </p:spPr>
        <p:txBody>
          <a:bodyPr>
            <a:normAutofit/>
          </a:bodyPr>
          <a:lstStyle/>
          <a:p>
            <a:r>
              <a:rPr lang="en-US" dirty="0"/>
              <a:t>Steps to Design a Database</a:t>
            </a:r>
          </a:p>
        </p:txBody>
      </p:sp>
      <p:sp>
        <p:nvSpPr>
          <p:cNvPr id="4" name="Content Placeholder 3"/>
          <p:cNvSpPr>
            <a:spLocks noGrp="1" noChangeArrowheads="1"/>
          </p:cNvSpPr>
          <p:nvPr>
            <p:ph idx="1"/>
          </p:nvPr>
        </p:nvSpPr>
        <p:spPr bwMode="auto">
          <a:xfrm>
            <a:off x="1900284" y="1452212"/>
            <a:ext cx="8501672" cy="3324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rtlCol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indent="-342900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+mj-lt"/>
              <a:buAutoNum type="arabicPeriod"/>
            </a:pPr>
            <a:r>
              <a:rPr lang="en-US" altLang="en-US" dirty="0">
                <a:solidFill>
                  <a:schemeClr val="tx2"/>
                </a:solidFill>
                <a:latin typeface="+mn-lt"/>
              </a:rPr>
              <a:t>Identify the tables (usually they correspond to the entities involved in the problem).</a:t>
            </a:r>
          </a:p>
          <a:p>
            <a:pPr marL="342900" indent="-342900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+mj-lt"/>
              <a:buAutoNum type="arabicPeriod"/>
            </a:pPr>
            <a:r>
              <a:rPr lang="en-US" altLang="en-US" dirty="0">
                <a:solidFill>
                  <a:schemeClr val="tx2"/>
                </a:solidFill>
                <a:latin typeface="+mn-lt"/>
              </a:rPr>
              <a:t>Identify the fields relevant for each table. Create the primary key of each table.</a:t>
            </a:r>
          </a:p>
          <a:p>
            <a:pPr marL="342900" indent="-342900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+mj-lt"/>
              <a:buAutoNum type="arabicPeriod"/>
            </a:pPr>
            <a:r>
              <a:rPr lang="en-US" altLang="en-US" dirty="0">
                <a:solidFill>
                  <a:schemeClr val="tx2"/>
                </a:solidFill>
                <a:latin typeface="+mn-lt"/>
              </a:rPr>
              <a:t>Identify and create relationships: place foreign keys in the corresponding tables.</a:t>
            </a:r>
          </a:p>
          <a:p>
            <a:pPr marL="342900" indent="-342900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+mj-lt"/>
              <a:buAutoNum type="arabicPeriod"/>
            </a:pPr>
            <a:r>
              <a:rPr lang="en-US" altLang="en-US" b="1" dirty="0">
                <a:solidFill>
                  <a:schemeClr val="tx2"/>
                </a:solidFill>
                <a:latin typeface="+mn-lt"/>
              </a:rPr>
              <a:t>Review your database design: </a:t>
            </a:r>
            <a:r>
              <a:rPr lang="is-IS" altLang="en-US" b="1" dirty="0">
                <a:solidFill>
                  <a:schemeClr val="tx2"/>
                </a:solidFill>
                <a:latin typeface="+mn-lt"/>
              </a:rPr>
              <a:t>see next slide...</a:t>
            </a:r>
            <a:endParaRPr lang="en-US" altLang="en-US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610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2206" y="367727"/>
            <a:ext cx="8079581" cy="587862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pick primary keys?</a:t>
            </a:r>
          </a:p>
        </p:txBody>
      </p:sp>
      <p:sp>
        <p:nvSpPr>
          <p:cNvPr id="4" name="Content Placeholder 3"/>
          <p:cNvSpPr>
            <a:spLocks noGrp="1" noChangeArrowheads="1"/>
          </p:cNvSpPr>
          <p:nvPr>
            <p:ph idx="1"/>
          </p:nvPr>
        </p:nvSpPr>
        <p:spPr bwMode="auto">
          <a:xfrm>
            <a:off x="1992206" y="1301580"/>
            <a:ext cx="8344629" cy="4531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rtlCol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25000"/>
              </a:spcBef>
              <a:spcAft>
                <a:spcPct val="10000"/>
              </a:spcAft>
              <a:buNone/>
            </a:pPr>
            <a:r>
              <a:rPr lang="en-US" altLang="en-US" dirty="0">
                <a:solidFill>
                  <a:schemeClr val="tx2"/>
                </a:solidFill>
                <a:latin typeface="+mn-lt"/>
              </a:rPr>
              <a:t>Once you have identified candidate keys on your table, follow the following guidelines to make the best choice:</a:t>
            </a:r>
          </a:p>
          <a:p>
            <a:pPr marL="0" indent="0">
              <a:lnSpc>
                <a:spcPct val="100000"/>
              </a:lnSpc>
              <a:spcBef>
                <a:spcPct val="25000"/>
              </a:spcBef>
              <a:spcAft>
                <a:spcPct val="10000"/>
              </a:spcAft>
              <a:buNone/>
            </a:pPr>
            <a:endParaRPr lang="en-US" altLang="en-US" sz="800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chemeClr val="tx2"/>
                </a:solidFill>
                <a:latin typeface="+mn-lt"/>
              </a:rPr>
              <a:t> The one with the minimal set of attributes</a:t>
            </a:r>
          </a:p>
          <a:p>
            <a:pPr>
              <a:lnSpc>
                <a:spcPct val="100000"/>
              </a:lnSpc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chemeClr val="tx2"/>
                </a:solidFill>
                <a:latin typeface="+mn-lt"/>
              </a:rPr>
              <a:t> The one that is less likely to change in the future</a:t>
            </a:r>
          </a:p>
          <a:p>
            <a:pPr>
              <a:lnSpc>
                <a:spcPct val="100000"/>
              </a:lnSpc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chemeClr val="tx2"/>
                </a:solidFill>
                <a:latin typeface="+mn-lt"/>
              </a:rPr>
              <a:t> The one that is less likely to loose its uniqueness in the future</a:t>
            </a:r>
          </a:p>
          <a:p>
            <a:pPr>
              <a:lnSpc>
                <a:spcPct val="100000"/>
              </a:lnSpc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chemeClr val="tx2"/>
                </a:solidFill>
                <a:latin typeface="+mn-lt"/>
              </a:rPr>
              <a:t> The one that is easiest to use from the user’s point of view</a:t>
            </a:r>
          </a:p>
          <a:p>
            <a:pPr>
              <a:lnSpc>
                <a:spcPct val="100000"/>
              </a:lnSpc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</a:pPr>
            <a:endParaRPr lang="en-US" altLang="en-US" sz="2000" dirty="0">
              <a:solidFill>
                <a:schemeClr val="tx2"/>
              </a:solidFill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ct val="25000"/>
              </a:spcBef>
              <a:spcAft>
                <a:spcPct val="10000"/>
              </a:spcAft>
              <a:buNone/>
            </a:pPr>
            <a:r>
              <a:rPr lang="en-US" altLang="en-US" sz="2000" dirty="0">
                <a:solidFill>
                  <a:schemeClr val="tx2"/>
                </a:solidFill>
                <a:latin typeface="+mn-lt"/>
              </a:rPr>
              <a:t>If neither of the candidate keys seems a good choice, choose a synthetic key.</a:t>
            </a:r>
          </a:p>
          <a:p>
            <a:pPr marL="0" indent="0">
              <a:lnSpc>
                <a:spcPct val="100000"/>
              </a:lnSpc>
              <a:spcBef>
                <a:spcPct val="25000"/>
              </a:spcBef>
              <a:spcAft>
                <a:spcPct val="10000"/>
              </a:spcAft>
              <a:buNone/>
            </a:pPr>
            <a:endParaRPr lang="en-US" altLang="en-US" sz="1100" dirty="0">
              <a:solidFill>
                <a:schemeClr val="tx2"/>
              </a:solidFill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ct val="25000"/>
              </a:spcBef>
              <a:spcAft>
                <a:spcPct val="10000"/>
              </a:spcAft>
              <a:buNone/>
            </a:pPr>
            <a:r>
              <a:rPr lang="en-US" altLang="en-US" sz="2000" dirty="0">
                <a:solidFill>
                  <a:schemeClr val="tx2"/>
                </a:solidFill>
                <a:latin typeface="+mn-lt"/>
              </a:rPr>
              <a:t>Remember that usually there several correct options for a primary key, but you must choose only one.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26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4012" y="105294"/>
            <a:ext cx="8079581" cy="1037269"/>
          </a:xfrm>
        </p:spPr>
        <p:txBody>
          <a:bodyPr/>
          <a:lstStyle/>
          <a:p>
            <a:r>
              <a:rPr lang="en-US" dirty="0"/>
              <a:t>DB Design Principles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844011" y="1313059"/>
            <a:ext cx="8453286" cy="5171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457200" indent="-457200" algn="just">
              <a:spcBef>
                <a:spcPct val="25000"/>
              </a:spcBef>
              <a:spcAft>
                <a:spcPct val="10000"/>
              </a:spcAft>
              <a:buFont typeface="+mj-lt"/>
              <a:buAutoNum type="arabicPeriod"/>
              <a:defRPr/>
            </a:pPr>
            <a:r>
              <a:rPr lang="en-US" sz="2000" u="sng" dirty="0"/>
              <a:t>all fields must be atomic</a:t>
            </a:r>
          </a:p>
          <a:p>
            <a:pPr marL="800100" lvl="1" indent="-342900" algn="just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a field cannot be designed to store multiple data in each of its cells, like storing lists of telephone numbers in a single cell</a:t>
            </a:r>
          </a:p>
          <a:p>
            <a:pPr marL="800100" lvl="1" indent="-342900" algn="just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endParaRPr lang="en-US" sz="2000" dirty="0"/>
          </a:p>
          <a:p>
            <a:pPr marL="457200" indent="-457200" algn="just">
              <a:spcBef>
                <a:spcPct val="25000"/>
              </a:spcBef>
              <a:spcAft>
                <a:spcPct val="10000"/>
              </a:spcAft>
              <a:buFont typeface="+mj-lt"/>
              <a:buAutoNum type="arabicPeriod"/>
              <a:defRPr/>
            </a:pPr>
            <a:r>
              <a:rPr lang="en-US" sz="2000" u="sng" dirty="0"/>
              <a:t>no redundancy</a:t>
            </a:r>
            <a:endParaRPr lang="en-US" sz="2000" dirty="0"/>
          </a:p>
          <a:p>
            <a:pPr marL="800100" lvl="1" indent="-342900" algn="just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a field holding a certain piece of data is stored in </a:t>
            </a:r>
            <a:r>
              <a:rPr lang="en-US" sz="2000" i="1" dirty="0"/>
              <a:t>only one table</a:t>
            </a:r>
            <a:r>
              <a:rPr lang="en-US" sz="2000" dirty="0"/>
              <a:t>, unless it happens to be a foreign key</a:t>
            </a:r>
          </a:p>
          <a:p>
            <a:pPr marL="800100" lvl="1" indent="-342900" algn="just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endParaRPr lang="en-US" sz="2000" dirty="0"/>
          </a:p>
          <a:p>
            <a:pPr marL="457200" indent="-457200" algn="just">
              <a:spcBef>
                <a:spcPct val="25000"/>
              </a:spcBef>
              <a:spcAft>
                <a:spcPct val="10000"/>
              </a:spcAft>
              <a:buFont typeface="+mj-lt"/>
              <a:buAutoNum type="arabicPeriod"/>
              <a:defRPr/>
            </a:pPr>
            <a:r>
              <a:rPr lang="en-US" sz="2000" u="sng" dirty="0"/>
              <a:t>the amount of memory used should be minimized</a:t>
            </a:r>
          </a:p>
          <a:p>
            <a:pPr marL="800100" lvl="1" indent="-342900" algn="just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avoid repeating attributes or groups of attributes in the same table</a:t>
            </a:r>
          </a:p>
          <a:p>
            <a:pPr marL="800100" lvl="1" indent="-342900" algn="just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avoid attributes that will be empty for the majority of the records</a:t>
            </a:r>
          </a:p>
          <a:p>
            <a:pPr marL="800100" lvl="1" indent="-342900" algn="just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endParaRPr lang="en-US" sz="2000" dirty="0"/>
          </a:p>
          <a:p>
            <a:pPr marL="800100" lvl="1" indent="-342900" algn="just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endParaRPr lang="en-US" sz="2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893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3145" y="145306"/>
            <a:ext cx="8361874" cy="1007003"/>
          </a:xfrm>
        </p:spPr>
        <p:txBody>
          <a:bodyPr>
            <a:normAutofit/>
          </a:bodyPr>
          <a:lstStyle/>
          <a:p>
            <a:r>
              <a:rPr lang="en-US" dirty="0"/>
              <a:t>Review your database design</a:t>
            </a:r>
          </a:p>
        </p:txBody>
      </p:sp>
      <p:sp>
        <p:nvSpPr>
          <p:cNvPr id="4" name="Content Placeholder 3"/>
          <p:cNvSpPr>
            <a:spLocks noGrp="1" noChangeArrowheads="1"/>
          </p:cNvSpPr>
          <p:nvPr>
            <p:ph idx="1"/>
          </p:nvPr>
        </p:nvSpPr>
        <p:spPr bwMode="auto">
          <a:xfrm>
            <a:off x="1805001" y="1277032"/>
            <a:ext cx="8384083" cy="5078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rtlCol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457200" indent="-45720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+mj-lt"/>
              <a:buAutoNum type="alphaLcPeriod"/>
            </a:pPr>
            <a:r>
              <a:rPr lang="en-US" altLang="en-US" b="1" dirty="0">
                <a:solidFill>
                  <a:srgbClr val="FF0000"/>
                </a:solidFill>
                <a:latin typeface="+mn-lt"/>
              </a:rPr>
              <a:t>Simulate queries: </a:t>
            </a:r>
            <a:r>
              <a:rPr lang="en-US" altLang="en-US" dirty="0">
                <a:solidFill>
                  <a:schemeClr val="tx2"/>
                </a:solidFill>
                <a:latin typeface="+mn-lt"/>
              </a:rPr>
              <a:t>can the database give you all the information you may need, that is, is it capable of relating all the different entities you need to relate? </a:t>
            </a:r>
          </a:p>
          <a:p>
            <a:pPr marL="457200" indent="-45720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+mj-lt"/>
              <a:buAutoNum type="alphaLcPeriod"/>
            </a:pPr>
            <a:r>
              <a:rPr lang="en-US" altLang="en-US" dirty="0">
                <a:solidFill>
                  <a:schemeClr val="tx2"/>
                </a:solidFill>
                <a:latin typeface="+mn-lt"/>
              </a:rPr>
              <a:t>Check for </a:t>
            </a:r>
            <a:r>
              <a:rPr lang="en-US" altLang="en-US" b="1" dirty="0">
                <a:solidFill>
                  <a:srgbClr val="FF0000"/>
                </a:solidFill>
                <a:latin typeface="+mn-lt"/>
              </a:rPr>
              <a:t>redundant relationships</a:t>
            </a:r>
            <a:r>
              <a:rPr lang="en-US" altLang="en-US" dirty="0">
                <a:solidFill>
                  <a:schemeClr val="tx2"/>
                </a:solidFill>
                <a:latin typeface="+mn-lt"/>
              </a:rPr>
              <a:t>: Do any of the relationships can be indirectly obtained from combining others? If so, delete the redundant ones.</a:t>
            </a:r>
          </a:p>
          <a:p>
            <a:pPr marL="457200" indent="-45720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+mj-lt"/>
              <a:buAutoNum type="alphaLcPeriod"/>
            </a:pPr>
            <a:r>
              <a:rPr lang="en-US" altLang="en-US" dirty="0">
                <a:solidFill>
                  <a:schemeClr val="tx2"/>
                </a:solidFill>
                <a:latin typeface="+mn-lt"/>
              </a:rPr>
              <a:t>Check for </a:t>
            </a:r>
            <a:r>
              <a:rPr lang="en-US" altLang="en-US" b="1" dirty="0">
                <a:solidFill>
                  <a:srgbClr val="FF0000"/>
                </a:solidFill>
                <a:latin typeface="+mn-lt"/>
              </a:rPr>
              <a:t>anomalies</a:t>
            </a:r>
            <a:r>
              <a:rPr lang="en-US" altLang="en-US" dirty="0">
                <a:solidFill>
                  <a:schemeClr val="tx2"/>
                </a:solidFill>
                <a:latin typeface="+mn-lt"/>
              </a:rPr>
              <a:t>! </a:t>
            </a:r>
          </a:p>
          <a:p>
            <a:pPr marL="457200" indent="-45720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+mj-lt"/>
              <a:buAutoNum type="alphaLcPeriod"/>
            </a:pPr>
            <a:r>
              <a:rPr lang="en-US" altLang="en-US" dirty="0">
                <a:solidFill>
                  <a:schemeClr val="tx2"/>
                </a:solidFill>
                <a:latin typeface="+mn-lt"/>
              </a:rPr>
              <a:t>Make sure the DB is in 3NF (</a:t>
            </a:r>
            <a:r>
              <a:rPr lang="en-US" altLang="en-US" i="1" dirty="0">
                <a:solidFill>
                  <a:schemeClr val="tx2"/>
                </a:solidFill>
                <a:latin typeface="+mn-lt"/>
              </a:rPr>
              <a:t>skip for now, more about this later</a:t>
            </a:r>
            <a:r>
              <a:rPr lang="en-US" altLang="en-US" dirty="0">
                <a:solidFill>
                  <a:schemeClr val="tx2"/>
                </a:solidFill>
                <a:latin typeface="+mn-lt"/>
              </a:rPr>
              <a:t>).</a:t>
            </a:r>
          </a:p>
          <a:p>
            <a:pPr marL="457200" indent="-45720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+mj-lt"/>
              <a:buAutoNum type="alphaLcPeriod"/>
            </a:pPr>
            <a:r>
              <a:rPr lang="en-US" altLang="en-US" dirty="0">
                <a:solidFill>
                  <a:schemeClr val="tx2"/>
                </a:solidFill>
                <a:latin typeface="+mn-lt"/>
              </a:rPr>
              <a:t>Review again (yes!) the model to make sure the database can give you all the information you might need.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434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628" y="767419"/>
            <a:ext cx="8337145" cy="3355848"/>
          </a:xfrm>
        </p:spPr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Personnel DB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064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8369" y="8668"/>
            <a:ext cx="8079581" cy="1037269"/>
          </a:xfrm>
        </p:spPr>
        <p:txBody>
          <a:bodyPr/>
          <a:lstStyle/>
          <a:p>
            <a:r>
              <a:rPr lang="en-US" dirty="0"/>
              <a:t>Personnel - Design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833515" y="965912"/>
            <a:ext cx="8346201" cy="5171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algn="just"/>
            <a:r>
              <a:rPr lang="en-US" sz="2200" dirty="0"/>
              <a:t>You want to design a database to keep personnel records on employees. </a:t>
            </a:r>
            <a:endParaRPr lang="en-US" sz="2200" dirty="0">
              <a:solidFill>
                <a:srgbClr val="C00000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C00000"/>
                </a:solidFill>
              </a:rPr>
              <a:t>For each employee, you want the database to store first name, last name, home address information, home phone number, office address information, and work phone number/extension. </a:t>
            </a:r>
            <a:endParaRPr lang="en-US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B050"/>
                </a:solidFill>
              </a:rPr>
              <a:t>Each employee works at a single branch office.  Everybody in a branch office has the same office address information and work phone number, except for a phone extension of up to 4 digits.  You also want to store the names of the branch offices.</a:t>
            </a:r>
            <a:endParaRPr lang="en-US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70C0"/>
                </a:solidFill>
              </a:rPr>
              <a:t>Each employee is assigned to one health plan.  For each health plan, you want to store its name and a monthly premium.</a:t>
            </a:r>
            <a:r>
              <a:rPr lang="en-US" sz="2200" dirty="0"/>
              <a:t> 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7030A0"/>
                </a:solidFill>
              </a:rPr>
              <a:t>Each health plan is offered by a health plan provider, which has a name, address information, and a phone number. Some providers offer more than one plan; for example, Blue Cross offers a traditional plan, a PPO plan, and an HMO plan.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157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884</Words>
  <Application>Microsoft Office PowerPoint</Application>
  <PresentationFormat>Widescreen</PresentationFormat>
  <Paragraphs>96</Paragraphs>
  <Slides>13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Office Theme</vt:lpstr>
      <vt:lpstr>Document</vt:lpstr>
      <vt:lpstr>Database Design Practice I</vt:lpstr>
      <vt:lpstr>Outline</vt:lpstr>
      <vt:lpstr>Review</vt:lpstr>
      <vt:lpstr>One-to-many relationships</vt:lpstr>
      <vt:lpstr>Foreign Keys</vt:lpstr>
      <vt:lpstr>Foreign keys – example</vt:lpstr>
      <vt:lpstr>Database Design</vt:lpstr>
      <vt:lpstr>Steps to Design a Database</vt:lpstr>
      <vt:lpstr>How to pick primary keys?</vt:lpstr>
      <vt:lpstr>DB Design Principles</vt:lpstr>
      <vt:lpstr>Review your database design</vt:lpstr>
      <vt:lpstr>Exercise</vt:lpstr>
      <vt:lpstr>Personnel -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Design Practice I</dc:title>
  <dc:creator>Disha Parkhi</dc:creator>
  <cp:lastModifiedBy>Disha Parkhi</cp:lastModifiedBy>
  <cp:revision>1</cp:revision>
  <dcterms:created xsi:type="dcterms:W3CDTF">2020-08-22T20:53:12Z</dcterms:created>
  <dcterms:modified xsi:type="dcterms:W3CDTF">2020-08-22T20:53:56Z</dcterms:modified>
</cp:coreProperties>
</file>