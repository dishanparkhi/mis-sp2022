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997E2-EE88-4A26-A7F9-684DF6D0938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B9204-5AD8-41BE-AF5E-91920A3F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6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14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2361-2FEE-43E3-8FFD-F596D846E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96F33-73DE-43B3-A439-881E67C53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2D1E7-0F1E-461C-9438-798CD02A6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0BCC-F8C0-41F0-B043-A67ED19B7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57BB0-49A2-49CD-9D92-6304CE6E8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7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E5AC-085D-4F67-BD66-6D95BFC1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F4C8-7117-43AC-B5DA-56CB13639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01D9E-6C29-4FE7-A2EC-AF77E57A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0549-A674-441C-A0B0-F954B300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15C7D-55D6-4F40-AD46-9FCB367F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3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F11-A763-4D6B-9AA3-21EB1309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F59A0-88F2-4026-B37B-40E7C09B7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D0303-A06B-483C-A62C-41C95BC1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95EF2-4794-4C5F-9C69-36E15B2E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DF0D5-FB0C-4160-8186-54378DB6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202F6-C46A-4214-8E4E-FC0232137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EB54-320B-4D2D-935F-F698E5157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66860-2778-4C7B-BD6A-71A2EF53F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10C61-2C9C-48AC-BDF9-E78870E0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EE33C-6FD6-4C17-A348-C460D067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D494B-E1AB-4112-9E05-ED8B0D14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28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7A52-2C0B-4DB0-AFDD-13B3204DE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4F4B3-4800-4297-9F3E-C7D68F163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CDDEC-EE7C-49B1-8A85-B2CBA26F8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6FAB6-BD2A-42D5-9274-096A0B15B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8959A-0A61-4556-97FA-463A9819A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813F3-383C-4920-BFA1-442FF912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78BDE-C12A-45B7-BA29-D1249D1EF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6E6DC-E960-4C9B-9FB1-258F184C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2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9198-DE02-4EA8-942E-3B911837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00613-280B-46E4-944D-D656BBF0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14658-6756-436A-A3BD-C17202B5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ACED7-EDFD-4F47-98CC-CBDAD077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E0163-3C62-40D3-8F84-6E7880DC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76BA8E-A0EF-469E-B7B8-09F889D4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E0457-5785-4675-8798-62D855EB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6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AD26-626A-4632-A503-3A177713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B3DD-0057-4245-B0EB-A63DEBDDA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6A93A-4B38-4DA4-805D-0BDF77635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4580-5180-4884-A794-271C93EF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478D6-574E-4478-A111-304F2BC8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0E057-8B19-4705-AE04-BDB41B7B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6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99D5-D883-4B47-903D-A700704A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13C82-8D16-4204-92A5-DC18C4EBD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8FD2E-4186-4223-821D-231D873A8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E3336-8E91-4CCE-89E4-78EA765B2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ED3A-A4D2-458E-8310-CFD87DF8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02E46-0C2D-4029-97B1-AB0FE67D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7639-00C2-448E-8563-834B9BFC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D4EAA-E725-4156-B7F7-CAC597E7A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9603B-7BF7-412F-83B8-244CB51E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73A2E-1E17-4236-B835-F3EA1FBF0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DC82D-7A3D-4A15-A437-B2EB625E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7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64E86-9C89-40FD-AAA0-9E7048C78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83593-C259-481E-B9F7-5C3263D3F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7828D-F716-4C55-A281-31563E72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ED68-AEFB-4535-9EC7-A7F47E19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CE885-2A6B-4F72-A4F7-E10BC56A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0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689A5-61A8-4D66-A842-DD4CA9371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FE717-4755-4800-AB6A-80FA09C89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50B56-B5EF-4B40-A92A-782700CB1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8CA6F-939A-4DD4-B1C6-85D8533B4F3C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EC5BF-F05B-4C08-A6DF-905ABB8E4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1483-524D-40B7-802B-BE1A55B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2D9F1-7F13-49E6-AD79-6AA191085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5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6629" y="770467"/>
            <a:ext cx="8531155" cy="3352800"/>
          </a:xfrm>
        </p:spPr>
        <p:txBody>
          <a:bodyPr/>
          <a:lstStyle/>
          <a:p>
            <a:r>
              <a:rPr lang="en-US" sz="8600" dirty="0"/>
              <a:t>The Zip Code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</p:txBody>
      </p:sp>
    </p:spTree>
    <p:extLst>
      <p:ext uri="{BB962C8B-B14F-4D97-AF65-F5344CB8AC3E}">
        <p14:creationId xmlns:p14="http://schemas.microsoft.com/office/powerpoint/2010/main" val="242741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8844" y="106402"/>
            <a:ext cx="8079581" cy="1037269"/>
          </a:xfrm>
        </p:spPr>
        <p:txBody>
          <a:bodyPr/>
          <a:lstStyle/>
          <a:p>
            <a:r>
              <a:rPr lang="en-US" dirty="0"/>
              <a:t>Zip Codes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68843" y="1296063"/>
            <a:ext cx="8386119" cy="4771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We’ve already seen a number of tables that store information about people. Such tables are similar to the following:</a:t>
            </a:r>
          </a:p>
          <a:p>
            <a:r>
              <a:rPr lang="en-US" sz="2400" dirty="0">
                <a:solidFill>
                  <a:prstClr val="black"/>
                </a:solidFill>
              </a:rPr>
              <a:t> </a:t>
            </a:r>
          </a:p>
          <a:p>
            <a:r>
              <a:rPr lang="en-US" sz="2400" dirty="0">
                <a:solidFill>
                  <a:prstClr val="black"/>
                </a:solidFill>
              </a:rPr>
              <a:t>PERSON (</a:t>
            </a:r>
            <a:r>
              <a:rPr lang="en-US" sz="2400" u="sng" dirty="0">
                <a:solidFill>
                  <a:prstClr val="black"/>
                </a:solidFill>
              </a:rPr>
              <a:t>ID</a:t>
            </a:r>
            <a:r>
              <a:rPr lang="en-US" sz="2400" dirty="0">
                <a:solidFill>
                  <a:prstClr val="black"/>
                </a:solidFill>
              </a:rPr>
              <a:t>, </a:t>
            </a:r>
            <a:r>
              <a:rPr lang="en-US" sz="2400" dirty="0" err="1">
                <a:solidFill>
                  <a:prstClr val="black"/>
                </a:solidFill>
              </a:rPr>
              <a:t>FirstName</a:t>
            </a:r>
            <a:r>
              <a:rPr lang="en-US" sz="2400" dirty="0">
                <a:solidFill>
                  <a:prstClr val="black"/>
                </a:solidFill>
              </a:rPr>
              <a:t>, </a:t>
            </a:r>
            <a:r>
              <a:rPr lang="en-US" sz="2400" dirty="0" err="1">
                <a:solidFill>
                  <a:prstClr val="black"/>
                </a:solidFill>
              </a:rPr>
              <a:t>LastName</a:t>
            </a:r>
            <a:r>
              <a:rPr lang="en-US" sz="2400" dirty="0">
                <a:solidFill>
                  <a:prstClr val="black"/>
                </a:solidFill>
              </a:rPr>
              <a:t>, Address, City, State, Zip)</a:t>
            </a:r>
          </a:p>
          <a:p>
            <a:endParaRPr lang="en-US" sz="4000" dirty="0">
              <a:solidFill>
                <a:prstClr val="black"/>
              </a:solidFill>
            </a:endParaRPr>
          </a:p>
          <a:p>
            <a:r>
              <a:rPr lang="en-US" sz="2400" b="1" dirty="0">
                <a:solidFill>
                  <a:srgbClr val="50B4C8">
                    <a:lumMod val="75000"/>
                  </a:srgbClr>
                </a:solidFill>
              </a:rPr>
              <a:t>But we know that the attributes City and State are determined by the attribute Zip. Can that cause anomalies?</a:t>
            </a:r>
          </a:p>
          <a:p>
            <a:endParaRPr lang="en-US" sz="2400" b="1" dirty="0">
              <a:solidFill>
                <a:srgbClr val="50B4C8">
                  <a:lumMod val="75000"/>
                </a:srgbClr>
              </a:solidFill>
            </a:endParaRPr>
          </a:p>
          <a:p>
            <a:endParaRPr lang="en-US" sz="2400" b="1" dirty="0">
              <a:solidFill>
                <a:srgbClr val="50B4C8">
                  <a:lumMod val="75000"/>
                </a:srgbClr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Attributes City and State depend on Zip which is not a primary key (or candidate)!</a:t>
            </a:r>
          </a:p>
          <a:p>
            <a:endParaRPr lang="en-US" sz="2400" b="1" dirty="0">
              <a:solidFill>
                <a:srgbClr val="50B4C8">
                  <a:lumMod val="75000"/>
                </a:srgb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968844" y="7412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>
                <a:solidFill>
                  <a:srgbClr val="50B4C8">
                    <a:alpha val="20000"/>
                  </a:srgbClr>
                </a:solidFill>
              </a:rPr>
              <a:pPr/>
              <a:t>2</a:t>
            </a:fld>
            <a:endParaRPr lang="en-US">
              <a:solidFill>
                <a:srgbClr val="50B4C8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85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850" y="140576"/>
            <a:ext cx="8079581" cy="1037269"/>
          </a:xfrm>
        </p:spPr>
        <p:txBody>
          <a:bodyPr/>
          <a:lstStyle/>
          <a:p>
            <a:r>
              <a:rPr lang="en-US" dirty="0"/>
              <a:t>Zip Codes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58849" y="1375651"/>
            <a:ext cx="8364308" cy="5263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300" dirty="0">
                <a:solidFill>
                  <a:prstClr val="black"/>
                </a:solidFill>
              </a:rPr>
              <a:t>So, when we have access to a table that contains information about the zip codes, that is, for each zip code it stores the corresponding City and State: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pPr algn="ctr"/>
            <a:r>
              <a:rPr lang="en-US" sz="2500" dirty="0">
                <a:solidFill>
                  <a:prstClr val="black"/>
                </a:solidFill>
              </a:rPr>
              <a:t>ZIPCODE (</a:t>
            </a:r>
            <a:r>
              <a:rPr lang="en-US" sz="2500" u="sng" dirty="0">
                <a:solidFill>
                  <a:prstClr val="black"/>
                </a:solidFill>
              </a:rPr>
              <a:t>Zip</a:t>
            </a:r>
            <a:r>
              <a:rPr lang="en-US" sz="2500" dirty="0">
                <a:solidFill>
                  <a:prstClr val="black"/>
                </a:solidFill>
              </a:rPr>
              <a:t>, City, State)</a:t>
            </a:r>
          </a:p>
          <a:p>
            <a:endParaRPr lang="en-US" sz="2400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sz="2300" dirty="0">
                <a:solidFill>
                  <a:prstClr val="black"/>
                </a:solidFill>
              </a:rPr>
              <a:t>We should use it! The previous table would then be:</a:t>
            </a:r>
          </a:p>
          <a:p>
            <a:endParaRPr lang="en-US" sz="1600" dirty="0">
              <a:solidFill>
                <a:prstClr val="black"/>
              </a:solidFill>
            </a:endParaRPr>
          </a:p>
          <a:p>
            <a:pPr algn="ctr"/>
            <a:r>
              <a:rPr lang="en-US" sz="2500" dirty="0">
                <a:solidFill>
                  <a:prstClr val="black"/>
                </a:solidFill>
              </a:rPr>
              <a:t>PERSON (</a:t>
            </a:r>
            <a:r>
              <a:rPr lang="en-US" sz="2500" u="sng" dirty="0">
                <a:solidFill>
                  <a:prstClr val="black"/>
                </a:solidFill>
              </a:rPr>
              <a:t>ID</a:t>
            </a:r>
            <a:r>
              <a:rPr lang="en-US" sz="2500" dirty="0">
                <a:solidFill>
                  <a:prstClr val="black"/>
                </a:solidFill>
              </a:rPr>
              <a:t>, </a:t>
            </a:r>
            <a:r>
              <a:rPr lang="en-US" sz="2500" dirty="0" err="1">
                <a:solidFill>
                  <a:prstClr val="black"/>
                </a:solidFill>
              </a:rPr>
              <a:t>FirstName</a:t>
            </a:r>
            <a:r>
              <a:rPr lang="en-US" sz="2500" dirty="0">
                <a:solidFill>
                  <a:prstClr val="black"/>
                </a:solidFill>
              </a:rPr>
              <a:t>, </a:t>
            </a:r>
            <a:r>
              <a:rPr lang="en-US" sz="2500" dirty="0" err="1">
                <a:solidFill>
                  <a:prstClr val="black"/>
                </a:solidFill>
              </a:rPr>
              <a:t>LastName</a:t>
            </a:r>
            <a:r>
              <a:rPr lang="en-US" sz="2500" dirty="0">
                <a:solidFill>
                  <a:prstClr val="black"/>
                </a:solidFill>
              </a:rPr>
              <a:t>, Address, Zip)</a:t>
            </a:r>
          </a:p>
          <a:p>
            <a:pPr algn="ctr"/>
            <a:r>
              <a:rPr lang="en-US" sz="2500" dirty="0">
                <a:solidFill>
                  <a:prstClr val="black"/>
                </a:solidFill>
              </a:rPr>
              <a:t>     Zip foreign key to ZIPCODE</a:t>
            </a:r>
          </a:p>
          <a:p>
            <a:pPr algn="ctr"/>
            <a:endParaRPr lang="en-US" sz="2500" dirty="0">
              <a:solidFill>
                <a:prstClr val="black"/>
              </a:solidFill>
            </a:endParaRPr>
          </a:p>
          <a:p>
            <a:pPr algn="just"/>
            <a:r>
              <a:rPr lang="en-US" sz="2300" dirty="0">
                <a:solidFill>
                  <a:prstClr val="black"/>
                </a:solidFill>
              </a:rPr>
              <a:t>There is a one-to-many relationships between PERSON and ZIPCODE:</a:t>
            </a:r>
          </a:p>
          <a:p>
            <a:r>
              <a:rPr lang="en-US" sz="2500" dirty="0">
                <a:solidFill>
                  <a:prstClr val="black"/>
                </a:solidFill>
              </a:rPr>
              <a:t> </a:t>
            </a:r>
          </a:p>
          <a:p>
            <a:r>
              <a:rPr lang="en-US" sz="2400" dirty="0">
                <a:solidFill>
                  <a:prstClr val="black"/>
                </a:solidFill>
              </a:rPr>
              <a:t>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>
                <a:solidFill>
                  <a:srgbClr val="50B4C8">
                    <a:alpha val="20000"/>
                  </a:srgbClr>
                </a:solidFill>
              </a:rPr>
              <a:pPr/>
              <a:t>3</a:t>
            </a:fld>
            <a:endParaRPr lang="en-US" dirty="0">
              <a:solidFill>
                <a:srgbClr val="50B4C8">
                  <a:alpha val="20000"/>
                </a:srgb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665317" y="5851327"/>
            <a:ext cx="5023413" cy="595353"/>
            <a:chOff x="362027" y="2179306"/>
            <a:chExt cx="10401684" cy="1152650"/>
          </a:xfrm>
        </p:grpSpPr>
        <p:sp>
          <p:nvSpPr>
            <p:cNvPr id="6" name="Rectangle 5"/>
            <p:cNvSpPr/>
            <p:nvPr/>
          </p:nvSpPr>
          <p:spPr>
            <a:xfrm>
              <a:off x="362027" y="2315183"/>
              <a:ext cx="2867558" cy="9727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899567" y="2301931"/>
              <a:ext cx="2864144" cy="9727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1534" y="2616900"/>
              <a:ext cx="2303770" cy="7150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ZIPCODE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03847" y="2584175"/>
              <a:ext cx="2423596" cy="7150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PERSON</a:t>
              </a:r>
            </a:p>
          </p:txBody>
        </p:sp>
        <p:sp>
          <p:nvSpPr>
            <p:cNvPr id="11" name="Diamond 10"/>
            <p:cNvSpPr/>
            <p:nvPr/>
          </p:nvSpPr>
          <p:spPr>
            <a:xfrm>
              <a:off x="5291355" y="2492720"/>
              <a:ext cx="566106" cy="57874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stCxn id="6" idx="3"/>
              <a:endCxn id="11" idx="1"/>
            </p:cNvCxnSpPr>
            <p:nvPr/>
          </p:nvCxnSpPr>
          <p:spPr>
            <a:xfrm flipV="1">
              <a:off x="3229585" y="2782092"/>
              <a:ext cx="2061770" cy="194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endCxn id="7" idx="1"/>
            </p:cNvCxnSpPr>
            <p:nvPr/>
          </p:nvCxnSpPr>
          <p:spPr>
            <a:xfrm>
              <a:off x="5837796" y="2788314"/>
              <a:ext cx="206177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213448" y="2179306"/>
              <a:ext cx="680444" cy="7150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21975" y="2246813"/>
              <a:ext cx="697257" cy="7150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64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19" y="499533"/>
            <a:ext cx="8242834" cy="1658198"/>
          </a:xfrm>
        </p:spPr>
        <p:txBody>
          <a:bodyPr/>
          <a:lstStyle/>
          <a:p>
            <a:r>
              <a:rPr lang="en-US" dirty="0"/>
              <a:t>Going back to the Personnel database…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206" y="2417276"/>
            <a:ext cx="8065294" cy="334230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Modify the database design, now assuming you want to use a zip code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>
                <a:solidFill>
                  <a:srgbClr val="50B4C8">
                    <a:alpha val="20000"/>
                  </a:srgbClr>
                </a:solidFill>
              </a:rPr>
              <a:pPr/>
              <a:t>4</a:t>
            </a:fld>
            <a:endParaRPr lang="en-US">
              <a:solidFill>
                <a:srgbClr val="50B4C8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617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Widescreen</PresentationFormat>
  <Paragraphs>37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The Zip Code table</vt:lpstr>
      <vt:lpstr>Zip Codes</vt:lpstr>
      <vt:lpstr>Zip Codes</vt:lpstr>
      <vt:lpstr>Going back to the Personnel database…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Zip Code table</dc:title>
  <dc:creator>Disha Parkhi</dc:creator>
  <cp:lastModifiedBy>Disha Parkhi</cp:lastModifiedBy>
  <cp:revision>1</cp:revision>
  <dcterms:created xsi:type="dcterms:W3CDTF">2020-08-22T20:54:45Z</dcterms:created>
  <dcterms:modified xsi:type="dcterms:W3CDTF">2020-08-22T20:55:19Z</dcterms:modified>
</cp:coreProperties>
</file>