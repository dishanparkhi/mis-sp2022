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63" r:id="rId4"/>
    <p:sldId id="264" r:id="rId5"/>
    <p:sldId id="265" r:id="rId6"/>
    <p:sldId id="259" r:id="rId7"/>
    <p:sldId id="260" r:id="rId8"/>
    <p:sldId id="261" r:id="rId9"/>
    <p:sldId id="262" r:id="rId10"/>
    <p:sldId id="271" r:id="rId11"/>
    <p:sldId id="270" r:id="rId12"/>
    <p:sldId id="272" r:id="rId13"/>
    <p:sldId id="273" r:id="rId14"/>
    <p:sldId id="266" r:id="rId15"/>
    <p:sldId id="26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457C2F-4742-44D1-9870-B672107D0DAD}" type="datetimeFigureOut">
              <a:rPr lang="en-US" smtClean="0"/>
              <a:t>8/22/2020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7A2FB-AFE9-4048-BCF1-5B9C373C3E44}" type="slidenum">
              <a:rPr lang="en-US" smtClean="0"/>
              <a:t>‹#›</a:t>
            </a:fld>
            <a:endParaRPr lang="en-US"/>
          </a:p>
        </p:txBody>
      </p:sp>
    </p:spTree>
    <p:extLst>
      <p:ext uri="{BB962C8B-B14F-4D97-AF65-F5344CB8AC3E}">
        <p14:creationId xmlns:p14="http://schemas.microsoft.com/office/powerpoint/2010/main" val="3023334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2</a:t>
            </a:fld>
            <a:endParaRPr lang="en-US"/>
          </a:p>
        </p:txBody>
      </p:sp>
    </p:spTree>
    <p:extLst>
      <p:ext uri="{BB962C8B-B14F-4D97-AF65-F5344CB8AC3E}">
        <p14:creationId xmlns:p14="http://schemas.microsoft.com/office/powerpoint/2010/main" val="2176486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6</a:t>
            </a:fld>
            <a:endParaRPr lang="en-US"/>
          </a:p>
        </p:txBody>
      </p:sp>
    </p:spTree>
    <p:extLst>
      <p:ext uri="{BB962C8B-B14F-4D97-AF65-F5344CB8AC3E}">
        <p14:creationId xmlns:p14="http://schemas.microsoft.com/office/powerpoint/2010/main" val="1097496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D1B7A-1FE9-42B4-9EBE-0BF08232F9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7EF5BC-B313-4F20-8D52-4F86E16D29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E39D49-BA12-4534-AF97-C20E7D33F42C}"/>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5" name="Footer Placeholder 4">
            <a:extLst>
              <a:ext uri="{FF2B5EF4-FFF2-40B4-BE49-F238E27FC236}">
                <a16:creationId xmlns:a16="http://schemas.microsoft.com/office/drawing/2014/main" id="{4CEA98DD-B636-4715-A1BC-25B6588BB0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FC6DB-8F6B-473F-8D89-1E475FDFE5E9}"/>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1764307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F1A57-8D2A-448F-9829-C2164C0E89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5D0C01-5A1C-40B1-9A02-724ED2CA4D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F40F1A-7910-4D57-A258-2B33D28BF1E1}"/>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5" name="Footer Placeholder 4">
            <a:extLst>
              <a:ext uri="{FF2B5EF4-FFF2-40B4-BE49-F238E27FC236}">
                <a16:creationId xmlns:a16="http://schemas.microsoft.com/office/drawing/2014/main" id="{B4EA2ED2-9D6A-4E71-A9CA-307BF58F8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CB1193-F6E1-41C0-9B44-C14D2D266F4D}"/>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3572671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40DF7-F549-451B-A5B8-97B8150E5E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B87FC1-DD70-42F1-93D8-61BB605E99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DDBF6E-ECC1-4AFD-BEC0-2678BFB347EE}"/>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5" name="Footer Placeholder 4">
            <a:extLst>
              <a:ext uri="{FF2B5EF4-FFF2-40B4-BE49-F238E27FC236}">
                <a16:creationId xmlns:a16="http://schemas.microsoft.com/office/drawing/2014/main" id="{48C5C0D9-7677-4CEA-B8BC-942E3FDB2F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504189-667F-4AD0-B5E7-08DD00EF9AEA}"/>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3491587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A50E7-9DA0-433B-A886-6EF27EB94B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2D19C1-8BBC-4639-948C-09D11624CD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AFC993-A3D6-46B1-BC86-D16B4CB986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D3DA1F-7A90-4D01-A86B-C91ECFF234F1}"/>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6" name="Footer Placeholder 5">
            <a:extLst>
              <a:ext uri="{FF2B5EF4-FFF2-40B4-BE49-F238E27FC236}">
                <a16:creationId xmlns:a16="http://schemas.microsoft.com/office/drawing/2014/main" id="{9B0669B7-5C97-4B51-AD87-6AF17CF322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60BAEB-8F58-4673-9796-C188B91E3A9F}"/>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2863971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2B1C1-C6FE-4A10-91AA-E693842457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DCCCB1-CE72-4D21-BF0C-D0404B19CE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434366-C0FF-4536-A806-5982D93B3B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BE30A-5FEB-4431-BBFD-C2154B094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0047D8-B6A8-4AF9-A7FC-10D110EE7F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B950A7-DDFE-40AE-B614-1D278E482A9C}"/>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8" name="Footer Placeholder 7">
            <a:extLst>
              <a:ext uri="{FF2B5EF4-FFF2-40B4-BE49-F238E27FC236}">
                <a16:creationId xmlns:a16="http://schemas.microsoft.com/office/drawing/2014/main" id="{0457C0AF-1AD4-43D9-8AE6-6C8897F4E2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E5B53D-4427-4F7C-AAE8-F801A87A30F2}"/>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3099186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6B709-33D5-4589-8F17-54B8AEA0D7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F45B1F-58DE-448C-B456-16A3C0F941D0}"/>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4" name="Footer Placeholder 3">
            <a:extLst>
              <a:ext uri="{FF2B5EF4-FFF2-40B4-BE49-F238E27FC236}">
                <a16:creationId xmlns:a16="http://schemas.microsoft.com/office/drawing/2014/main" id="{BB942EEE-447D-4E00-B358-EE66E424BA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991CDD-0CDF-4B2A-AF58-F13E49307A33}"/>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391572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E6E7DC-36A1-4681-9F3D-ADDBB41D8AF1}"/>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3" name="Footer Placeholder 2">
            <a:extLst>
              <a:ext uri="{FF2B5EF4-FFF2-40B4-BE49-F238E27FC236}">
                <a16:creationId xmlns:a16="http://schemas.microsoft.com/office/drawing/2014/main" id="{873DB3D2-A89C-4D39-A3F2-8DFD1599AE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863F3B-287F-49E0-A808-D64DE0B64750}"/>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1611951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B5F3A-5D08-4546-983A-BA5F75E16E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BCCCDB-3FDB-46F5-BA93-C20219E875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570C92-6E08-4967-88B7-D2C3A05C31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892B3-D83F-482C-936E-F5674EAD7572}"/>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6" name="Footer Placeholder 5">
            <a:extLst>
              <a:ext uri="{FF2B5EF4-FFF2-40B4-BE49-F238E27FC236}">
                <a16:creationId xmlns:a16="http://schemas.microsoft.com/office/drawing/2014/main" id="{4A77B7AD-D53B-4F00-857B-BBE0A1686F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7A4C00-3A89-40B0-9A8B-3D1ED5200FC8}"/>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2977994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7881A-3361-4C0E-A0A4-C7CFA9CA3C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0EFCA0-25D3-4037-AFA0-17A5980D3B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1FCCEE-AED5-4278-B36F-1CECDBFCB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E1C05-34B6-48FF-BF7D-2A207B80DEC8}"/>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6" name="Footer Placeholder 5">
            <a:extLst>
              <a:ext uri="{FF2B5EF4-FFF2-40B4-BE49-F238E27FC236}">
                <a16:creationId xmlns:a16="http://schemas.microsoft.com/office/drawing/2014/main" id="{17884222-40EF-4227-8DE4-80776709A4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3E8D92-88D3-4F02-B25A-A5801057D277}"/>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1988976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16E24-B354-448A-9ED3-0272ADA1D8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D833B6-1A88-4772-B231-93B9931224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ADB146-62FB-4CDE-A0BA-91401A8514BE}"/>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5" name="Footer Placeholder 4">
            <a:extLst>
              <a:ext uri="{FF2B5EF4-FFF2-40B4-BE49-F238E27FC236}">
                <a16:creationId xmlns:a16="http://schemas.microsoft.com/office/drawing/2014/main" id="{591A8AC2-5576-45FA-AEE6-92137CD7E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A640F-B750-4F2B-966E-AF989656B5B5}"/>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1916065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7CF4E3-1AFB-4D79-B09B-DB4CAA2ACF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1C88BD-C753-461E-AAF3-8AAFFD4861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5E7A4-6007-4991-91D1-32A88A8BF9CA}"/>
              </a:ext>
            </a:extLst>
          </p:cNvPr>
          <p:cNvSpPr>
            <a:spLocks noGrp="1"/>
          </p:cNvSpPr>
          <p:nvPr>
            <p:ph type="dt" sz="half" idx="10"/>
          </p:nvPr>
        </p:nvSpPr>
        <p:spPr/>
        <p:txBody>
          <a:bodyPr/>
          <a:lstStyle/>
          <a:p>
            <a:fld id="{85A2B488-CEB7-4DCB-A307-DC3D5E9B98CF}" type="datetimeFigureOut">
              <a:rPr lang="en-US" smtClean="0"/>
              <a:t>8/22/2020</a:t>
            </a:fld>
            <a:endParaRPr lang="en-US"/>
          </a:p>
        </p:txBody>
      </p:sp>
      <p:sp>
        <p:nvSpPr>
          <p:cNvPr id="5" name="Footer Placeholder 4">
            <a:extLst>
              <a:ext uri="{FF2B5EF4-FFF2-40B4-BE49-F238E27FC236}">
                <a16:creationId xmlns:a16="http://schemas.microsoft.com/office/drawing/2014/main" id="{381D59F2-BFC5-436F-8A8B-71C0E6226A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32DAD-BD32-419E-B82A-598DFC817FC9}"/>
              </a:ext>
            </a:extLst>
          </p:cNvPr>
          <p:cNvSpPr>
            <a:spLocks noGrp="1"/>
          </p:cNvSpPr>
          <p:nvPr>
            <p:ph type="sldNum" sz="quarter" idx="12"/>
          </p:nvPr>
        </p:nvSpPr>
        <p:spPr/>
        <p:txBody>
          <a:bodyPr/>
          <a:lstStyle/>
          <a:p>
            <a:fld id="{EEE0F55C-4B73-4208-A042-88B4AC7DDEE2}" type="slidenum">
              <a:rPr lang="en-US" smtClean="0"/>
              <a:t>‹#›</a:t>
            </a:fld>
            <a:endParaRPr lang="en-US"/>
          </a:p>
        </p:txBody>
      </p:sp>
    </p:spTree>
    <p:extLst>
      <p:ext uri="{BB962C8B-B14F-4D97-AF65-F5344CB8AC3E}">
        <p14:creationId xmlns:p14="http://schemas.microsoft.com/office/powerpoint/2010/main" val="3048518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502A6-4C80-4FD1-8770-CD73A2135D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66EACA-26C6-465D-91AB-CAFFA1070E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3BCBDB-B82C-4E72-84ED-1382109DE0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A2B488-CEB7-4DCB-A307-DC3D5E9B98CF}" type="datetimeFigureOut">
              <a:rPr lang="en-US" smtClean="0"/>
              <a:t>8/22/2020</a:t>
            </a:fld>
            <a:endParaRPr lang="en-US"/>
          </a:p>
        </p:txBody>
      </p:sp>
      <p:sp>
        <p:nvSpPr>
          <p:cNvPr id="5" name="Footer Placeholder 4">
            <a:extLst>
              <a:ext uri="{FF2B5EF4-FFF2-40B4-BE49-F238E27FC236}">
                <a16:creationId xmlns:a16="http://schemas.microsoft.com/office/drawing/2014/main" id="{EC56F7C3-C178-4F3D-A2C4-35B05E7EA8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2A3CF7-A24F-47BB-9B5E-FBD103A755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E0F55C-4B73-4208-A042-88B4AC7DDEE2}" type="slidenum">
              <a:rPr lang="en-US" smtClean="0"/>
              <a:t>‹#›</a:t>
            </a:fld>
            <a:endParaRPr lang="en-US"/>
          </a:p>
        </p:txBody>
      </p:sp>
    </p:spTree>
    <p:extLst>
      <p:ext uri="{BB962C8B-B14F-4D97-AF65-F5344CB8AC3E}">
        <p14:creationId xmlns:p14="http://schemas.microsoft.com/office/powerpoint/2010/main" val="6374584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support.office.com/en-US/article/Set-the-field-size-BA65E5A7-2E6F-4737-8E72-36B93F966A33" TargetMode="External"/><Relationship Id="rId2" Type="http://schemas.openxmlformats.org/officeDocument/2006/relationships/hyperlink" Target="https://support.office.com/en-US/article/Field-properties-quick-reference-2D1ED3B6-C332-4F66-9CB3-BE4690BF06C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 to Access:</a:t>
            </a:r>
            <a:br>
              <a:rPr lang="en-US" dirty="0"/>
            </a:br>
            <a:r>
              <a:rPr lang="en-US" dirty="0"/>
              <a:t>tables</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p>
          <a:p>
            <a:r>
              <a:rPr lang="en-US" b="1" dirty="0"/>
              <a:t>Management Information Systems</a:t>
            </a:r>
          </a:p>
          <a:p>
            <a:r>
              <a:rPr lang="en-US" sz="2000"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6" y="229078"/>
            <a:ext cx="8079581" cy="1213357"/>
          </a:xfrm>
        </p:spPr>
        <p:txBody>
          <a:bodyPr/>
          <a:lstStyle/>
          <a:p>
            <a:r>
              <a:rPr lang="en-US" dirty="0"/>
              <a:t>Outline</a:t>
            </a:r>
          </a:p>
        </p:txBody>
      </p:sp>
      <p:sp>
        <p:nvSpPr>
          <p:cNvPr id="3" name="Rectangle 5"/>
          <p:cNvSpPr>
            <a:spLocks noChangeArrowheads="1"/>
          </p:cNvSpPr>
          <p:nvPr/>
        </p:nvSpPr>
        <p:spPr bwMode="auto">
          <a:xfrm>
            <a:off x="2076554" y="1863331"/>
            <a:ext cx="4354265" cy="1958101"/>
          </a:xfrm>
          <a:prstGeom prst="rect">
            <a:avLst/>
          </a:prstGeom>
          <a:noFill/>
          <a:ln w="9525">
            <a:noFill/>
            <a:miter lim="800000"/>
            <a:headEnd/>
            <a:tailEnd/>
          </a:ln>
          <a:effectLst/>
        </p:spPr>
        <p:txBody>
          <a:bodyPr wrap="square" lIns="92075" tIns="46038" rIns="92075" bIns="46038">
            <a:spAutoFit/>
          </a:bodyPr>
          <a:lstStyle/>
          <a:p>
            <a:pPr marL="457200" indent="-457200">
              <a:spcBef>
                <a:spcPct val="25000"/>
              </a:spcBef>
              <a:spcAft>
                <a:spcPct val="10000"/>
              </a:spcAft>
              <a:buFont typeface="Wingdings" panose="05000000000000000000" pitchFamily="2" charset="2"/>
              <a:buChar char="§"/>
              <a:defRPr/>
            </a:pPr>
            <a:r>
              <a:rPr lang="en-US" sz="2400" dirty="0">
                <a:latin typeface="+mj-lt"/>
              </a:rPr>
              <a:t>Introduction to MS Access</a:t>
            </a:r>
          </a:p>
          <a:p>
            <a:pPr marL="457200" indent="-457200">
              <a:spcBef>
                <a:spcPct val="25000"/>
              </a:spcBef>
              <a:spcAft>
                <a:spcPct val="10000"/>
              </a:spcAft>
              <a:buFont typeface="Wingdings" panose="05000000000000000000" pitchFamily="2" charset="2"/>
              <a:buChar char="§"/>
              <a:defRPr/>
            </a:pPr>
            <a:r>
              <a:rPr lang="en-US" sz="2400" dirty="0">
                <a:latin typeface="+mj-lt"/>
              </a:rPr>
              <a:t>Creating a table</a:t>
            </a:r>
          </a:p>
          <a:p>
            <a:pPr marL="457200" indent="-457200">
              <a:spcBef>
                <a:spcPct val="25000"/>
              </a:spcBef>
              <a:spcAft>
                <a:spcPct val="10000"/>
              </a:spcAft>
              <a:buFont typeface="Wingdings" panose="05000000000000000000" pitchFamily="2" charset="2"/>
              <a:buChar char="§"/>
              <a:defRPr/>
            </a:pPr>
            <a:endParaRPr lang="en-US" sz="2400" dirty="0">
              <a:latin typeface="+mj-lt"/>
            </a:endParaRPr>
          </a:p>
          <a:p>
            <a:pPr marL="457200" indent="-457200">
              <a:spcBef>
                <a:spcPct val="25000"/>
              </a:spcBef>
              <a:spcAft>
                <a:spcPct val="10000"/>
              </a:spcAft>
              <a:buFont typeface="Wingdings" panose="05000000000000000000" pitchFamily="2" charset="2"/>
              <a:buChar char="§"/>
              <a:defRPr/>
            </a:pPr>
            <a:endParaRPr lang="en-US" sz="2400" dirty="0">
              <a:latin typeface="+mj-lt"/>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2</a:t>
            </a:fld>
            <a:endParaRPr lang="en-US"/>
          </a:p>
        </p:txBody>
      </p:sp>
      <p:sp>
        <p:nvSpPr>
          <p:cNvPr id="6" name="Content Placeholder 8"/>
          <p:cNvSpPr txBox="1">
            <a:spLocks/>
          </p:cNvSpPr>
          <p:nvPr/>
        </p:nvSpPr>
        <p:spPr>
          <a:xfrm>
            <a:off x="6961909" y="1993392"/>
            <a:ext cx="3126018" cy="1826768"/>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marL="0" indent="0">
              <a:lnSpc>
                <a:spcPct val="100000"/>
              </a:lnSpc>
              <a:buNone/>
            </a:pPr>
            <a:r>
              <a:rPr lang="en-US" i="1" dirty="0"/>
              <a:t>Chapter 2: 7-15</a:t>
            </a:r>
          </a:p>
          <a:p>
            <a:pPr marL="0" indent="0">
              <a:lnSpc>
                <a:spcPct val="100000"/>
              </a:lnSpc>
              <a:buNone/>
            </a:pPr>
            <a:endParaRPr lang="en-US" dirty="0"/>
          </a:p>
        </p:txBody>
      </p:sp>
    </p:spTree>
    <p:extLst>
      <p:ext uri="{BB962C8B-B14F-4D97-AF65-F5344CB8AC3E}">
        <p14:creationId xmlns:p14="http://schemas.microsoft.com/office/powerpoint/2010/main" val="107293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dirty="0"/>
              <a:t>Intro to MS Access</a:t>
            </a:r>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
        <p:nvSpPr>
          <p:cNvPr id="5" name="Text Placeholder 2"/>
          <p:cNvSpPr>
            <a:spLocks noGrp="1"/>
          </p:cNvSpPr>
          <p:nvPr>
            <p:ph type="body" idx="1"/>
          </p:nvPr>
        </p:nvSpPr>
        <p:spPr>
          <a:xfrm>
            <a:off x="2171687" y="4307591"/>
            <a:ext cx="6919722" cy="1645920"/>
          </a:xfrm>
        </p:spPr>
        <p:txBody>
          <a:bodyPr/>
          <a:lstStyle/>
          <a:p>
            <a:r>
              <a:rPr lang="en-US" i="1" dirty="0" err="1"/>
              <a:t>students.accdb</a:t>
            </a:r>
            <a:endParaRPr lang="en-US" i="1" dirty="0"/>
          </a:p>
        </p:txBody>
      </p:sp>
    </p:spTree>
    <p:extLst>
      <p:ext uri="{BB962C8B-B14F-4D97-AF65-F5344CB8AC3E}">
        <p14:creationId xmlns:p14="http://schemas.microsoft.com/office/powerpoint/2010/main" val="3254023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lstStyle/>
          <a:p>
            <a:r>
              <a:rPr lang="en-US" dirty="0"/>
              <a:t>Database objects</a:t>
            </a:r>
          </a:p>
        </p:txBody>
      </p:sp>
      <p:sp>
        <p:nvSpPr>
          <p:cNvPr id="6" name="Oval 5"/>
          <p:cNvSpPr/>
          <p:nvPr/>
        </p:nvSpPr>
        <p:spPr>
          <a:xfrm>
            <a:off x="2151797" y="1384664"/>
            <a:ext cx="7779224" cy="4798423"/>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042215" y="1518861"/>
            <a:ext cx="2442949" cy="584775"/>
          </a:xfrm>
          <a:prstGeom prst="rect">
            <a:avLst/>
          </a:prstGeom>
          <a:noFill/>
        </p:spPr>
        <p:txBody>
          <a:bodyPr wrap="square" rtlCol="0">
            <a:spAutoFit/>
          </a:bodyPr>
          <a:lstStyle/>
          <a:p>
            <a:r>
              <a:rPr lang="en-US" sz="3200" dirty="0"/>
              <a:t>.</a:t>
            </a:r>
            <a:r>
              <a:rPr lang="en-US" sz="3200" dirty="0" err="1"/>
              <a:t>accdb</a:t>
            </a:r>
            <a:r>
              <a:rPr lang="en-US" sz="3200" dirty="0"/>
              <a:t> file</a:t>
            </a:r>
          </a:p>
        </p:txBody>
      </p:sp>
      <p:sp>
        <p:nvSpPr>
          <p:cNvPr id="9" name="TextBox 8"/>
          <p:cNvSpPr txBox="1"/>
          <p:nvPr/>
        </p:nvSpPr>
        <p:spPr>
          <a:xfrm>
            <a:off x="3899430" y="3235162"/>
            <a:ext cx="1000315"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Table1</a:t>
            </a:r>
          </a:p>
        </p:txBody>
      </p:sp>
      <p:sp>
        <p:nvSpPr>
          <p:cNvPr id="10" name="TextBox 9"/>
          <p:cNvSpPr txBox="1"/>
          <p:nvPr/>
        </p:nvSpPr>
        <p:spPr>
          <a:xfrm>
            <a:off x="4899744" y="4567294"/>
            <a:ext cx="1039502"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Form1</a:t>
            </a:r>
          </a:p>
        </p:txBody>
      </p:sp>
      <p:sp>
        <p:nvSpPr>
          <p:cNvPr id="11" name="TextBox 10"/>
          <p:cNvSpPr txBox="1"/>
          <p:nvPr/>
        </p:nvSpPr>
        <p:spPr>
          <a:xfrm>
            <a:off x="6177886" y="3145809"/>
            <a:ext cx="1160060"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Query1</a:t>
            </a:r>
          </a:p>
        </p:txBody>
      </p:sp>
      <p:sp>
        <p:nvSpPr>
          <p:cNvPr id="12" name="TextBox 11"/>
          <p:cNvSpPr txBox="1"/>
          <p:nvPr/>
        </p:nvSpPr>
        <p:spPr>
          <a:xfrm>
            <a:off x="7249237" y="4214653"/>
            <a:ext cx="1050032"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Report</a:t>
            </a:r>
          </a:p>
        </p:txBody>
      </p:sp>
      <p:sp>
        <p:nvSpPr>
          <p:cNvPr id="3" name="Slide Number Placeholder 2"/>
          <p:cNvSpPr>
            <a:spLocks noGrp="1"/>
          </p:cNvSpPr>
          <p:nvPr>
            <p:ph type="sldNum" sz="quarter" idx="12"/>
          </p:nvPr>
        </p:nvSpPr>
        <p:spPr/>
        <p:txBody>
          <a:bodyPr/>
          <a:lstStyle/>
          <a:p>
            <a:fld id="{87F3E754-1C97-4481-A18C-9D97ADBDF344}" type="slidenum">
              <a:rPr lang="en-US" smtClean="0"/>
              <a:t>4</a:t>
            </a:fld>
            <a:endParaRPr lang="en-US" dirty="0"/>
          </a:p>
        </p:txBody>
      </p:sp>
      <p:sp>
        <p:nvSpPr>
          <p:cNvPr id="14" name="TextBox 13"/>
          <p:cNvSpPr txBox="1"/>
          <p:nvPr/>
        </p:nvSpPr>
        <p:spPr>
          <a:xfrm>
            <a:off x="3200046" y="3826116"/>
            <a:ext cx="1000315"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Table2</a:t>
            </a:r>
          </a:p>
        </p:txBody>
      </p:sp>
      <p:sp>
        <p:nvSpPr>
          <p:cNvPr id="15" name="TextBox 14"/>
          <p:cNvSpPr txBox="1"/>
          <p:nvPr/>
        </p:nvSpPr>
        <p:spPr>
          <a:xfrm>
            <a:off x="3700203" y="2374558"/>
            <a:ext cx="1000315"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Table3</a:t>
            </a:r>
          </a:p>
        </p:txBody>
      </p:sp>
      <p:sp>
        <p:nvSpPr>
          <p:cNvPr id="16" name="TextBox 15"/>
          <p:cNvSpPr txBox="1"/>
          <p:nvPr/>
        </p:nvSpPr>
        <p:spPr>
          <a:xfrm>
            <a:off x="7485163" y="2590284"/>
            <a:ext cx="1160060"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Query2</a:t>
            </a:r>
          </a:p>
        </p:txBody>
      </p:sp>
      <p:sp>
        <p:nvSpPr>
          <p:cNvPr id="17" name="TextBox 16"/>
          <p:cNvSpPr txBox="1"/>
          <p:nvPr/>
        </p:nvSpPr>
        <p:spPr>
          <a:xfrm>
            <a:off x="5384661" y="5253431"/>
            <a:ext cx="1039502"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Form2</a:t>
            </a:r>
          </a:p>
        </p:txBody>
      </p:sp>
    </p:spTree>
    <p:extLst>
      <p:ext uri="{BB962C8B-B14F-4D97-AF65-F5344CB8AC3E}">
        <p14:creationId xmlns:p14="http://schemas.microsoft.com/office/powerpoint/2010/main" val="1313283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dirty="0"/>
              <a:t>Creating a table</a:t>
            </a:r>
          </a:p>
        </p:txBody>
      </p:sp>
      <p:sp>
        <p:nvSpPr>
          <p:cNvPr id="4" name="Slide Number Placeholder 3"/>
          <p:cNvSpPr>
            <a:spLocks noGrp="1"/>
          </p:cNvSpPr>
          <p:nvPr>
            <p:ph type="sldNum" sz="quarter" idx="12"/>
          </p:nvPr>
        </p:nvSpPr>
        <p:spPr/>
        <p:txBody>
          <a:bodyPr/>
          <a:lstStyle/>
          <a:p>
            <a:fld id="{87F3E754-1C97-4481-A18C-9D97ADBDF344}" type="slidenum">
              <a:rPr lang="en-US" smtClean="0"/>
              <a:t>5</a:t>
            </a:fld>
            <a:endParaRPr lang="en-US"/>
          </a:p>
        </p:txBody>
      </p:sp>
      <p:sp>
        <p:nvSpPr>
          <p:cNvPr id="5" name="Text Placeholder 2"/>
          <p:cNvSpPr>
            <a:spLocks noGrp="1"/>
          </p:cNvSpPr>
          <p:nvPr>
            <p:ph type="body" idx="1"/>
          </p:nvPr>
        </p:nvSpPr>
        <p:spPr>
          <a:xfrm>
            <a:off x="2171687" y="4307591"/>
            <a:ext cx="6919722" cy="1645920"/>
          </a:xfrm>
        </p:spPr>
        <p:txBody>
          <a:bodyPr/>
          <a:lstStyle/>
          <a:p>
            <a:r>
              <a:rPr lang="en-US" i="1" dirty="0" err="1"/>
              <a:t>FirstDB.accdb</a:t>
            </a:r>
            <a:endParaRPr lang="en-US" i="1" dirty="0"/>
          </a:p>
        </p:txBody>
      </p:sp>
    </p:spTree>
    <p:extLst>
      <p:ext uri="{BB962C8B-B14F-4D97-AF65-F5344CB8AC3E}">
        <p14:creationId xmlns:p14="http://schemas.microsoft.com/office/powerpoint/2010/main" val="4117432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normAutofit/>
          </a:bodyPr>
          <a:lstStyle/>
          <a:p>
            <a:r>
              <a:rPr lang="en-US" sz="5400" dirty="0"/>
              <a:t>Create the students table</a:t>
            </a:r>
          </a:p>
        </p:txBody>
      </p:sp>
      <p:sp>
        <p:nvSpPr>
          <p:cNvPr id="8" name="Rectangle 5"/>
          <p:cNvSpPr>
            <a:spLocks noChangeArrowheads="1"/>
          </p:cNvSpPr>
          <p:nvPr/>
        </p:nvSpPr>
        <p:spPr bwMode="auto">
          <a:xfrm>
            <a:off x="2041719" y="1375650"/>
            <a:ext cx="8435212" cy="4524958"/>
          </a:xfrm>
          <a:prstGeom prst="rect">
            <a:avLst/>
          </a:prstGeom>
          <a:noFill/>
          <a:ln w="9525">
            <a:noFill/>
            <a:miter lim="800000"/>
            <a:headEnd/>
            <a:tailEnd/>
          </a:ln>
          <a:effectLst/>
        </p:spPr>
        <p:txBody>
          <a:bodyPr wrap="square" lIns="92075" tIns="46038" rIns="92075" bIns="46038">
            <a:spAutoFit/>
          </a:bodyPr>
          <a:lstStyle/>
          <a:p>
            <a:r>
              <a:rPr lang="en-US" sz="2400" dirty="0"/>
              <a:t>We want to track the following information about each student at a small college: </a:t>
            </a:r>
          </a:p>
          <a:p>
            <a:pPr marL="342900" indent="-342900">
              <a:buFont typeface="Arial" panose="020B0604020202020204" pitchFamily="34" charset="0"/>
              <a:buChar char="•"/>
            </a:pPr>
            <a:r>
              <a:rPr lang="en-US" sz="2400" dirty="0"/>
              <a:t>ID number (9 digits of the type 000-00-0000)</a:t>
            </a:r>
          </a:p>
          <a:p>
            <a:pPr marL="342900" indent="-342900">
              <a:buFont typeface="Arial" panose="020B0604020202020204" pitchFamily="34" charset="0"/>
              <a:buChar char="•"/>
            </a:pPr>
            <a:r>
              <a:rPr lang="en-US" sz="2400" dirty="0"/>
              <a:t>Name (First and Last)</a:t>
            </a:r>
          </a:p>
          <a:p>
            <a:pPr marL="342900" indent="-342900">
              <a:buFont typeface="Arial" panose="020B0604020202020204" pitchFamily="34" charset="0"/>
              <a:buChar char="•"/>
            </a:pPr>
            <a:r>
              <a:rPr lang="en-US" sz="2400" dirty="0"/>
              <a:t>Address, consisting of street address, city, state, and zip code</a:t>
            </a:r>
          </a:p>
          <a:p>
            <a:pPr marL="342900" indent="-342900">
              <a:buFont typeface="Arial" panose="020B0604020202020204" pitchFamily="34" charset="0"/>
              <a:buChar char="•"/>
            </a:pPr>
            <a:r>
              <a:rPr lang="en-US" sz="2400" dirty="0"/>
              <a:t>Major</a:t>
            </a:r>
          </a:p>
          <a:p>
            <a:pPr marL="342900" indent="-342900">
              <a:buFont typeface="Arial" panose="020B0604020202020204" pitchFamily="34" charset="0"/>
              <a:buChar char="•"/>
            </a:pPr>
            <a:r>
              <a:rPr lang="en-US" sz="2400" dirty="0"/>
              <a:t>Gender</a:t>
            </a:r>
          </a:p>
          <a:p>
            <a:pPr marL="342900" indent="-342900">
              <a:buFont typeface="Arial" panose="020B0604020202020204" pitchFamily="34" charset="0"/>
              <a:buChar char="•"/>
            </a:pPr>
            <a:r>
              <a:rPr lang="en-US" sz="2400" dirty="0"/>
              <a:t>Birth date </a:t>
            </a:r>
          </a:p>
          <a:p>
            <a:pPr marL="342900" indent="-342900">
              <a:buFont typeface="Arial" panose="020B0604020202020204" pitchFamily="34" charset="0"/>
              <a:buChar char="•"/>
            </a:pPr>
            <a:r>
              <a:rPr lang="en-US" sz="2400" dirty="0"/>
              <a:t>Whether or not the student is on financial aid (yes/no)</a:t>
            </a:r>
          </a:p>
          <a:p>
            <a:pPr marL="342900" indent="-342900">
              <a:buFont typeface="Arial" panose="020B0604020202020204" pitchFamily="34" charset="0"/>
              <a:buChar char="•"/>
            </a:pPr>
            <a:r>
              <a:rPr lang="en-US" sz="2400" dirty="0"/>
              <a:t>Credits taken so far</a:t>
            </a:r>
          </a:p>
          <a:p>
            <a:pPr marL="342900" indent="-342900">
              <a:buFont typeface="Arial" panose="020B0604020202020204" pitchFamily="34" charset="0"/>
              <a:buChar char="•"/>
            </a:pPr>
            <a:r>
              <a:rPr lang="en-US" sz="2400" dirty="0"/>
              <a:t>Grade points amassed so far</a:t>
            </a:r>
          </a:p>
          <a:p>
            <a:r>
              <a:rPr lang="en-US" sz="2400" dirty="0"/>
              <a:t> </a:t>
            </a:r>
          </a:p>
        </p:txBody>
      </p:sp>
      <p:sp>
        <p:nvSpPr>
          <p:cNvPr id="3" name="Slide Number Placeholder 2"/>
          <p:cNvSpPr>
            <a:spLocks noGrp="1"/>
          </p:cNvSpPr>
          <p:nvPr>
            <p:ph type="sldNum" sz="quarter" idx="12"/>
          </p:nvPr>
        </p:nvSpPr>
        <p:spPr/>
        <p:txBody>
          <a:bodyPr/>
          <a:lstStyle/>
          <a:p>
            <a:fld id="{87F3E754-1C97-4481-A18C-9D97ADBDF344}" type="slidenum">
              <a:rPr lang="en-US" smtClean="0"/>
              <a:t>6</a:t>
            </a:fld>
            <a:endParaRPr lang="en-US"/>
          </a:p>
        </p:txBody>
      </p:sp>
    </p:spTree>
    <p:extLst>
      <p:ext uri="{BB962C8B-B14F-4D97-AF65-F5344CB8AC3E}">
        <p14:creationId xmlns:p14="http://schemas.microsoft.com/office/powerpoint/2010/main" val="1591897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lstStyle/>
          <a:p>
            <a:r>
              <a:rPr lang="en-US" dirty="0"/>
              <a:t>Table Design</a:t>
            </a:r>
          </a:p>
        </p:txBody>
      </p:sp>
      <p:sp>
        <p:nvSpPr>
          <p:cNvPr id="8" name="Rectangle 5"/>
          <p:cNvSpPr>
            <a:spLocks noChangeArrowheads="1"/>
          </p:cNvSpPr>
          <p:nvPr/>
        </p:nvSpPr>
        <p:spPr bwMode="auto">
          <a:xfrm>
            <a:off x="2041719" y="1375650"/>
            <a:ext cx="8435212" cy="585418"/>
          </a:xfrm>
          <a:prstGeom prst="rect">
            <a:avLst/>
          </a:prstGeom>
          <a:noFill/>
          <a:ln w="9525">
            <a:noFill/>
            <a:miter lim="800000"/>
            <a:headEnd/>
            <a:tailEnd/>
          </a:ln>
          <a:effectLst/>
        </p:spPr>
        <p:txBody>
          <a:bodyPr wrap="square" lIns="92075" tIns="46038" rIns="92075" bIns="46038">
            <a:spAutoFit/>
          </a:bodyPr>
          <a:lstStyle/>
          <a:p>
            <a:r>
              <a:rPr lang="en-US" sz="3200" i="1" dirty="0">
                <a:solidFill>
                  <a:schemeClr val="accent1">
                    <a:lumMod val="50000"/>
                  </a:schemeClr>
                </a:solidFill>
              </a:rPr>
              <a:t>What are the fields of the table?</a:t>
            </a:r>
          </a:p>
        </p:txBody>
      </p:sp>
      <p:sp>
        <p:nvSpPr>
          <p:cNvPr id="3" name="TextBox 2"/>
          <p:cNvSpPr txBox="1"/>
          <p:nvPr/>
        </p:nvSpPr>
        <p:spPr>
          <a:xfrm>
            <a:off x="2041720" y="2210632"/>
            <a:ext cx="8435211" cy="4131900"/>
          </a:xfrm>
          <a:prstGeom prst="rect">
            <a:avLst/>
          </a:prstGeom>
          <a:noFill/>
        </p:spPr>
        <p:txBody>
          <a:bodyPr wrap="square" numCol="2" rtlCol="0">
            <a:spAutoFit/>
          </a:bodyPr>
          <a:lstStyle/>
          <a:p>
            <a:pPr marL="342900" indent="-342900">
              <a:lnSpc>
                <a:spcPct val="150000"/>
              </a:lnSpc>
              <a:buFont typeface="Wingdings" panose="05000000000000000000" pitchFamily="2" charset="2"/>
              <a:buChar char="§"/>
            </a:pPr>
            <a:r>
              <a:rPr lang="en-US" sz="2500" dirty="0"/>
              <a:t>ID</a:t>
            </a:r>
          </a:p>
          <a:p>
            <a:pPr marL="342900" indent="-342900">
              <a:lnSpc>
                <a:spcPct val="150000"/>
              </a:lnSpc>
              <a:buFont typeface="Wingdings" panose="05000000000000000000" pitchFamily="2" charset="2"/>
              <a:buChar char="§"/>
            </a:pPr>
            <a:r>
              <a:rPr lang="en-US" sz="2500" dirty="0" err="1"/>
              <a:t>FirstName</a:t>
            </a:r>
            <a:endParaRPr lang="en-US" sz="2500" dirty="0"/>
          </a:p>
          <a:p>
            <a:pPr marL="342900" indent="-342900">
              <a:lnSpc>
                <a:spcPct val="150000"/>
              </a:lnSpc>
              <a:buFont typeface="Wingdings" panose="05000000000000000000" pitchFamily="2" charset="2"/>
              <a:buChar char="§"/>
            </a:pPr>
            <a:r>
              <a:rPr lang="en-US" sz="2500" dirty="0" err="1"/>
              <a:t>LastName</a:t>
            </a:r>
            <a:r>
              <a:rPr lang="en-US" sz="2500" dirty="0"/>
              <a:t> </a:t>
            </a:r>
          </a:p>
          <a:p>
            <a:pPr marL="342900" indent="-342900">
              <a:lnSpc>
                <a:spcPct val="150000"/>
              </a:lnSpc>
              <a:buFont typeface="Wingdings" panose="05000000000000000000" pitchFamily="2" charset="2"/>
              <a:buChar char="§"/>
            </a:pPr>
            <a:r>
              <a:rPr lang="en-US" sz="2500" dirty="0" err="1"/>
              <a:t>StreetAddress</a:t>
            </a:r>
            <a:endParaRPr lang="en-US" sz="2500" dirty="0"/>
          </a:p>
          <a:p>
            <a:pPr marL="342900" indent="-342900">
              <a:lnSpc>
                <a:spcPct val="150000"/>
              </a:lnSpc>
              <a:buFont typeface="Wingdings" panose="05000000000000000000" pitchFamily="2" charset="2"/>
              <a:buChar char="§"/>
            </a:pPr>
            <a:r>
              <a:rPr lang="en-US" sz="2500" dirty="0"/>
              <a:t>City</a:t>
            </a:r>
          </a:p>
          <a:p>
            <a:pPr marL="342900" indent="-342900">
              <a:lnSpc>
                <a:spcPct val="150000"/>
              </a:lnSpc>
              <a:buFont typeface="Wingdings" panose="05000000000000000000" pitchFamily="2" charset="2"/>
              <a:buChar char="§"/>
            </a:pPr>
            <a:r>
              <a:rPr lang="en-US" sz="2500" dirty="0"/>
              <a:t>State</a:t>
            </a:r>
          </a:p>
          <a:p>
            <a:pPr marL="342900" indent="-342900">
              <a:lnSpc>
                <a:spcPct val="150000"/>
              </a:lnSpc>
              <a:buFont typeface="Wingdings" panose="05000000000000000000" pitchFamily="2" charset="2"/>
              <a:buChar char="§"/>
            </a:pPr>
            <a:r>
              <a:rPr lang="en-US" sz="2500" dirty="0"/>
              <a:t>Zip</a:t>
            </a:r>
          </a:p>
          <a:p>
            <a:pPr marL="342900" indent="-342900">
              <a:lnSpc>
                <a:spcPct val="150000"/>
              </a:lnSpc>
              <a:buFont typeface="Wingdings" panose="05000000000000000000" pitchFamily="2" charset="2"/>
              <a:buChar char="§"/>
            </a:pPr>
            <a:r>
              <a:rPr lang="en-US" sz="2500" dirty="0"/>
              <a:t>Gender</a:t>
            </a:r>
          </a:p>
          <a:p>
            <a:pPr marL="342900" indent="-342900">
              <a:lnSpc>
                <a:spcPct val="150000"/>
              </a:lnSpc>
              <a:buFont typeface="Wingdings" panose="05000000000000000000" pitchFamily="2" charset="2"/>
              <a:buChar char="§"/>
            </a:pPr>
            <a:r>
              <a:rPr lang="en-US" sz="2500" dirty="0"/>
              <a:t>Major</a:t>
            </a:r>
          </a:p>
          <a:p>
            <a:pPr marL="342900" indent="-342900">
              <a:lnSpc>
                <a:spcPct val="150000"/>
              </a:lnSpc>
              <a:buFont typeface="Wingdings" panose="05000000000000000000" pitchFamily="2" charset="2"/>
              <a:buChar char="§"/>
            </a:pPr>
            <a:r>
              <a:rPr lang="en-US" sz="2500" dirty="0" err="1"/>
              <a:t>BirthDate</a:t>
            </a:r>
            <a:endParaRPr lang="en-US" sz="2500" dirty="0"/>
          </a:p>
          <a:p>
            <a:pPr marL="342900" indent="-342900">
              <a:lnSpc>
                <a:spcPct val="150000"/>
              </a:lnSpc>
              <a:buFont typeface="Wingdings" panose="05000000000000000000" pitchFamily="2" charset="2"/>
              <a:buChar char="§"/>
            </a:pPr>
            <a:r>
              <a:rPr lang="en-US" sz="2500" dirty="0" err="1"/>
              <a:t>FinancialAid</a:t>
            </a:r>
            <a:endParaRPr lang="en-US" sz="2500" dirty="0"/>
          </a:p>
          <a:p>
            <a:pPr marL="342900" indent="-342900">
              <a:lnSpc>
                <a:spcPct val="150000"/>
              </a:lnSpc>
              <a:buFont typeface="Wingdings" panose="05000000000000000000" pitchFamily="2" charset="2"/>
              <a:buChar char="§"/>
            </a:pPr>
            <a:r>
              <a:rPr lang="en-US" sz="2500" dirty="0"/>
              <a:t>Credits</a:t>
            </a:r>
          </a:p>
          <a:p>
            <a:pPr marL="342900" indent="-342900">
              <a:lnSpc>
                <a:spcPct val="150000"/>
              </a:lnSpc>
              <a:buFont typeface="Wingdings" panose="05000000000000000000" pitchFamily="2" charset="2"/>
              <a:buChar char="§"/>
            </a:pPr>
            <a:r>
              <a:rPr lang="en-US" sz="2500" dirty="0" err="1"/>
              <a:t>GradePoints</a:t>
            </a:r>
            <a:endParaRPr lang="en-US" sz="2500" dirty="0"/>
          </a:p>
        </p:txBody>
      </p:sp>
      <p:sp>
        <p:nvSpPr>
          <p:cNvPr id="4" name="Slide Number Placeholder 3"/>
          <p:cNvSpPr>
            <a:spLocks noGrp="1"/>
          </p:cNvSpPr>
          <p:nvPr>
            <p:ph type="sldNum" sz="quarter" idx="12"/>
          </p:nvPr>
        </p:nvSpPr>
        <p:spPr/>
        <p:txBody>
          <a:bodyPr/>
          <a:lstStyle/>
          <a:p>
            <a:fld id="{87F3E754-1C97-4481-A18C-9D97ADBDF344}" type="slidenum">
              <a:rPr lang="en-US" smtClean="0"/>
              <a:t>7</a:t>
            </a:fld>
            <a:endParaRPr lang="en-US"/>
          </a:p>
        </p:txBody>
      </p:sp>
    </p:spTree>
    <p:extLst>
      <p:ext uri="{BB962C8B-B14F-4D97-AF65-F5344CB8AC3E}">
        <p14:creationId xmlns:p14="http://schemas.microsoft.com/office/powerpoint/2010/main" val="5173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lstStyle/>
          <a:p>
            <a:r>
              <a:rPr lang="en-US" dirty="0" err="1"/>
              <a:t>Ms</a:t>
            </a:r>
            <a:r>
              <a:rPr lang="en-US" dirty="0"/>
              <a:t> Access Data Types</a:t>
            </a:r>
          </a:p>
        </p:txBody>
      </p:sp>
      <p:sp>
        <p:nvSpPr>
          <p:cNvPr id="3" name="TextBox 2"/>
          <p:cNvSpPr txBox="1"/>
          <p:nvPr/>
        </p:nvSpPr>
        <p:spPr>
          <a:xfrm>
            <a:off x="1694948" y="1224060"/>
            <a:ext cx="8435211" cy="4708981"/>
          </a:xfrm>
          <a:prstGeom prst="rect">
            <a:avLst/>
          </a:prstGeom>
          <a:noFill/>
        </p:spPr>
        <p:txBody>
          <a:bodyPr wrap="square" numCol="1" rtlCol="0">
            <a:spAutoFit/>
          </a:bodyPr>
          <a:lstStyle/>
          <a:p>
            <a:pPr marL="342900" indent="-342900">
              <a:lnSpc>
                <a:spcPts val="4000"/>
              </a:lnSpc>
              <a:buFont typeface="Wingdings" panose="05000000000000000000" pitchFamily="2" charset="2"/>
              <a:buChar char="§"/>
            </a:pPr>
            <a:r>
              <a:rPr lang="en-US" sz="2800" dirty="0"/>
              <a:t>Short text (255 characters limit)</a:t>
            </a:r>
          </a:p>
          <a:p>
            <a:pPr marL="342900" indent="-342900">
              <a:lnSpc>
                <a:spcPts val="4000"/>
              </a:lnSpc>
              <a:buFont typeface="Wingdings" panose="05000000000000000000" pitchFamily="2" charset="2"/>
              <a:buChar char="§"/>
            </a:pPr>
            <a:r>
              <a:rPr lang="en-US" sz="2800" dirty="0"/>
              <a:t>Long text (65,536 character limit)</a:t>
            </a:r>
          </a:p>
          <a:p>
            <a:pPr marL="342900" indent="-342900">
              <a:lnSpc>
                <a:spcPts val="4000"/>
              </a:lnSpc>
              <a:buFont typeface="Wingdings" panose="05000000000000000000" pitchFamily="2" charset="2"/>
              <a:buChar char="§"/>
            </a:pPr>
            <a:r>
              <a:rPr lang="en-US" sz="2800" dirty="0"/>
              <a:t>Number</a:t>
            </a:r>
          </a:p>
          <a:p>
            <a:pPr marL="342900" indent="-342900">
              <a:lnSpc>
                <a:spcPts val="4000"/>
              </a:lnSpc>
              <a:buFont typeface="Wingdings" panose="05000000000000000000" pitchFamily="2" charset="2"/>
              <a:buChar char="§"/>
            </a:pPr>
            <a:r>
              <a:rPr lang="en-US" sz="2800" dirty="0"/>
              <a:t>Data/time</a:t>
            </a:r>
          </a:p>
          <a:p>
            <a:pPr marL="342900" indent="-342900">
              <a:lnSpc>
                <a:spcPts val="4000"/>
              </a:lnSpc>
              <a:buFont typeface="Wingdings" panose="05000000000000000000" pitchFamily="2" charset="2"/>
              <a:buChar char="§"/>
            </a:pPr>
            <a:r>
              <a:rPr lang="en-US" sz="2800" dirty="0"/>
              <a:t>Currency</a:t>
            </a:r>
          </a:p>
          <a:p>
            <a:pPr marL="342900" indent="-342900">
              <a:lnSpc>
                <a:spcPts val="4000"/>
              </a:lnSpc>
              <a:buFont typeface="Wingdings" panose="05000000000000000000" pitchFamily="2" charset="2"/>
              <a:buChar char="§"/>
            </a:pPr>
            <a:r>
              <a:rPr lang="en-US" sz="2800" dirty="0"/>
              <a:t>Yes/no</a:t>
            </a:r>
          </a:p>
          <a:p>
            <a:pPr marL="342900" indent="-342900">
              <a:lnSpc>
                <a:spcPts val="4000"/>
              </a:lnSpc>
              <a:buFont typeface="Wingdings" panose="05000000000000000000" pitchFamily="2" charset="2"/>
              <a:buChar char="§"/>
            </a:pPr>
            <a:r>
              <a:rPr lang="en-US" sz="2800" i="1" dirty="0"/>
              <a:t>AutoNumber</a:t>
            </a:r>
          </a:p>
          <a:p>
            <a:pPr marL="342900" indent="-342900">
              <a:lnSpc>
                <a:spcPts val="4000"/>
              </a:lnSpc>
              <a:buFont typeface="Wingdings" panose="05000000000000000000" pitchFamily="2" charset="2"/>
              <a:buChar char="§"/>
            </a:pPr>
            <a:r>
              <a:rPr lang="en-US" sz="2800" i="1" dirty="0"/>
              <a:t>Calculated</a:t>
            </a:r>
          </a:p>
          <a:p>
            <a:pPr marL="342900" indent="-342900">
              <a:lnSpc>
                <a:spcPts val="4000"/>
              </a:lnSpc>
              <a:buFont typeface="Wingdings" panose="05000000000000000000" pitchFamily="2" charset="2"/>
              <a:buChar char="§"/>
            </a:pPr>
            <a:r>
              <a:rPr lang="en-US" sz="2800" dirty="0"/>
              <a:t>....</a:t>
            </a:r>
          </a:p>
        </p:txBody>
      </p:sp>
      <p:sp>
        <p:nvSpPr>
          <p:cNvPr id="4" name="Slide Number Placeholder 3"/>
          <p:cNvSpPr>
            <a:spLocks noGrp="1"/>
          </p:cNvSpPr>
          <p:nvPr>
            <p:ph type="sldNum" sz="quarter" idx="12"/>
          </p:nvPr>
        </p:nvSpPr>
        <p:spPr/>
        <p:txBody>
          <a:bodyPr/>
          <a:lstStyle/>
          <a:p>
            <a:fld id="{87F3E754-1C97-4481-A18C-9D97ADBDF344}" type="slidenum">
              <a:rPr lang="en-US" smtClean="0"/>
              <a:t>8</a:t>
            </a:fld>
            <a:endParaRPr lang="en-US"/>
          </a:p>
        </p:txBody>
      </p:sp>
    </p:spTree>
    <p:extLst>
      <p:ext uri="{BB962C8B-B14F-4D97-AF65-F5344CB8AC3E}">
        <p14:creationId xmlns:p14="http://schemas.microsoft.com/office/powerpoint/2010/main" val="3275223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lstStyle/>
          <a:p>
            <a:r>
              <a:rPr lang="en-US" dirty="0"/>
              <a:t>Table Design</a:t>
            </a:r>
          </a:p>
        </p:txBody>
      </p:sp>
      <p:sp>
        <p:nvSpPr>
          <p:cNvPr id="8" name="Rectangle 5"/>
          <p:cNvSpPr>
            <a:spLocks noChangeArrowheads="1"/>
          </p:cNvSpPr>
          <p:nvPr/>
        </p:nvSpPr>
        <p:spPr bwMode="auto">
          <a:xfrm>
            <a:off x="2041719" y="1375650"/>
            <a:ext cx="8435212" cy="585418"/>
          </a:xfrm>
          <a:prstGeom prst="rect">
            <a:avLst/>
          </a:prstGeom>
          <a:noFill/>
          <a:ln w="9525">
            <a:noFill/>
            <a:miter lim="800000"/>
            <a:headEnd/>
            <a:tailEnd/>
          </a:ln>
          <a:effectLst/>
        </p:spPr>
        <p:txBody>
          <a:bodyPr wrap="square" lIns="92075" tIns="46038" rIns="92075" bIns="46038">
            <a:spAutoFit/>
          </a:bodyPr>
          <a:lstStyle/>
          <a:p>
            <a:r>
              <a:rPr lang="en-US" sz="3200" i="1" dirty="0">
                <a:solidFill>
                  <a:schemeClr val="accent1">
                    <a:lumMod val="50000"/>
                  </a:schemeClr>
                </a:solidFill>
              </a:rPr>
              <a:t>What type of data should each attribute be?</a:t>
            </a:r>
          </a:p>
        </p:txBody>
      </p:sp>
      <p:sp>
        <p:nvSpPr>
          <p:cNvPr id="3" name="TextBox 2"/>
          <p:cNvSpPr txBox="1"/>
          <p:nvPr/>
        </p:nvSpPr>
        <p:spPr>
          <a:xfrm>
            <a:off x="2041720" y="2210632"/>
            <a:ext cx="8435211" cy="4131900"/>
          </a:xfrm>
          <a:prstGeom prst="rect">
            <a:avLst/>
          </a:prstGeom>
          <a:noFill/>
        </p:spPr>
        <p:txBody>
          <a:bodyPr wrap="square" numCol="2" rtlCol="0">
            <a:spAutoFit/>
          </a:bodyPr>
          <a:lstStyle/>
          <a:p>
            <a:pPr marL="342900" indent="-342900">
              <a:lnSpc>
                <a:spcPct val="150000"/>
              </a:lnSpc>
              <a:buFont typeface="Wingdings" panose="05000000000000000000" pitchFamily="2" charset="2"/>
              <a:buChar char="§"/>
            </a:pPr>
            <a:r>
              <a:rPr lang="en-US" sz="2500" dirty="0"/>
              <a:t>ID – </a:t>
            </a:r>
            <a:r>
              <a:rPr lang="en-US" sz="2500" i="1" dirty="0"/>
              <a:t>school format</a:t>
            </a:r>
          </a:p>
          <a:p>
            <a:pPr marL="342900" indent="-342900">
              <a:lnSpc>
                <a:spcPct val="150000"/>
              </a:lnSpc>
              <a:buFont typeface="Wingdings" panose="05000000000000000000" pitchFamily="2" charset="2"/>
              <a:buChar char="§"/>
            </a:pPr>
            <a:r>
              <a:rPr lang="en-US" sz="2500" dirty="0" err="1"/>
              <a:t>FirstName</a:t>
            </a:r>
            <a:r>
              <a:rPr lang="en-US" sz="2500" dirty="0"/>
              <a:t> – short text</a:t>
            </a:r>
          </a:p>
          <a:p>
            <a:pPr marL="342900" indent="-342900">
              <a:lnSpc>
                <a:spcPct val="150000"/>
              </a:lnSpc>
              <a:buFont typeface="Wingdings" panose="05000000000000000000" pitchFamily="2" charset="2"/>
              <a:buChar char="§"/>
            </a:pPr>
            <a:r>
              <a:rPr lang="en-US" sz="2500" dirty="0" err="1"/>
              <a:t>LastName</a:t>
            </a:r>
            <a:r>
              <a:rPr lang="en-US" sz="2500" dirty="0"/>
              <a:t> – short text</a:t>
            </a:r>
          </a:p>
          <a:p>
            <a:pPr marL="342900" indent="-342900">
              <a:lnSpc>
                <a:spcPct val="150000"/>
              </a:lnSpc>
              <a:buFont typeface="Wingdings" panose="05000000000000000000" pitchFamily="2" charset="2"/>
              <a:buChar char="§"/>
            </a:pPr>
            <a:r>
              <a:rPr lang="en-US" sz="2500" dirty="0" err="1"/>
              <a:t>StreetAddress</a:t>
            </a:r>
            <a:r>
              <a:rPr lang="en-US" sz="2500" dirty="0"/>
              <a:t> – short text</a:t>
            </a:r>
          </a:p>
          <a:p>
            <a:pPr marL="342900" indent="-342900">
              <a:lnSpc>
                <a:spcPct val="150000"/>
              </a:lnSpc>
              <a:buFont typeface="Wingdings" panose="05000000000000000000" pitchFamily="2" charset="2"/>
              <a:buChar char="§"/>
            </a:pPr>
            <a:r>
              <a:rPr lang="en-US" sz="2500" dirty="0"/>
              <a:t>City – short text</a:t>
            </a:r>
          </a:p>
          <a:p>
            <a:pPr marL="342900" indent="-342900">
              <a:lnSpc>
                <a:spcPct val="150000"/>
              </a:lnSpc>
              <a:buFont typeface="Wingdings" panose="05000000000000000000" pitchFamily="2" charset="2"/>
              <a:buChar char="§"/>
            </a:pPr>
            <a:r>
              <a:rPr lang="en-US" sz="2500" dirty="0"/>
              <a:t>State – short text</a:t>
            </a:r>
          </a:p>
          <a:p>
            <a:pPr marL="342900" indent="-342900">
              <a:lnSpc>
                <a:spcPct val="150000"/>
              </a:lnSpc>
              <a:buFont typeface="Wingdings" panose="05000000000000000000" pitchFamily="2" charset="2"/>
              <a:buChar char="§"/>
            </a:pPr>
            <a:r>
              <a:rPr lang="en-US" sz="2500" dirty="0"/>
              <a:t>Zip – short text</a:t>
            </a:r>
          </a:p>
          <a:p>
            <a:pPr marL="342900" indent="-342900">
              <a:lnSpc>
                <a:spcPct val="150000"/>
              </a:lnSpc>
              <a:buFont typeface="Wingdings" panose="05000000000000000000" pitchFamily="2" charset="2"/>
              <a:buChar char="§"/>
            </a:pPr>
            <a:r>
              <a:rPr lang="en-US" sz="2500" dirty="0"/>
              <a:t>Gender – short text</a:t>
            </a:r>
          </a:p>
          <a:p>
            <a:pPr marL="342900" indent="-342900">
              <a:lnSpc>
                <a:spcPct val="150000"/>
              </a:lnSpc>
              <a:buFont typeface="Wingdings" panose="05000000000000000000" pitchFamily="2" charset="2"/>
              <a:buChar char="§"/>
            </a:pPr>
            <a:r>
              <a:rPr lang="en-US" sz="2500" dirty="0"/>
              <a:t>Major – short text</a:t>
            </a:r>
          </a:p>
          <a:p>
            <a:pPr marL="342900" indent="-342900">
              <a:lnSpc>
                <a:spcPct val="150000"/>
              </a:lnSpc>
              <a:buFont typeface="Wingdings" panose="05000000000000000000" pitchFamily="2" charset="2"/>
              <a:buChar char="§"/>
            </a:pPr>
            <a:r>
              <a:rPr lang="en-US" sz="2500" dirty="0" err="1"/>
              <a:t>BirthDate</a:t>
            </a:r>
            <a:r>
              <a:rPr lang="en-US" sz="2500" dirty="0"/>
              <a:t> – date/time</a:t>
            </a:r>
          </a:p>
          <a:p>
            <a:pPr marL="342900" indent="-342900">
              <a:lnSpc>
                <a:spcPct val="150000"/>
              </a:lnSpc>
              <a:buFont typeface="Wingdings" panose="05000000000000000000" pitchFamily="2" charset="2"/>
              <a:buChar char="§"/>
            </a:pPr>
            <a:r>
              <a:rPr lang="en-US" sz="2500" dirty="0" err="1"/>
              <a:t>FinancialAid</a:t>
            </a:r>
            <a:r>
              <a:rPr lang="en-US" sz="2500" dirty="0"/>
              <a:t> – yes/no</a:t>
            </a:r>
          </a:p>
          <a:p>
            <a:pPr marL="342900" indent="-342900">
              <a:lnSpc>
                <a:spcPct val="150000"/>
              </a:lnSpc>
              <a:buFont typeface="Wingdings" panose="05000000000000000000" pitchFamily="2" charset="2"/>
              <a:buChar char="§"/>
            </a:pPr>
            <a:r>
              <a:rPr lang="en-US" sz="2500" dirty="0"/>
              <a:t>Credits – number </a:t>
            </a:r>
          </a:p>
          <a:p>
            <a:pPr marL="342900" indent="-342900">
              <a:lnSpc>
                <a:spcPct val="150000"/>
              </a:lnSpc>
              <a:buFont typeface="Wingdings" panose="05000000000000000000" pitchFamily="2" charset="2"/>
              <a:buChar char="§"/>
            </a:pPr>
            <a:r>
              <a:rPr lang="en-US" sz="2500" dirty="0" err="1"/>
              <a:t>GradePoints</a:t>
            </a:r>
            <a:r>
              <a:rPr lang="en-US" sz="2500" dirty="0"/>
              <a:t> – number </a:t>
            </a:r>
          </a:p>
        </p:txBody>
      </p:sp>
      <p:sp>
        <p:nvSpPr>
          <p:cNvPr id="4" name="Slide Number Placeholder 3"/>
          <p:cNvSpPr>
            <a:spLocks noGrp="1"/>
          </p:cNvSpPr>
          <p:nvPr>
            <p:ph type="sldNum" sz="quarter" idx="12"/>
          </p:nvPr>
        </p:nvSpPr>
        <p:spPr/>
        <p:txBody>
          <a:bodyPr/>
          <a:lstStyle/>
          <a:p>
            <a:fld id="{87F3E754-1C97-4481-A18C-9D97ADBDF344}" type="slidenum">
              <a:rPr lang="en-US" smtClean="0"/>
              <a:t>9</a:t>
            </a:fld>
            <a:endParaRPr lang="en-US"/>
          </a:p>
        </p:txBody>
      </p:sp>
    </p:spTree>
    <p:extLst>
      <p:ext uri="{BB962C8B-B14F-4D97-AF65-F5344CB8AC3E}">
        <p14:creationId xmlns:p14="http://schemas.microsoft.com/office/powerpoint/2010/main" val="1400188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657170"/>
          </a:xfrm>
        </p:spPr>
        <p:txBody>
          <a:bodyPr>
            <a:normAutofit fontScale="90000"/>
          </a:bodyPr>
          <a:lstStyle/>
          <a:p>
            <a:r>
              <a:rPr lang="en-US" dirty="0"/>
              <a:t>Storage space per data type</a:t>
            </a:r>
          </a:p>
        </p:txBody>
      </p:sp>
      <p:sp>
        <p:nvSpPr>
          <p:cNvPr id="4" name="Slide Number Placeholder 3"/>
          <p:cNvSpPr>
            <a:spLocks noGrp="1"/>
          </p:cNvSpPr>
          <p:nvPr>
            <p:ph type="sldNum" sz="quarter" idx="12"/>
          </p:nvPr>
        </p:nvSpPr>
        <p:spPr/>
        <p:txBody>
          <a:bodyPr/>
          <a:lstStyle/>
          <a:p>
            <a:fld id="{87F3E754-1C97-4481-A18C-9D97ADBDF344}" type="slidenum">
              <a:rPr lang="en-US" smtClean="0"/>
              <a:t>10</a:t>
            </a:fld>
            <a:endParaRPr lang="en-US"/>
          </a:p>
        </p:txBody>
      </p:sp>
      <p:graphicFrame>
        <p:nvGraphicFramePr>
          <p:cNvPr id="7" name="Content Placeholder 4"/>
          <p:cNvGraphicFramePr>
            <a:graphicFrameLocks/>
          </p:cNvGraphicFramePr>
          <p:nvPr/>
        </p:nvGraphicFramePr>
        <p:xfrm>
          <a:off x="1910660" y="1601971"/>
          <a:ext cx="8565298" cy="3850640"/>
        </p:xfrm>
        <a:graphic>
          <a:graphicData uri="http://schemas.openxmlformats.org/drawingml/2006/table">
            <a:tbl>
              <a:tblPr firstRow="1" bandRow="1">
                <a:tableStyleId>{5C22544A-7EE6-4342-B048-85BDC9FD1C3A}</a:tableStyleId>
              </a:tblPr>
              <a:tblGrid>
                <a:gridCol w="1455346">
                  <a:extLst>
                    <a:ext uri="{9D8B030D-6E8A-4147-A177-3AD203B41FA5}">
                      <a16:colId xmlns:a16="http://schemas.microsoft.com/office/drawing/2014/main" val="20000"/>
                    </a:ext>
                  </a:extLst>
                </a:gridCol>
                <a:gridCol w="2353660">
                  <a:extLst>
                    <a:ext uri="{9D8B030D-6E8A-4147-A177-3AD203B41FA5}">
                      <a16:colId xmlns:a16="http://schemas.microsoft.com/office/drawing/2014/main" val="20001"/>
                    </a:ext>
                  </a:extLst>
                </a:gridCol>
                <a:gridCol w="4756292">
                  <a:extLst>
                    <a:ext uri="{9D8B030D-6E8A-4147-A177-3AD203B41FA5}">
                      <a16:colId xmlns:a16="http://schemas.microsoft.com/office/drawing/2014/main" val="20002"/>
                    </a:ext>
                  </a:extLst>
                </a:gridCol>
              </a:tblGrid>
              <a:tr h="370840">
                <a:tc>
                  <a:txBody>
                    <a:bodyPr/>
                    <a:lstStyle/>
                    <a:p>
                      <a:r>
                        <a:rPr lang="en-US" sz="1800" b="1" dirty="0"/>
                        <a:t>Name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Storage space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Description</a:t>
                      </a:r>
                    </a:p>
                  </a:txBody>
                  <a:tcPr/>
                </a:tc>
                <a:extLst>
                  <a:ext uri="{0D108BD9-81ED-4DB2-BD59-A6C34878D82A}">
                    <a16:rowId xmlns:a16="http://schemas.microsoft.com/office/drawing/2014/main" val="10000"/>
                  </a:ext>
                </a:extLst>
              </a:tr>
              <a:tr h="370840">
                <a:tc>
                  <a:txBody>
                    <a:bodyPr/>
                    <a:lstStyle/>
                    <a:p>
                      <a:r>
                        <a:rPr lang="en-US" b="1" baseline="0" dirty="0"/>
                        <a:t>Yes/No</a:t>
                      </a:r>
                      <a:endParaRPr lang="en-US"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 byte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Though in principle only</a:t>
                      </a:r>
                      <a:r>
                        <a:rPr lang="en-US" baseline="0" dirty="0"/>
                        <a:t> 1 bit would be needed</a:t>
                      </a:r>
                      <a:endParaRPr lang="en-US" dirty="0"/>
                    </a:p>
                  </a:txBody>
                  <a:tcPr/>
                </a:tc>
                <a:extLst>
                  <a:ext uri="{0D108BD9-81ED-4DB2-BD59-A6C34878D82A}">
                    <a16:rowId xmlns:a16="http://schemas.microsoft.com/office/drawing/2014/main" val="10001"/>
                  </a:ext>
                </a:extLst>
              </a:tr>
              <a:tr h="370840">
                <a:tc>
                  <a:txBody>
                    <a:bodyPr/>
                    <a:lstStyle/>
                    <a:p>
                      <a:r>
                        <a:rPr lang="en-US" b="1" dirty="0"/>
                        <a:t>Date/Time</a:t>
                      </a:r>
                    </a:p>
                  </a:txBody>
                  <a:tcPr/>
                </a:tc>
                <a:tc>
                  <a:txBody>
                    <a:bodyPr/>
                    <a:lstStyle/>
                    <a:p>
                      <a:r>
                        <a:rPr lang="en-US" dirty="0"/>
                        <a:t>8 bytes</a:t>
                      </a:r>
                    </a:p>
                  </a:txBody>
                  <a:tcPr/>
                </a:tc>
                <a:tc>
                  <a:txBody>
                    <a:bodyPr/>
                    <a:lstStyle/>
                    <a:p>
                      <a:r>
                        <a:rPr lang="en-US" sz="1800" kern="1200" dirty="0">
                          <a:solidFill>
                            <a:schemeClr val="dk1"/>
                          </a:solidFill>
                          <a:effectLst/>
                          <a:latin typeface="+mn-lt"/>
                          <a:ea typeface="+mn-ea"/>
                          <a:cs typeface="+mn-cs"/>
                        </a:rPr>
                        <a:t>internally, a date/time is represented as the number of seconds since the beginning of the year 100</a:t>
                      </a:r>
                      <a:r>
                        <a:rPr lang="en-US" dirty="0">
                          <a:effectLst/>
                        </a:rPr>
                        <a:t> until year 9999</a:t>
                      </a:r>
                      <a:endParaRPr lang="en-US" dirty="0"/>
                    </a:p>
                  </a:txBody>
                  <a:tcPr/>
                </a:tc>
                <a:extLst>
                  <a:ext uri="{0D108BD9-81ED-4DB2-BD59-A6C34878D82A}">
                    <a16:rowId xmlns:a16="http://schemas.microsoft.com/office/drawing/2014/main" val="10002"/>
                  </a:ext>
                </a:extLst>
              </a:tr>
              <a:tr h="370840">
                <a:tc>
                  <a:txBody>
                    <a:bodyPr/>
                    <a:lstStyle/>
                    <a:p>
                      <a:r>
                        <a:rPr lang="en-US" b="1" dirty="0"/>
                        <a:t>Currency</a:t>
                      </a:r>
                    </a:p>
                  </a:txBody>
                  <a:tcPr/>
                </a:tc>
                <a:tc>
                  <a:txBody>
                    <a:bodyPr/>
                    <a:lstStyle/>
                    <a:p>
                      <a:r>
                        <a:rPr lang="en-US" dirty="0"/>
                        <a:t>8 bytes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accurate to 15 digits to the left of the decimal point and 4 digits to the right</a:t>
                      </a:r>
                    </a:p>
                  </a:txBody>
                  <a:tcPr/>
                </a:tc>
                <a:extLst>
                  <a:ext uri="{0D108BD9-81ED-4DB2-BD59-A6C34878D82A}">
                    <a16:rowId xmlns:a16="http://schemas.microsoft.com/office/drawing/2014/main" val="10003"/>
                  </a:ext>
                </a:extLst>
              </a:tr>
              <a:tr h="370840">
                <a:tc>
                  <a:txBody>
                    <a:bodyPr/>
                    <a:lstStyle/>
                    <a:p>
                      <a:r>
                        <a:rPr lang="en-US" b="1" dirty="0"/>
                        <a:t>Short Text</a:t>
                      </a:r>
                    </a:p>
                  </a:txBody>
                  <a:tcPr/>
                </a:tc>
                <a:tc>
                  <a:txBody>
                    <a:bodyPr/>
                    <a:lstStyle/>
                    <a:p>
                      <a:r>
                        <a:rPr lang="en-US" dirty="0"/>
                        <a:t>Proportional</a:t>
                      </a:r>
                      <a:r>
                        <a:rPr lang="en-US" baseline="0" dirty="0"/>
                        <a:t> to the maximum number of characters allowed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 or 2</a:t>
                      </a:r>
                      <a:r>
                        <a:rPr lang="en-US" baseline="0" dirty="0"/>
                        <a:t> bytes per character, the default maximum number of characters is 255</a:t>
                      </a:r>
                      <a:endParaRPr lang="en-US" dirty="0"/>
                    </a:p>
                  </a:txBody>
                  <a:tcPr/>
                </a:tc>
                <a:extLst>
                  <a:ext uri="{0D108BD9-81ED-4DB2-BD59-A6C34878D82A}">
                    <a16:rowId xmlns:a16="http://schemas.microsoft.com/office/drawing/2014/main" val="10004"/>
                  </a:ext>
                </a:extLst>
              </a:tr>
              <a:tr h="370840">
                <a:tc>
                  <a:txBody>
                    <a:bodyPr/>
                    <a:lstStyle/>
                    <a:p>
                      <a:r>
                        <a:rPr lang="en-US" b="1" dirty="0"/>
                        <a:t>Other</a:t>
                      </a:r>
                    </a:p>
                  </a:txBody>
                  <a:tcPr/>
                </a:tc>
                <a:tc>
                  <a:txBody>
                    <a:bodyPr/>
                    <a:lstStyle/>
                    <a:p>
                      <a:r>
                        <a:rPr lang="en-US" dirty="0"/>
                        <a:t>variable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it depends on the size of the object in question (this includes “Long Text” too)</a:t>
                      </a:r>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02859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7447" y="295408"/>
            <a:ext cx="8900553" cy="657170"/>
          </a:xfrm>
        </p:spPr>
        <p:txBody>
          <a:bodyPr>
            <a:normAutofit fontScale="90000"/>
          </a:bodyPr>
          <a:lstStyle/>
          <a:p>
            <a:r>
              <a:rPr lang="en-US" dirty="0"/>
              <a:t>Storage space for “Number” data type </a:t>
            </a:r>
          </a:p>
        </p:txBody>
      </p:sp>
      <p:graphicFrame>
        <p:nvGraphicFramePr>
          <p:cNvPr id="5" name="Content Placeholder 4"/>
          <p:cNvGraphicFramePr>
            <a:graphicFrameLocks noGrp="1"/>
          </p:cNvGraphicFramePr>
          <p:nvPr>
            <p:ph idx="1"/>
          </p:nvPr>
        </p:nvGraphicFramePr>
        <p:xfrm>
          <a:off x="1758260" y="1358848"/>
          <a:ext cx="8565297" cy="3947160"/>
        </p:xfrm>
        <a:graphic>
          <a:graphicData uri="http://schemas.openxmlformats.org/drawingml/2006/table">
            <a:tbl>
              <a:tblPr firstRow="1" bandRow="1">
                <a:tableStyleId>{5C22544A-7EE6-4342-B048-85BDC9FD1C3A}</a:tableStyleId>
              </a:tblPr>
              <a:tblGrid>
                <a:gridCol w="1273913">
                  <a:extLst>
                    <a:ext uri="{9D8B030D-6E8A-4147-A177-3AD203B41FA5}">
                      <a16:colId xmlns:a16="http://schemas.microsoft.com/office/drawing/2014/main" val="20000"/>
                    </a:ext>
                  </a:extLst>
                </a:gridCol>
                <a:gridCol w="1825682">
                  <a:extLst>
                    <a:ext uri="{9D8B030D-6E8A-4147-A177-3AD203B41FA5}">
                      <a16:colId xmlns:a16="http://schemas.microsoft.com/office/drawing/2014/main" val="20001"/>
                    </a:ext>
                  </a:extLst>
                </a:gridCol>
                <a:gridCol w="5465702">
                  <a:extLst>
                    <a:ext uri="{9D8B030D-6E8A-4147-A177-3AD203B41FA5}">
                      <a16:colId xmlns:a16="http://schemas.microsoft.com/office/drawing/2014/main" val="20002"/>
                    </a:ext>
                  </a:extLst>
                </a:gridCol>
              </a:tblGrid>
              <a:tr h="370840">
                <a:tc>
                  <a:txBody>
                    <a:bodyPr/>
                    <a:lstStyle/>
                    <a:p>
                      <a:r>
                        <a:rPr lang="en-US" sz="1600" b="1" dirty="0"/>
                        <a:t>Name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Storage space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Description</a:t>
                      </a:r>
                    </a:p>
                  </a:txBody>
                  <a:tcPr/>
                </a:tc>
                <a:extLst>
                  <a:ext uri="{0D108BD9-81ED-4DB2-BD59-A6C34878D82A}">
                    <a16:rowId xmlns:a16="http://schemas.microsoft.com/office/drawing/2014/main" val="10000"/>
                  </a:ext>
                </a:extLst>
              </a:tr>
              <a:tr h="370840">
                <a:tc>
                  <a:txBody>
                    <a:bodyPr/>
                    <a:lstStyle/>
                    <a:p>
                      <a:r>
                        <a:rPr lang="en-US" sz="1800" b="1" baseline="0" dirty="0"/>
                        <a:t>Byte</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1 byte</a:t>
                      </a:r>
                      <a:r>
                        <a:rPr lang="en-US" sz="1800" baseline="0" dirty="0"/>
                        <a:t> </a:t>
                      </a:r>
                      <a:r>
                        <a:rPr lang="en-US" sz="1800" dirty="0"/>
                        <a:t>(=8bits)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integers that range from 0 to 255</a:t>
                      </a:r>
                    </a:p>
                  </a:txBody>
                  <a:tcPr/>
                </a:tc>
                <a:extLst>
                  <a:ext uri="{0D108BD9-81ED-4DB2-BD59-A6C34878D82A}">
                    <a16:rowId xmlns:a16="http://schemas.microsoft.com/office/drawing/2014/main" val="10001"/>
                  </a:ext>
                </a:extLst>
              </a:tr>
              <a:tr h="370840">
                <a:tc>
                  <a:txBody>
                    <a:bodyPr/>
                    <a:lstStyle/>
                    <a:p>
                      <a:r>
                        <a:rPr lang="en-US" sz="1800" b="1" dirty="0"/>
                        <a:t>Integer</a:t>
                      </a:r>
                    </a:p>
                  </a:txBody>
                  <a:tcPr/>
                </a:tc>
                <a:tc>
                  <a:txBody>
                    <a:bodyPr/>
                    <a:lstStyle/>
                    <a:p>
                      <a:r>
                        <a:rPr lang="en-US" sz="1800" dirty="0"/>
                        <a:t>2 bytes</a:t>
                      </a:r>
                    </a:p>
                  </a:txBody>
                  <a:tcPr/>
                </a:tc>
                <a:tc>
                  <a:txBody>
                    <a:bodyPr/>
                    <a:lstStyle/>
                    <a:p>
                      <a:r>
                        <a:rPr lang="en-US" sz="1800" dirty="0"/>
                        <a:t>integers that range from -32,768 to 32,767</a:t>
                      </a:r>
                    </a:p>
                  </a:txBody>
                  <a:tcPr/>
                </a:tc>
                <a:extLst>
                  <a:ext uri="{0D108BD9-81ED-4DB2-BD59-A6C34878D82A}">
                    <a16:rowId xmlns:a16="http://schemas.microsoft.com/office/drawing/2014/main" val="10002"/>
                  </a:ext>
                </a:extLst>
              </a:tr>
              <a:tr h="370840">
                <a:tc>
                  <a:txBody>
                    <a:bodyPr/>
                    <a:lstStyle/>
                    <a:p>
                      <a:r>
                        <a:rPr lang="en-US" sz="1800" b="1" dirty="0"/>
                        <a:t>Long integer</a:t>
                      </a:r>
                    </a:p>
                  </a:txBody>
                  <a:tcPr/>
                </a:tc>
                <a:tc>
                  <a:txBody>
                    <a:bodyPr/>
                    <a:lstStyle/>
                    <a:p>
                      <a:r>
                        <a:rPr lang="en-US" sz="1800" dirty="0"/>
                        <a:t>4 bytes</a:t>
                      </a:r>
                    </a:p>
                  </a:txBody>
                  <a:tcPr/>
                </a:tc>
                <a:tc>
                  <a:txBody>
                    <a:bodyPr/>
                    <a:lstStyle/>
                    <a:p>
                      <a:r>
                        <a:rPr lang="en-US" sz="1800" dirty="0"/>
                        <a:t>integers that range from -2,147,483,648 to 2,147,483,647</a:t>
                      </a:r>
                    </a:p>
                  </a:txBody>
                  <a:tcPr/>
                </a:tc>
                <a:extLst>
                  <a:ext uri="{0D108BD9-81ED-4DB2-BD59-A6C34878D82A}">
                    <a16:rowId xmlns:a16="http://schemas.microsoft.com/office/drawing/2014/main" val="10003"/>
                  </a:ext>
                </a:extLst>
              </a:tr>
              <a:tr h="370840">
                <a:tc>
                  <a:txBody>
                    <a:bodyPr/>
                    <a:lstStyle/>
                    <a:p>
                      <a:r>
                        <a:rPr lang="en-US" sz="1800" b="1" dirty="0"/>
                        <a:t>Single</a:t>
                      </a:r>
                    </a:p>
                  </a:txBody>
                  <a:tcPr/>
                </a:tc>
                <a:tc>
                  <a:txBody>
                    <a:bodyPr/>
                    <a:lstStyle/>
                    <a:p>
                      <a:r>
                        <a:rPr lang="en-US" sz="1800" dirty="0"/>
                        <a:t>4 bytes</a:t>
                      </a:r>
                    </a:p>
                  </a:txBody>
                  <a:tcPr/>
                </a:tc>
                <a:tc>
                  <a:txBody>
                    <a:bodyPr/>
                    <a:lstStyle/>
                    <a:p>
                      <a:r>
                        <a:rPr lang="en-US" sz="1800" dirty="0"/>
                        <a:t>numeric floating point values that range from -3.4 x 1038 to 3.4 x 1038 and up to seven significant digits</a:t>
                      </a:r>
                    </a:p>
                  </a:txBody>
                  <a:tcPr/>
                </a:tc>
                <a:extLst>
                  <a:ext uri="{0D108BD9-81ED-4DB2-BD59-A6C34878D82A}">
                    <a16:rowId xmlns:a16="http://schemas.microsoft.com/office/drawing/2014/main" val="10004"/>
                  </a:ext>
                </a:extLst>
              </a:tr>
              <a:tr h="370840">
                <a:tc>
                  <a:txBody>
                    <a:bodyPr/>
                    <a:lstStyle/>
                    <a:p>
                      <a:r>
                        <a:rPr lang="en-US" sz="1800" b="1" dirty="0"/>
                        <a:t>Double</a:t>
                      </a:r>
                    </a:p>
                  </a:txBody>
                  <a:tcPr/>
                </a:tc>
                <a:tc>
                  <a:txBody>
                    <a:bodyPr/>
                    <a:lstStyle/>
                    <a:p>
                      <a:r>
                        <a:rPr lang="en-US" sz="1800" dirty="0"/>
                        <a:t>8 bytes</a:t>
                      </a:r>
                    </a:p>
                  </a:txBody>
                  <a:tcPr/>
                </a:tc>
                <a:tc>
                  <a:txBody>
                    <a:bodyPr/>
                    <a:lstStyle/>
                    <a:p>
                      <a:r>
                        <a:rPr lang="en-US" sz="1800" dirty="0"/>
                        <a:t>numeric floating point values that range from -1.797 x 10308 to 1.797 x 10308 and up to fifteen significant digits</a:t>
                      </a:r>
                    </a:p>
                  </a:txBody>
                  <a:tcPr/>
                </a:tc>
                <a:extLst>
                  <a:ext uri="{0D108BD9-81ED-4DB2-BD59-A6C34878D82A}">
                    <a16:rowId xmlns:a16="http://schemas.microsoft.com/office/drawing/2014/main" val="10005"/>
                  </a:ext>
                </a:extLst>
              </a:tr>
              <a:tr h="370840">
                <a:tc>
                  <a:txBody>
                    <a:bodyPr/>
                    <a:lstStyle/>
                    <a:p>
                      <a:r>
                        <a:rPr lang="en-US" sz="1800" b="1" dirty="0"/>
                        <a:t>Decimal</a:t>
                      </a:r>
                    </a:p>
                  </a:txBody>
                  <a:tcPr/>
                </a:tc>
                <a:tc>
                  <a:txBody>
                    <a:bodyPr/>
                    <a:lstStyle/>
                    <a:p>
                      <a:r>
                        <a:rPr lang="en-US" sz="1800" dirty="0"/>
                        <a:t>12 bytes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numeric values that range from -9.999... x 1027 to 9.999... x 1027.</a:t>
                      </a:r>
                    </a:p>
                  </a:txBody>
                  <a:tcPr/>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fld id="{87F3E754-1C97-4481-A18C-9D97ADBDF344}" type="slidenum">
              <a:rPr lang="en-US" smtClean="0"/>
              <a:t>11</a:t>
            </a:fld>
            <a:endParaRPr lang="en-US"/>
          </a:p>
        </p:txBody>
      </p:sp>
      <p:sp>
        <p:nvSpPr>
          <p:cNvPr id="6" name="TextBox 5"/>
          <p:cNvSpPr txBox="1"/>
          <p:nvPr/>
        </p:nvSpPr>
        <p:spPr>
          <a:xfrm>
            <a:off x="1807490" y="5998979"/>
            <a:ext cx="8482049" cy="646331"/>
          </a:xfrm>
          <a:prstGeom prst="rect">
            <a:avLst/>
          </a:prstGeom>
          <a:noFill/>
        </p:spPr>
        <p:txBody>
          <a:bodyPr wrap="square" rtlCol="0">
            <a:spAutoFit/>
          </a:bodyPr>
          <a:lstStyle/>
          <a:p>
            <a:r>
              <a:rPr lang="en-US" i="1" dirty="0"/>
              <a:t>Note: Use Long Integer when you create a foreign key to relate to another table's AutoNumber primary key field</a:t>
            </a:r>
            <a:endParaRPr lang="en-US" dirty="0"/>
          </a:p>
        </p:txBody>
      </p:sp>
    </p:spTree>
    <p:extLst>
      <p:ext uri="{BB962C8B-B14F-4D97-AF65-F5344CB8AC3E}">
        <p14:creationId xmlns:p14="http://schemas.microsoft.com/office/powerpoint/2010/main" val="3890708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4240" y="284069"/>
            <a:ext cx="8079581" cy="1658198"/>
          </a:xfrm>
        </p:spPr>
        <p:txBody>
          <a:bodyPr>
            <a:normAutofit/>
          </a:bodyPr>
          <a:lstStyle/>
          <a:p>
            <a:r>
              <a:rPr lang="en-US" dirty="0"/>
              <a:t>Why is knowing the storage space of the data field important?</a:t>
            </a:r>
          </a:p>
        </p:txBody>
      </p:sp>
      <p:sp>
        <p:nvSpPr>
          <p:cNvPr id="4" name="Slide Number Placeholder 3"/>
          <p:cNvSpPr>
            <a:spLocks noGrp="1"/>
          </p:cNvSpPr>
          <p:nvPr>
            <p:ph type="sldNum" sz="quarter" idx="12"/>
          </p:nvPr>
        </p:nvSpPr>
        <p:spPr/>
        <p:txBody>
          <a:bodyPr/>
          <a:lstStyle/>
          <a:p>
            <a:fld id="{87F3E754-1C97-4481-A18C-9D97ADBDF344}" type="slidenum">
              <a:rPr lang="en-US" smtClean="0"/>
              <a:t>12</a:t>
            </a:fld>
            <a:endParaRPr lang="en-US"/>
          </a:p>
        </p:txBody>
      </p:sp>
      <p:sp>
        <p:nvSpPr>
          <p:cNvPr id="5" name="Rectangle 4"/>
          <p:cNvSpPr/>
          <p:nvPr/>
        </p:nvSpPr>
        <p:spPr>
          <a:xfrm>
            <a:off x="1788584" y="1935563"/>
            <a:ext cx="8498416" cy="4048801"/>
          </a:xfrm>
          <a:prstGeom prst="rect">
            <a:avLst/>
          </a:prstGeom>
        </p:spPr>
        <p:txBody>
          <a:bodyPr wrap="square">
            <a:spAutoFit/>
          </a:bodyPr>
          <a:lstStyle/>
          <a:p>
            <a:pPr marL="285750" indent="-285750" algn="just">
              <a:lnSpc>
                <a:spcPct val="110000"/>
              </a:lnSpc>
              <a:buFontTx/>
              <a:buChar char="-"/>
            </a:pPr>
            <a:r>
              <a:rPr lang="en-US" dirty="0"/>
              <a:t>If you have a column with data type Short text with maximum capacity for 100 characters, when you insert text that occupies only 10 characters, Access still allocates space for the other 90 characters. So, e.g. if your column is going to store last names, you know that they shouldn’t go beyond a certain size, maybe 40 characters, so it is best if you make that the field size.</a:t>
            </a:r>
          </a:p>
          <a:p>
            <a:pPr marL="285750" indent="-285750" algn="just">
              <a:lnSpc>
                <a:spcPct val="110000"/>
              </a:lnSpc>
              <a:buFontTx/>
              <a:buChar char="-"/>
            </a:pPr>
            <a:endParaRPr lang="en-US" dirty="0"/>
          </a:p>
          <a:p>
            <a:pPr marL="285750" indent="-285750" algn="just">
              <a:lnSpc>
                <a:spcPct val="110000"/>
              </a:lnSpc>
              <a:buFontTx/>
              <a:buChar char="-"/>
            </a:pPr>
            <a:r>
              <a:rPr lang="en-US" dirty="0"/>
              <a:t>If you have a column to store total number of credits, you can use any number type except “byte”. However, if you use e.g. “Long integer” you will always use 4 bytes, even when you are storing a small number like 300. If you know that your data has a maximum and minimum values, it is best if you choose the data type that fits those values and occupies the least amount of space.</a:t>
            </a:r>
          </a:p>
          <a:p>
            <a:pPr marL="285750" indent="-285750" algn="just">
              <a:lnSpc>
                <a:spcPct val="110000"/>
              </a:lnSpc>
              <a:buFontTx/>
              <a:buChar char="-"/>
            </a:pPr>
            <a:endParaRPr lang="en-US" dirty="0"/>
          </a:p>
          <a:p>
            <a:pPr marL="285750" indent="-285750" algn="just">
              <a:lnSpc>
                <a:spcPct val="110000"/>
              </a:lnSpc>
              <a:buFontTx/>
              <a:buChar char="-"/>
            </a:pPr>
            <a:r>
              <a:rPr lang="en-US" dirty="0"/>
              <a:t>Even if you leave a cell empty, Access still allocates some space for it.</a:t>
            </a:r>
          </a:p>
        </p:txBody>
      </p:sp>
    </p:spTree>
    <p:extLst>
      <p:ext uri="{BB962C8B-B14F-4D97-AF65-F5344CB8AC3E}">
        <p14:creationId xmlns:p14="http://schemas.microsoft.com/office/powerpoint/2010/main" val="400356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92649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524001" y="865889"/>
          <a:ext cx="9143999" cy="5992111"/>
        </p:xfrm>
        <a:graphic>
          <a:graphicData uri="http://schemas.openxmlformats.org/drawingml/2006/table">
            <a:tbl>
              <a:tblPr>
                <a:tableStyleId>{B301B821-A1FF-4177-AEE7-76D212191A09}</a:tableStyleId>
              </a:tblPr>
              <a:tblGrid>
                <a:gridCol w="1301160">
                  <a:extLst>
                    <a:ext uri="{9D8B030D-6E8A-4147-A177-3AD203B41FA5}">
                      <a16:colId xmlns:a16="http://schemas.microsoft.com/office/drawing/2014/main" val="20000"/>
                    </a:ext>
                  </a:extLst>
                </a:gridCol>
                <a:gridCol w="7842839">
                  <a:extLst>
                    <a:ext uri="{9D8B030D-6E8A-4147-A177-3AD203B41FA5}">
                      <a16:colId xmlns:a16="http://schemas.microsoft.com/office/drawing/2014/main" val="20001"/>
                    </a:ext>
                  </a:extLst>
                </a:gridCol>
              </a:tblGrid>
              <a:tr h="843218">
                <a:tc>
                  <a:txBody>
                    <a:bodyPr/>
                    <a:lstStyle/>
                    <a:p>
                      <a:pPr algn="l" fontAlgn="t"/>
                      <a:r>
                        <a:rPr lang="en-US" sz="1700" b="1" dirty="0">
                          <a:effectLst/>
                        </a:rPr>
                        <a:t>Short Text</a:t>
                      </a:r>
                      <a:endParaRPr lang="en-US" sz="1700" b="1" i="0" dirty="0">
                        <a:effectLst/>
                      </a:endParaRPr>
                    </a:p>
                  </a:txBody>
                  <a:tcPr marL="28536" marR="28536" marT="14268" marB="14268"/>
                </a:tc>
                <a:tc>
                  <a:txBody>
                    <a:bodyPr/>
                    <a:lstStyle/>
                    <a:p>
                      <a:pPr algn="l" fontAlgn="t"/>
                      <a:r>
                        <a:rPr lang="en-US" sz="1700" dirty="0">
                          <a:effectLst/>
                        </a:rPr>
                        <a:t>Text up to 255 characters long (including spaces and punctuation). Use a Text field, not a Number field, for codes even if they look like numbers, such as phone numbers, zip codes, and other postal codes.</a:t>
                      </a:r>
                      <a:endParaRPr lang="en-US" sz="1700" b="0" i="0" dirty="0">
                        <a:effectLst/>
                      </a:endParaRPr>
                    </a:p>
                  </a:txBody>
                  <a:tcPr marL="28536" marR="28536" marT="14268" marB="14268"/>
                </a:tc>
                <a:extLst>
                  <a:ext uri="{0D108BD9-81ED-4DB2-BD59-A6C34878D82A}">
                    <a16:rowId xmlns:a16="http://schemas.microsoft.com/office/drawing/2014/main" val="10000"/>
                  </a:ext>
                </a:extLst>
              </a:tr>
              <a:tr h="843218">
                <a:tc>
                  <a:txBody>
                    <a:bodyPr/>
                    <a:lstStyle/>
                    <a:p>
                      <a:pPr algn="l" fontAlgn="t"/>
                      <a:r>
                        <a:rPr lang="en-US" sz="1700" b="1" dirty="0">
                          <a:effectLst/>
                        </a:rPr>
                        <a:t>Long Text</a:t>
                      </a:r>
                      <a:endParaRPr lang="en-US" sz="1700" b="1" i="0" dirty="0">
                        <a:effectLst/>
                      </a:endParaRPr>
                    </a:p>
                  </a:txBody>
                  <a:tcPr marL="28536" marR="28536" marT="14268" marB="14268"/>
                </a:tc>
                <a:tc>
                  <a:txBody>
                    <a:bodyPr/>
                    <a:lstStyle/>
                    <a:p>
                      <a:pPr algn="l" fontAlgn="t"/>
                      <a:r>
                        <a:rPr lang="en-US" sz="1700" dirty="0">
                          <a:effectLst/>
                        </a:rPr>
                        <a:t>Text up to 65,536 characters. A Long Text field can contain Rich Text (formatted text), and you can set it to Append Only so that it can accumulate text notes without allowing the user to delete what’s already there. It used to be called ‘Memo’ in previous versions</a:t>
                      </a:r>
                      <a:endParaRPr lang="en-US" sz="1700" b="0" i="0" dirty="0">
                        <a:effectLst/>
                      </a:endParaRPr>
                    </a:p>
                  </a:txBody>
                  <a:tcPr marL="28536" marR="28536" marT="14268" marB="14268"/>
                </a:tc>
                <a:extLst>
                  <a:ext uri="{0D108BD9-81ED-4DB2-BD59-A6C34878D82A}">
                    <a16:rowId xmlns:a16="http://schemas.microsoft.com/office/drawing/2014/main" val="10001"/>
                  </a:ext>
                </a:extLst>
              </a:tr>
              <a:tr h="572099">
                <a:tc>
                  <a:txBody>
                    <a:bodyPr/>
                    <a:lstStyle/>
                    <a:p>
                      <a:pPr algn="l" fontAlgn="t"/>
                      <a:r>
                        <a:rPr lang="en-US" sz="1700" b="1">
                          <a:effectLst/>
                        </a:rPr>
                        <a:t>Number</a:t>
                      </a:r>
                      <a:endParaRPr lang="en-US" sz="1700" b="1" i="0">
                        <a:effectLst/>
                      </a:endParaRPr>
                    </a:p>
                  </a:txBody>
                  <a:tcPr marL="28536" marR="28536" marT="14268" marB="14268"/>
                </a:tc>
                <a:tc>
                  <a:txBody>
                    <a:bodyPr/>
                    <a:lstStyle/>
                    <a:p>
                      <a:pPr algn="l" fontAlgn="t"/>
                      <a:r>
                        <a:rPr lang="en-US" sz="1700" dirty="0">
                          <a:effectLst/>
                        </a:rPr>
                        <a:t>Only numbers. You may use + or – before the number, as well as a decimal point. If you plan to do math with a field, use a Number or Currency field.</a:t>
                      </a:r>
                      <a:endParaRPr lang="en-US" sz="1700" b="0" i="0" dirty="0">
                        <a:effectLst/>
                      </a:endParaRPr>
                    </a:p>
                  </a:txBody>
                  <a:tcPr marL="28536" marR="28536" marT="14268" marB="14268"/>
                </a:tc>
                <a:extLst>
                  <a:ext uri="{0D108BD9-81ED-4DB2-BD59-A6C34878D82A}">
                    <a16:rowId xmlns:a16="http://schemas.microsoft.com/office/drawing/2014/main" val="10002"/>
                  </a:ext>
                </a:extLst>
              </a:tr>
              <a:tr h="300981">
                <a:tc>
                  <a:txBody>
                    <a:bodyPr/>
                    <a:lstStyle/>
                    <a:p>
                      <a:pPr algn="l" fontAlgn="t"/>
                      <a:r>
                        <a:rPr lang="en-US" sz="1700" b="1" dirty="0">
                          <a:effectLst/>
                        </a:rPr>
                        <a:t>Currency</a:t>
                      </a:r>
                      <a:endParaRPr lang="en-US" sz="1700" b="1" i="0" dirty="0">
                        <a:effectLst/>
                      </a:endParaRPr>
                    </a:p>
                  </a:txBody>
                  <a:tcPr marL="28536" marR="28536" marT="14268" marB="14268"/>
                </a:tc>
                <a:tc>
                  <a:txBody>
                    <a:bodyPr/>
                    <a:lstStyle/>
                    <a:p>
                      <a:pPr algn="l" fontAlgn="t"/>
                      <a:r>
                        <a:rPr lang="en-US" sz="1700">
                          <a:effectLst/>
                        </a:rPr>
                        <a:t>Numbers with a currency sign in front of them ($, ¥, and so on).</a:t>
                      </a:r>
                      <a:endParaRPr lang="en-US" sz="1700" b="0" i="0">
                        <a:effectLst/>
                      </a:endParaRPr>
                    </a:p>
                  </a:txBody>
                  <a:tcPr marL="28536" marR="28536" marT="14268" marB="14268"/>
                </a:tc>
                <a:extLst>
                  <a:ext uri="{0D108BD9-81ED-4DB2-BD59-A6C34878D82A}">
                    <a16:rowId xmlns:a16="http://schemas.microsoft.com/office/drawing/2014/main" val="10003"/>
                  </a:ext>
                </a:extLst>
              </a:tr>
              <a:tr h="572099">
                <a:tc>
                  <a:txBody>
                    <a:bodyPr/>
                    <a:lstStyle/>
                    <a:p>
                      <a:pPr algn="l" fontAlgn="t"/>
                      <a:r>
                        <a:rPr lang="en-US" sz="1700" b="1" dirty="0">
                          <a:effectLst/>
                        </a:rPr>
                        <a:t>AutoNumber</a:t>
                      </a:r>
                      <a:endParaRPr lang="en-US" sz="1700" b="1" i="0" dirty="0">
                        <a:effectLst/>
                      </a:endParaRPr>
                    </a:p>
                  </a:txBody>
                  <a:tcPr marL="28536" marR="28536" marT="14268" marB="14268"/>
                </a:tc>
                <a:tc>
                  <a:txBody>
                    <a:bodyPr/>
                    <a:lstStyle/>
                    <a:p>
                      <a:pPr algn="l" fontAlgn="t"/>
                      <a:r>
                        <a:rPr lang="en-US" sz="1700" dirty="0">
                          <a:effectLst/>
                        </a:rPr>
                        <a:t>Numbers unique to each record and assigned by Access as you add records, starting at 1. Use an AutoNumber field as the primary key field for most tables.</a:t>
                      </a:r>
                      <a:endParaRPr lang="en-US" sz="1700" b="0" i="0" dirty="0">
                        <a:effectLst/>
                      </a:endParaRPr>
                    </a:p>
                  </a:txBody>
                  <a:tcPr marL="28536" marR="28536" marT="14268" marB="14268"/>
                </a:tc>
                <a:extLst>
                  <a:ext uri="{0D108BD9-81ED-4DB2-BD59-A6C34878D82A}">
                    <a16:rowId xmlns:a16="http://schemas.microsoft.com/office/drawing/2014/main" val="10004"/>
                  </a:ext>
                </a:extLst>
              </a:tr>
              <a:tr h="300981">
                <a:tc>
                  <a:txBody>
                    <a:bodyPr/>
                    <a:lstStyle/>
                    <a:p>
                      <a:pPr algn="l" fontAlgn="t"/>
                      <a:r>
                        <a:rPr lang="en-US" sz="1700" b="1">
                          <a:effectLst/>
                        </a:rPr>
                        <a:t>Date/Time</a:t>
                      </a:r>
                      <a:endParaRPr lang="en-US" sz="1700" b="1" i="0">
                        <a:effectLst/>
                      </a:endParaRPr>
                    </a:p>
                  </a:txBody>
                  <a:tcPr marL="28536" marR="28536" marT="14268" marB="14268"/>
                </a:tc>
                <a:tc>
                  <a:txBody>
                    <a:bodyPr/>
                    <a:lstStyle/>
                    <a:p>
                      <a:pPr algn="l" fontAlgn="t"/>
                      <a:r>
                        <a:rPr lang="en-US" sz="1700">
                          <a:effectLst/>
                        </a:rPr>
                        <a:t>Dates, times, or both.</a:t>
                      </a:r>
                      <a:endParaRPr lang="en-US" sz="1700" b="0" i="0">
                        <a:effectLst/>
                      </a:endParaRPr>
                    </a:p>
                  </a:txBody>
                  <a:tcPr marL="28536" marR="28536" marT="14268" marB="14268"/>
                </a:tc>
                <a:extLst>
                  <a:ext uri="{0D108BD9-81ED-4DB2-BD59-A6C34878D82A}">
                    <a16:rowId xmlns:a16="http://schemas.microsoft.com/office/drawing/2014/main" val="10005"/>
                  </a:ext>
                </a:extLst>
              </a:tr>
              <a:tr h="572099">
                <a:tc>
                  <a:txBody>
                    <a:bodyPr/>
                    <a:lstStyle/>
                    <a:p>
                      <a:pPr algn="l" fontAlgn="t"/>
                      <a:r>
                        <a:rPr lang="en-US" sz="1700" b="1" dirty="0">
                          <a:effectLst/>
                        </a:rPr>
                        <a:t>Hyperlink</a:t>
                      </a:r>
                      <a:endParaRPr lang="en-US" sz="1700" b="1" i="0" dirty="0">
                        <a:effectLst/>
                      </a:endParaRPr>
                    </a:p>
                  </a:txBody>
                  <a:tcPr marL="28536" marR="28536" marT="14268" marB="14268"/>
                </a:tc>
                <a:tc>
                  <a:txBody>
                    <a:bodyPr/>
                    <a:lstStyle/>
                    <a:p>
                      <a:pPr algn="l" fontAlgn="t"/>
                      <a:r>
                        <a:rPr lang="en-US" sz="1700" dirty="0">
                          <a:effectLst/>
                        </a:rPr>
                        <a:t>Text string formatted as a hyperlink. (If you click the link, it takes you to the page.) This field type is especially useful if related information is available on the web.</a:t>
                      </a:r>
                      <a:endParaRPr lang="en-US" sz="1700" b="0" i="0" dirty="0">
                        <a:effectLst/>
                      </a:endParaRPr>
                    </a:p>
                  </a:txBody>
                  <a:tcPr marL="28536" marR="28536" marT="14268" marB="14268"/>
                </a:tc>
                <a:extLst>
                  <a:ext uri="{0D108BD9-81ED-4DB2-BD59-A6C34878D82A}">
                    <a16:rowId xmlns:a16="http://schemas.microsoft.com/office/drawing/2014/main" val="10006"/>
                  </a:ext>
                </a:extLst>
              </a:tr>
              <a:tr h="843218">
                <a:tc>
                  <a:txBody>
                    <a:bodyPr/>
                    <a:lstStyle/>
                    <a:p>
                      <a:pPr algn="l" fontAlgn="t"/>
                      <a:r>
                        <a:rPr lang="en-US" sz="1700" b="1" dirty="0">
                          <a:effectLst/>
                        </a:rPr>
                        <a:t>Yes/No</a:t>
                      </a:r>
                      <a:endParaRPr lang="en-US" sz="1700" b="1" i="0" dirty="0">
                        <a:effectLst/>
                      </a:endParaRPr>
                    </a:p>
                  </a:txBody>
                  <a:tcPr marL="28536" marR="28536" marT="14268" marB="14268"/>
                </a:tc>
                <a:tc>
                  <a:txBody>
                    <a:bodyPr/>
                    <a:lstStyle/>
                    <a:p>
                      <a:pPr algn="l" fontAlgn="t"/>
                      <a:r>
                        <a:rPr lang="en-US" sz="1700" dirty="0">
                          <a:effectLst/>
                        </a:rPr>
                        <a:t>Yes or no (a particular condition is, or isn’t, in effect) — or other two-word sets, such as True/False, On/Off, and Male/Female. Use a Yes/No field if you want to display the field as a check box on forms.</a:t>
                      </a:r>
                      <a:endParaRPr lang="en-US" sz="1700" b="0" i="0" dirty="0">
                        <a:effectLst/>
                      </a:endParaRPr>
                    </a:p>
                  </a:txBody>
                  <a:tcPr marL="28536" marR="28536" marT="14268" marB="14268"/>
                </a:tc>
                <a:extLst>
                  <a:ext uri="{0D108BD9-81ED-4DB2-BD59-A6C34878D82A}">
                    <a16:rowId xmlns:a16="http://schemas.microsoft.com/office/drawing/2014/main" val="10007"/>
                  </a:ext>
                </a:extLst>
              </a:tr>
              <a:tr h="572099">
                <a:tc>
                  <a:txBody>
                    <a:bodyPr/>
                    <a:lstStyle/>
                    <a:p>
                      <a:pPr algn="l" fontAlgn="t"/>
                      <a:r>
                        <a:rPr lang="en-US" sz="1700" b="1" dirty="0">
                          <a:effectLst/>
                        </a:rPr>
                        <a:t>Attachment</a:t>
                      </a:r>
                      <a:endParaRPr lang="en-US" sz="1700" b="1" i="0" dirty="0">
                        <a:effectLst/>
                      </a:endParaRPr>
                    </a:p>
                  </a:txBody>
                  <a:tcPr marL="28536" marR="28536" marT="14268" marB="14268"/>
                </a:tc>
                <a:tc>
                  <a:txBody>
                    <a:bodyPr/>
                    <a:lstStyle/>
                    <a:p>
                      <a:pPr algn="l" fontAlgn="t"/>
                      <a:r>
                        <a:rPr lang="en-US" sz="1700" dirty="0">
                          <a:effectLst/>
                        </a:rPr>
                        <a:t>Stores one or more entire files — pictures, sound, Word documents, even video — in one Attachment field.</a:t>
                      </a:r>
                      <a:endParaRPr lang="en-US" sz="1700" b="0" i="0" dirty="0">
                        <a:effectLst/>
                      </a:endParaRPr>
                    </a:p>
                  </a:txBody>
                  <a:tcPr marL="28536" marR="28536" marT="14268" marB="14268"/>
                </a:tc>
                <a:extLst>
                  <a:ext uri="{0D108BD9-81ED-4DB2-BD59-A6C34878D82A}">
                    <a16:rowId xmlns:a16="http://schemas.microsoft.com/office/drawing/2014/main" val="10008"/>
                  </a:ext>
                </a:extLst>
              </a:tr>
              <a:tr h="572099">
                <a:tc>
                  <a:txBody>
                    <a:bodyPr/>
                    <a:lstStyle/>
                    <a:p>
                      <a:pPr algn="l" fontAlgn="t"/>
                      <a:r>
                        <a:rPr lang="en-US" sz="1700" b="1" dirty="0">
                          <a:effectLst/>
                        </a:rPr>
                        <a:t>Calculated</a:t>
                      </a:r>
                      <a:endParaRPr lang="en-US" sz="1700" b="1" i="0" dirty="0">
                        <a:effectLst/>
                      </a:endParaRPr>
                    </a:p>
                  </a:txBody>
                  <a:tcPr marL="28536" marR="28536" marT="14268" marB="14268"/>
                </a:tc>
                <a:tc>
                  <a:txBody>
                    <a:bodyPr/>
                    <a:lstStyle/>
                    <a:p>
                      <a:pPr algn="l" fontAlgn="t"/>
                      <a:r>
                        <a:rPr lang="en-US" sz="1700" dirty="0">
                          <a:effectLst/>
                        </a:rPr>
                        <a:t>Data created with a formula. Use a Calculated field when a calculated value will be used in many queries, forms, and reports.</a:t>
                      </a:r>
                      <a:endParaRPr lang="en-US" sz="1700" b="0" i="0" dirty="0">
                        <a:effectLst/>
                      </a:endParaRPr>
                    </a:p>
                  </a:txBody>
                  <a:tcPr marL="28536" marR="28536" marT="14268" marB="14268"/>
                </a:tc>
                <a:extLst>
                  <a:ext uri="{0D108BD9-81ED-4DB2-BD59-A6C34878D82A}">
                    <a16:rowId xmlns:a16="http://schemas.microsoft.com/office/drawing/2014/main" val="10009"/>
                  </a:ext>
                </a:extLst>
              </a:tr>
            </a:tbl>
          </a:graphicData>
        </a:graphic>
      </p:graphicFrame>
      <p:sp>
        <p:nvSpPr>
          <p:cNvPr id="4" name="Title 3"/>
          <p:cNvSpPr>
            <a:spLocks noGrp="1"/>
          </p:cNvSpPr>
          <p:nvPr>
            <p:ph type="title"/>
          </p:nvPr>
        </p:nvSpPr>
        <p:spPr>
          <a:xfrm>
            <a:off x="1524000" y="0"/>
            <a:ext cx="9144000" cy="814112"/>
          </a:xfrm>
        </p:spPr>
        <p:txBody>
          <a:bodyPr>
            <a:normAutofit/>
          </a:bodyPr>
          <a:lstStyle/>
          <a:p>
            <a:r>
              <a:rPr lang="en-US" dirty="0"/>
              <a:t>Possible field data types field in Access</a:t>
            </a:r>
          </a:p>
        </p:txBody>
      </p:sp>
    </p:spTree>
    <p:extLst>
      <p:ext uri="{BB962C8B-B14F-4D97-AF65-F5344CB8AC3E}">
        <p14:creationId xmlns:p14="http://schemas.microsoft.com/office/powerpoint/2010/main" val="708720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21188"/>
            <a:ext cx="8079581" cy="878506"/>
          </a:xfrm>
        </p:spPr>
        <p:txBody>
          <a:bodyPr/>
          <a:lstStyle/>
          <a:p>
            <a:r>
              <a:rPr lang="en-US" dirty="0"/>
              <a:t>Field properties</a:t>
            </a:r>
          </a:p>
        </p:txBody>
      </p:sp>
      <p:graphicFrame>
        <p:nvGraphicFramePr>
          <p:cNvPr id="4" name="Content Placeholder 3"/>
          <p:cNvGraphicFramePr>
            <a:graphicFrameLocks noGrp="1"/>
          </p:cNvGraphicFramePr>
          <p:nvPr>
            <p:ph idx="1"/>
          </p:nvPr>
        </p:nvGraphicFramePr>
        <p:xfrm>
          <a:off x="1524000" y="857319"/>
          <a:ext cx="9144000" cy="6279423"/>
        </p:xfrm>
        <a:graphic>
          <a:graphicData uri="http://schemas.openxmlformats.org/drawingml/2006/table">
            <a:tbl>
              <a:tblPr>
                <a:tableStyleId>{B301B821-A1FF-4177-AEE7-76D212191A09}</a:tableStyleId>
              </a:tblPr>
              <a:tblGrid>
                <a:gridCol w="1425039">
                  <a:extLst>
                    <a:ext uri="{9D8B030D-6E8A-4147-A177-3AD203B41FA5}">
                      <a16:colId xmlns:a16="http://schemas.microsoft.com/office/drawing/2014/main" val="20000"/>
                    </a:ext>
                  </a:extLst>
                </a:gridCol>
                <a:gridCol w="7718961">
                  <a:extLst>
                    <a:ext uri="{9D8B030D-6E8A-4147-A177-3AD203B41FA5}">
                      <a16:colId xmlns:a16="http://schemas.microsoft.com/office/drawing/2014/main" val="20001"/>
                    </a:ext>
                  </a:extLst>
                </a:gridCol>
              </a:tblGrid>
              <a:tr h="582127">
                <a:tc>
                  <a:txBody>
                    <a:bodyPr/>
                    <a:lstStyle/>
                    <a:p>
                      <a:pPr algn="l" fontAlgn="t"/>
                      <a:r>
                        <a:rPr lang="en-US" sz="1700" b="1" dirty="0">
                          <a:effectLst/>
                        </a:rPr>
                        <a:t>Field Size</a:t>
                      </a:r>
                    </a:p>
                  </a:txBody>
                  <a:tcPr marL="8035" marR="8370" marT="4185" marB="4185"/>
                </a:tc>
                <a:tc>
                  <a:txBody>
                    <a:bodyPr/>
                    <a:lstStyle/>
                    <a:p>
                      <a:pPr algn="l" fontAlgn="t"/>
                      <a:r>
                        <a:rPr lang="en-US" sz="1700" dirty="0">
                          <a:effectLst/>
                        </a:rPr>
                        <a:t>Allows</a:t>
                      </a:r>
                      <a:r>
                        <a:rPr lang="en-US" sz="1700" baseline="0" dirty="0">
                          <a:effectLst/>
                        </a:rPr>
                        <a:t> </a:t>
                      </a:r>
                      <a:r>
                        <a:rPr lang="en-US" sz="1700" dirty="0">
                          <a:effectLst/>
                        </a:rPr>
                        <a:t>to set the maximum size for data that is stored in a field that is set to the Text data type, the Number data type, or the AutoNumber data type.</a:t>
                      </a:r>
                    </a:p>
                  </a:txBody>
                  <a:tcPr marL="8035" marR="8370" marT="4185" marB="4185"/>
                </a:tc>
                <a:extLst>
                  <a:ext uri="{0D108BD9-81ED-4DB2-BD59-A6C34878D82A}">
                    <a16:rowId xmlns:a16="http://schemas.microsoft.com/office/drawing/2014/main" val="10000"/>
                  </a:ext>
                </a:extLst>
              </a:tr>
              <a:tr h="868564">
                <a:tc>
                  <a:txBody>
                    <a:bodyPr/>
                    <a:lstStyle/>
                    <a:p>
                      <a:pPr algn="l" fontAlgn="t"/>
                      <a:r>
                        <a:rPr lang="en-US" sz="1700" b="1" dirty="0">
                          <a:effectLst/>
                        </a:rPr>
                        <a:t>Format</a:t>
                      </a:r>
                    </a:p>
                  </a:txBody>
                  <a:tcPr marL="8035" marR="8370" marT="4185" marB="4185"/>
                </a:tc>
                <a:tc>
                  <a:txBody>
                    <a:bodyPr/>
                    <a:lstStyle/>
                    <a:p>
                      <a:pPr algn="l" fontAlgn="t"/>
                      <a:r>
                        <a:rPr lang="en-US" sz="1700" dirty="0">
                          <a:effectLst/>
                        </a:rPr>
                        <a:t>Customizes the way that numbers, dates, times, and text appear and print. The Format property only controls how the information in the field appears. The property does not store the information as formatted.</a:t>
                      </a:r>
                    </a:p>
                  </a:txBody>
                  <a:tcPr marL="8035" marR="8370" marT="4185" marB="4185"/>
                </a:tc>
                <a:extLst>
                  <a:ext uri="{0D108BD9-81ED-4DB2-BD59-A6C34878D82A}">
                    <a16:rowId xmlns:a16="http://schemas.microsoft.com/office/drawing/2014/main" val="10001"/>
                  </a:ext>
                </a:extLst>
              </a:tr>
              <a:tr h="582127">
                <a:tc>
                  <a:txBody>
                    <a:bodyPr/>
                    <a:lstStyle/>
                    <a:p>
                      <a:pPr algn="l" fontAlgn="t"/>
                      <a:r>
                        <a:rPr lang="en-US" sz="1700" b="1">
                          <a:effectLst/>
                        </a:rPr>
                        <a:t>Input Mask</a:t>
                      </a:r>
                    </a:p>
                  </a:txBody>
                  <a:tcPr marL="8035" marR="8370" marT="4185" marB="4185"/>
                </a:tc>
                <a:tc>
                  <a:txBody>
                    <a:bodyPr/>
                    <a:lstStyle/>
                    <a:p>
                      <a:pPr algn="l" fontAlgn="t"/>
                      <a:r>
                        <a:rPr lang="en-US" sz="1700" dirty="0">
                          <a:effectLst/>
                        </a:rPr>
                        <a:t>It makes data entry easier and to control the values that users can enter in a Text Box control.</a:t>
                      </a:r>
                    </a:p>
                  </a:txBody>
                  <a:tcPr marL="8035" marR="8370" marT="4185" marB="4185"/>
                </a:tc>
                <a:extLst>
                  <a:ext uri="{0D108BD9-81ED-4DB2-BD59-A6C34878D82A}">
                    <a16:rowId xmlns:a16="http://schemas.microsoft.com/office/drawing/2014/main" val="10002"/>
                  </a:ext>
                </a:extLst>
              </a:tr>
              <a:tr h="582127">
                <a:tc>
                  <a:txBody>
                    <a:bodyPr/>
                    <a:lstStyle/>
                    <a:p>
                      <a:pPr algn="l" fontAlgn="t"/>
                      <a:r>
                        <a:rPr lang="en-US" sz="1700" b="1">
                          <a:effectLst/>
                        </a:rPr>
                        <a:t>Caption</a:t>
                      </a:r>
                    </a:p>
                  </a:txBody>
                  <a:tcPr marL="8035" marR="8370" marT="4185" marB="4185"/>
                </a:tc>
                <a:tc>
                  <a:txBody>
                    <a:bodyPr/>
                    <a:lstStyle/>
                    <a:p>
                      <a:pPr algn="l" fontAlgn="t"/>
                      <a:r>
                        <a:rPr lang="en-US" sz="1700" dirty="0">
                          <a:effectLst/>
                        </a:rPr>
                        <a:t>This</a:t>
                      </a:r>
                      <a:r>
                        <a:rPr lang="en-US" sz="1700" baseline="0" dirty="0">
                          <a:effectLst/>
                        </a:rPr>
                        <a:t> enables an alternate name to be displayed other than the field name; alternate names appear in datasheets, forms and reports.</a:t>
                      </a:r>
                      <a:endParaRPr lang="en-US" sz="1700" dirty="0">
                        <a:effectLst/>
                      </a:endParaRPr>
                    </a:p>
                  </a:txBody>
                  <a:tcPr marL="8035" marR="8370" marT="4185" marB="4185"/>
                </a:tc>
                <a:extLst>
                  <a:ext uri="{0D108BD9-81ED-4DB2-BD59-A6C34878D82A}">
                    <a16:rowId xmlns:a16="http://schemas.microsoft.com/office/drawing/2014/main" val="10003"/>
                  </a:ext>
                </a:extLst>
              </a:tr>
              <a:tr h="582127">
                <a:tc>
                  <a:txBody>
                    <a:bodyPr/>
                    <a:lstStyle/>
                    <a:p>
                      <a:pPr algn="l" fontAlgn="t"/>
                      <a:r>
                        <a:rPr lang="en-US" sz="1700" b="1">
                          <a:effectLst/>
                        </a:rPr>
                        <a:t>Default Value</a:t>
                      </a:r>
                    </a:p>
                  </a:txBody>
                  <a:tcPr marL="8035" marR="8370" marT="4185" marB="4185"/>
                </a:tc>
                <a:tc>
                  <a:txBody>
                    <a:bodyPr/>
                    <a:lstStyle/>
                    <a:p>
                      <a:pPr algn="l" fontAlgn="t"/>
                      <a:r>
                        <a:rPr lang="en-US" sz="1700" dirty="0">
                          <a:effectLst/>
                        </a:rPr>
                        <a:t>You can specify a value for a field that is automatically entered in the field when a new record is created. </a:t>
                      </a:r>
                    </a:p>
                  </a:txBody>
                  <a:tcPr marL="8035" marR="8370" marT="4185" marB="4185"/>
                </a:tc>
                <a:extLst>
                  <a:ext uri="{0D108BD9-81ED-4DB2-BD59-A6C34878D82A}">
                    <a16:rowId xmlns:a16="http://schemas.microsoft.com/office/drawing/2014/main" val="10004"/>
                  </a:ext>
                </a:extLst>
              </a:tr>
              <a:tr h="868564">
                <a:tc>
                  <a:txBody>
                    <a:bodyPr/>
                    <a:lstStyle/>
                    <a:p>
                      <a:pPr algn="l" fontAlgn="t"/>
                      <a:r>
                        <a:rPr lang="en-US" sz="1700" b="1" dirty="0">
                          <a:effectLst/>
                        </a:rPr>
                        <a:t>Validation Rule</a:t>
                      </a:r>
                    </a:p>
                  </a:txBody>
                  <a:tcPr marL="8035" marR="8370" marT="4185" marB="4185"/>
                </a:tc>
                <a:tc>
                  <a:txBody>
                    <a:bodyPr/>
                    <a:lstStyle/>
                    <a:p>
                      <a:pPr algn="l" fontAlgn="t"/>
                      <a:r>
                        <a:rPr lang="en-US" sz="1700" dirty="0">
                          <a:effectLst/>
                        </a:rPr>
                        <a:t>Specifies requirements for data that are entered in a record, in a field, or in a control. When data is entered that violates the Validation Rule setting, you can use the Validation </a:t>
                      </a:r>
                      <a:r>
                        <a:rPr lang="en-US" sz="1700" dirty="0" err="1">
                          <a:effectLst/>
                        </a:rPr>
                        <a:t>Textproperty</a:t>
                      </a:r>
                      <a:r>
                        <a:rPr lang="en-US" sz="1700" dirty="0">
                          <a:effectLst/>
                        </a:rPr>
                        <a:t> to specify the message that you want to appear when the violation occurs.</a:t>
                      </a:r>
                    </a:p>
                  </a:txBody>
                  <a:tcPr marL="8035" marR="8370" marT="4185" marB="4185"/>
                </a:tc>
                <a:extLst>
                  <a:ext uri="{0D108BD9-81ED-4DB2-BD59-A6C34878D82A}">
                    <a16:rowId xmlns:a16="http://schemas.microsoft.com/office/drawing/2014/main" val="10005"/>
                  </a:ext>
                </a:extLst>
              </a:tr>
              <a:tr h="335080">
                <a:tc>
                  <a:txBody>
                    <a:bodyPr/>
                    <a:lstStyle/>
                    <a:p>
                      <a:pPr algn="l" fontAlgn="t"/>
                      <a:r>
                        <a:rPr lang="en-US" sz="1700" b="1">
                          <a:effectLst/>
                        </a:rPr>
                        <a:t>Validation Text</a:t>
                      </a:r>
                    </a:p>
                  </a:txBody>
                  <a:tcPr marL="8035" marR="8370" marT="4185" marB="4185"/>
                </a:tc>
                <a:tc>
                  <a:txBody>
                    <a:bodyPr/>
                    <a:lstStyle/>
                    <a:p>
                      <a:pPr algn="l" fontAlgn="t"/>
                      <a:r>
                        <a:rPr lang="en-US" sz="1700">
                          <a:effectLst/>
                        </a:rPr>
                        <a:t>You can specify a message that must appear when a validation rule is violated.</a:t>
                      </a:r>
                    </a:p>
                  </a:txBody>
                  <a:tcPr marL="8035" marR="8370" marT="4185" marB="4185"/>
                </a:tc>
                <a:extLst>
                  <a:ext uri="{0D108BD9-81ED-4DB2-BD59-A6C34878D82A}">
                    <a16:rowId xmlns:a16="http://schemas.microsoft.com/office/drawing/2014/main" val="10006"/>
                  </a:ext>
                </a:extLst>
              </a:tr>
              <a:tr h="682993">
                <a:tc>
                  <a:txBody>
                    <a:bodyPr/>
                    <a:lstStyle/>
                    <a:p>
                      <a:pPr algn="l" fontAlgn="t"/>
                      <a:r>
                        <a:rPr lang="en-US" sz="1700" b="1">
                          <a:effectLst/>
                        </a:rPr>
                        <a:t>Required</a:t>
                      </a:r>
                    </a:p>
                  </a:txBody>
                  <a:tcPr marL="8035" marR="8370" marT="4185" marB="4185"/>
                </a:tc>
                <a:tc>
                  <a:txBody>
                    <a:bodyPr/>
                    <a:lstStyle/>
                    <a:p>
                      <a:pPr algn="l" fontAlgn="t"/>
                      <a:r>
                        <a:rPr lang="en-US" sz="1700" dirty="0">
                          <a:effectLst/>
                        </a:rPr>
                        <a:t>Specifies if a value is required in a field. If this property is set to Yes, when you enter data in a record, you must enter a value in the field or in any control that is bound to the field.</a:t>
                      </a:r>
                    </a:p>
                  </a:txBody>
                  <a:tcPr marL="8035" marR="8370" marT="4185" marB="4185"/>
                </a:tc>
                <a:extLst>
                  <a:ext uri="{0D108BD9-81ED-4DB2-BD59-A6C34878D82A}">
                    <a16:rowId xmlns:a16="http://schemas.microsoft.com/office/drawing/2014/main" val="10007"/>
                  </a:ext>
                </a:extLst>
              </a:tr>
              <a:tr h="582127">
                <a:tc>
                  <a:txBody>
                    <a:bodyPr/>
                    <a:lstStyle/>
                    <a:p>
                      <a:pPr algn="l" fontAlgn="t"/>
                      <a:r>
                        <a:rPr lang="en-US" sz="1700" b="1" dirty="0">
                          <a:effectLst/>
                        </a:rPr>
                        <a:t>Allow Zero Length</a:t>
                      </a:r>
                    </a:p>
                  </a:txBody>
                  <a:tcPr marL="8035" marR="8370" marT="4185" marB="4185"/>
                </a:tc>
                <a:tc>
                  <a:txBody>
                    <a:bodyPr/>
                    <a:lstStyle/>
                    <a:p>
                      <a:pPr algn="l" fontAlgn="t"/>
                      <a:r>
                        <a:rPr lang="en-US" sz="1700" dirty="0">
                          <a:effectLst/>
                        </a:rPr>
                        <a:t>Specifies if a zero-length string (" ") is a valid entry in a table field.</a:t>
                      </a:r>
                    </a:p>
                  </a:txBody>
                  <a:tcPr marL="8035" marR="8370" marT="4185" marB="4185"/>
                </a:tc>
                <a:extLst>
                  <a:ext uri="{0D108BD9-81ED-4DB2-BD59-A6C34878D82A}">
                    <a16:rowId xmlns:a16="http://schemas.microsoft.com/office/drawing/2014/main" val="10008"/>
                  </a:ext>
                </a:extLst>
              </a:tr>
              <a:tr h="334844">
                <a:tc>
                  <a:txBody>
                    <a:bodyPr/>
                    <a:lstStyle/>
                    <a:p>
                      <a:pPr algn="l" fontAlgn="t"/>
                      <a:r>
                        <a:rPr lang="en-US" sz="1700" b="1" dirty="0">
                          <a:effectLst/>
                        </a:rPr>
                        <a:t>Decimal Places</a:t>
                      </a:r>
                    </a:p>
                  </a:txBody>
                  <a:tcPr marL="8035" marR="8370" marT="4185" marB="4185"/>
                </a:tc>
                <a:tc>
                  <a:txBody>
                    <a:bodyPr/>
                    <a:lstStyle/>
                    <a:p>
                      <a:pPr algn="l" fontAlgn="t"/>
                      <a:r>
                        <a:rPr lang="en-US" sz="1700" dirty="0">
                          <a:effectLst/>
                        </a:rPr>
                        <a:t>Specifies the number of decimal places to display numbers.</a:t>
                      </a:r>
                    </a:p>
                  </a:txBody>
                  <a:tcPr marL="8035" marR="8370" marT="4185" marB="4185"/>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809113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792" y="202650"/>
            <a:ext cx="8079581" cy="996758"/>
          </a:xfrm>
        </p:spPr>
        <p:txBody>
          <a:bodyPr>
            <a:normAutofit/>
          </a:bodyPr>
          <a:lstStyle/>
          <a:p>
            <a:r>
              <a:rPr lang="en-US" dirty="0"/>
              <a:t>More online resources on fields…</a:t>
            </a:r>
          </a:p>
        </p:txBody>
      </p:sp>
      <p:sp>
        <p:nvSpPr>
          <p:cNvPr id="3" name="Content Placeholder 2"/>
          <p:cNvSpPr>
            <a:spLocks noGrp="1"/>
          </p:cNvSpPr>
          <p:nvPr>
            <p:ph idx="1"/>
          </p:nvPr>
        </p:nvSpPr>
        <p:spPr>
          <a:xfrm>
            <a:off x="1948078" y="1508167"/>
            <a:ext cx="8065294" cy="4688353"/>
          </a:xfrm>
        </p:spPr>
        <p:txBody>
          <a:bodyPr>
            <a:normAutofit/>
          </a:bodyPr>
          <a:lstStyle/>
          <a:p>
            <a:pPr marL="0" indent="0" algn="just">
              <a:buNone/>
            </a:pPr>
            <a:endParaRPr lang="en-US" dirty="0"/>
          </a:p>
          <a:p>
            <a:pPr algn="just">
              <a:buFont typeface="Wingdings" panose="05000000000000000000" pitchFamily="2" charset="2"/>
              <a:buChar char="§"/>
            </a:pPr>
            <a:r>
              <a:rPr lang="en-US" dirty="0"/>
              <a:t> On data types and field properties</a:t>
            </a:r>
          </a:p>
          <a:p>
            <a:pPr marL="0" indent="0" algn="just">
              <a:buNone/>
            </a:pPr>
            <a:r>
              <a:rPr lang="en-US" sz="2000" dirty="0">
                <a:hlinkClick r:id="rId2"/>
              </a:rPr>
              <a:t>https://support.office.com/en-US/article/Field-properties-quick-reference-2D1ED3B6-C332-4F66-9CB3-BE4690BF06C1</a:t>
            </a:r>
            <a:endParaRPr lang="en-US" sz="2000" dirty="0"/>
          </a:p>
          <a:p>
            <a:pPr marL="0" indent="0" algn="just">
              <a:buNone/>
            </a:pPr>
            <a:endParaRPr lang="en-US" sz="2000" dirty="0"/>
          </a:p>
          <a:p>
            <a:pPr algn="just">
              <a:buFont typeface="Wingdings" panose="05000000000000000000" pitchFamily="2" charset="2"/>
              <a:buChar char="§"/>
            </a:pPr>
            <a:r>
              <a:rPr lang="en-US" dirty="0"/>
              <a:t> On how to set the size of a number and text field: when to choose integer, long integer, single, </a:t>
            </a:r>
            <a:r>
              <a:rPr lang="en-US" dirty="0" err="1"/>
              <a:t>etc</a:t>
            </a:r>
            <a:r>
              <a:rPr lang="en-US" dirty="0"/>
              <a:t>….</a:t>
            </a:r>
          </a:p>
          <a:p>
            <a:pPr marL="0" indent="0" algn="just">
              <a:buNone/>
            </a:pPr>
            <a:r>
              <a:rPr lang="en-US" sz="2000" dirty="0">
                <a:hlinkClick r:id="rId3"/>
              </a:rPr>
              <a:t>https://support.office.com/en-US/article/Set-the-field-size-BA65E5A7-2E6F-4737-8E72-36B93F966A33</a:t>
            </a:r>
            <a:endParaRPr lang="en-US" sz="2000" dirty="0"/>
          </a:p>
          <a:p>
            <a:pPr algn="just">
              <a:buFont typeface="Wingdings" panose="05000000000000000000" pitchFamily="2" charset="2"/>
              <a:buChar char="§"/>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16</a:t>
            </a:fld>
            <a:endParaRPr lang="en-US"/>
          </a:p>
        </p:txBody>
      </p:sp>
    </p:spTree>
    <p:extLst>
      <p:ext uri="{BB962C8B-B14F-4D97-AF65-F5344CB8AC3E}">
        <p14:creationId xmlns:p14="http://schemas.microsoft.com/office/powerpoint/2010/main" val="42422743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1418</Words>
  <Application>Microsoft Office PowerPoint</Application>
  <PresentationFormat>Widescreen</PresentationFormat>
  <Paragraphs>188</Paragraphs>
  <Slides>16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Wingdings</vt:lpstr>
      <vt:lpstr>Office Theme</vt:lpstr>
      <vt:lpstr>Intro to Access: tables</vt:lpstr>
      <vt:lpstr>Outline</vt:lpstr>
      <vt:lpstr>Intro to MS Access</vt:lpstr>
      <vt:lpstr>Database objects</vt:lpstr>
      <vt:lpstr>Creating a table</vt:lpstr>
      <vt:lpstr>Create the students table</vt:lpstr>
      <vt:lpstr>Table Design</vt:lpstr>
      <vt:lpstr>Ms Access Data Types</vt:lpstr>
      <vt:lpstr>Table Design</vt:lpstr>
      <vt:lpstr>Storage space per data type</vt:lpstr>
      <vt:lpstr>Storage space for “Number” data type </vt:lpstr>
      <vt:lpstr>Why is knowing the storage space of the data field important?</vt:lpstr>
      <vt:lpstr>Appendix</vt:lpstr>
      <vt:lpstr>Possible field data types field in Access</vt:lpstr>
      <vt:lpstr>Field properties</vt:lpstr>
      <vt:lpstr>More online resources on fields…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Access: tables</dc:title>
  <dc:creator>Disha Parkhi</dc:creator>
  <cp:lastModifiedBy>Disha Parkhi</cp:lastModifiedBy>
  <cp:revision>1</cp:revision>
  <dcterms:created xsi:type="dcterms:W3CDTF">2020-08-22T20:46:30Z</dcterms:created>
  <dcterms:modified xsi:type="dcterms:W3CDTF">2020-08-22T20:47:25Z</dcterms:modified>
</cp:coreProperties>
</file>