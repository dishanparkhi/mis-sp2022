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4062" r:id="rId1"/>
  </p:sldMasterIdLst>
  <p:notesMasterIdLst>
    <p:notesMasterId r:id="rId15"/>
  </p:notesMasterIdLst>
  <p:handoutMasterIdLst>
    <p:handoutMasterId r:id="rId16"/>
  </p:handoutMasterIdLst>
  <p:sldIdLst>
    <p:sldId id="256" r:id="rId2"/>
    <p:sldId id="257" r:id="rId3"/>
    <p:sldId id="263" r:id="rId4"/>
    <p:sldId id="293" r:id="rId5"/>
    <p:sldId id="267" r:id="rId6"/>
    <p:sldId id="268" r:id="rId7"/>
    <p:sldId id="286" r:id="rId8"/>
    <p:sldId id="287" r:id="rId9"/>
    <p:sldId id="270" r:id="rId10"/>
    <p:sldId id="269" r:id="rId11"/>
    <p:sldId id="295" r:id="rId12"/>
    <p:sldId id="289" r:id="rId13"/>
    <p:sldId id="290" r:id="rId14"/>
  </p:sldIdLst>
  <p:sldSz cx="9144000" cy="6858000" type="screen4x3"/>
  <p:notesSz cx="6858000" cy="92964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Default Section" id="{C892008D-43F3-4264-941F-487151B80BC1}">
          <p14:sldIdLst>
            <p14:sldId id="256"/>
            <p14:sldId id="257"/>
            <p14:sldId id="263"/>
          </p14:sldIdLst>
        </p14:section>
        <p14:section name="Forms, Reports, Queries" id="{4878622D-DB49-43E9-887B-D7E2034B4501}">
          <p14:sldIdLst>
            <p14:sldId id="293"/>
            <p14:sldId id="267"/>
            <p14:sldId id="268"/>
            <p14:sldId id="286"/>
            <p14:sldId id="287"/>
            <p14:sldId id="270"/>
            <p14:sldId id="269"/>
            <p14:sldId id="295"/>
            <p14:sldId id="289"/>
            <p14:sldId id="290"/>
          </p14:sldIdLst>
        </p14:section>
      </p14:sectionLst>
    </p:ex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Marta 2" initials="M2" lastIdx="2" clrIdx="0">
    <p:extLst>
      <p:ext uri="{19B8F6BF-5375-455C-9EA6-DF929625EA0E}">
        <p15:presenceInfo xmlns:p15="http://schemas.microsoft.com/office/powerpoint/2012/main" userId="Marta 2" providerId="Non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3FAFB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B301B821-A1FF-4177-AEE7-76D212191A09}" styleName="Medium Style 1 - Accent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1">
              <a:tint val="20000"/>
            </a:schemeClr>
          </a:solidFill>
        </a:fill>
      </a:tcStyle>
    </a:band1H>
    <a:band1V>
      <a:tcStyle>
        <a:tcBdr/>
        <a:fill>
          <a:solidFill>
            <a:schemeClr val="accent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Row>
  </a:tblStyle>
  <a:tblStyle styleId="{69CF1AB2-1976-4502-BF36-3FF5EA218861}" styleName="Medium Style 4 - Accent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1"/>
              </a:solidFill>
            </a:ln>
          </a:top>
        </a:tcBdr>
        <a:fill>
          <a:solidFill>
            <a:schemeClr val="accent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1">
              <a:tint val="20000"/>
            </a:schemeClr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23497" autoAdjust="0"/>
    <p:restoredTop sz="94660"/>
  </p:normalViewPr>
  <p:slideViewPr>
    <p:cSldViewPr snapToGrid="0">
      <p:cViewPr varScale="1">
        <p:scale>
          <a:sx n="114" d="100"/>
          <a:sy n="114" d="100"/>
        </p:scale>
        <p:origin x="1122" y="84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commentAuthors" Target="commentAuthors.xml"/><Relationship Id="rId2" Type="http://schemas.openxmlformats.org/officeDocument/2006/relationships/slide" Target="slides/slide1.xml"/><Relationship Id="rId16" Type="http://schemas.openxmlformats.org/officeDocument/2006/relationships/handoutMaster" Target="handoutMasters/handoutMaster1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Disha Parkhi" userId="7ca7a02737f3c9a0" providerId="LiveId" clId="{DA412373-0778-41CF-BA0F-0D9913306475}"/>
    <pc:docChg chg="modSld">
      <pc:chgData name="Disha Parkhi" userId="7ca7a02737f3c9a0" providerId="LiveId" clId="{DA412373-0778-41CF-BA0F-0D9913306475}" dt="2021-02-24T14:39:13.499" v="11" actId="20577"/>
      <pc:docMkLst>
        <pc:docMk/>
      </pc:docMkLst>
      <pc:sldChg chg="modSp mod">
        <pc:chgData name="Disha Parkhi" userId="7ca7a02737f3c9a0" providerId="LiveId" clId="{DA412373-0778-41CF-BA0F-0D9913306475}" dt="2021-02-24T14:39:13.499" v="11" actId="20577"/>
        <pc:sldMkLst>
          <pc:docMk/>
          <pc:sldMk cId="2685054212" sldId="256"/>
        </pc:sldMkLst>
        <pc:spChg chg="mod">
          <ac:chgData name="Disha Parkhi" userId="7ca7a02737f3c9a0" providerId="LiveId" clId="{DA412373-0778-41CF-BA0F-0D9913306475}" dt="2021-02-24T14:39:13.499" v="11" actId="20577"/>
          <ac:spMkLst>
            <pc:docMk/>
            <pc:sldMk cId="2685054212" sldId="256"/>
            <ac:spMk id="3" creationId="{00000000-0000-0000-0000-000000000000}"/>
          </ac:spMkLst>
        </pc:spChg>
      </pc:sld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66434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66434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3364537-CB81-48C5-9987-02BC78C403A4}" type="datetimeFigureOut">
              <a:rPr lang="en-US" smtClean="0"/>
              <a:t>2/24/2021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829967"/>
            <a:ext cx="2971800" cy="46643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829967"/>
            <a:ext cx="2971800" cy="46643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A932F2C-5539-4076-A809-E2A129384AA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90253490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66434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66434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7A0DF44-810D-4C2D-8635-EB97E7E0F999}" type="datetimeFigureOut">
              <a:rPr lang="en-US" smtClean="0"/>
              <a:t>2/24/2021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338263" y="1162050"/>
            <a:ext cx="4181475" cy="31369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73892"/>
            <a:ext cx="5486400" cy="366045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829967"/>
            <a:ext cx="2971800" cy="46643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829967"/>
            <a:ext cx="2971800" cy="46643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574D6CA-5B07-41E0-A7A1-3547E26766A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1812378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52628" y="770467"/>
            <a:ext cx="8086725" cy="3352800"/>
          </a:xfrm>
        </p:spPr>
        <p:txBody>
          <a:bodyPr anchor="b">
            <a:noAutofit/>
          </a:bodyPr>
          <a:lstStyle>
            <a:lvl1pPr algn="l">
              <a:lnSpc>
                <a:spcPct val="80000"/>
              </a:lnSpc>
              <a:defRPr sz="8000" spc="-120" baseline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500634" y="4198409"/>
            <a:ext cx="6921151" cy="1645920"/>
          </a:xfrm>
        </p:spPr>
        <p:txBody>
          <a:bodyPr>
            <a:normAutofit/>
          </a:bodyPr>
          <a:lstStyle>
            <a:lvl1pPr marL="0" indent="0" algn="l">
              <a:buNone/>
              <a:defRPr sz="2800">
                <a:solidFill>
                  <a:schemeClr val="bg1"/>
                </a:solidFill>
                <a:latin typeface="+mj-lt"/>
              </a:defRPr>
            </a:lvl1pPr>
            <a:lvl2pPr marL="457200" indent="0" algn="ctr">
              <a:buNone/>
              <a:defRPr sz="2800"/>
            </a:lvl2pPr>
            <a:lvl3pPr marL="914400" indent="0" algn="ctr">
              <a:buNone/>
              <a:defRPr sz="24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rgbClr val="FFFFFF">
                    <a:alpha val="75000"/>
                  </a:srgbClr>
                </a:solidFill>
              </a:defRPr>
            </a:lvl1pPr>
          </a:lstStyle>
          <a:p>
            <a:fld id="{8D18C9B7-651E-45F8-B15E-4176CB8E564A}" type="datetime1">
              <a:rPr lang="en-US" smtClean="0"/>
              <a:t>2/24/2021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rgbClr val="FFFFFF">
                    <a:alpha val="75000"/>
                  </a:srgbClr>
                </a:solidFill>
              </a:defRPr>
            </a:lvl1pPr>
          </a:lstStyle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rgbClr val="FFFFFF">
                    <a:alpha val="20000"/>
                  </a:srgbClr>
                </a:solidFill>
              </a:defRPr>
            </a:lvl1pPr>
          </a:lstStyle>
          <a:p>
            <a:fld id="{87F3E754-1C97-4481-A18C-9D97ADBDF34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04700393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472218-9AC8-4D5F-89A3-04D6A9381F6F}" type="datetime1">
              <a:rPr lang="en-US" smtClean="0"/>
              <a:t>2/24/2021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F3E754-1C97-4481-A18C-9D97ADBDF34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7343458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2628" y="767419"/>
            <a:ext cx="8085582" cy="3355848"/>
          </a:xfrm>
        </p:spPr>
        <p:txBody>
          <a:bodyPr anchor="b">
            <a:normAutofit/>
          </a:bodyPr>
          <a:lstStyle>
            <a:lvl1pPr>
              <a:lnSpc>
                <a:spcPct val="80000"/>
              </a:lnSpc>
              <a:defRPr sz="8000" b="0" baseline="0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00634" y="4187275"/>
            <a:ext cx="6919722" cy="1645920"/>
          </a:xfrm>
        </p:spPr>
        <p:txBody>
          <a:bodyPr anchor="t">
            <a:normAutofit/>
          </a:bodyPr>
          <a:lstStyle>
            <a:lvl1pPr marL="0" indent="0">
              <a:buNone/>
              <a:defRPr sz="2800">
                <a:solidFill>
                  <a:schemeClr val="tx1"/>
                </a:solidFill>
                <a:latin typeface="+mj-lt"/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C2E5C3-E54B-4F31-BA00-65B264DB386D}" type="datetime1">
              <a:rPr lang="en-US" smtClean="0"/>
              <a:t>2/24/2021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F3E754-1C97-4481-A18C-9D97ADBDF34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54699609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507492" y="1993392"/>
            <a:ext cx="3806190" cy="3767328"/>
          </a:xfrm>
        </p:spPr>
        <p:txBody>
          <a:bodyPr/>
          <a:lstStyle>
            <a:lvl1pPr>
              <a:defRPr sz="2200"/>
            </a:lvl1pPr>
            <a:lvl2pPr>
              <a:defRPr sz="1900"/>
            </a:lvl2pPr>
            <a:lvl3pPr>
              <a:defRPr sz="1700"/>
            </a:lvl3pPr>
            <a:lvl4pPr>
              <a:defRPr sz="15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757738" y="1993392"/>
            <a:ext cx="3806190" cy="3767328"/>
          </a:xfrm>
        </p:spPr>
        <p:txBody>
          <a:bodyPr/>
          <a:lstStyle>
            <a:lvl1pPr>
              <a:defRPr sz="2200"/>
            </a:lvl1pPr>
            <a:lvl2pPr>
              <a:defRPr sz="1900"/>
            </a:lvl2pPr>
            <a:lvl3pPr>
              <a:defRPr sz="1700"/>
            </a:lvl3pPr>
            <a:lvl4pPr>
              <a:defRPr sz="15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7A4E33-5439-4ECA-8658-E1D544E0BD4F}" type="datetime1">
              <a:rPr lang="en-US" smtClean="0"/>
              <a:t>2/24/2021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F3E754-1C97-4481-A18C-9D97ADBDF34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0861356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07492" y="2032000"/>
            <a:ext cx="3806190" cy="723400"/>
          </a:xfrm>
        </p:spPr>
        <p:txBody>
          <a:bodyPr anchor="ctr">
            <a:normAutofit/>
          </a:bodyPr>
          <a:lstStyle>
            <a:lvl1pPr marL="0" indent="0">
              <a:spcBef>
                <a:spcPts val="0"/>
              </a:spcBef>
              <a:buNone/>
              <a:defRPr sz="2000" b="0" cap="all" baseline="0">
                <a:solidFill>
                  <a:schemeClr val="tx1">
                    <a:lumMod val="85000"/>
                    <a:lumOff val="15000"/>
                  </a:schemeClr>
                </a:solidFill>
                <a:latin typeface="+mj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7492" y="2736150"/>
            <a:ext cx="3806190" cy="3200400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766310" y="2029968"/>
            <a:ext cx="3806190" cy="722376"/>
          </a:xfrm>
        </p:spPr>
        <p:txBody>
          <a:bodyPr anchor="ctr">
            <a:normAutofit/>
          </a:bodyPr>
          <a:lstStyle>
            <a:lvl1pPr marL="0" indent="0">
              <a:spcBef>
                <a:spcPts val="0"/>
              </a:spcBef>
              <a:buNone/>
              <a:defRPr sz="2000" b="0" cap="all" baseline="0">
                <a:latin typeface="+mj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766310" y="2734056"/>
            <a:ext cx="3806190" cy="3200400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E3BD71-6BE2-46FD-AE9C-1771BC3326B6}" type="datetime1">
              <a:rPr lang="en-US" smtClean="0"/>
              <a:t>2/24/2021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F3E754-1C97-4481-A18C-9D97ADBDF34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196500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06E534-F11F-4B2B-B121-CC286C6F970E}" type="datetime1">
              <a:rPr lang="en-US" smtClean="0"/>
              <a:t>2/24/2021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F3E754-1C97-4481-A18C-9D97ADBDF34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6672058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8400D6-889A-409A-B88B-A9D8B6699628}" type="datetime1">
              <a:rPr lang="en-US" smtClean="0"/>
              <a:t>2/24/2021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F3E754-1C97-4481-A18C-9D97ADBDF34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177069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5715000" y="0"/>
            <a:ext cx="3429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Title 8"/>
          <p:cNvSpPr>
            <a:spLocks noGrp="1"/>
          </p:cNvSpPr>
          <p:nvPr>
            <p:ph type="title"/>
          </p:nvPr>
        </p:nvSpPr>
        <p:spPr>
          <a:xfrm>
            <a:off x="6196053" y="542282"/>
            <a:ext cx="2537460" cy="1920240"/>
          </a:xfrm>
        </p:spPr>
        <p:txBody>
          <a:bodyPr anchor="b">
            <a:noAutofit/>
          </a:bodyPr>
          <a:lstStyle>
            <a:lvl1pPr>
              <a:lnSpc>
                <a:spcPct val="85000"/>
              </a:lnSpc>
              <a:defRPr sz="360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71500" y="762000"/>
            <a:ext cx="4572000" cy="4572000"/>
          </a:xfrm>
        </p:spPr>
        <p:txBody>
          <a:bodyPr/>
          <a:lstStyle>
            <a:lvl1pPr>
              <a:defRPr sz="2200"/>
            </a:lvl1pPr>
            <a:lvl2pPr>
              <a:defRPr sz="1900"/>
            </a:lvl2pPr>
            <a:lvl3pPr>
              <a:defRPr sz="1700"/>
            </a:lvl3pPr>
            <a:lvl4pPr>
              <a:defRPr sz="15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06987" y="2511813"/>
            <a:ext cx="2548890" cy="3126987"/>
          </a:xfrm>
        </p:spPr>
        <p:txBody>
          <a:bodyPr>
            <a:norm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500">
                <a:solidFill>
                  <a:srgbClr val="404040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14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9250DD-EAD6-46A3-A6D8-D1DBA59BAC26}" type="datetime1">
              <a:rPr lang="en-US" smtClean="0"/>
              <a:t>2/24/2021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rgbClr val="FFFFFF">
                    <a:alpha val="20000"/>
                  </a:srgbClr>
                </a:solidFill>
              </a:defRPr>
            </a:lvl1pPr>
          </a:lstStyle>
          <a:p>
            <a:fld id="{87F3E754-1C97-4481-A18C-9D97ADBDF34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6645484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86918" y="5418668"/>
            <a:ext cx="8085582" cy="613283"/>
          </a:xfrm>
        </p:spPr>
        <p:txBody>
          <a:bodyPr anchor="b">
            <a:normAutofit/>
          </a:bodyPr>
          <a:lstStyle>
            <a:lvl1pPr>
              <a:lnSpc>
                <a:spcPct val="85000"/>
              </a:lnSpc>
              <a:defRPr sz="2800" b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0" y="0"/>
            <a:ext cx="9144000" cy="5330952"/>
          </a:xfrm>
          <a:solidFill>
            <a:schemeClr val="accent1">
              <a:lumMod val="40000"/>
              <a:lumOff val="60000"/>
            </a:schemeClr>
          </a:solidFill>
        </p:spPr>
        <p:txBody>
          <a:bodyPr anchor="t"/>
          <a:lstStyle>
            <a:lvl1pPr marL="0" indent="0" algn="ctr">
              <a:spcBef>
                <a:spcPts val="800"/>
              </a:spcBef>
              <a:buNone/>
              <a:defRPr sz="3200">
                <a:solidFill>
                  <a:srgbClr val="4D4D4D"/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07492" y="5909735"/>
            <a:ext cx="6922008" cy="533400"/>
          </a:xfrm>
        </p:spPr>
        <p:txBody>
          <a:bodyPr>
            <a:normAutofit/>
          </a:bodyPr>
          <a:lstStyle>
            <a:lvl1pPr marL="0" indent="0">
              <a:lnSpc>
                <a:spcPct val="90000"/>
              </a:lnSpc>
              <a:spcBef>
                <a:spcPts val="1200"/>
              </a:spcBef>
              <a:buNone/>
              <a:defRPr sz="1400">
                <a:solidFill>
                  <a:srgbClr val="262626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rgbClr val="FFFFFF">
                    <a:alpha val="75000"/>
                  </a:srgbClr>
                </a:solidFill>
              </a:defRPr>
            </a:lvl1pPr>
          </a:lstStyle>
          <a:p>
            <a:fld id="{CCB5FF78-9399-432E-A89F-3566BB673589}" type="datetime1">
              <a:rPr lang="en-US" smtClean="0"/>
              <a:t>2/24/2021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rgbClr val="FFFFFF">
                    <a:alpha val="75000"/>
                  </a:srgbClr>
                </a:solidFill>
              </a:defRPr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rgbClr val="FFFFFF">
                    <a:alpha val="20000"/>
                  </a:srgbClr>
                </a:solidFill>
              </a:defRPr>
            </a:lvl1pPr>
          </a:lstStyle>
          <a:p>
            <a:fld id="{87F3E754-1C97-4481-A18C-9D97ADBDF34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60812967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966999-0580-4294-8DF8-CA544AF61933}" type="datetime1">
              <a:rPr lang="en-US" smtClean="0"/>
              <a:t>2/24/2021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F3E754-1C97-4481-A18C-9D97ADBDF34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8180951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57963" y="695325"/>
            <a:ext cx="1971675" cy="4800600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578644" y="714376"/>
            <a:ext cx="5800725" cy="540067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10A4F09-44D4-4494-8474-B3BF10E628C5}" type="datetime1">
              <a:rPr lang="en-US" smtClean="0"/>
              <a:t>2/24/2021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F3E754-1C97-4481-A18C-9D97ADBDF34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19388588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92919" y="499533"/>
            <a:ext cx="8079581" cy="165819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07206" y="1993393"/>
            <a:ext cx="8065294" cy="376618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514350" y="6412447"/>
            <a:ext cx="3086100" cy="2286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50">
                <a:solidFill>
                  <a:schemeClr val="tx1">
                    <a:alpha val="75000"/>
                  </a:schemeClr>
                </a:solidFill>
              </a:defRPr>
            </a:lvl1pPr>
          </a:lstStyle>
          <a:p>
            <a:fld id="{AAEC9D2A-52B0-4320-98AD-89A88FF12B06}" type="datetime1">
              <a:rPr lang="en-US" smtClean="0"/>
              <a:t>2/24/2021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514350" y="6554697"/>
            <a:ext cx="3771900" cy="2286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50" cap="all" baseline="0">
                <a:solidFill>
                  <a:schemeClr val="tx1">
                    <a:alpha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41193" y="5829748"/>
            <a:ext cx="2194560" cy="1397039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9000" b="0">
                <a:ln>
                  <a:noFill/>
                </a:ln>
                <a:solidFill>
                  <a:schemeClr val="accent1">
                    <a:alpha val="20000"/>
                  </a:schemeClr>
                </a:solidFill>
                <a:latin typeface="+mj-lt"/>
              </a:defRPr>
            </a:lvl1pPr>
          </a:lstStyle>
          <a:p>
            <a:fld id="{87F3E754-1C97-4481-A18C-9D97ADBDF34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2169014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4063" r:id="rId1"/>
    <p:sldLayoutId id="2147484064" r:id="rId2"/>
    <p:sldLayoutId id="2147484065" r:id="rId3"/>
    <p:sldLayoutId id="2147484066" r:id="rId4"/>
    <p:sldLayoutId id="2147484067" r:id="rId5"/>
    <p:sldLayoutId id="2147484068" r:id="rId6"/>
    <p:sldLayoutId id="2147484069" r:id="rId7"/>
    <p:sldLayoutId id="2147484070" r:id="rId8"/>
    <p:sldLayoutId id="2147484071" r:id="rId9"/>
    <p:sldLayoutId id="2147484072" r:id="rId10"/>
    <p:sldLayoutId id="2147484073" r:id="rId11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800" kern="1200" spc="-120" baseline="0">
          <a:solidFill>
            <a:schemeClr val="accent1"/>
          </a:solidFill>
          <a:latin typeface="+mj-lt"/>
          <a:ea typeface="+mj-ea"/>
          <a:cs typeface="+mj-cs"/>
        </a:defRPr>
      </a:lvl1pPr>
    </p:titleStyle>
    <p:bodyStyle>
      <a:lvl1pPr marL="91440" indent="-91440" algn="l" defTabSz="914400" rtl="0" eaLnBrk="1" latinLnBrk="0" hangingPunct="1">
        <a:lnSpc>
          <a:spcPct val="85000"/>
        </a:lnSpc>
        <a:spcBef>
          <a:spcPts val="1300"/>
        </a:spcBef>
        <a:buFont typeface="Arial" pitchFamily="34" charset="0"/>
        <a:buChar char=" "/>
        <a:defRPr sz="24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1pPr>
      <a:lvl2pPr marL="274320" indent="-342900" algn="l" defTabSz="914400" rtl="0" eaLnBrk="1" latinLnBrk="0" hangingPunct="1">
        <a:lnSpc>
          <a:spcPct val="85000"/>
        </a:lnSpc>
        <a:spcBef>
          <a:spcPts val="600"/>
        </a:spcBef>
        <a:buFont typeface="Arial" pitchFamily="34" charset="0"/>
        <a:buChar char=" "/>
        <a:defRPr sz="24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2pPr>
      <a:lvl3pPr marL="548640" indent="-548640" algn="l" defTabSz="914400" rtl="0" eaLnBrk="1" latinLnBrk="0" hangingPunct="1">
        <a:lnSpc>
          <a:spcPct val="85000"/>
        </a:lnSpc>
        <a:spcBef>
          <a:spcPts val="600"/>
        </a:spcBef>
        <a:buFont typeface="Arial" pitchFamily="34" charset="0"/>
        <a:buChar char=" "/>
        <a:defRPr sz="2000" i="1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3pPr>
      <a:lvl4pPr marL="822960" indent="-822960" algn="l" defTabSz="914400" rtl="0" eaLnBrk="1" latinLnBrk="0" hangingPunct="1">
        <a:lnSpc>
          <a:spcPct val="85000"/>
        </a:lnSpc>
        <a:spcBef>
          <a:spcPts val="600"/>
        </a:spcBef>
        <a:buFont typeface="Arial" pitchFamily="34" charset="0"/>
        <a:buChar char=" "/>
        <a:defRPr sz="18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4pPr>
      <a:lvl5pPr marL="1097280" indent="-1097280" algn="l" defTabSz="914400" rtl="0" eaLnBrk="1" latinLnBrk="0" hangingPunct="1">
        <a:lnSpc>
          <a:spcPct val="85000"/>
        </a:lnSpc>
        <a:spcBef>
          <a:spcPts val="600"/>
        </a:spcBef>
        <a:buFont typeface="Arial" pitchFamily="34" charset="0"/>
        <a:buChar char=" "/>
        <a:defRPr sz="18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5pPr>
      <a:lvl6pPr marL="1200000" indent="-228600" algn="l" defTabSz="914400" rtl="0" eaLnBrk="1" latinLnBrk="0" hangingPunct="1">
        <a:lnSpc>
          <a:spcPct val="85000"/>
        </a:lnSpc>
        <a:spcBef>
          <a:spcPts val="600"/>
        </a:spcBef>
        <a:buFont typeface="Arial" pitchFamily="34" charset="0"/>
        <a:buChar char=" "/>
        <a:defRPr sz="18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6pPr>
      <a:lvl7pPr marL="1400000" indent="-228600" algn="l" defTabSz="914400" rtl="0" eaLnBrk="1" latinLnBrk="0" hangingPunct="1">
        <a:lnSpc>
          <a:spcPct val="85000"/>
        </a:lnSpc>
        <a:spcBef>
          <a:spcPts val="600"/>
        </a:spcBef>
        <a:buFont typeface="Arial" pitchFamily="34" charset="0"/>
        <a:buChar char=" "/>
        <a:defRPr sz="18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7pPr>
      <a:lvl8pPr marL="1600000" indent="-228600" algn="l" defTabSz="914400" rtl="0" eaLnBrk="1" latinLnBrk="0" hangingPunct="1">
        <a:lnSpc>
          <a:spcPct val="85000"/>
        </a:lnSpc>
        <a:spcBef>
          <a:spcPts val="600"/>
        </a:spcBef>
        <a:buFont typeface="Arial" pitchFamily="34" charset="0"/>
        <a:buChar char=" "/>
        <a:defRPr sz="18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8pPr>
      <a:lvl9pPr marL="1800000" indent="-228600" algn="l" defTabSz="914400" rtl="0" eaLnBrk="1" latinLnBrk="0" hangingPunct="1">
        <a:lnSpc>
          <a:spcPct val="85000"/>
        </a:lnSpc>
        <a:spcBef>
          <a:spcPts val="600"/>
        </a:spcBef>
        <a:buFont typeface="Arial" pitchFamily="34" charset="0"/>
        <a:buChar char=" "/>
        <a:defRPr sz="18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/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4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b="1" dirty="0">
                <a:solidFill>
                  <a:schemeClr val="bg1"/>
                </a:solidFill>
              </a:rPr>
              <a:t>More on</a:t>
            </a:r>
            <a:br>
              <a:rPr lang="en-US" b="1" dirty="0">
                <a:solidFill>
                  <a:schemeClr val="bg1"/>
                </a:solidFill>
              </a:rPr>
            </a:br>
            <a:r>
              <a:rPr lang="en-US" b="1" dirty="0" err="1">
                <a:solidFill>
                  <a:schemeClr val="bg1"/>
                </a:solidFill>
              </a:rPr>
              <a:t>Ms</a:t>
            </a:r>
            <a:r>
              <a:rPr lang="en-US" b="1" dirty="0">
                <a:solidFill>
                  <a:schemeClr val="bg1"/>
                </a:solidFill>
              </a:rPr>
              <a:t> Access</a:t>
            </a: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500634" y="4198409"/>
            <a:ext cx="8038719" cy="1645920"/>
          </a:xfrm>
        </p:spPr>
        <p:txBody>
          <a:bodyPr>
            <a:normAutofit/>
          </a:bodyPr>
          <a:lstStyle/>
          <a:p>
            <a:r>
              <a:rPr lang="en-US" sz="2400" b="1" dirty="0">
                <a:solidFill>
                  <a:schemeClr val="tx1"/>
                </a:solidFill>
              </a:rPr>
              <a:t>Management Information Systems</a:t>
            </a:r>
          </a:p>
          <a:p>
            <a:r>
              <a:rPr lang="en-US" sz="2000" dirty="0">
                <a:solidFill>
                  <a:schemeClr val="tx1"/>
                </a:solidFill>
              </a:rPr>
              <a:t>Disha Parkhi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F3E754-1C97-4481-A18C-9D97ADBDF344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8505421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Outline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half" idx="1"/>
          </p:nvPr>
        </p:nvSpPr>
        <p:spPr>
          <a:xfrm>
            <a:off x="507492" y="1993392"/>
            <a:ext cx="4295417" cy="3767328"/>
          </a:xfrm>
        </p:spPr>
        <p:txBody>
          <a:bodyPr>
            <a:normAutofit/>
          </a:bodyPr>
          <a:lstStyle/>
          <a:p>
            <a:pPr>
              <a:lnSpc>
                <a:spcPct val="120000"/>
              </a:lnSpc>
              <a:buFont typeface="Wingdings" panose="05000000000000000000" pitchFamily="2" charset="2"/>
              <a:buChar char="§"/>
            </a:pPr>
            <a:r>
              <a:rPr lang="en-US" sz="2400" dirty="0"/>
              <a:t> More on </a:t>
            </a:r>
            <a:r>
              <a:rPr lang="en-US" sz="2400" dirty="0" err="1"/>
              <a:t>Ms</a:t>
            </a:r>
            <a:r>
              <a:rPr lang="en-US" sz="2400" dirty="0"/>
              <a:t> Access: forms, queries and reports</a:t>
            </a:r>
          </a:p>
          <a:p>
            <a:pPr>
              <a:lnSpc>
                <a:spcPct val="120000"/>
              </a:lnSpc>
              <a:buFont typeface="Wingdings" panose="05000000000000000000" pitchFamily="2" charset="2"/>
              <a:buChar char="§"/>
            </a:pPr>
            <a:endParaRPr lang="en-US" sz="2400" dirty="0"/>
          </a:p>
          <a:p>
            <a:pPr>
              <a:lnSpc>
                <a:spcPct val="120000"/>
              </a:lnSpc>
              <a:buFont typeface="Wingdings" panose="05000000000000000000" pitchFamily="2" charset="2"/>
              <a:buChar char="§"/>
            </a:pPr>
            <a:endParaRPr lang="en-US" sz="2400" dirty="0"/>
          </a:p>
          <a:p>
            <a:pPr marL="0" indent="0">
              <a:lnSpc>
                <a:spcPct val="120000"/>
              </a:lnSpc>
              <a:buNone/>
            </a:pPr>
            <a:r>
              <a:rPr lang="en-US" sz="2400" dirty="0"/>
              <a:t>File: </a:t>
            </a:r>
            <a:r>
              <a:rPr lang="en-US" sz="2400" i="1" dirty="0" err="1"/>
              <a:t>students.accdb</a:t>
            </a:r>
            <a:endParaRPr lang="en-US" sz="2400" i="1" dirty="0"/>
          </a:p>
          <a:p>
            <a:pPr marL="0" indent="0">
              <a:lnSpc>
                <a:spcPct val="120000"/>
              </a:lnSpc>
              <a:buNone/>
            </a:pPr>
            <a:endParaRPr lang="en-US" sz="2400" dirty="0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F3E754-1C97-4481-A18C-9D97ADBDF344}" type="slidenum">
              <a:rPr lang="en-US" smtClean="0"/>
              <a:pPr/>
              <a:t>2</a:t>
            </a:fld>
            <a:endParaRPr lang="en-US"/>
          </a:p>
        </p:txBody>
      </p:sp>
      <p:sp>
        <p:nvSpPr>
          <p:cNvPr id="11" name="Content Placeholder 8"/>
          <p:cNvSpPr txBox="1">
            <a:spLocks/>
          </p:cNvSpPr>
          <p:nvPr/>
        </p:nvSpPr>
        <p:spPr>
          <a:xfrm>
            <a:off x="5564909" y="1993392"/>
            <a:ext cx="2999018" cy="3767328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>
            <a:normAutofit/>
          </a:bodyPr>
          <a:lstStyle>
            <a:lvl1pPr marL="91440" indent="-91440" algn="l" defTabSz="914400" rtl="0" eaLnBrk="1" latinLnBrk="0" hangingPunct="1">
              <a:lnSpc>
                <a:spcPct val="85000"/>
              </a:lnSpc>
              <a:spcBef>
                <a:spcPts val="1300"/>
              </a:spcBef>
              <a:buFont typeface="Arial" pitchFamily="34" charset="0"/>
              <a:buChar char=" "/>
              <a:defRPr sz="24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274320" indent="-342900" algn="l" defTabSz="914400" rtl="0" eaLnBrk="1" latinLnBrk="0" hangingPunct="1">
              <a:lnSpc>
                <a:spcPct val="85000"/>
              </a:lnSpc>
              <a:spcBef>
                <a:spcPts val="600"/>
              </a:spcBef>
              <a:buFont typeface="Arial" pitchFamily="34" charset="0"/>
              <a:buChar char=" "/>
              <a:defRPr sz="24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548640" indent="-548640" algn="l" defTabSz="914400" rtl="0" eaLnBrk="1" latinLnBrk="0" hangingPunct="1">
              <a:lnSpc>
                <a:spcPct val="85000"/>
              </a:lnSpc>
              <a:spcBef>
                <a:spcPts val="600"/>
              </a:spcBef>
              <a:buFont typeface="Arial" pitchFamily="34" charset="0"/>
              <a:buChar char=" "/>
              <a:defRPr sz="2000" i="1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822960" indent="-822960" algn="l" defTabSz="914400" rtl="0" eaLnBrk="1" latinLnBrk="0" hangingPunct="1">
              <a:lnSpc>
                <a:spcPct val="85000"/>
              </a:lnSpc>
              <a:spcBef>
                <a:spcPts val="600"/>
              </a:spcBef>
              <a:buFont typeface="Arial" pitchFamily="34" charset="0"/>
              <a:buChar char=" "/>
              <a:defRPr sz="18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097280" indent="-1097280" algn="l" defTabSz="914400" rtl="0" eaLnBrk="1" latinLnBrk="0" hangingPunct="1">
              <a:lnSpc>
                <a:spcPct val="85000"/>
              </a:lnSpc>
              <a:spcBef>
                <a:spcPts val="600"/>
              </a:spcBef>
              <a:buFont typeface="Arial" pitchFamily="34" charset="0"/>
              <a:buChar char=" "/>
              <a:defRPr sz="18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200000" indent="-228600" algn="l" defTabSz="914400" rtl="0" eaLnBrk="1" latinLnBrk="0" hangingPunct="1">
              <a:lnSpc>
                <a:spcPct val="85000"/>
              </a:lnSpc>
              <a:spcBef>
                <a:spcPts val="600"/>
              </a:spcBef>
              <a:buFont typeface="Arial" pitchFamily="34" charset="0"/>
              <a:buChar char=" "/>
              <a:defRPr sz="18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1400000" indent="-228600" algn="l" defTabSz="914400" rtl="0" eaLnBrk="1" latinLnBrk="0" hangingPunct="1">
              <a:lnSpc>
                <a:spcPct val="85000"/>
              </a:lnSpc>
              <a:spcBef>
                <a:spcPts val="600"/>
              </a:spcBef>
              <a:buFont typeface="Arial" pitchFamily="34" charset="0"/>
              <a:buChar char=" "/>
              <a:defRPr sz="18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1600000" indent="-228600" algn="l" defTabSz="914400" rtl="0" eaLnBrk="1" latinLnBrk="0" hangingPunct="1">
              <a:lnSpc>
                <a:spcPct val="85000"/>
              </a:lnSpc>
              <a:spcBef>
                <a:spcPts val="600"/>
              </a:spcBef>
              <a:buFont typeface="Arial" pitchFamily="34" charset="0"/>
              <a:buChar char=" "/>
              <a:defRPr sz="18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1800000" indent="-228600" algn="l" defTabSz="914400" rtl="0" eaLnBrk="1" latinLnBrk="0" hangingPunct="1">
              <a:lnSpc>
                <a:spcPct val="85000"/>
              </a:lnSpc>
              <a:spcBef>
                <a:spcPts val="600"/>
              </a:spcBef>
              <a:buFont typeface="Arial" pitchFamily="34" charset="0"/>
              <a:buChar char=" "/>
              <a:defRPr sz="18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lnSpc>
                <a:spcPct val="100000"/>
              </a:lnSpc>
              <a:buFont typeface="Arial" pitchFamily="34" charset="0"/>
              <a:buNone/>
            </a:pPr>
            <a:r>
              <a:rPr lang="en-US" sz="2800" dirty="0">
                <a:solidFill>
                  <a:schemeClr val="accent1"/>
                </a:solidFill>
              </a:rPr>
              <a:t>Reading:</a:t>
            </a:r>
            <a:r>
              <a:rPr lang="en-US" dirty="0"/>
              <a:t> </a:t>
            </a:r>
          </a:p>
          <a:p>
            <a:pPr>
              <a:lnSpc>
                <a:spcPct val="100000"/>
              </a:lnSpc>
              <a:buFont typeface="Wingdings" charset="2"/>
              <a:buChar char="ü"/>
            </a:pPr>
            <a:r>
              <a:rPr lang="en-US" i="1" dirty="0"/>
              <a:t> Chapter 2</a:t>
            </a:r>
          </a:p>
          <a:p>
            <a:pPr marL="0" indent="0">
              <a:lnSpc>
                <a:spcPct val="100000"/>
              </a:lnSpc>
              <a:buFont typeface="Arial" pitchFamily="34" charset="0"/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7293354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0947" y="88817"/>
            <a:ext cx="8079581" cy="1037269"/>
          </a:xfrm>
        </p:spPr>
        <p:txBody>
          <a:bodyPr/>
          <a:lstStyle/>
          <a:p>
            <a:r>
              <a:rPr lang="en-US" dirty="0"/>
              <a:t>Databases objects</a:t>
            </a:r>
          </a:p>
        </p:txBody>
      </p:sp>
      <p:sp>
        <p:nvSpPr>
          <p:cNvPr id="6" name="Oval 5"/>
          <p:cNvSpPr/>
          <p:nvPr/>
        </p:nvSpPr>
        <p:spPr>
          <a:xfrm>
            <a:off x="627797" y="1384663"/>
            <a:ext cx="7779224" cy="4798423"/>
          </a:xfrm>
          <a:prstGeom prst="ellips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TextBox 6"/>
          <p:cNvSpPr txBox="1"/>
          <p:nvPr/>
        </p:nvSpPr>
        <p:spPr>
          <a:xfrm>
            <a:off x="3518214" y="1518860"/>
            <a:ext cx="2442949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dirty="0"/>
              <a:t>.</a:t>
            </a:r>
            <a:r>
              <a:rPr lang="en-US" sz="3200" dirty="0" err="1"/>
              <a:t>accdb</a:t>
            </a:r>
            <a:r>
              <a:rPr lang="en-US" sz="3200" dirty="0"/>
              <a:t> file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375429" y="3235161"/>
            <a:ext cx="1000315" cy="461665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sz="2400" dirty="0"/>
              <a:t>Table1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375744" y="4567293"/>
            <a:ext cx="1039502" cy="461665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sz="2400" dirty="0"/>
              <a:t>Form1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653886" y="3145808"/>
            <a:ext cx="1160060" cy="461665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sz="2400" dirty="0"/>
              <a:t>Query1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725237" y="4214652"/>
            <a:ext cx="1050032" cy="461665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sz="2400" dirty="0"/>
              <a:t>Report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F3E754-1C97-4481-A18C-9D97ADBDF344}" type="slidenum">
              <a:rPr lang="en-US" smtClean="0"/>
              <a:t>3</a:t>
            </a:fld>
            <a:endParaRPr lang="en-US" dirty="0"/>
          </a:p>
        </p:txBody>
      </p:sp>
      <p:sp>
        <p:nvSpPr>
          <p:cNvPr id="14" name="TextBox 13"/>
          <p:cNvSpPr txBox="1"/>
          <p:nvPr/>
        </p:nvSpPr>
        <p:spPr>
          <a:xfrm>
            <a:off x="1676045" y="3826115"/>
            <a:ext cx="1000315" cy="461665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sz="2400" dirty="0"/>
              <a:t>Table2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176202" y="2374557"/>
            <a:ext cx="1000315" cy="461665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sz="2400" dirty="0"/>
              <a:t>Table3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961163" y="2590283"/>
            <a:ext cx="1160060" cy="461665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sz="2400" dirty="0"/>
              <a:t>Query2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860661" y="5253430"/>
            <a:ext cx="1039502" cy="461665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sz="2400" dirty="0"/>
              <a:t>Form2</a:t>
            </a:r>
          </a:p>
        </p:txBody>
      </p:sp>
    </p:spTree>
    <p:extLst>
      <p:ext uri="{BB962C8B-B14F-4D97-AF65-F5344CB8AC3E}">
        <p14:creationId xmlns:p14="http://schemas.microsoft.com/office/powerpoint/2010/main" val="344725598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Forms, Reports, </a:t>
            </a:r>
            <a:br>
              <a:rPr lang="en-US" dirty="0"/>
            </a:br>
            <a:r>
              <a:rPr lang="en-US" dirty="0"/>
              <a:t>and Queries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Open </a:t>
            </a:r>
            <a:r>
              <a:rPr lang="en-US" i="1" dirty="0"/>
              <a:t>students.accdb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F3E754-1C97-4481-A18C-9D97ADBDF344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0825171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0947" y="88817"/>
            <a:ext cx="8079581" cy="1037269"/>
          </a:xfrm>
        </p:spPr>
        <p:txBody>
          <a:bodyPr/>
          <a:lstStyle/>
          <a:p>
            <a:r>
              <a:rPr lang="en-US" dirty="0"/>
              <a:t>Forms</a:t>
            </a:r>
          </a:p>
        </p:txBody>
      </p:sp>
      <p:sp>
        <p:nvSpPr>
          <p:cNvPr id="8" name="Rectangle 5"/>
          <p:cNvSpPr>
            <a:spLocks noChangeArrowheads="1"/>
          </p:cNvSpPr>
          <p:nvPr/>
        </p:nvSpPr>
        <p:spPr bwMode="auto">
          <a:xfrm>
            <a:off x="476529" y="1126086"/>
            <a:ext cx="8435212" cy="164878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 lIns="92075" tIns="46038" rIns="92075" bIns="46038">
            <a:spAutoFit/>
          </a:bodyPr>
          <a:lstStyle/>
          <a:p>
            <a:pPr marL="285750" indent="-285750">
              <a:spcBef>
                <a:spcPct val="25000"/>
              </a:spcBef>
              <a:spcAft>
                <a:spcPct val="10000"/>
              </a:spcAft>
              <a:buFont typeface="Wingdings" panose="05000000000000000000" pitchFamily="2" charset="2"/>
              <a:buChar char="§"/>
              <a:defRPr/>
            </a:pPr>
            <a:r>
              <a:rPr lang="en-US" sz="2800" dirty="0"/>
              <a:t>Easy and aesthetic way to interact with the database</a:t>
            </a:r>
          </a:p>
          <a:p>
            <a:pPr marL="742950" lvl="1" indent="-285750">
              <a:spcBef>
                <a:spcPct val="25000"/>
              </a:spcBef>
              <a:spcAft>
                <a:spcPct val="10000"/>
              </a:spcAft>
              <a:buFont typeface="Wingdings" panose="05000000000000000000" pitchFamily="2" charset="2"/>
              <a:buChar char="§"/>
              <a:defRPr/>
            </a:pPr>
            <a:r>
              <a:rPr lang="en-US" sz="2800" dirty="0"/>
              <a:t>View, change or insert new data </a:t>
            </a:r>
          </a:p>
          <a:p>
            <a:pPr marL="285750" indent="-285750">
              <a:spcBef>
                <a:spcPct val="25000"/>
              </a:spcBef>
              <a:spcAft>
                <a:spcPct val="10000"/>
              </a:spcAft>
              <a:buFont typeface="Wingdings" panose="05000000000000000000" pitchFamily="2" charset="2"/>
              <a:buChar char="§"/>
              <a:defRPr/>
            </a:pPr>
            <a:endParaRPr lang="en-US" sz="2600" dirty="0"/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44000" y="2574945"/>
            <a:ext cx="7028812" cy="4283055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F3E754-1C97-4481-A18C-9D97ADBDF344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0386315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0947" y="88817"/>
            <a:ext cx="8079581" cy="1037269"/>
          </a:xfrm>
        </p:spPr>
        <p:txBody>
          <a:bodyPr/>
          <a:lstStyle/>
          <a:p>
            <a:r>
              <a:rPr lang="en-US" dirty="0"/>
              <a:t>What are reports?</a:t>
            </a:r>
          </a:p>
        </p:txBody>
      </p:sp>
      <p:sp>
        <p:nvSpPr>
          <p:cNvPr id="8" name="Rectangle 5"/>
          <p:cNvSpPr>
            <a:spLocks noChangeArrowheads="1"/>
          </p:cNvSpPr>
          <p:nvPr/>
        </p:nvSpPr>
        <p:spPr bwMode="auto">
          <a:xfrm>
            <a:off x="517719" y="1375650"/>
            <a:ext cx="8435212" cy="281218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 lIns="92075" tIns="46038" rIns="92075" bIns="46038">
            <a:spAutoFit/>
          </a:bodyPr>
          <a:lstStyle/>
          <a:p>
            <a:pPr marL="285750" indent="-285750">
              <a:spcBef>
                <a:spcPct val="25000"/>
              </a:spcBef>
              <a:spcAft>
                <a:spcPct val="10000"/>
              </a:spcAft>
              <a:buFont typeface="Wingdings" panose="05000000000000000000" pitchFamily="2" charset="2"/>
              <a:buChar char="§"/>
              <a:defRPr/>
            </a:pPr>
            <a:r>
              <a:rPr lang="en-US" sz="2800" dirty="0"/>
              <a:t>Designed for non-interactive access to the data</a:t>
            </a:r>
          </a:p>
          <a:p>
            <a:pPr marL="742950" lvl="1" indent="-285750">
              <a:spcBef>
                <a:spcPct val="25000"/>
              </a:spcBef>
              <a:spcAft>
                <a:spcPct val="10000"/>
              </a:spcAft>
              <a:buFont typeface="Wingdings" panose="05000000000000000000" pitchFamily="2" charset="2"/>
              <a:buChar char="§"/>
              <a:defRPr/>
            </a:pPr>
            <a:r>
              <a:rPr lang="en-US" sz="2800" dirty="0"/>
              <a:t>Printing or simply viewing</a:t>
            </a:r>
          </a:p>
          <a:p>
            <a:pPr marL="285750" indent="-285750">
              <a:spcBef>
                <a:spcPct val="25000"/>
              </a:spcBef>
              <a:spcAft>
                <a:spcPct val="10000"/>
              </a:spcAft>
              <a:buFont typeface="Wingdings" panose="05000000000000000000" pitchFamily="2" charset="2"/>
              <a:buChar char="§"/>
              <a:defRPr/>
            </a:pPr>
            <a:r>
              <a:rPr lang="en-US" sz="2800" dirty="0"/>
              <a:t>Data organization</a:t>
            </a:r>
          </a:p>
          <a:p>
            <a:pPr marL="742950" lvl="1" indent="-285750">
              <a:spcBef>
                <a:spcPct val="25000"/>
              </a:spcBef>
              <a:spcAft>
                <a:spcPct val="10000"/>
              </a:spcAft>
              <a:buFont typeface="Wingdings" panose="05000000000000000000" pitchFamily="2" charset="2"/>
              <a:buChar char="§"/>
              <a:defRPr/>
            </a:pPr>
            <a:r>
              <a:rPr lang="en-US" sz="2800" dirty="0"/>
              <a:t>Sorting or grouping</a:t>
            </a:r>
          </a:p>
          <a:p>
            <a:pPr marL="285750" indent="-285750">
              <a:spcBef>
                <a:spcPct val="25000"/>
              </a:spcBef>
              <a:spcAft>
                <a:spcPct val="10000"/>
              </a:spcAft>
              <a:buFont typeface="Wingdings" panose="05000000000000000000" pitchFamily="2" charset="2"/>
              <a:buChar char="§"/>
              <a:defRPr/>
            </a:pPr>
            <a:endParaRPr lang="en-US" sz="2600" dirty="0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F3E754-1C97-4481-A18C-9D97ADBDF344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901507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0947" y="88817"/>
            <a:ext cx="8079581" cy="1037269"/>
          </a:xfrm>
        </p:spPr>
        <p:txBody>
          <a:bodyPr/>
          <a:lstStyle/>
          <a:p>
            <a:r>
              <a:rPr lang="en-US" dirty="0"/>
              <a:t>Reports</a:t>
            </a:r>
          </a:p>
        </p:txBody>
      </p:sp>
      <p:sp>
        <p:nvSpPr>
          <p:cNvPr id="8" name="Rectangle 5"/>
          <p:cNvSpPr>
            <a:spLocks noChangeArrowheads="1"/>
          </p:cNvSpPr>
          <p:nvPr/>
        </p:nvSpPr>
        <p:spPr bwMode="auto">
          <a:xfrm>
            <a:off x="517719" y="1375650"/>
            <a:ext cx="8435212" cy="40363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 lIns="92075" tIns="46038" rIns="92075" bIns="46038">
            <a:spAutoFit/>
          </a:bodyPr>
          <a:lstStyle/>
          <a:p>
            <a:r>
              <a:rPr lang="en-US" sz="2500" dirty="0"/>
              <a:t>Suppose we want to print a list of students the following way:</a:t>
            </a:r>
          </a:p>
          <a:p>
            <a:endParaRPr lang="en-US" sz="2500" dirty="0"/>
          </a:p>
          <a:p>
            <a:pPr marL="342900" lvl="0" indent="-342900">
              <a:buFont typeface="Wingdings" panose="05000000000000000000" pitchFamily="2" charset="2"/>
              <a:buChar char="§"/>
            </a:pPr>
            <a:r>
              <a:rPr lang="en-US" sz="2500" dirty="0"/>
              <a:t>It should show the first name, last name, gender, and phone number, in that order</a:t>
            </a:r>
          </a:p>
          <a:p>
            <a:pPr marL="342900" lvl="0" indent="-342900">
              <a:buFont typeface="Wingdings" panose="05000000000000000000" pitchFamily="2" charset="2"/>
              <a:buChar char="§"/>
            </a:pPr>
            <a:r>
              <a:rPr lang="en-US" sz="2500" dirty="0"/>
              <a:t>Group the students by major</a:t>
            </a:r>
          </a:p>
          <a:p>
            <a:pPr marL="342900" lvl="0" indent="-342900">
              <a:buFont typeface="Wingdings" panose="05000000000000000000" pitchFamily="2" charset="2"/>
              <a:buChar char="§"/>
            </a:pPr>
            <a:r>
              <a:rPr lang="en-US" sz="2500" dirty="0"/>
              <a:t>Students sorted within each major by last name, and then by first name (if same last name)</a:t>
            </a:r>
          </a:p>
          <a:p>
            <a:pPr marL="342900" lvl="0" indent="-342900">
              <a:buFont typeface="Wingdings" panose="05000000000000000000" pitchFamily="2" charset="2"/>
              <a:buChar char="§"/>
            </a:pPr>
            <a:r>
              <a:rPr lang="en-US" sz="2500" dirty="0"/>
              <a:t>At the end of each group, a count of the number of students in the major.</a:t>
            </a:r>
          </a:p>
          <a:p>
            <a:pPr marL="285750" indent="-285750">
              <a:spcBef>
                <a:spcPct val="25000"/>
              </a:spcBef>
              <a:spcAft>
                <a:spcPct val="10000"/>
              </a:spcAft>
              <a:buFont typeface="Wingdings" panose="05000000000000000000" pitchFamily="2" charset="2"/>
              <a:buChar char="§"/>
              <a:defRPr/>
            </a:pPr>
            <a:endParaRPr lang="en-US" sz="2500" dirty="0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F3E754-1C97-4481-A18C-9D97ADBDF344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52844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0947" y="88817"/>
            <a:ext cx="8079581" cy="1037269"/>
          </a:xfrm>
        </p:spPr>
        <p:txBody>
          <a:bodyPr/>
          <a:lstStyle/>
          <a:p>
            <a:r>
              <a:rPr lang="en-US" dirty="0"/>
              <a:t>Reports</a:t>
            </a: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93519" y="1126086"/>
            <a:ext cx="5522898" cy="5471602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F3E754-1C97-4481-A18C-9D97ADBDF344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8477779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0947" y="88817"/>
            <a:ext cx="8079581" cy="1037269"/>
          </a:xfrm>
        </p:spPr>
        <p:txBody>
          <a:bodyPr/>
          <a:lstStyle/>
          <a:p>
            <a:r>
              <a:rPr lang="en-US" dirty="0"/>
              <a:t>What are queries?</a:t>
            </a:r>
          </a:p>
        </p:txBody>
      </p:sp>
      <p:sp>
        <p:nvSpPr>
          <p:cNvPr id="8" name="Rectangle 5"/>
          <p:cNvSpPr>
            <a:spLocks noChangeArrowheads="1"/>
          </p:cNvSpPr>
          <p:nvPr/>
        </p:nvSpPr>
        <p:spPr bwMode="auto">
          <a:xfrm>
            <a:off x="375138" y="1126086"/>
            <a:ext cx="8360615" cy="594072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 lIns="92075" tIns="46038" rIns="92075" bIns="46038">
            <a:spAutoFit/>
          </a:bodyPr>
          <a:lstStyle/>
          <a:p>
            <a:pPr marL="285750" indent="-285750" algn="just">
              <a:spcBef>
                <a:spcPct val="25000"/>
              </a:spcBef>
              <a:spcAft>
                <a:spcPct val="10000"/>
              </a:spcAft>
              <a:buFont typeface="Wingdings" panose="05000000000000000000" pitchFamily="2" charset="2"/>
              <a:buChar char="§"/>
              <a:defRPr/>
            </a:pPr>
            <a:r>
              <a:rPr lang="en-US" sz="2400" dirty="0"/>
              <a:t>Queries </a:t>
            </a:r>
            <a:r>
              <a:rPr lang="en-US" sz="2800" b="1" dirty="0"/>
              <a:t>extract data from the database according to some criteria</a:t>
            </a:r>
            <a:r>
              <a:rPr lang="en-US" sz="2400" dirty="0"/>
              <a:t> defined by the user.</a:t>
            </a:r>
          </a:p>
          <a:p>
            <a:pPr marL="285750" indent="-285750" algn="just">
              <a:spcBef>
                <a:spcPct val="25000"/>
              </a:spcBef>
              <a:spcAft>
                <a:spcPct val="10000"/>
              </a:spcAft>
              <a:buFont typeface="Wingdings" panose="05000000000000000000" pitchFamily="2" charset="2"/>
              <a:buChar char="§"/>
              <a:defRPr/>
            </a:pPr>
            <a:r>
              <a:rPr lang="en-US" sz="2400" dirty="0"/>
              <a:t>Queries tables look and function like regular regular Access tables, so they can be used for other queries, or to create reports or forms</a:t>
            </a:r>
            <a:r>
              <a:rPr lang="is-IS" sz="2400" dirty="0"/>
              <a:t>…</a:t>
            </a:r>
            <a:endParaRPr lang="en-US" sz="2400" dirty="0"/>
          </a:p>
          <a:p>
            <a:pPr marL="285750" indent="-285750" algn="just">
              <a:spcBef>
                <a:spcPct val="25000"/>
              </a:spcBef>
              <a:spcAft>
                <a:spcPct val="10000"/>
              </a:spcAft>
              <a:buFont typeface="Wingdings" panose="05000000000000000000" pitchFamily="2" charset="2"/>
              <a:buChar char="§"/>
              <a:defRPr/>
            </a:pPr>
            <a:r>
              <a:rPr lang="en-US" sz="2800" b="1" dirty="0"/>
              <a:t>Queries do not duplicate the data </a:t>
            </a:r>
            <a:r>
              <a:rPr lang="en-US" sz="2400" dirty="0"/>
              <a:t>– think of queries as a </a:t>
            </a:r>
            <a:r>
              <a:rPr lang="en-US" sz="2400" u="sng" dirty="0"/>
              <a:t>set of instructions</a:t>
            </a:r>
            <a:r>
              <a:rPr lang="en-US" sz="2400" dirty="0"/>
              <a:t> that determine which data to get from the database. Every time you open a query, the instructions are run, and the corresponding data is displayed. But when you close the query, the displayed data is gone; all that is saved in memory are the instructions. As a consequence, we have the next property:</a:t>
            </a:r>
          </a:p>
          <a:p>
            <a:pPr marL="285750" indent="-285750" algn="just">
              <a:spcBef>
                <a:spcPct val="25000"/>
              </a:spcBef>
              <a:spcAft>
                <a:spcPct val="10000"/>
              </a:spcAft>
              <a:buFont typeface="Wingdings" panose="05000000000000000000" pitchFamily="2" charset="2"/>
              <a:buChar char="§"/>
              <a:defRPr/>
            </a:pPr>
            <a:r>
              <a:rPr lang="en-US" sz="2800" b="1" dirty="0"/>
              <a:t>A query always shows the most updated data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F3E754-1C97-4481-A18C-9D97ADBDF344}" type="slidenum">
              <a:rPr lang="en-US" smtClean="0"/>
              <a:t>9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6186718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0947" y="88817"/>
            <a:ext cx="8079581" cy="1037269"/>
          </a:xfrm>
        </p:spPr>
        <p:txBody>
          <a:bodyPr/>
          <a:lstStyle/>
          <a:p>
            <a:r>
              <a:rPr lang="en-US" dirty="0"/>
              <a:t>Queries</a:t>
            </a:r>
          </a:p>
        </p:txBody>
      </p:sp>
      <p:sp>
        <p:nvSpPr>
          <p:cNvPr id="8" name="Rectangle 5"/>
          <p:cNvSpPr>
            <a:spLocks noChangeArrowheads="1"/>
          </p:cNvSpPr>
          <p:nvPr/>
        </p:nvSpPr>
        <p:spPr bwMode="auto">
          <a:xfrm>
            <a:off x="504071" y="1126086"/>
            <a:ext cx="8435212" cy="641009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 lIns="92075" tIns="46038" rIns="92075" bIns="46038">
            <a:spAutoFit/>
          </a:bodyPr>
          <a:lstStyle/>
          <a:p>
            <a:pPr marL="285750" indent="-285750">
              <a:spcBef>
                <a:spcPct val="25000"/>
              </a:spcBef>
              <a:spcAft>
                <a:spcPct val="10000"/>
              </a:spcAft>
              <a:buFont typeface="Wingdings" panose="05000000000000000000" pitchFamily="2" charset="2"/>
              <a:buChar char="§"/>
              <a:defRPr/>
            </a:pPr>
            <a:r>
              <a:rPr lang="en-US" sz="2800" i="1" dirty="0"/>
              <a:t>Students sorted by GPA</a:t>
            </a:r>
            <a:r>
              <a:rPr lang="en-US" sz="2800" dirty="0"/>
              <a:t>: I want to sort the students by GPA, and see their name, major, financial aid information, number of credits and GPA.</a:t>
            </a:r>
          </a:p>
          <a:p>
            <a:pPr marL="285750" indent="-285750">
              <a:spcBef>
                <a:spcPct val="25000"/>
              </a:spcBef>
              <a:spcAft>
                <a:spcPct val="10000"/>
              </a:spcAft>
              <a:buFont typeface="Wingdings" panose="05000000000000000000" pitchFamily="2" charset="2"/>
              <a:buChar char="§"/>
              <a:defRPr/>
            </a:pPr>
            <a:endParaRPr lang="en-US" sz="2800" dirty="0"/>
          </a:p>
          <a:p>
            <a:pPr marL="285750" indent="-285750">
              <a:spcBef>
                <a:spcPct val="25000"/>
              </a:spcBef>
              <a:spcAft>
                <a:spcPct val="10000"/>
              </a:spcAft>
              <a:buFont typeface="Wingdings" panose="05000000000000000000" pitchFamily="2" charset="2"/>
              <a:buChar char="§"/>
              <a:defRPr/>
            </a:pPr>
            <a:r>
              <a:rPr lang="en-US" sz="2800" i="1" dirty="0"/>
              <a:t>Students in Business from FL</a:t>
            </a:r>
            <a:r>
              <a:rPr lang="en-US" sz="2800" dirty="0"/>
              <a:t>: Who are the students majoring in Business that are from Florida?</a:t>
            </a:r>
          </a:p>
          <a:p>
            <a:pPr>
              <a:spcBef>
                <a:spcPct val="25000"/>
              </a:spcBef>
              <a:spcAft>
                <a:spcPct val="10000"/>
              </a:spcAft>
              <a:defRPr/>
            </a:pPr>
            <a:endParaRPr lang="en-US" sz="2800" dirty="0"/>
          </a:p>
          <a:p>
            <a:pPr marL="285750" indent="-285750">
              <a:spcBef>
                <a:spcPct val="25000"/>
              </a:spcBef>
              <a:spcAft>
                <a:spcPct val="10000"/>
              </a:spcAft>
              <a:buFont typeface="Wingdings" panose="05000000000000000000" pitchFamily="2" charset="2"/>
              <a:buChar char="§"/>
              <a:defRPr/>
            </a:pPr>
            <a:r>
              <a:rPr lang="en-US" sz="2800" i="1" dirty="0"/>
              <a:t>School awards winners</a:t>
            </a:r>
            <a:r>
              <a:rPr lang="en-US" sz="2800" dirty="0"/>
              <a:t>: The school awards a prize to the students with GPA at least 3.5. Who are the winners?</a:t>
            </a:r>
          </a:p>
          <a:p>
            <a:pPr marL="285750" indent="-285750">
              <a:spcBef>
                <a:spcPct val="25000"/>
              </a:spcBef>
              <a:spcAft>
                <a:spcPct val="10000"/>
              </a:spcAft>
              <a:buFont typeface="Wingdings" panose="05000000000000000000" pitchFamily="2" charset="2"/>
              <a:buChar char="§"/>
              <a:defRPr/>
            </a:pPr>
            <a:endParaRPr lang="en-US" sz="2600" dirty="0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F3E754-1C97-4481-A18C-9D97ADBDF344}" type="slidenum">
              <a:rPr lang="en-US" smtClean="0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9199460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50985" y="616764"/>
            <a:ext cx="8184768" cy="1658198"/>
          </a:xfrm>
        </p:spPr>
        <p:txBody>
          <a:bodyPr>
            <a:noAutofit/>
          </a:bodyPr>
          <a:lstStyle/>
          <a:p>
            <a:r>
              <a:rPr lang="en-US" sz="5400" dirty="0"/>
              <a:t>Back to </a:t>
            </a:r>
            <a:r>
              <a:rPr lang="en-US" sz="5400" i="1" dirty="0"/>
              <a:t>why we did not have a field for the GPA on the table…</a:t>
            </a:r>
            <a:endParaRPr lang="en-US" sz="5400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50985" y="2801503"/>
            <a:ext cx="8012943" cy="2782061"/>
          </a:xfrm>
        </p:spPr>
        <p:txBody>
          <a:bodyPr>
            <a:noAutofit/>
          </a:bodyPr>
          <a:lstStyle/>
          <a:p>
            <a:pPr marL="0" indent="0" algn="just">
              <a:lnSpc>
                <a:spcPct val="100000"/>
              </a:lnSpc>
              <a:buNone/>
            </a:pPr>
            <a:r>
              <a:rPr lang="en-US" sz="2400" dirty="0"/>
              <a:t>Since the GPA results from a calculation using the </a:t>
            </a:r>
            <a:r>
              <a:rPr lang="en-US" sz="2400" dirty="0" err="1"/>
              <a:t>GradePoints</a:t>
            </a:r>
            <a:r>
              <a:rPr lang="en-US" sz="2400" dirty="0"/>
              <a:t> and </a:t>
            </a:r>
            <a:r>
              <a:rPr lang="en-US" sz="2400" dirty="0" err="1"/>
              <a:t>TotalCredits</a:t>
            </a:r>
            <a:r>
              <a:rPr lang="en-US" sz="2400" dirty="0"/>
              <a:t>, when we need the GPA, we can create a query that instructs the GPA to be calculated.</a:t>
            </a:r>
          </a:p>
          <a:p>
            <a:pPr marL="0" indent="0" algn="just">
              <a:lnSpc>
                <a:spcPct val="100000"/>
              </a:lnSpc>
              <a:buNone/>
            </a:pPr>
            <a:r>
              <a:rPr lang="en-US" sz="2400" dirty="0"/>
              <a:t>A database is all about storing information efficiently. Why wasting space to store the GPA on the table </a:t>
            </a:r>
            <a:r>
              <a:rPr lang="en-US" sz="2400" i="1" dirty="0"/>
              <a:t>Students</a:t>
            </a:r>
            <a:r>
              <a:rPr lang="en-US" sz="2400" dirty="0"/>
              <a:t> and risking inconsistencies between the field GPA and fields </a:t>
            </a:r>
            <a:r>
              <a:rPr lang="en-US" sz="2400" dirty="0" err="1"/>
              <a:t>GradePoints</a:t>
            </a:r>
            <a:r>
              <a:rPr lang="en-US" sz="2400" dirty="0"/>
              <a:t> and </a:t>
            </a:r>
            <a:r>
              <a:rPr lang="en-US" sz="2400" dirty="0" err="1"/>
              <a:t>TotalCredits</a:t>
            </a:r>
            <a:r>
              <a:rPr lang="en-US" sz="2400" dirty="0"/>
              <a:t>, when we can use a query to get the GPA?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F3E754-1C97-4481-A18C-9D97ADBDF344}" type="slidenum">
              <a:rPr lang="en-US" smtClean="0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3735924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/>
          <p:cNvSpPr>
            <a:spLocks noGrp="1"/>
          </p:cNvSpPr>
          <p:nvPr>
            <p:ph type="title"/>
          </p:nvPr>
        </p:nvSpPr>
        <p:spPr>
          <a:xfrm>
            <a:off x="410540" y="384203"/>
            <a:ext cx="8079581" cy="942089"/>
          </a:xfrm>
        </p:spPr>
        <p:txBody>
          <a:bodyPr>
            <a:normAutofit fontScale="90000"/>
          </a:bodyPr>
          <a:lstStyle/>
          <a:p>
            <a:r>
              <a:rPr lang="en-US" dirty="0"/>
              <a:t>Queries: ‘AND’ and ‘OR’ operations</a:t>
            </a: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 rotWithShape="1">
          <a:blip r:embed="rId2"/>
          <a:srcRect b="24145"/>
          <a:stretch/>
        </p:blipFill>
        <p:spPr>
          <a:xfrm>
            <a:off x="468655" y="1429909"/>
            <a:ext cx="4829175" cy="1033206"/>
          </a:xfrm>
          <a:prstGeom prst="rect">
            <a:avLst/>
          </a:prstGeom>
        </p:spPr>
      </p:pic>
      <p:pic>
        <p:nvPicPr>
          <p:cNvPr id="4" name="Picture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1517" y="3982994"/>
            <a:ext cx="4772025" cy="1162050"/>
          </a:xfrm>
          <a:prstGeom prst="rect">
            <a:avLst/>
          </a:prstGeom>
        </p:spPr>
      </p:pic>
      <p:pic>
        <p:nvPicPr>
          <p:cNvPr id="6" name="Picture 5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25805" y="5338246"/>
            <a:ext cx="4772025" cy="1085850"/>
          </a:xfrm>
          <a:prstGeom prst="rect">
            <a:avLst/>
          </a:prstGeom>
        </p:spPr>
      </p:pic>
      <p:pic>
        <p:nvPicPr>
          <p:cNvPr id="8" name="Picture 7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25805" y="2656317"/>
            <a:ext cx="4772025" cy="1133475"/>
          </a:xfrm>
          <a:prstGeom prst="rect">
            <a:avLst/>
          </a:prstGeom>
        </p:spPr>
      </p:pic>
      <p:sp>
        <p:nvSpPr>
          <p:cNvPr id="10" name="Line Callout 1 9"/>
          <p:cNvSpPr/>
          <p:nvPr/>
        </p:nvSpPr>
        <p:spPr>
          <a:xfrm>
            <a:off x="6343135" y="1554345"/>
            <a:ext cx="1726856" cy="784333"/>
          </a:xfrm>
          <a:prstGeom prst="borderCallout1">
            <a:avLst>
              <a:gd name="adj1" fmla="val 49209"/>
              <a:gd name="adj2" fmla="val -4040"/>
              <a:gd name="adj3" fmla="val 49482"/>
              <a:gd name="adj4" fmla="val -42626"/>
            </a:avLst>
          </a:prstGeom>
          <a:ln>
            <a:headEnd type="none" w="med" len="med"/>
            <a:tailEnd type="arrow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/>
              <a:t>Students from NJ and majoring in Business</a:t>
            </a:r>
          </a:p>
        </p:txBody>
      </p:sp>
      <p:sp>
        <p:nvSpPr>
          <p:cNvPr id="11" name="Line Callout 1 10"/>
          <p:cNvSpPr/>
          <p:nvPr/>
        </p:nvSpPr>
        <p:spPr>
          <a:xfrm>
            <a:off x="6343135" y="2906283"/>
            <a:ext cx="1726856" cy="784333"/>
          </a:xfrm>
          <a:prstGeom prst="borderCallout1">
            <a:avLst>
              <a:gd name="adj1" fmla="val 49209"/>
              <a:gd name="adj2" fmla="val -4040"/>
              <a:gd name="adj3" fmla="val 49482"/>
              <a:gd name="adj4" fmla="val -42626"/>
            </a:avLst>
          </a:prstGeom>
          <a:ln>
            <a:headEnd type="none" w="med" len="med"/>
            <a:tailEnd type="arrow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/>
              <a:t>Students from NJ or NY or MD</a:t>
            </a:r>
          </a:p>
        </p:txBody>
      </p:sp>
      <p:sp>
        <p:nvSpPr>
          <p:cNvPr id="12" name="Line Callout 1 11"/>
          <p:cNvSpPr/>
          <p:nvPr/>
        </p:nvSpPr>
        <p:spPr>
          <a:xfrm>
            <a:off x="6343135" y="3982995"/>
            <a:ext cx="1726856" cy="1289222"/>
          </a:xfrm>
          <a:prstGeom prst="borderCallout1">
            <a:avLst>
              <a:gd name="adj1" fmla="val 49209"/>
              <a:gd name="adj2" fmla="val -4040"/>
              <a:gd name="adj3" fmla="val 49482"/>
              <a:gd name="adj4" fmla="val -42626"/>
            </a:avLst>
          </a:prstGeom>
          <a:ln>
            <a:headEnd type="none" w="med" len="med"/>
            <a:tailEnd type="arrow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/>
              <a:t>Students from NJ and majoring in Accounting or students from NY majoring in Management</a:t>
            </a:r>
          </a:p>
        </p:txBody>
      </p:sp>
      <p:sp>
        <p:nvSpPr>
          <p:cNvPr id="13" name="Line Callout 1 12"/>
          <p:cNvSpPr/>
          <p:nvPr/>
        </p:nvSpPr>
        <p:spPr>
          <a:xfrm>
            <a:off x="6343135" y="5489004"/>
            <a:ext cx="1726856" cy="935092"/>
          </a:xfrm>
          <a:prstGeom prst="borderCallout1">
            <a:avLst>
              <a:gd name="adj1" fmla="val 49209"/>
              <a:gd name="adj2" fmla="val -4040"/>
              <a:gd name="adj3" fmla="val 49482"/>
              <a:gd name="adj4" fmla="val -42626"/>
            </a:avLst>
          </a:prstGeom>
          <a:ln>
            <a:headEnd type="none" w="med" len="med"/>
            <a:tailEnd type="arrow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/>
              <a:t>Students from NJ and majoring in Accounting or students from NY</a:t>
            </a:r>
          </a:p>
        </p:txBody>
      </p:sp>
    </p:spTree>
    <p:extLst>
      <p:ext uri="{BB962C8B-B14F-4D97-AF65-F5344CB8AC3E}">
        <p14:creationId xmlns:p14="http://schemas.microsoft.com/office/powerpoint/2010/main" val="13672191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/>
          <p:cNvSpPr>
            <a:spLocks noGrp="1"/>
          </p:cNvSpPr>
          <p:nvPr>
            <p:ph type="title"/>
          </p:nvPr>
        </p:nvSpPr>
        <p:spPr>
          <a:xfrm>
            <a:off x="410540" y="278696"/>
            <a:ext cx="8079581" cy="942089"/>
          </a:xfrm>
        </p:spPr>
        <p:txBody>
          <a:bodyPr>
            <a:normAutofit fontScale="90000"/>
          </a:bodyPr>
          <a:lstStyle/>
          <a:p>
            <a:r>
              <a:rPr lang="en-US" sz="4400" dirty="0"/>
              <a:t>Queries criteria: Wildcards and ‘Like’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46697531"/>
              </p:ext>
            </p:extLst>
          </p:nvPr>
        </p:nvGraphicFramePr>
        <p:xfrm>
          <a:off x="1239474" y="1568359"/>
          <a:ext cx="6619423" cy="1408362"/>
        </p:xfrm>
        <a:graphic>
          <a:graphicData uri="http://schemas.openxmlformats.org/drawingml/2006/table">
            <a:tbl>
              <a:tblPr>
                <a:tableStyleId>{69CF1AB2-1976-4502-BF36-3FF5EA218861}</a:tableStyleId>
              </a:tblPr>
              <a:tblGrid>
                <a:gridCol w="95575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66366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02157">
                <a:tc>
                  <a:txBody>
                    <a:bodyPr/>
                    <a:lstStyle/>
                    <a:p>
                      <a:pPr algn="l"/>
                      <a:r>
                        <a:rPr lang="en-US" sz="1600" dirty="0">
                          <a:effectLst/>
                        </a:rPr>
                        <a:t>Wildcard</a:t>
                      </a:r>
                      <a:endParaRPr lang="en-US" sz="1600" dirty="0">
                        <a:solidFill>
                          <a:srgbClr val="FFFFFF"/>
                        </a:solidFill>
                        <a:effectLst/>
                      </a:endParaRPr>
                    </a:p>
                  </a:txBody>
                  <a:tcPr marL="38100" marR="76200" marT="38100" marB="38100" anchor="ctr"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dirty="0">
                          <a:effectLst/>
                        </a:rPr>
                        <a:t>Explanation</a:t>
                      </a:r>
                      <a:endParaRPr lang="en-US" sz="1600" dirty="0">
                        <a:solidFill>
                          <a:srgbClr val="FFFFFF"/>
                        </a:solidFill>
                        <a:effectLst/>
                      </a:endParaRPr>
                    </a:p>
                  </a:txBody>
                  <a:tcPr marL="38100" marR="76200" marT="38100" marB="38100" anchor="ctr"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4141"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>
                          <a:effectLst/>
                        </a:rPr>
                        <a:t>*</a:t>
                      </a:r>
                    </a:p>
                  </a:txBody>
                  <a:tcPr marL="381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lang="en-US" sz="1600">
                          <a:effectLst/>
                        </a:rPr>
                        <a:t>Allows you to match any string of any length (including zero length)</a:t>
                      </a:r>
                    </a:p>
                  </a:txBody>
                  <a:tcPr marL="38100" marR="76200" marT="38100" marB="38100"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02157">
                <a:tc>
                  <a:txBody>
                    <a:bodyPr/>
                    <a:lstStyle/>
                    <a:p>
                      <a:pPr algn="ctr"/>
                      <a:r>
                        <a:rPr lang="en-US" sz="1600" b="1">
                          <a:effectLst/>
                        </a:rPr>
                        <a:t>?</a:t>
                      </a:r>
                    </a:p>
                  </a:txBody>
                  <a:tcPr marL="381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lang="en-US" sz="1600">
                          <a:effectLst/>
                        </a:rPr>
                        <a:t>Allows you to match on a single character</a:t>
                      </a:r>
                    </a:p>
                  </a:txBody>
                  <a:tcPr marL="38100" marR="76200" marT="38100" marB="38100"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84141"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>
                          <a:effectLst/>
                        </a:rPr>
                        <a:t>#</a:t>
                      </a:r>
                    </a:p>
                  </a:txBody>
                  <a:tcPr marL="381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lang="en-US" sz="1600" dirty="0">
                          <a:effectLst/>
                        </a:rPr>
                        <a:t>Allows you to match on a single numeric digit</a:t>
                      </a:r>
                    </a:p>
                  </a:txBody>
                  <a:tcPr marL="38100" marR="76200" marT="38100" marB="38100" anchor="ctr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9" name="Rectangle 2"/>
          <p:cNvSpPr>
            <a:spLocks noGrp="1" noChangeArrowheads="1"/>
          </p:cNvSpPr>
          <p:nvPr>
            <p:ph idx="1"/>
          </p:nvPr>
        </p:nvSpPr>
        <p:spPr bwMode="auto">
          <a:xfrm>
            <a:off x="410540" y="3215619"/>
            <a:ext cx="8161960" cy="3596927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0" tIns="0" rIns="0" bIns="66654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rgbClr val="333333"/>
                </a:solidFill>
                <a:effectLst/>
              </a:rPr>
              <a:t>Like 'b*' </a:t>
            </a:r>
            <a:r>
              <a:rPr lang="en-US" altLang="en-US" sz="2000" i="1" dirty="0">
                <a:solidFill>
                  <a:srgbClr val="333333"/>
                </a:solidFill>
              </a:rPr>
              <a:t>-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rgbClr val="333333"/>
                </a:solidFill>
                <a:effectLst/>
              </a:rPr>
              <a:t> all values that </a:t>
            </a: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rgbClr val="333333"/>
                </a:solidFill>
                <a:effectLst/>
              </a:rPr>
              <a:t>start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rgbClr val="333333"/>
                </a:solidFill>
                <a:effectLst/>
              </a:rPr>
              <a:t> with b 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rgbClr val="333333"/>
                </a:solidFill>
                <a:effectLst/>
              </a:rPr>
              <a:t>Like '*b*' </a:t>
            </a:r>
            <a:r>
              <a:rPr kumimoji="0" lang="en-US" altLang="en-US" sz="2000" b="0" i="1" u="none" strike="noStrike" cap="none" normalizeH="0" baseline="0" dirty="0">
                <a:ln>
                  <a:noFill/>
                </a:ln>
                <a:solidFill>
                  <a:srgbClr val="333333"/>
                </a:solidFill>
                <a:effectLst/>
              </a:rPr>
              <a:t>-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rgbClr val="333333"/>
                </a:solidFill>
                <a:effectLst/>
              </a:rPr>
              <a:t> all values that </a:t>
            </a: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rgbClr val="333333"/>
                </a:solidFill>
                <a:effectLst/>
              </a:rPr>
              <a:t>contain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rgbClr val="333333"/>
                </a:solidFill>
                <a:effectLst/>
              </a:rPr>
              <a:t> b 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rgbClr val="333333"/>
                </a:solidFill>
                <a:effectLst/>
              </a:rPr>
              <a:t>Like '*b' </a:t>
            </a:r>
            <a:r>
              <a:rPr kumimoji="0" lang="en-US" altLang="en-US" sz="2000" b="0" i="1" u="none" strike="noStrike" cap="none" normalizeH="0" baseline="0" dirty="0">
                <a:ln>
                  <a:noFill/>
                </a:ln>
                <a:solidFill>
                  <a:srgbClr val="333333"/>
                </a:solidFill>
                <a:effectLst/>
              </a:rPr>
              <a:t>-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rgbClr val="333333"/>
                </a:solidFill>
                <a:effectLst/>
              </a:rPr>
              <a:t> all values that </a:t>
            </a: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rgbClr val="333333"/>
                </a:solidFill>
                <a:effectLst/>
              </a:rPr>
              <a:t>end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rgbClr val="333333"/>
                </a:solidFill>
                <a:effectLst/>
              </a:rPr>
              <a:t> with b 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rgbClr val="333333"/>
                </a:solidFill>
                <a:effectLst/>
              </a:rPr>
              <a:t>Like 'b?' </a:t>
            </a:r>
            <a:r>
              <a:rPr kumimoji="0" lang="en-US" altLang="en-US" sz="2000" b="0" i="1" u="none" strike="noStrike" cap="none" normalizeH="0" baseline="0" dirty="0">
                <a:ln>
                  <a:noFill/>
                </a:ln>
                <a:solidFill>
                  <a:srgbClr val="333333"/>
                </a:solidFill>
                <a:effectLst/>
              </a:rPr>
              <a:t>-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rgbClr val="333333"/>
                </a:solidFill>
                <a:effectLst/>
              </a:rPr>
              <a:t> all values that start with b and are 2 characters in length </a:t>
            </a:r>
          </a:p>
          <a:p>
            <a:pPr marL="0" indent="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US" altLang="en-US" sz="2000" b="1" dirty="0">
                <a:solidFill>
                  <a:srgbClr val="333333"/>
                </a:solidFill>
              </a:rPr>
              <a:t>Like 'b???' </a:t>
            </a:r>
            <a:r>
              <a:rPr lang="en-US" altLang="en-US" sz="2000" i="1" dirty="0">
                <a:solidFill>
                  <a:srgbClr val="333333"/>
                </a:solidFill>
              </a:rPr>
              <a:t>-</a:t>
            </a:r>
            <a:r>
              <a:rPr lang="en-US" altLang="en-US" sz="2000" dirty="0">
                <a:solidFill>
                  <a:srgbClr val="333333"/>
                </a:solidFill>
              </a:rPr>
              <a:t> all values that start with b and are 4 characters in length </a:t>
            </a:r>
            <a:endParaRPr kumimoji="0" lang="en-US" altLang="en-US" sz="2000" b="0" i="0" u="none" strike="noStrike" cap="none" normalizeH="0" baseline="0" dirty="0">
              <a:ln>
                <a:noFill/>
              </a:ln>
              <a:solidFill>
                <a:srgbClr val="333333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rgbClr val="333333"/>
                </a:solidFill>
                <a:effectLst/>
              </a:rPr>
              <a:t>Like 'b#' </a:t>
            </a:r>
            <a:r>
              <a:rPr kumimoji="0" lang="en-US" altLang="en-US" sz="2000" b="0" i="1" u="none" strike="noStrike" cap="none" normalizeH="0" baseline="0" dirty="0">
                <a:ln>
                  <a:noFill/>
                </a:ln>
                <a:solidFill>
                  <a:srgbClr val="333333"/>
                </a:solidFill>
                <a:effectLst/>
              </a:rPr>
              <a:t>-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rgbClr val="333333"/>
                </a:solidFill>
                <a:effectLst/>
              </a:rPr>
              <a:t> all values that start with b and are 2 characters in length where the second character is a number</a:t>
            </a:r>
            <a:endParaRPr kumimoji="0" lang="en-US" altLang="en-US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</p:txBody>
      </p:sp>
    </p:spTree>
    <p:extLst>
      <p:ext uri="{BB962C8B-B14F-4D97-AF65-F5344CB8AC3E}">
        <p14:creationId xmlns:p14="http://schemas.microsoft.com/office/powerpoint/2010/main" val="2095136185"/>
      </p:ext>
    </p:extLst>
  </p:cSld>
  <p:clrMapOvr>
    <a:masterClrMapping/>
  </p:clrMapOvr>
</p:sld>
</file>

<file path=ppt/theme/theme1.xml><?xml version="1.0" encoding="utf-8"?>
<a:theme xmlns:a="http://schemas.openxmlformats.org/drawingml/2006/main" name="Metropolitan">
  <a:themeElements>
    <a:clrScheme name="Metropolitan">
      <a:dk1>
        <a:sysClr val="windowText" lastClr="000000"/>
      </a:dk1>
      <a:lt1>
        <a:sysClr val="window" lastClr="FFFFFF"/>
      </a:lt1>
      <a:dk2>
        <a:srgbClr val="162F33"/>
      </a:dk2>
      <a:lt2>
        <a:srgbClr val="EAF0E0"/>
      </a:lt2>
      <a:accent1>
        <a:srgbClr val="50B4C8"/>
      </a:accent1>
      <a:accent2>
        <a:srgbClr val="A8B97F"/>
      </a:accent2>
      <a:accent3>
        <a:srgbClr val="9B9256"/>
      </a:accent3>
      <a:accent4>
        <a:srgbClr val="657689"/>
      </a:accent4>
      <a:accent5>
        <a:srgbClr val="7A855D"/>
      </a:accent5>
      <a:accent6>
        <a:srgbClr val="84AC9D"/>
      </a:accent6>
      <a:hlink>
        <a:srgbClr val="2370CD"/>
      </a:hlink>
      <a:folHlink>
        <a:srgbClr val="877589"/>
      </a:folHlink>
    </a:clrScheme>
    <a:fontScheme name="Metropolitan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inorFont>
    </a:fontScheme>
    <a:fmtScheme name="Metropolitan">
      <a:fillStyleLst>
        <a:solidFill>
          <a:schemeClr val="phClr"/>
        </a:solidFill>
        <a:gradFill rotWithShape="1">
          <a:gsLst>
            <a:gs pos="0">
              <a:schemeClr val="phClr">
                <a:tint val="70000"/>
                <a:satMod val="100000"/>
                <a:lumMod val="110000"/>
              </a:schemeClr>
            </a:gs>
            <a:gs pos="50000">
              <a:schemeClr val="phClr">
                <a:tint val="75000"/>
                <a:satMod val="101000"/>
                <a:lumMod val="105000"/>
              </a:schemeClr>
            </a:gs>
            <a:gs pos="100000">
              <a:schemeClr val="phClr">
                <a:tint val="82000"/>
                <a:satMod val="104000"/>
                <a:lumMod val="105000"/>
              </a:schemeClr>
            </a:gs>
          </a:gsLst>
          <a:lin ang="2700000" scaled="0"/>
        </a:gradFill>
        <a:gradFill rotWithShape="1">
          <a:gsLst>
            <a:gs pos="0">
              <a:schemeClr val="phClr">
                <a:tint val="97000"/>
                <a:satMod val="100000"/>
                <a:lumMod val="102000"/>
              </a:schemeClr>
            </a:gs>
            <a:gs pos="50000">
              <a:schemeClr val="phClr">
                <a:shade val="100000"/>
                <a:satMod val="100000"/>
                <a:lumMod val="100000"/>
              </a:schemeClr>
            </a:gs>
            <a:gs pos="100000">
              <a:schemeClr val="phClr">
                <a:shade val="80000"/>
                <a:satMod val="100000"/>
                <a:lumMod val="99000"/>
              </a:schemeClr>
            </a:gs>
          </a:gsLst>
          <a:lin ang="27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solidFill>
          <a:schemeClr val="phClr">
            <a:shade val="95000"/>
            <a:satMod val="170000"/>
          </a:schemeClr>
        </a:soli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Metropolitan" id="{4C5440D6-04D2-4954-96CF-F251137069B2}" vid="{79CFCA13-9412-4290-BB4B-85112F88857B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TM03457491[[fn=Metropolitan]]</Template>
  <TotalTime>1860</TotalTime>
  <Words>656</Words>
  <Application>Microsoft Office PowerPoint</Application>
  <PresentationFormat>On-screen Show (4:3)</PresentationFormat>
  <Paragraphs>83</Paragraphs>
  <Slides>13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8" baseType="lpstr">
      <vt:lpstr>Arial</vt:lpstr>
      <vt:lpstr>Calibri</vt:lpstr>
      <vt:lpstr>Calibri Light</vt:lpstr>
      <vt:lpstr>Wingdings</vt:lpstr>
      <vt:lpstr>Metropolitan</vt:lpstr>
      <vt:lpstr>More on Ms Access</vt:lpstr>
      <vt:lpstr>Outline</vt:lpstr>
      <vt:lpstr>Databases objects</vt:lpstr>
      <vt:lpstr>Forms, Reports,  and Queries</vt:lpstr>
      <vt:lpstr>Forms</vt:lpstr>
      <vt:lpstr>What are reports?</vt:lpstr>
      <vt:lpstr>Reports</vt:lpstr>
      <vt:lpstr>Reports</vt:lpstr>
      <vt:lpstr>What are queries?</vt:lpstr>
      <vt:lpstr>Queries</vt:lpstr>
      <vt:lpstr>Back to why we did not have a field for the GPA on the table…</vt:lpstr>
      <vt:lpstr>Queries: ‘AND’ and ‘OR’ operations</vt:lpstr>
      <vt:lpstr>Queries criteria: Wildcards and ‘Like’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Class 1</dc:title>
  <dc:creator>Disha Parkhi</dc:creator>
  <cp:lastModifiedBy>Disha Parkhi</cp:lastModifiedBy>
  <cp:revision>82</cp:revision>
  <cp:lastPrinted>2017-02-18T21:14:14Z</cp:lastPrinted>
  <dcterms:created xsi:type="dcterms:W3CDTF">2015-04-10T22:20:33Z</dcterms:created>
  <dcterms:modified xsi:type="dcterms:W3CDTF">2021-02-24T14:39:34Z</dcterms:modified>
</cp:coreProperties>
</file>